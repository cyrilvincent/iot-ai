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267" r:id="rId12"/>
    <p:sldId id="290" r:id="rId13"/>
    <p:sldId id="268" r:id="rId14"/>
    <p:sldId id="274" r:id="rId15"/>
    <p:sldId id="291" r:id="rId16"/>
    <p:sldId id="279" r:id="rId17"/>
    <p:sldId id="280" r:id="rId18"/>
    <p:sldId id="30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92" r:id="rId27"/>
    <p:sldId id="289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TFlite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66C27A-8CC1-FE3A-4507-EA34AED1F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81" y="3097894"/>
            <a:ext cx="3038899" cy="16671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49A970-E80E-829A-5022-192F784DC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989" y="4869160"/>
            <a:ext cx="2095682" cy="1082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Google</a:t>
            </a:r>
          </a:p>
          <a:p>
            <a:r>
              <a:rPr lang="fr-FR" dirty="0"/>
              <a:t>Depuis 2024 </a:t>
            </a:r>
            <a:r>
              <a:rPr lang="fr-FR" dirty="0" err="1"/>
              <a:t>TFLite</a:t>
            </a:r>
            <a:r>
              <a:rPr lang="fr-FR" dirty="0"/>
              <a:t> s'appel </a:t>
            </a:r>
            <a:r>
              <a:rPr lang="fr-FR" dirty="0" err="1"/>
              <a:t>LiteRT</a:t>
            </a:r>
            <a:endParaRPr lang="fr-FR" dirty="0"/>
          </a:p>
          <a:p>
            <a:pPr lvl="1"/>
            <a:r>
              <a:rPr lang="fr-FR" dirty="0"/>
              <a:t>Même librairie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Même installation</a:t>
            </a:r>
          </a:p>
          <a:p>
            <a:pPr lvl="1"/>
            <a:r>
              <a:rPr lang="fr-FR" dirty="0"/>
              <a:t>Des commandes en + : </a:t>
            </a:r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ai-</a:t>
            </a:r>
            <a:r>
              <a:rPr lang="fr-FR" dirty="0" err="1"/>
              <a:t>edge</a:t>
            </a:r>
            <a:r>
              <a:rPr lang="fr-FR" dirty="0"/>
              <a:t>-</a:t>
            </a:r>
            <a:r>
              <a:rPr lang="fr-FR" dirty="0" err="1"/>
              <a:t>litert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D59963-187C-9687-F8E1-39F185B5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-171400"/>
            <a:ext cx="3038899" cy="16671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342E85-59AC-DBF2-C634-365E5164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890" y="308805"/>
            <a:ext cx="2095682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for </a:t>
            </a:r>
            <a:r>
              <a:rPr lang="fr-FR" dirty="0" err="1"/>
              <a:t>Microcontrollers</a:t>
            </a:r>
            <a:r>
              <a:rPr lang="fr-FR" dirty="0"/>
              <a:t> est conçu pour exécuter du ML sur des microcontrôleurs ne disposant que de quelques kilo-octets de mémoire</a:t>
            </a:r>
          </a:p>
          <a:p>
            <a:r>
              <a:rPr lang="fr-FR" dirty="0"/>
              <a:t>Le composant d'exécution principal tient sur 16 Ko sur un processeur Arm Cortex M3 et peut exécuter de nombreux modèles de base</a:t>
            </a:r>
          </a:p>
          <a:p>
            <a:r>
              <a:rPr lang="fr-FR" dirty="0"/>
              <a:t>Aucune compatibilité avec le système d'exploitation n'est nécessaire</a:t>
            </a:r>
          </a:p>
          <a:p>
            <a:r>
              <a:rPr lang="fr-FR" dirty="0"/>
              <a:t>Il ne nécessite, en outre, aucune bibliothèque C ou C++ standard, ni d'allocation de mémoire dynamique.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318E32-3454-B998-1C47-BFE0E208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132856"/>
            <a:ext cx="5143946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Dépendant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</a:t>
            </a:r>
          </a:p>
          <a:p>
            <a:pPr lvl="1"/>
            <a:r>
              <a:rPr lang="fr-FR" dirty="0"/>
              <a:t>CPU</a:t>
            </a:r>
          </a:p>
          <a:p>
            <a:pPr lvl="1"/>
            <a:r>
              <a:rPr lang="fr-FR" dirty="0"/>
              <a:t>GPU</a:t>
            </a:r>
          </a:p>
          <a:p>
            <a:pPr lvl="1"/>
            <a:r>
              <a:rPr lang="fr-FR" dirty="0"/>
              <a:t>NPU</a:t>
            </a:r>
          </a:p>
          <a:p>
            <a:pPr lvl="1"/>
            <a:r>
              <a:rPr lang="fr-FR"/>
              <a:t>DSP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5934-7886-8CD7-2217-4A638D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0D362-2D95-7FEE-988F-C45248D0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4CB43-996C-F590-8DDB-484A0025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/>
              <a:t>Permet de convertir un .h5 en </a:t>
            </a:r>
            <a:r>
              <a:rPr lang="fr-FR" dirty="0" err="1"/>
              <a:t>tflite</a:t>
            </a:r>
            <a:endParaRPr lang="fr-FR" dirty="0"/>
          </a:p>
          <a:p>
            <a:r>
              <a:rPr lang="fr-FR" dirty="0" err="1"/>
              <a:t>TFLite</a:t>
            </a:r>
            <a:r>
              <a:rPr lang="fr-FR" dirty="0"/>
              <a:t> possède des API de prédiction dans de nombreux langages</a:t>
            </a:r>
          </a:p>
          <a:p>
            <a:pPr lvl="1"/>
            <a:r>
              <a:rPr lang="fr-FR" dirty="0"/>
              <a:t>C++</a:t>
            </a:r>
          </a:p>
          <a:p>
            <a:pPr lvl="1"/>
            <a:r>
              <a:rPr lang="fr-FR" dirty="0"/>
              <a:t>Javascript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/>
              <a:t>…</a:t>
            </a:r>
          </a:p>
          <a:p>
            <a:endParaRPr lang="fr-FR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5612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A74109-FECA-78F7-FA17-FB001F5C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97CD4-3AF8-EE9D-DC11-E167D71D9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Demo Raspberry Pi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/>
              <a:t>-runtime</a:t>
            </a:r>
          </a:p>
          <a:p>
            <a:r>
              <a:rPr lang="fr-FR" dirty="0" err="1"/>
              <a:t>TFLite</a:t>
            </a:r>
            <a:r>
              <a:rPr lang="fr-FR" dirty="0"/>
              <a:t> Cancer FP32</a:t>
            </a:r>
          </a:p>
        </p:txBody>
      </p:sp>
    </p:spTree>
    <p:extLst>
      <p:ext uri="{BB962C8B-B14F-4D97-AF65-F5344CB8AC3E}">
        <p14:creationId xmlns:p14="http://schemas.microsoft.com/office/powerpoint/2010/main" val="254265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divisée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divisée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divisée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C6439-8A68-D93F-604A-D80B2F73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17BA94-950B-F118-7609-122480F49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18FD41D-A02F-35FB-9959-90077402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7" y="1404239"/>
            <a:ext cx="8545500" cy="42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Voir HGQ2 </a:t>
            </a:r>
            <a:r>
              <a:rPr lang="fr-FR"/>
              <a:t>plus tard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924B-6369-A9B0-7EAC-5E2AFC65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9D7F40-888D-05D4-FAEF-DA7DF543F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B15A7-CE1C-4D2F-3B87-A8090680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0.7 Mo</a:t>
            </a:r>
          </a:p>
          <a:p>
            <a:pPr lvl="1"/>
            <a:r>
              <a:rPr lang="fr-FR" dirty="0"/>
              <a:t>Ne fonctionne toujours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5126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/>
              <a:t>MNIST int8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7502</TotalTime>
  <Words>869</Words>
  <Application>Microsoft Office PowerPoint</Application>
  <PresentationFormat>Affichage à l'écran (4:3)</PresentationFormat>
  <Paragraphs>172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Contraintes</vt:lpstr>
      <vt:lpstr>TFLite</vt:lpstr>
      <vt:lpstr>Compatibilité</vt:lpstr>
      <vt:lpstr>Micro-contrôleurs</vt:lpstr>
      <vt:lpstr>Langages</vt:lpstr>
      <vt:lpstr>Plateformes compatibles</vt:lpstr>
      <vt:lpstr>Limites</vt:lpstr>
      <vt:lpstr>Performances</vt:lpstr>
      <vt:lpstr>H5</vt:lpstr>
      <vt:lpstr>TFLite</vt:lpstr>
      <vt:lpstr>Inférence</vt:lpstr>
      <vt:lpstr>Limitations RAM</vt:lpstr>
      <vt:lpstr>TP 19</vt:lpstr>
      <vt:lpstr>Post optimisations</vt:lpstr>
      <vt:lpstr>Post Quantization</vt:lpstr>
      <vt:lpstr>Optimisations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Limitations RAM</vt:lpstr>
      <vt:lpstr>TP 20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357</cp:revision>
  <dcterms:created xsi:type="dcterms:W3CDTF">2000-04-10T19:33:12Z</dcterms:created>
  <dcterms:modified xsi:type="dcterms:W3CDTF">2026-06-17T20:27:50Z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