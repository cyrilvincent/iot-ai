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6"/>
  </p:notesMasterIdLst>
  <p:handoutMasterIdLst>
    <p:handoutMasterId r:id="rId17"/>
  </p:handoutMasterIdLst>
  <p:sldIdLst>
    <p:sldId id="264" r:id="rId2"/>
    <p:sldId id="265" r:id="rId3"/>
    <p:sldId id="268" r:id="rId4"/>
    <p:sldId id="269" r:id="rId5"/>
    <p:sldId id="266" r:id="rId6"/>
    <p:sldId id="267" r:id="rId7"/>
    <p:sldId id="271" r:id="rId8"/>
    <p:sldId id="270" r:id="rId9"/>
    <p:sldId id="272" r:id="rId10"/>
    <p:sldId id="273" r:id="rId11"/>
    <p:sldId id="274" r:id="rId12"/>
    <p:sldId id="275" r:id="rId13"/>
    <p:sldId id="276" r:id="rId14"/>
    <p:sldId id="277" r:id="rId1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6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Sécurité et confidentialité des objets connectés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CCE0A-4AFB-9741-5D0F-DBAD404E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la sécurité IoT est cruciale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661872-E880-7083-0162-4ABF3B9E0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L’IoT connecte des milliards d’objets (domestiques, industriels, médicaux), ce qui multiplie la surface d’attaque</a:t>
            </a:r>
          </a:p>
          <a:p>
            <a:r>
              <a:rPr lang="fr-FR" dirty="0"/>
              <a:t>Une faille peut avoir des impacts</a:t>
            </a:r>
          </a:p>
          <a:p>
            <a:pPr lvl="1"/>
            <a:r>
              <a:rPr lang="fr-FR" dirty="0"/>
              <a:t>Financiers (vol de données, fraude)</a:t>
            </a:r>
          </a:p>
          <a:p>
            <a:pPr lvl="1"/>
            <a:r>
              <a:rPr lang="fr-FR" dirty="0"/>
              <a:t>Opérationnels (arrêt de production, sabotage)</a:t>
            </a:r>
          </a:p>
          <a:p>
            <a:pPr lvl="1"/>
            <a:r>
              <a:rPr lang="fr-FR" dirty="0"/>
              <a:t>Physiques (prise de contrôle d’équipements critiques)</a:t>
            </a:r>
          </a:p>
          <a:p>
            <a:pPr lvl="1"/>
            <a:r>
              <a:rPr lang="fr-FR" dirty="0"/>
              <a:t>Exemple de l'aquarium</a:t>
            </a:r>
          </a:p>
        </p:txBody>
      </p:sp>
    </p:spTree>
    <p:extLst>
      <p:ext uri="{BB962C8B-B14F-4D97-AF65-F5344CB8AC3E}">
        <p14:creationId xmlns:p14="http://schemas.microsoft.com/office/powerpoint/2010/main" val="230826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22F938-3E86-2B99-4A13-EB738789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Principales problématiques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21644B-E98A-0840-5877-3B936DFA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Confidentialité des données</a:t>
            </a:r>
          </a:p>
          <a:p>
            <a:pPr lvl="1"/>
            <a:r>
              <a:rPr lang="fr-FR" sz="1800" dirty="0"/>
              <a:t>collecte massive d’informations personnelles (localisation, santé, habitudes)</a:t>
            </a:r>
          </a:p>
          <a:p>
            <a:r>
              <a:rPr lang="fr-FR" sz="2000" dirty="0"/>
              <a:t>Vulnérabilités des dispositifs</a:t>
            </a:r>
          </a:p>
          <a:p>
            <a:pPr lvl="1"/>
            <a:r>
              <a:rPr lang="fr-FR" sz="1800" dirty="0"/>
              <a:t>mots de passe par défaut, absence de mises à jour, </a:t>
            </a:r>
            <a:r>
              <a:rPr lang="fr-FR" sz="1800" dirty="0" err="1"/>
              <a:t>firmware</a:t>
            </a:r>
            <a:r>
              <a:rPr lang="fr-FR" sz="1800" dirty="0"/>
              <a:t> non sécurisé</a:t>
            </a:r>
          </a:p>
          <a:p>
            <a:r>
              <a:rPr lang="fr-FR" sz="2000" dirty="0"/>
              <a:t>Sécurité réseau</a:t>
            </a:r>
          </a:p>
          <a:p>
            <a:pPr lvl="1"/>
            <a:r>
              <a:rPr lang="fr-FR" sz="1800" dirty="0"/>
              <a:t>protocoles non chiffrés, absence de segmentation, exposition aux attaques DDoS (ex. botnet Mirai)</a:t>
            </a:r>
          </a:p>
          <a:p>
            <a:r>
              <a:rPr lang="fr-FR" sz="2000" dirty="0"/>
              <a:t>Interopérabilité</a:t>
            </a:r>
          </a:p>
          <a:p>
            <a:pPr lvl="1"/>
            <a:r>
              <a:rPr lang="fr-FR" sz="1800" dirty="0"/>
              <a:t>hétérogénéité des technologies → difficulté à appliquer des standards uniformes</a:t>
            </a:r>
          </a:p>
          <a:p>
            <a:r>
              <a:rPr lang="fr-FR" sz="2000" dirty="0"/>
              <a:t>Facteur humain</a:t>
            </a:r>
          </a:p>
          <a:p>
            <a:pPr lvl="1"/>
            <a:r>
              <a:rPr lang="fr-FR" sz="1800" dirty="0"/>
              <a:t>manque de sensibilisation, mauvaises pratiques (mots de passe faibles).</a:t>
            </a:r>
          </a:p>
        </p:txBody>
      </p:sp>
    </p:spTree>
    <p:extLst>
      <p:ext uri="{BB962C8B-B14F-4D97-AF65-F5344CB8AC3E}">
        <p14:creationId xmlns:p14="http://schemas.microsoft.com/office/powerpoint/2010/main" val="24102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25A53-C184-07B8-5544-418354351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Risques majeurs du « tout connecté 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3265D-7D2F-4E5A-B965-42F25D48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Prise de contrôle à distance (voitures, dispositifs médicaux)</a:t>
            </a:r>
          </a:p>
          <a:p>
            <a:r>
              <a:rPr lang="fr-FR" dirty="0"/>
              <a:t>Espionnage via caméras, assistants vocaux</a:t>
            </a:r>
          </a:p>
          <a:p>
            <a:r>
              <a:rPr lang="fr-FR" dirty="0"/>
              <a:t>Sabotage industriel</a:t>
            </a:r>
          </a:p>
          <a:p>
            <a:pPr lvl="1"/>
            <a:r>
              <a:rPr lang="fr-FR" dirty="0"/>
              <a:t>altération des données ou arrêt des systèmes</a:t>
            </a:r>
          </a:p>
          <a:p>
            <a:r>
              <a:rPr lang="fr-FR" dirty="0"/>
              <a:t>Non-conformité réglementaire (RGPD, Data </a:t>
            </a:r>
            <a:r>
              <a:rPr lang="fr-FR" dirty="0" err="1"/>
              <a:t>Act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sanctions et perte de confiance.</a:t>
            </a:r>
          </a:p>
        </p:txBody>
      </p:sp>
    </p:spTree>
    <p:extLst>
      <p:ext uri="{BB962C8B-B14F-4D97-AF65-F5344CB8AC3E}">
        <p14:creationId xmlns:p14="http://schemas.microsoft.com/office/powerpoint/2010/main" val="141028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C784FA-3CA8-E532-C54B-CEDE6D32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CNIL - 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99B519-A238-D5B6-DA55-D0A518B86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Cf chapitre RGPD-AIAct.pptx</a:t>
            </a:r>
          </a:p>
        </p:txBody>
      </p:sp>
    </p:spTree>
    <p:extLst>
      <p:ext uri="{BB962C8B-B14F-4D97-AF65-F5344CB8AC3E}">
        <p14:creationId xmlns:p14="http://schemas.microsoft.com/office/powerpoint/2010/main" val="289351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57385-F06D-E8B2-CFC2-685067ED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Bonnes pratiques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BC93B9-9151-A797-8A51-5534B2B0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Security by Design</a:t>
            </a:r>
          </a:p>
          <a:p>
            <a:pPr lvl="1"/>
            <a:r>
              <a:rPr lang="fr-FR" dirty="0"/>
              <a:t>intégrer la sécurité dès la conception</a:t>
            </a:r>
          </a:p>
          <a:p>
            <a:pPr lvl="1"/>
            <a:r>
              <a:rPr lang="fr-FR" dirty="0"/>
              <a:t>hardware</a:t>
            </a:r>
          </a:p>
          <a:p>
            <a:pPr lvl="1"/>
            <a:r>
              <a:rPr lang="fr-FR" dirty="0"/>
              <a:t>software</a:t>
            </a:r>
          </a:p>
          <a:p>
            <a:r>
              <a:rPr lang="fr-FR" dirty="0"/>
              <a:t>Authentification forte et chiffrement des flux</a:t>
            </a:r>
          </a:p>
          <a:p>
            <a:r>
              <a:rPr lang="fr-FR" dirty="0"/>
              <a:t>Mises à jour régulières des </a:t>
            </a:r>
            <a:r>
              <a:rPr lang="fr-FR" dirty="0" err="1"/>
              <a:t>firmwares</a:t>
            </a:r>
            <a:endParaRPr lang="fr-FR" dirty="0"/>
          </a:p>
          <a:p>
            <a:r>
              <a:rPr lang="fr-FR" dirty="0"/>
              <a:t>Segmentation réseau pour isoler les objets IoT</a:t>
            </a:r>
          </a:p>
          <a:p>
            <a:r>
              <a:rPr lang="fr-FR" dirty="0"/>
              <a:t>Surveillance proactive</a:t>
            </a:r>
          </a:p>
          <a:p>
            <a:pPr lvl="1"/>
            <a:r>
              <a:rPr lang="fr-FR" dirty="0"/>
              <a:t>détection d’anomalies, audits</a:t>
            </a:r>
          </a:p>
          <a:p>
            <a:r>
              <a:rPr lang="fr-FR" dirty="0"/>
              <a:t>Choix de solutions certifiées et respect des standards (ISO/IEC, ETSI, OCF).</a:t>
            </a:r>
          </a:p>
        </p:txBody>
      </p:sp>
    </p:spTree>
    <p:extLst>
      <p:ext uri="{BB962C8B-B14F-4D97-AF65-F5344CB8AC3E}">
        <p14:creationId xmlns:p14="http://schemas.microsoft.com/office/powerpoint/2010/main" val="154394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ECEE-2B44-69CE-BF46-61B27FA1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6F8E04-CDEA-1F5B-0855-A165BCA3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Chiffrement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7954F8-96E5-1351-7FC9-C6CD752AB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Garantir la confidentialité des données</a:t>
            </a:r>
          </a:p>
          <a:p>
            <a:r>
              <a:rPr lang="fr-FR" dirty="0"/>
              <a:t>Le chiffrement est indispensable pour sécuriser les communications IoT, depuis le capteur jusqu’au cloud</a:t>
            </a:r>
          </a:p>
          <a:p>
            <a:pPr lvl="1"/>
            <a:r>
              <a:rPr lang="fr-FR" dirty="0"/>
              <a:t>Chiffrement symétrique</a:t>
            </a:r>
          </a:p>
          <a:p>
            <a:pPr lvl="1"/>
            <a:r>
              <a:rPr lang="fr-FR" dirty="0"/>
              <a:t>Chiffrement asymétrique</a:t>
            </a:r>
          </a:p>
        </p:txBody>
      </p:sp>
    </p:spTree>
    <p:extLst>
      <p:ext uri="{BB962C8B-B14F-4D97-AF65-F5344CB8AC3E}">
        <p14:creationId xmlns:p14="http://schemas.microsoft.com/office/powerpoint/2010/main" val="70537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7EDD25-5F27-087F-DB0F-08334E62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CC67AB-3561-E07B-8231-BD8946E11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Chiffrement symétrique (AES)</a:t>
            </a:r>
          </a:p>
          <a:p>
            <a:pPr lvl="1"/>
            <a:r>
              <a:rPr lang="fr-FR" dirty="0"/>
              <a:t>rapide et adapté aux objets contraints</a:t>
            </a:r>
          </a:p>
          <a:p>
            <a:pPr lvl="1"/>
            <a:r>
              <a:rPr lang="fr-FR" dirty="0"/>
              <a:t>nécessite une gestion rigoureuse des clés</a:t>
            </a:r>
          </a:p>
          <a:p>
            <a:pPr lvl="1"/>
            <a:r>
              <a:rPr lang="fr-FR" dirty="0"/>
              <a:t>impossible à utiliser si le nombre de client n'est pas maitrisé</a:t>
            </a:r>
          </a:p>
        </p:txBody>
      </p:sp>
    </p:spTree>
    <p:extLst>
      <p:ext uri="{BB962C8B-B14F-4D97-AF65-F5344CB8AC3E}">
        <p14:creationId xmlns:p14="http://schemas.microsoft.com/office/powerpoint/2010/main" val="385458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5F500-03C9-A2BE-6AE4-C796569B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47EB7B-DE77-4565-9CB8-43C534657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Chiffrement asymétrique (RSA, ECC)</a:t>
            </a:r>
          </a:p>
          <a:p>
            <a:pPr lvl="1"/>
            <a:r>
              <a:rPr lang="fr-FR" dirty="0"/>
              <a:t>utilisé pour l’authentification et l’échange sécurisé des clés</a:t>
            </a:r>
          </a:p>
          <a:p>
            <a:r>
              <a:rPr lang="fr-FR" dirty="0"/>
              <a:t>TLS/SSL et DTLS</a:t>
            </a:r>
          </a:p>
          <a:p>
            <a:pPr lvl="1"/>
            <a:r>
              <a:rPr lang="fr-FR" dirty="0"/>
              <a:t>standards pour sécuriser les flux réseau (HTTP, MQTT, </a:t>
            </a:r>
            <a:r>
              <a:rPr lang="fr-FR" dirty="0" err="1"/>
              <a:t>CoAP</a:t>
            </a:r>
            <a:r>
              <a:rPr lang="fr-FR" dirty="0"/>
              <a:t>)</a:t>
            </a:r>
          </a:p>
          <a:p>
            <a:r>
              <a:rPr lang="fr-FR" dirty="0"/>
              <a:t>Bonnes pratiques</a:t>
            </a:r>
          </a:p>
          <a:p>
            <a:pPr lvl="1"/>
            <a:r>
              <a:rPr lang="fr-FR" dirty="0"/>
              <a:t>Gestion centralisée des clés par des certificats</a:t>
            </a:r>
          </a:p>
          <a:p>
            <a:pPr lvl="1"/>
            <a:r>
              <a:rPr lang="fr-FR" dirty="0"/>
              <a:t>Mises à jour OTA signées et vérifiées pour éviter les compromissions.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689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A3909-B695-B9FA-47B2-B6A331F8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Contrôle d'intégrité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E868C0-B739-CE0E-7AEE-04884DC51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Assurer la fiabilité des données</a:t>
            </a:r>
          </a:p>
          <a:p>
            <a:r>
              <a:rPr lang="fr-FR" dirty="0"/>
              <a:t>L’intégrité des données IoT est cruciale pour éviter les falsifications</a:t>
            </a:r>
          </a:p>
          <a:p>
            <a:pPr lvl="1"/>
            <a:r>
              <a:rPr lang="fr-FR" dirty="0"/>
              <a:t>Concept de signature</a:t>
            </a:r>
          </a:p>
        </p:txBody>
      </p:sp>
    </p:spTree>
    <p:extLst>
      <p:ext uri="{BB962C8B-B14F-4D97-AF65-F5344CB8AC3E}">
        <p14:creationId xmlns:p14="http://schemas.microsoft.com/office/powerpoint/2010/main" val="3909404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3F932-22FB-E909-0F34-1474B7D6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BF82F9-D4C9-41FF-289D-69BE10997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SHA</a:t>
            </a:r>
          </a:p>
          <a:p>
            <a:pPr lvl="1"/>
            <a:r>
              <a:rPr lang="fr-FR" dirty="0"/>
              <a:t>Détecte toute modification des données</a:t>
            </a:r>
          </a:p>
          <a:p>
            <a:pPr lvl="1"/>
            <a:r>
              <a:rPr lang="fr-FR" dirty="0"/>
              <a:t>Signatures numériques </a:t>
            </a:r>
          </a:p>
          <a:p>
            <a:pPr lvl="1"/>
            <a:r>
              <a:rPr lang="fr-FR" dirty="0"/>
              <a:t>Authentifient la source et garantissent la non-altération</a:t>
            </a:r>
          </a:p>
          <a:p>
            <a:r>
              <a:rPr lang="fr-FR" dirty="0"/>
              <a:t>AC</a:t>
            </a:r>
          </a:p>
          <a:p>
            <a:pPr lvl="1"/>
            <a:r>
              <a:rPr lang="fr-FR" dirty="0"/>
              <a:t>Autorité de certification</a:t>
            </a:r>
          </a:p>
          <a:p>
            <a:r>
              <a:rPr lang="fr-FR" dirty="0"/>
              <a:t>Codes de correction (</a:t>
            </a:r>
            <a:r>
              <a:rPr lang="fr-FR" dirty="0" err="1"/>
              <a:t>Hamming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Corrigent les erreurs mineures en transmission. </a:t>
            </a:r>
          </a:p>
        </p:txBody>
      </p:sp>
    </p:spTree>
    <p:extLst>
      <p:ext uri="{BB962C8B-B14F-4D97-AF65-F5344CB8AC3E}">
        <p14:creationId xmlns:p14="http://schemas.microsoft.com/office/powerpoint/2010/main" val="1088540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86247-A763-AE2B-547E-94302F78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Biométrie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60526D-8F79-CDD6-B19A-3031A7D4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biométrie apporte une authentification forte et infalsifiable</a:t>
            </a:r>
          </a:p>
          <a:p>
            <a:pPr lvl="1"/>
            <a:r>
              <a:rPr lang="fr-FR" dirty="0"/>
              <a:t>empreintes digitales</a:t>
            </a:r>
          </a:p>
          <a:p>
            <a:pPr lvl="1"/>
            <a:r>
              <a:rPr lang="fr-FR" dirty="0"/>
              <a:t>reconnaissance faciale</a:t>
            </a:r>
          </a:p>
          <a:p>
            <a:pPr lvl="1"/>
            <a:r>
              <a:rPr lang="fr-FR" dirty="0"/>
              <a:t>voix</a:t>
            </a:r>
          </a:p>
          <a:p>
            <a:pPr lvl="1"/>
            <a:r>
              <a:rPr lang="fr-FR" dirty="0"/>
              <a:t>veines</a:t>
            </a:r>
          </a:p>
          <a:p>
            <a:pPr lvl="1"/>
            <a:r>
              <a:rPr lang="fr-FR" dirty="0"/>
              <a:t>iris</a:t>
            </a:r>
          </a:p>
          <a:p>
            <a:pPr lvl="1"/>
            <a:r>
              <a:rPr lang="fr-FR" dirty="0"/>
              <a:t>biométrie comportementale (dynamique, gestes)</a:t>
            </a:r>
          </a:p>
          <a:p>
            <a:r>
              <a:rPr lang="fr-FR" dirty="0"/>
              <a:t>Soucis</a:t>
            </a:r>
          </a:p>
          <a:p>
            <a:pPr lvl="1"/>
            <a:r>
              <a:rPr lang="fr-FR" dirty="0" err="1"/>
              <a:t>Deepfake</a:t>
            </a:r>
            <a:endParaRPr lang="fr-FR" dirty="0"/>
          </a:p>
          <a:p>
            <a:pPr lvl="1"/>
            <a:r>
              <a:rPr lang="fr-FR" dirty="0"/>
              <a:t>RGPD sur les données biométriques</a:t>
            </a:r>
          </a:p>
        </p:txBody>
      </p:sp>
    </p:spTree>
    <p:extLst>
      <p:ext uri="{BB962C8B-B14F-4D97-AF65-F5344CB8AC3E}">
        <p14:creationId xmlns:p14="http://schemas.microsoft.com/office/powerpoint/2010/main" val="98073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FA66B-6E8D-65FE-9291-42EBA935A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Propriété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BB8162-D355-46DB-6AC7-7BBBE0C7E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Grand débat dans le monde de l'IA</a:t>
            </a:r>
          </a:p>
          <a:p>
            <a:r>
              <a:rPr lang="fr-FR" dirty="0"/>
              <a:t>A qui appartient la donnée ?</a:t>
            </a:r>
          </a:p>
          <a:p>
            <a:pPr lvl="1"/>
            <a:r>
              <a:rPr lang="fr-FR" dirty="0"/>
              <a:t>Contractualisation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1617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EFC52-04F4-07C0-0915-1712E2E7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Firewall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E53D8A-4A3A-77CE-46A8-49E5FAF58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firewalls actuels sont conçus pour HTTP et SSL</a:t>
            </a:r>
          </a:p>
          <a:p>
            <a:pPr lvl="1"/>
            <a:r>
              <a:rPr lang="fr-FR" dirty="0"/>
              <a:t>Nécessitent une adaptation pour les standards IoT</a:t>
            </a:r>
          </a:p>
          <a:p>
            <a:pPr lvl="1"/>
            <a:r>
              <a:rPr lang="fr-FR"/>
              <a:t>Firewalls </a:t>
            </a:r>
            <a:r>
              <a:rPr lang="fr-FR" dirty="0"/>
              <a:t>intelligents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455844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3754</TotalTime>
  <Words>482</Words>
  <Application>Microsoft Office PowerPoint</Application>
  <PresentationFormat>Affichage à l'écran (4:3)</PresentationFormat>
  <Paragraphs>91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Monotype Sorts</vt:lpstr>
      <vt:lpstr>Times New Roman</vt:lpstr>
      <vt:lpstr>cvc</vt:lpstr>
      <vt:lpstr>Présentation PowerPoint</vt:lpstr>
      <vt:lpstr>Pourquoi la sécurité IoT est cruciale ?</vt:lpstr>
      <vt:lpstr>Principales problématiques</vt:lpstr>
      <vt:lpstr>Risques majeurs du « tout connecté »</vt:lpstr>
      <vt:lpstr>CNIL - RGPD</vt:lpstr>
      <vt:lpstr>Bonnes pratiques</vt:lpstr>
      <vt:lpstr>Chiffrement</vt:lpstr>
      <vt:lpstr>AES</vt:lpstr>
      <vt:lpstr>RSA</vt:lpstr>
      <vt:lpstr>Contrôle d'intégrité</vt:lpstr>
      <vt:lpstr>SHA</vt:lpstr>
      <vt:lpstr>Biométrie</vt:lpstr>
      <vt:lpstr>Propriété des données</vt:lpstr>
      <vt:lpstr>Firewall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245</cp:revision>
  <dcterms:created xsi:type="dcterms:W3CDTF">2000-04-10T19:33:12Z</dcterms:created>
  <dcterms:modified xsi:type="dcterms:W3CDTF">2025-12-02T14:00:51Z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