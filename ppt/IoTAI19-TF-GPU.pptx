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0"/>
  </p:notesMasterIdLst>
  <p:handoutMasterIdLst>
    <p:handoutMasterId r:id="rId11"/>
  </p:handoutMasterIdLst>
  <p:sldIdLst>
    <p:sldId id="264" r:id="rId2"/>
    <p:sldId id="266" r:id="rId3"/>
    <p:sldId id="363" r:id="rId4"/>
    <p:sldId id="362" r:id="rId5"/>
    <p:sldId id="364" r:id="rId6"/>
    <p:sldId id="365" r:id="rId7"/>
    <p:sldId id="366" r:id="rId8"/>
    <p:sldId id="361" r:id="rId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715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064A7E8C-15F4-61F7-2B29-D562CB325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740729"/>
            <a:ext cx="6400800" cy="1752600"/>
          </a:xfrm>
        </p:spPr>
        <p:txBody>
          <a:bodyPr/>
          <a:lstStyle/>
          <a:p>
            <a:r>
              <a:rPr lang="fr-FR" dirty="0"/>
              <a:t>GPU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9D8472D-5B6A-2686-274F-C3CA58D00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796" y="3530885"/>
            <a:ext cx="4172532" cy="12098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CPU, GPU, TPU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est multiple CPU</a:t>
            </a:r>
          </a:p>
          <a:p>
            <a:r>
              <a:rPr lang="fr-FR" dirty="0" err="1"/>
              <a:t>TensorFlow</a:t>
            </a:r>
            <a:r>
              <a:rPr lang="fr-FR" dirty="0"/>
              <a:t> est GPU</a:t>
            </a:r>
          </a:p>
          <a:p>
            <a:pPr lvl="1"/>
            <a:r>
              <a:rPr lang="fr-FR" dirty="0"/>
              <a:t>Raison du Succès</a:t>
            </a:r>
          </a:p>
          <a:p>
            <a:pPr lvl="1"/>
            <a:r>
              <a:rPr lang="fr-FR" dirty="0"/>
              <a:t>Technologies GPGPU et GPPGPU</a:t>
            </a:r>
          </a:p>
          <a:p>
            <a:r>
              <a:rPr lang="fr-FR" dirty="0" err="1"/>
              <a:t>TensorFlow</a:t>
            </a:r>
            <a:r>
              <a:rPr lang="fr-FR" dirty="0"/>
              <a:t> est TPU</a:t>
            </a:r>
          </a:p>
          <a:p>
            <a:pPr lvl="1"/>
            <a:r>
              <a:rPr lang="fr-FR" dirty="0" err="1"/>
              <a:t>Tensor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Unit</a:t>
            </a:r>
          </a:p>
          <a:p>
            <a:pPr lvl="1"/>
            <a:r>
              <a:rPr lang="fr-FR" dirty="0"/>
              <a:t>Uniquement pour le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learning</a:t>
            </a:r>
            <a:endParaRPr lang="fr-FR" dirty="0"/>
          </a:p>
          <a:p>
            <a:pPr lvl="1"/>
            <a:r>
              <a:rPr lang="fr-FR" dirty="0"/>
              <a:t>Format propriétaire Google Cloud ML</a:t>
            </a:r>
          </a:p>
          <a:p>
            <a:r>
              <a:rPr lang="fr-FR" dirty="0"/>
              <a:t>CPU, GPU et TPU sont génériques grâce à ABC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491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177128-1627-B527-D9D9-34864EEA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16BE75-1660-319A-C5C4-63A70A3DB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Graphics </a:t>
            </a:r>
            <a:r>
              <a:rPr lang="fr-FR" dirty="0" err="1"/>
              <a:t>Processing</a:t>
            </a:r>
            <a:r>
              <a:rPr lang="fr-FR" dirty="0"/>
              <a:t> Unit</a:t>
            </a:r>
          </a:p>
          <a:p>
            <a:pPr lvl="1"/>
            <a:r>
              <a:rPr lang="fr-FR" dirty="0"/>
              <a:t>FPU : </a:t>
            </a:r>
            <a:r>
              <a:rPr lang="fr-FR" dirty="0" err="1"/>
              <a:t>Float</a:t>
            </a:r>
            <a:r>
              <a:rPr lang="fr-FR" dirty="0"/>
              <a:t> </a:t>
            </a:r>
            <a:r>
              <a:rPr lang="fr-FR" dirty="0" err="1"/>
              <a:t>Ptocessing</a:t>
            </a:r>
            <a:r>
              <a:rPr lang="fr-FR" dirty="0"/>
              <a:t> Unit</a:t>
            </a:r>
          </a:p>
          <a:p>
            <a:pPr lvl="1"/>
            <a:r>
              <a:rPr lang="fr-FR" dirty="0"/>
              <a:t>Architecture RISC</a:t>
            </a:r>
          </a:p>
          <a:p>
            <a:pPr lvl="1"/>
            <a:r>
              <a:rPr lang="fr-FR" dirty="0"/>
              <a:t>Fortement parallèle</a:t>
            </a:r>
          </a:p>
          <a:p>
            <a:pPr lvl="1"/>
            <a:r>
              <a:rPr lang="fr-FR" dirty="0" err="1"/>
              <a:t>Masks</a:t>
            </a:r>
            <a:endParaRPr lang="fr-FR" dirty="0"/>
          </a:p>
          <a:p>
            <a:pPr lvl="1"/>
            <a:r>
              <a:rPr lang="fr-FR" dirty="0"/>
              <a:t>Trigonométrie</a:t>
            </a:r>
          </a:p>
          <a:p>
            <a:pPr lvl="1"/>
            <a:r>
              <a:rPr lang="fr-FR" dirty="0"/>
              <a:t>Plusieurs milliers de cœurs</a:t>
            </a:r>
          </a:p>
          <a:p>
            <a:pPr lvl="1"/>
            <a:r>
              <a:rPr lang="fr-FR" dirty="0"/>
              <a:t>Processeur vectoriel</a:t>
            </a:r>
          </a:p>
          <a:p>
            <a:pPr lvl="1"/>
            <a:r>
              <a:rPr lang="fr-FR" dirty="0"/>
              <a:t>VRAM rapide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43B31F6-98E3-7EE1-DEFC-B7CC2177D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1380535"/>
            <a:ext cx="1648055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3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358E05-3AAA-94A4-DAD4-718ECF26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GPGPU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3AE133-88A9-37E4-79BC-EA6F22B47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General-purpose processing on graphics processing units</a:t>
            </a:r>
          </a:p>
          <a:p>
            <a:r>
              <a:rPr lang="en-US" dirty="0" err="1"/>
              <a:t>Traitements</a:t>
            </a:r>
            <a:r>
              <a:rPr lang="en-US" dirty="0"/>
              <a:t> "</a:t>
            </a:r>
            <a:r>
              <a:rPr lang="en-US" dirty="0" err="1"/>
              <a:t>classiques</a:t>
            </a:r>
            <a:r>
              <a:rPr lang="en-US" dirty="0"/>
              <a:t>" sur GPU</a:t>
            </a:r>
          </a:p>
          <a:p>
            <a:pPr lvl="1"/>
            <a:r>
              <a:rPr lang="en-US" dirty="0"/>
              <a:t>Masks</a:t>
            </a:r>
          </a:p>
          <a:p>
            <a:pPr lvl="1"/>
            <a:r>
              <a:rPr lang="en-US" dirty="0" err="1"/>
              <a:t>Trigonométrie</a:t>
            </a:r>
            <a:endParaRPr lang="en-US" dirty="0"/>
          </a:p>
          <a:p>
            <a:pPr lvl="1"/>
            <a:r>
              <a:rPr lang="en-US" dirty="0" err="1"/>
              <a:t>Fortement</a:t>
            </a:r>
            <a:r>
              <a:rPr lang="en-US" dirty="0"/>
              <a:t> parallelizable</a:t>
            </a:r>
          </a:p>
          <a:p>
            <a:pPr lvl="1"/>
            <a:endParaRPr lang="en-US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2211824-1C29-A76B-4F1F-3229B4C91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578" y="4005064"/>
            <a:ext cx="4846421" cy="280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93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081CE4-A66F-51E3-0AC2-CFD089CD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Nvidia</a:t>
            </a:r>
            <a:r>
              <a:rPr lang="fr-FR" dirty="0"/>
              <a:t> CUDA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3EDE17-CB76-2684-B7F8-298164092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Unified</a:t>
            </a:r>
            <a:r>
              <a:rPr lang="fr-FR" dirty="0"/>
              <a:t> </a:t>
            </a:r>
            <a:r>
              <a:rPr lang="fr-FR" dirty="0" err="1"/>
              <a:t>Device</a:t>
            </a:r>
            <a:r>
              <a:rPr lang="fr-FR" dirty="0"/>
              <a:t> Architecture</a:t>
            </a:r>
          </a:p>
          <a:p>
            <a:pPr lvl="1"/>
            <a:r>
              <a:rPr lang="fr-FR" dirty="0"/>
              <a:t>Technologie GPGPU propriétaire de </a:t>
            </a:r>
            <a:r>
              <a:rPr lang="fr-FR" dirty="0" err="1"/>
              <a:t>Nvidia</a:t>
            </a:r>
            <a:endParaRPr lang="fr-FR" dirty="0"/>
          </a:p>
          <a:p>
            <a:pPr lvl="1"/>
            <a:r>
              <a:rPr lang="fr-FR" dirty="0"/>
              <a:t>Domine le marché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64C409-E89B-7305-2D2A-D41DB3FD7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2414895"/>
            <a:ext cx="4583261" cy="442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34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A3871E-1E6D-18F2-47EB-7D2A5737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GPGPU </a:t>
            </a:r>
            <a:r>
              <a:rPr lang="fr-FR" dirty="0" err="1"/>
              <a:t>Tensor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197071-B17C-FEC2-5F43-2659CF141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d'exécuter une opération par </a:t>
            </a:r>
            <a:r>
              <a:rPr lang="fr-FR" dirty="0" err="1"/>
              <a:t>core</a:t>
            </a:r>
            <a:r>
              <a:rPr lang="fr-FR" dirty="0"/>
              <a:t> très rapidement</a:t>
            </a:r>
          </a:p>
          <a:p>
            <a:r>
              <a:rPr lang="fr-FR" dirty="0"/>
              <a:t>A condition</a:t>
            </a:r>
          </a:p>
          <a:p>
            <a:pPr lvl="1"/>
            <a:r>
              <a:rPr lang="fr-FR" dirty="0"/>
              <a:t>Une même fonction pour tous les cœurs</a:t>
            </a:r>
          </a:p>
          <a:p>
            <a:pPr lvl="1"/>
            <a:r>
              <a:rPr lang="fr-FR" dirty="0"/>
              <a:t>Les données en VRAM</a:t>
            </a:r>
          </a:p>
          <a:p>
            <a:r>
              <a:rPr lang="fr-FR" dirty="0"/>
              <a:t>Permet de calculer un layer entier d'un MLP en 1 seul cycle si la VRAM le permet</a:t>
            </a:r>
          </a:p>
          <a:p>
            <a:pPr lvl="1"/>
            <a:r>
              <a:rPr lang="fr-FR" dirty="0"/>
              <a:t>Au lieu de n*m cycles pour un CPU avec n les nombre d'inputs des perceptrons et m le nombre de neurone sur le layer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9239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6F4A9B-369E-7242-BBE3-963196D41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CuDNN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3DD6F8-2A0E-14F0-BCC3-6D5EA733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NVidia</a:t>
            </a:r>
            <a:r>
              <a:rPr lang="fr-FR" dirty="0"/>
              <a:t> CUDNN est un driver C++ qui implémente l'inférence et la </a:t>
            </a:r>
            <a:r>
              <a:rPr lang="fr-FR" dirty="0" err="1"/>
              <a:t>backpropagation</a:t>
            </a:r>
            <a:r>
              <a:rPr lang="fr-FR" dirty="0"/>
              <a:t> en GPGPU CUDA</a:t>
            </a:r>
          </a:p>
          <a:p>
            <a:pPr lvl="1"/>
            <a:r>
              <a:rPr lang="fr-FR" dirty="0"/>
              <a:t>Les fonctions d'activations (1 par layer) et leurs dérivées</a:t>
            </a:r>
          </a:p>
          <a:p>
            <a:pPr lvl="1"/>
            <a:r>
              <a:rPr lang="fr-FR" dirty="0"/>
              <a:t>Les fonctions trigonométriques nécessaires</a:t>
            </a:r>
          </a:p>
          <a:p>
            <a:pPr lvl="1"/>
            <a:r>
              <a:rPr lang="fr-FR" dirty="0"/>
              <a:t>Les sommes pondérées</a:t>
            </a:r>
          </a:p>
          <a:p>
            <a:pPr lvl="1"/>
            <a:r>
              <a:rPr lang="fr-FR" dirty="0"/>
              <a:t>Les calculs de </a:t>
            </a:r>
            <a:r>
              <a:rPr lang="fr-FR" dirty="0" err="1"/>
              <a:t>loss</a:t>
            </a:r>
            <a:endParaRPr lang="fr-FR" dirty="0"/>
          </a:p>
          <a:p>
            <a:pPr lvl="1"/>
            <a:r>
              <a:rPr lang="fr-FR" dirty="0"/>
              <a:t>Gratuit mais sous licence</a:t>
            </a:r>
          </a:p>
        </p:txBody>
      </p:sp>
    </p:spTree>
    <p:extLst>
      <p:ext uri="{BB962C8B-B14F-4D97-AF65-F5344CB8AC3E}">
        <p14:creationId xmlns:p14="http://schemas.microsoft.com/office/powerpoint/2010/main" val="3074223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69DFA7-2FBE-D866-9784-19AF5183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TP 18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0BF5C7-8229-FA20-A2F9-C8C087D9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TF MLP MNIST sur GPU</a:t>
            </a:r>
          </a:p>
          <a:p>
            <a:pPr lvl="1"/>
            <a:r>
              <a:rPr lang="fr-FR" dirty="0"/>
              <a:t>CUDA</a:t>
            </a:r>
          </a:p>
          <a:p>
            <a:pPr lvl="1"/>
            <a:r>
              <a:rPr lang="fr-FR" dirty="0" err="1"/>
              <a:t>CuDNN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697073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8299</TotalTime>
  <Words>220</Words>
  <Application>Microsoft Office PowerPoint</Application>
  <PresentationFormat>Affichage à l'écran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Monotype Sorts</vt:lpstr>
      <vt:lpstr>Times New Roman</vt:lpstr>
      <vt:lpstr>cvc</vt:lpstr>
      <vt:lpstr>Présentation PowerPoint</vt:lpstr>
      <vt:lpstr>CPU, GPU, TPU</vt:lpstr>
      <vt:lpstr>GPU</vt:lpstr>
      <vt:lpstr>GPGPU</vt:lpstr>
      <vt:lpstr>Nvidia CUDA</vt:lpstr>
      <vt:lpstr>GPGPU Tensor</vt:lpstr>
      <vt:lpstr>CuDNN</vt:lpstr>
      <vt:lpstr>TP 18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341</cp:revision>
  <dcterms:created xsi:type="dcterms:W3CDTF">2000-04-10T19:33:12Z</dcterms:created>
  <dcterms:modified xsi:type="dcterms:W3CDTF">2026-06-11T19:40:55Z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