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349" r:id="rId3"/>
    <p:sldId id="360" r:id="rId4"/>
    <p:sldId id="352" r:id="rId5"/>
    <p:sldId id="353" r:id="rId6"/>
    <p:sldId id="354" r:id="rId7"/>
    <p:sldId id="355" r:id="rId8"/>
    <p:sldId id="361" r:id="rId9"/>
    <p:sldId id="356" r:id="rId10"/>
    <p:sldId id="357" r:id="rId11"/>
    <p:sldId id="359" r:id="rId12"/>
    <p:sldId id="362" r:id="rId13"/>
    <p:sldId id="363" r:id="rId14"/>
    <p:sldId id="358" r:id="rId15"/>
    <p:sldId id="365" r:id="rId16"/>
    <p:sldId id="364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11</a:t>
            </a:r>
          </a:p>
          <a:p>
            <a:pPr eaLnBrk="1" hangingPunct="1"/>
            <a:r>
              <a:rPr lang="fr-FR" altLang="fr-FR" dirty="0" err="1"/>
              <a:t>Models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646271"/>
            <a:ext cx="25908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pré-entrainés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fournit des modèles pré-entrainés</a:t>
            </a:r>
          </a:p>
          <a:p>
            <a:pPr lvl="1"/>
            <a:r>
              <a:rPr lang="fr-FR" dirty="0" err="1"/>
              <a:t>Xception</a:t>
            </a:r>
            <a:endParaRPr lang="fr-FR" dirty="0"/>
          </a:p>
          <a:p>
            <a:pPr lvl="1"/>
            <a:r>
              <a:rPr lang="fr-FR" dirty="0"/>
              <a:t>VGG16</a:t>
            </a:r>
          </a:p>
          <a:p>
            <a:pPr lvl="1"/>
            <a:r>
              <a:rPr lang="fr-FR" dirty="0"/>
              <a:t>VGG19</a:t>
            </a:r>
          </a:p>
          <a:p>
            <a:pPr lvl="1"/>
            <a:r>
              <a:rPr lang="fr-FR" dirty="0"/>
              <a:t>ResNet50</a:t>
            </a:r>
          </a:p>
          <a:p>
            <a:pPr lvl="1"/>
            <a:r>
              <a:rPr lang="fr-FR" dirty="0"/>
              <a:t>InceptionV3</a:t>
            </a:r>
          </a:p>
          <a:p>
            <a:pPr lvl="1"/>
            <a:r>
              <a:rPr lang="fr-FR" dirty="0"/>
              <a:t>InceptionResNetV2</a:t>
            </a:r>
          </a:p>
          <a:p>
            <a:pPr lvl="1"/>
            <a:r>
              <a:rPr lang="fr-FR" dirty="0" err="1"/>
              <a:t>MobileNet</a:t>
            </a:r>
            <a:endParaRPr lang="fr-FR" dirty="0"/>
          </a:p>
          <a:p>
            <a:pPr lvl="1"/>
            <a:r>
              <a:rPr lang="fr-FR" dirty="0" err="1"/>
              <a:t>DenseNet</a:t>
            </a:r>
            <a:endParaRPr lang="fr-FR" dirty="0"/>
          </a:p>
          <a:p>
            <a:pPr lvl="1"/>
            <a:r>
              <a:rPr lang="fr-FR" dirty="0" err="1"/>
              <a:t>NASNet</a:t>
            </a:r>
            <a:endParaRPr lang="fr-FR" dirty="0"/>
          </a:p>
          <a:p>
            <a:pPr lvl="1"/>
            <a:r>
              <a:rPr lang="fr-FR" dirty="0"/>
              <a:t>MobileNetV2</a:t>
            </a:r>
          </a:p>
        </p:txBody>
      </p:sp>
    </p:spTree>
    <p:extLst>
      <p:ext uri="{BB962C8B-B14F-4D97-AF65-F5344CB8AC3E}">
        <p14:creationId xmlns:p14="http://schemas.microsoft.com/office/powerpoint/2010/main" val="422283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 premier </a:t>
            </a:r>
            <a:r>
              <a:rPr lang="fr-FR" dirty="0" err="1"/>
              <a:t>Deep</a:t>
            </a:r>
            <a:r>
              <a:rPr lang="fr-FR" dirty="0"/>
              <a:t> Network : 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VGG16 est un modèle </a:t>
            </a:r>
            <a:r>
              <a:rPr lang="fr-FR" dirty="0" err="1"/>
              <a:t>Keras</a:t>
            </a:r>
            <a:r>
              <a:rPr lang="fr-FR" dirty="0"/>
              <a:t> de traitement d'image pré-entrainé depuis </a:t>
            </a:r>
            <a:r>
              <a:rPr lang="fr-FR" dirty="0" err="1"/>
              <a:t>ImageNet</a:t>
            </a:r>
            <a:r>
              <a:rPr lang="fr-FR" dirty="0"/>
              <a:t> avec 1000 catégories</a:t>
            </a:r>
          </a:p>
          <a:p>
            <a:endParaRPr lang="fr-FR" dirty="0"/>
          </a:p>
        </p:txBody>
      </p:sp>
      <p:pic>
        <p:nvPicPr>
          <p:cNvPr id="1026" name="Picture 2" descr="https://cdn-images-1.medium.com/max/800/1*LdB1mhrN6hT-EznkkFE8C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24125"/>
            <a:ext cx="6984776" cy="39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Simonyan</a:t>
            </a:r>
            <a:r>
              <a:rPr lang="en-US" dirty="0"/>
              <a:t> and Zisserman</a:t>
            </a:r>
          </a:p>
          <a:p>
            <a:pPr lvl="1"/>
            <a:r>
              <a:rPr lang="en-US" dirty="0"/>
              <a:t>Visual Geometry Group (VGG)</a:t>
            </a:r>
          </a:p>
          <a:p>
            <a:pPr lvl="1"/>
            <a:r>
              <a:rPr lang="en-US" dirty="0"/>
              <a:t>University of Oxford</a:t>
            </a:r>
          </a:p>
          <a:p>
            <a:pPr lvl="1"/>
            <a:r>
              <a:rPr lang="en-US" dirty="0"/>
              <a:t>2014</a:t>
            </a:r>
          </a:p>
          <a:p>
            <a:r>
              <a:rPr lang="en-US" dirty="0"/>
              <a:t>Puissant</a:t>
            </a:r>
          </a:p>
          <a:p>
            <a:r>
              <a:rPr lang="en-US" dirty="0" err="1"/>
              <a:t>Volumineux</a:t>
            </a:r>
            <a:endParaRPr lang="en-US" dirty="0"/>
          </a:p>
          <a:p>
            <a:r>
              <a:rPr lang="en-US" dirty="0"/>
              <a:t>Lent</a:t>
            </a:r>
          </a:p>
          <a:p>
            <a:r>
              <a:rPr lang="en-US" dirty="0" err="1"/>
              <a:t>Nécessite</a:t>
            </a:r>
            <a:r>
              <a:rPr lang="en-US" dirty="0"/>
              <a:t> beaucoup de </a:t>
            </a:r>
            <a:r>
              <a:rPr lang="en-US" dirty="0" err="1"/>
              <a:t>données</a:t>
            </a:r>
            <a:endParaRPr lang="en-US" dirty="0"/>
          </a:p>
          <a:p>
            <a:r>
              <a:rPr lang="en-US" dirty="0" err="1"/>
              <a:t>Elastique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2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</a:t>
            </a:r>
          </a:p>
          <a:p>
            <a:r>
              <a:rPr lang="fr-FR" dirty="0"/>
              <a:t>2016</a:t>
            </a:r>
          </a:p>
          <a:p>
            <a:r>
              <a:rPr lang="fr-FR" dirty="0"/>
              <a:t>Non séquentiel</a:t>
            </a:r>
          </a:p>
        </p:txBody>
      </p:sp>
      <p:pic>
        <p:nvPicPr>
          <p:cNvPr id="3074" name="Picture 2" descr="https://miro.medium.com/max/798/1*63ZlzSqS851I3nW89PUVl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24944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69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d’</a:t>
            </a:r>
            <a:r>
              <a:rPr lang="fr-FR" dirty="0" err="1"/>
              <a:t>inception</a:t>
            </a:r>
            <a:endParaRPr lang="fr-FR" dirty="0"/>
          </a:p>
        </p:txBody>
      </p:sp>
      <p:pic>
        <p:nvPicPr>
          <p:cNvPr id="4098" name="Picture 2" descr="https://miro.medium.com/max/926/1*TKvnmgZw4EWUKKrshRrWJ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86304"/>
            <a:ext cx="7058025" cy="534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6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Francois Chollet – Google</a:t>
            </a:r>
          </a:p>
          <a:p>
            <a:r>
              <a:rPr lang="fr-FR" dirty="0"/>
              <a:t>2016</a:t>
            </a:r>
          </a:p>
        </p:txBody>
      </p:sp>
      <p:pic>
        <p:nvPicPr>
          <p:cNvPr id="5122" name="Picture 2" descr="https://miro.medium.com/max/1410/1*hOcAEj9QzqgBXcwUzmEvS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127543"/>
            <a:ext cx="6288633" cy="43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11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18B72-43C3-40AA-8432-BE55FB51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SeparableConv2d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C04073-9745-42C0-92A2-3ECAF0AC0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Conv2d applique un kernel par canal</a:t>
            </a:r>
          </a:p>
          <a:p>
            <a:pPr lvl="1"/>
            <a:r>
              <a:rPr lang="fr-FR" dirty="0"/>
              <a:t>Pour une image couleur, une convolution par couleur</a:t>
            </a:r>
          </a:p>
          <a:p>
            <a:r>
              <a:rPr lang="fr-FR" dirty="0"/>
              <a:t>SeparableConv2d va faire la convolution sur tous les canaux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SeparableConv2d(32,(1,1)) va simplement effectuer une convolution par canal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4ED564-EC97-40A1-9888-07ABC136A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488" y="3444385"/>
            <a:ext cx="5546923" cy="163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08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sauter un layer</a:t>
            </a:r>
          </a:p>
        </p:txBody>
      </p:sp>
      <p:pic>
        <p:nvPicPr>
          <p:cNvPr id="6146" name="Picture 2" descr="Résultat de recherche d'images pour &quot;resnet deep learning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04864"/>
            <a:ext cx="2601092" cy="367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73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r>
              <a:rPr lang="fr-FR" dirty="0"/>
              <a:t> est un </a:t>
            </a:r>
            <a:r>
              <a:rPr lang="fr-FR" dirty="0" err="1"/>
              <a:t>Residual</a:t>
            </a:r>
            <a:r>
              <a:rPr lang="fr-FR" dirty="0"/>
              <a:t> Network</a:t>
            </a:r>
          </a:p>
          <a:p>
            <a:r>
              <a:rPr lang="fr-FR" dirty="0"/>
              <a:t>2015</a:t>
            </a:r>
          </a:p>
        </p:txBody>
      </p:sp>
      <p:pic>
        <p:nvPicPr>
          <p:cNvPr id="7170" name="Picture 2" descr="https://miro.medium.com/max/1905/1*6hF97Upuqg_LdsqWY6n_w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8230753" cy="362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72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modèles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28038"/>
            <a:ext cx="6552728" cy="48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6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03C7D-0500-27BB-C76E-3E156186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AlexNet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599E61-3F27-94CA-0F22-1EC3503A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CIFAR 10 est un </a:t>
            </a:r>
            <a:r>
              <a:rPr lang="fr-FR" dirty="0" err="1"/>
              <a:t>dataset</a:t>
            </a:r>
            <a:r>
              <a:rPr lang="fr-FR" dirty="0"/>
              <a:t> de 10 catégories</a:t>
            </a:r>
          </a:p>
          <a:p>
            <a:r>
              <a:rPr lang="fr-FR" dirty="0"/>
              <a:t>Le premier </a:t>
            </a:r>
            <a:r>
              <a:rPr lang="fr-FR" dirty="0" err="1"/>
              <a:t>àavoir</a:t>
            </a:r>
            <a:r>
              <a:rPr lang="fr-FR" dirty="0"/>
              <a:t> </a:t>
            </a:r>
            <a:r>
              <a:rPr lang="fr-FR" dirty="0" err="1"/>
              <a:t>resolu</a:t>
            </a:r>
            <a:r>
              <a:rPr lang="fr-FR" dirty="0"/>
              <a:t> ce problème est Yann </a:t>
            </a:r>
            <a:r>
              <a:rPr lang="fr-FR" dirty="0" err="1"/>
              <a:t>Lecun</a:t>
            </a:r>
            <a:r>
              <a:rPr lang="fr-FR" dirty="0"/>
              <a:t> avec un modèle appelé </a:t>
            </a:r>
            <a:r>
              <a:rPr lang="fr-FR" dirty="0" err="1"/>
              <a:t>AlexNet</a:t>
            </a:r>
            <a:r>
              <a:rPr lang="fr-FR" dirty="0"/>
              <a:t> en 2012</a:t>
            </a:r>
          </a:p>
          <a:p>
            <a:r>
              <a:rPr lang="fr-FR" dirty="0"/>
              <a:t>Voir tf_lecun.py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ED1A1-1D67-BC9A-6EF2-726D5408F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731" y="2910084"/>
            <a:ext cx="5102269" cy="396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3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18C1F-DAD2-3EF9-ACEF-2C7E4DAF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238C8-448C-96C6-2005-442739E2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r>
              <a:rPr lang="fr-FR" dirty="0"/>
              <a:t> est le </a:t>
            </a:r>
            <a:r>
              <a:rPr lang="fr-FR" dirty="0" err="1"/>
              <a:t>dataset</a:t>
            </a:r>
            <a:r>
              <a:rPr lang="fr-FR" dirty="0"/>
              <a:t> utilisé par les outils de vérification d'humanité</a:t>
            </a:r>
          </a:p>
          <a:p>
            <a:r>
              <a:rPr lang="fr-FR" dirty="0"/>
              <a:t>Il possède 1000 classes d'images</a:t>
            </a:r>
          </a:p>
          <a:p>
            <a:pPr lvl="1"/>
            <a:r>
              <a:rPr lang="fr-FR" dirty="0"/>
              <a:t>Résolu efficacement avec </a:t>
            </a:r>
            <a:r>
              <a:rPr lang="fr-FR" dirty="0" err="1"/>
              <a:t>RestNet</a:t>
            </a:r>
            <a:r>
              <a:rPr lang="fr-FR" dirty="0"/>
              <a:t> en 2017</a:t>
            </a:r>
          </a:p>
          <a:p>
            <a:pPr lvl="1"/>
            <a:r>
              <a:rPr lang="fr-FR" dirty="0"/>
              <a:t>Résolu en embarqué efficacement avec MobileNetV1 en 2018</a:t>
            </a:r>
          </a:p>
        </p:txBody>
      </p:sp>
    </p:spTree>
    <p:extLst>
      <p:ext uri="{BB962C8B-B14F-4D97-AF65-F5344CB8AC3E}">
        <p14:creationId xmlns:p14="http://schemas.microsoft.com/office/powerpoint/2010/main" val="260126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MobileNet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but des réseaux </a:t>
            </a:r>
            <a:r>
              <a:rPr lang="fr-FR" dirty="0" err="1"/>
              <a:t>MobileNet</a:t>
            </a:r>
            <a:r>
              <a:rPr lang="fr-FR" dirty="0"/>
              <a:t> est d’abaisser le nombre de poids pour accélérer l’inférence</a:t>
            </a:r>
          </a:p>
          <a:p>
            <a:r>
              <a:rPr lang="fr-FR" dirty="0"/>
              <a:t>Fonctionne sur des mobiles</a:t>
            </a:r>
          </a:p>
          <a:p>
            <a:r>
              <a:rPr lang="fr-FR" dirty="0"/>
              <a:t>Voir tf_mobilenet.py</a:t>
            </a:r>
          </a:p>
        </p:txBody>
      </p:sp>
      <p:pic>
        <p:nvPicPr>
          <p:cNvPr id="8194" name="Picture 2" descr="Résultat de recherche d'images pour &quot;mobilenet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3379576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73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612C4-1C36-CD3D-C643-FE4BC158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1F04F-EA56-6FD1-59CD-80ADA5B45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7560840" cy="5040560"/>
          </a:xfrm>
        </p:spPr>
        <p:txBody>
          <a:bodyPr/>
          <a:lstStyle/>
          <a:p>
            <a:r>
              <a:rPr lang="fr-FR" dirty="0"/>
              <a:t>Permet d'afficher un réseau de neurones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tflite</a:t>
            </a:r>
            <a:r>
              <a:rPr lang="fr-FR" dirty="0"/>
              <a:t> et h5</a:t>
            </a:r>
          </a:p>
          <a:p>
            <a:pPr lvl="1"/>
            <a:r>
              <a:rPr lang="fr-FR" dirty="0"/>
              <a:t>Permet de maitriser les </a:t>
            </a:r>
            <a:r>
              <a:rPr lang="fr-FR" dirty="0" err="1"/>
              <a:t>shapes</a:t>
            </a:r>
            <a:r>
              <a:rPr lang="fr-FR" dirty="0"/>
              <a:t> d'entrées et de sorties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5E5538-1FEC-A05F-C444-0B9D4FED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09" y="12778"/>
            <a:ext cx="6563641" cy="1200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11FA04-FA8C-2C07-F047-E9D15D12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567" y="-13209"/>
            <a:ext cx="1231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9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D5C56-8C18-4738-3A0E-AE1FE6B1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14 et TP 15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197A16-48EC-16D8-1331-2077CCBE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Prédictions CIFAR 10</a:t>
            </a:r>
          </a:p>
          <a:p>
            <a:r>
              <a:rPr lang="fr-FR" dirty="0"/>
              <a:t>Prédictions </a:t>
            </a:r>
            <a:r>
              <a:rPr lang="fr-FR" dirty="0" err="1"/>
              <a:t>ImageNet</a:t>
            </a:r>
            <a:endParaRPr lang="fr-FR" dirty="0"/>
          </a:p>
          <a:p>
            <a:r>
              <a:rPr lang="fr-FR" dirty="0"/>
              <a:t>Apprentissage et prédiction MobileNetV1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91233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17655</TotalTime>
  <Words>253</Words>
  <Application>Microsoft Office PowerPoint</Application>
  <PresentationFormat>Affichage à l'écran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Modèles pré-entrainés</vt:lpstr>
      <vt:lpstr>Mon premier Deep Network : VGG16</vt:lpstr>
      <vt:lpstr>VGG16</vt:lpstr>
      <vt:lpstr>Inception</vt:lpstr>
      <vt:lpstr>Détail d’inception</vt:lpstr>
      <vt:lpstr>XCeption</vt:lpstr>
      <vt:lpstr>SeparableConv2d</vt:lpstr>
      <vt:lpstr>Residual Network</vt:lpstr>
      <vt:lpstr>ResNet</vt:lpstr>
      <vt:lpstr>Liste des modèles Keras</vt:lpstr>
      <vt:lpstr>AlexNet</vt:lpstr>
      <vt:lpstr>ImageNet</vt:lpstr>
      <vt:lpstr>MobileNet</vt:lpstr>
      <vt:lpstr>Présentation PowerPoint</vt:lpstr>
      <vt:lpstr>TP 14 et TP 15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547</cp:revision>
  <dcterms:created xsi:type="dcterms:W3CDTF">2000-04-10T19:33:12Z</dcterms:created>
  <dcterms:modified xsi:type="dcterms:W3CDTF">2026-03-17T11:52:43Z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