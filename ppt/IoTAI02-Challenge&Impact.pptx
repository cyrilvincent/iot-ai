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0"/>
  </p:notesMasterIdLst>
  <p:handoutMasterIdLst>
    <p:handoutMasterId r:id="rId11"/>
  </p:handoutMasterIdLst>
  <p:sldIdLst>
    <p:sldId id="264" r:id="rId2"/>
    <p:sldId id="300" r:id="rId3"/>
    <p:sldId id="301" r:id="rId4"/>
    <p:sldId id="304" r:id="rId5"/>
    <p:sldId id="306" r:id="rId6"/>
    <p:sldId id="307" r:id="rId7"/>
    <p:sldId id="308" r:id="rId8"/>
    <p:sldId id="309" r:id="rId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endParaRPr lang="fr-FR" dirty="0"/>
          </a:p>
          <a:p>
            <a:r>
              <a:rPr lang="fr-FR" dirty="0"/>
              <a:t> </a:t>
            </a:r>
            <a:r>
              <a:rPr lang="fr-FR" b="1" dirty="0"/>
              <a:t>Enjeux, impacts</a:t>
            </a:r>
            <a:endParaRPr lang="fr-FR" alt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6230C-D225-47ED-751A-19233568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Enjeux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CA5798-788E-0A24-A6F2-1F37B4B83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Enjeux, impacts sur les marchés, applications et services</a:t>
            </a:r>
          </a:p>
          <a:p>
            <a:r>
              <a:rPr lang="fr-FR" dirty="0"/>
              <a:t>Quel avenir pour l’Internet des objets ?</a:t>
            </a:r>
          </a:p>
        </p:txBody>
      </p:sp>
    </p:spTree>
    <p:extLst>
      <p:ext uri="{BB962C8B-B14F-4D97-AF65-F5344CB8AC3E}">
        <p14:creationId xmlns:p14="http://schemas.microsoft.com/office/powerpoint/2010/main" val="1313199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807CDA-49CF-F5AC-D6E5-734345EDE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Évolution vers des offres orientées services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AE8E87-FD19-C441-AC9C-3840C29EA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L’IoT transforme les modèles économiques traditionnels en favorisant une logique de service plutôt que de simple produit</a:t>
            </a:r>
          </a:p>
          <a:p>
            <a:r>
              <a:rPr lang="fr-FR" dirty="0"/>
              <a:t>Les données collectées par les objets connectés permettent</a:t>
            </a:r>
          </a:p>
          <a:p>
            <a:pPr lvl="1"/>
            <a:r>
              <a:rPr lang="fr-FR" dirty="0"/>
              <a:t>Maintenance prédictive : anticiper les pannes et proposer des contrats de maintenance basés sur l’usage réel</a:t>
            </a:r>
          </a:p>
          <a:p>
            <a:pPr lvl="1"/>
            <a:r>
              <a:rPr lang="fr-FR" dirty="0"/>
              <a:t>Offres personnalisées : ajuster les services en fonction des comportements des clients</a:t>
            </a:r>
          </a:p>
          <a:p>
            <a:pPr lvl="1"/>
            <a:r>
              <a:rPr lang="fr-FR" dirty="0"/>
              <a:t>Abonnements et facturation à l’usage : nouveaux modèles récurrents pour générer des revenus stables.</a:t>
            </a:r>
          </a:p>
        </p:txBody>
      </p:sp>
    </p:spTree>
    <p:extLst>
      <p:ext uri="{BB962C8B-B14F-4D97-AF65-F5344CB8AC3E}">
        <p14:creationId xmlns:p14="http://schemas.microsoft.com/office/powerpoint/2010/main" val="2194675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A2354-6938-01D2-DBCD-715999D34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Nouveaux secteurs et opportunités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9DB59B-391A-0FBB-39D2-59C172EDE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Industrie</a:t>
            </a:r>
          </a:p>
          <a:p>
            <a:pPr lvl="1"/>
            <a:r>
              <a:rPr lang="fr-FR" dirty="0"/>
              <a:t>optimisation des chaînes d’approvisionnement, réduction des temps d’arrêt, automatisation</a:t>
            </a:r>
          </a:p>
          <a:p>
            <a:r>
              <a:rPr lang="fr-FR" dirty="0"/>
              <a:t>Santé</a:t>
            </a:r>
          </a:p>
          <a:p>
            <a:pPr lvl="1"/>
            <a:r>
              <a:rPr lang="fr-FR" dirty="0"/>
              <a:t>suivi à distance, dispositifs médicaux connectés</a:t>
            </a:r>
          </a:p>
          <a:p>
            <a:r>
              <a:rPr lang="fr-FR" dirty="0"/>
              <a:t>Smart Cities</a:t>
            </a:r>
          </a:p>
          <a:p>
            <a:pPr lvl="1"/>
            <a:r>
              <a:rPr lang="fr-FR" dirty="0"/>
              <a:t>gestion intelligente des infrastructures (éclairage, parkings, énergie)</a:t>
            </a:r>
          </a:p>
          <a:p>
            <a:r>
              <a:rPr lang="fr-FR" dirty="0"/>
              <a:t>Agriculture</a:t>
            </a:r>
          </a:p>
          <a:p>
            <a:pPr lvl="1"/>
            <a:r>
              <a:rPr lang="fr-FR" dirty="0"/>
              <a:t>irrigation intelligente, réduction des déchets</a:t>
            </a:r>
          </a:p>
        </p:txBody>
      </p:sp>
    </p:spTree>
    <p:extLst>
      <p:ext uri="{BB962C8B-B14F-4D97-AF65-F5344CB8AC3E}">
        <p14:creationId xmlns:p14="http://schemas.microsoft.com/office/powerpoint/2010/main" val="1953114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5D24EA-24FE-1364-5834-84B97032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Tendances clés pour 2027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A3965C-4C5A-C5F9-2155-36F8899E1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AIoT</a:t>
            </a:r>
            <a:r>
              <a:rPr lang="fr-FR" dirty="0"/>
              <a:t> (IA + IoT)</a:t>
            </a:r>
          </a:p>
          <a:p>
            <a:pPr lvl="1"/>
            <a:r>
              <a:rPr lang="fr-FR" dirty="0"/>
              <a:t>objets capables de décisions autonomes</a:t>
            </a:r>
          </a:p>
          <a:p>
            <a:r>
              <a:rPr lang="fr-FR" dirty="0"/>
              <a:t>Edge </a:t>
            </a:r>
            <a:r>
              <a:rPr lang="fr-FR" dirty="0" err="1"/>
              <a:t>Computing</a:t>
            </a:r>
            <a:endParaRPr lang="fr-FR" dirty="0"/>
          </a:p>
          <a:p>
            <a:pPr lvl="1"/>
            <a:r>
              <a:rPr lang="fr-FR" dirty="0"/>
              <a:t>traitement local pour réduire la latence</a:t>
            </a:r>
          </a:p>
          <a:p>
            <a:r>
              <a:rPr lang="fr-FR" dirty="0"/>
              <a:t>5G et LPWAN</a:t>
            </a:r>
          </a:p>
          <a:p>
            <a:pPr lvl="1"/>
            <a:r>
              <a:rPr lang="fr-FR" dirty="0"/>
              <a:t>connectivité renforcée pour des applications critiques</a:t>
            </a:r>
          </a:p>
          <a:p>
            <a:r>
              <a:rPr lang="fr-FR" dirty="0"/>
              <a:t>Durabilité</a:t>
            </a:r>
          </a:p>
          <a:p>
            <a:pPr lvl="1"/>
            <a:r>
              <a:rPr lang="fr-FR" dirty="0"/>
              <a:t>solutions IoT pour réduire l’empreinte énergétique</a:t>
            </a:r>
          </a:p>
        </p:txBody>
      </p:sp>
    </p:spTree>
    <p:extLst>
      <p:ext uri="{BB962C8B-B14F-4D97-AF65-F5344CB8AC3E}">
        <p14:creationId xmlns:p14="http://schemas.microsoft.com/office/powerpoint/2010/main" val="2764655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1CBF23-324E-CE2C-ECCE-B51B9C3B5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IoT fixe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A6720F-0F78-9265-101D-2CB3FF52B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Capteurs en entreprise</a:t>
            </a:r>
          </a:p>
          <a:p>
            <a:r>
              <a:rPr lang="fr-FR" dirty="0"/>
              <a:t>Domotique</a:t>
            </a:r>
          </a:p>
          <a:p>
            <a:r>
              <a:rPr lang="fr-FR" dirty="0"/>
              <a:t>Véhicules</a:t>
            </a:r>
          </a:p>
          <a:p>
            <a:r>
              <a:rPr lang="fr-FR" dirty="0"/>
              <a:t>Transport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82B8140-4EC7-3B44-11A2-7630917DB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2204864"/>
            <a:ext cx="5013940" cy="390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22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913075-B6D2-2F0D-2D6F-1F083321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IoT embarqué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BABBDA-B082-63C9-4BE2-080070435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Stations météos éloignés</a:t>
            </a:r>
          </a:p>
          <a:p>
            <a:r>
              <a:rPr lang="fr-FR" dirty="0"/>
              <a:t>Nomadisme</a:t>
            </a:r>
          </a:p>
          <a:p>
            <a:r>
              <a:rPr lang="fr-FR" dirty="0"/>
              <a:t>Spatial</a:t>
            </a:r>
          </a:p>
          <a:p>
            <a:r>
              <a:rPr lang="fr-FR" dirty="0"/>
              <a:t>Drone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C2B98DC-C2A9-9F70-C188-8B4E8E8FE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3066160"/>
            <a:ext cx="2457793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86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2469CE-1ECE-BF74-8055-1A8E683FB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Wearable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ACE3D0-F156-EFFB-4374-93D7DFDF5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Montre</a:t>
            </a:r>
          </a:p>
          <a:p>
            <a:r>
              <a:rPr lang="fr-FR" dirty="0"/>
              <a:t>Bracelets</a:t>
            </a:r>
          </a:p>
          <a:p>
            <a:r>
              <a:rPr lang="fr-FR" dirty="0"/>
              <a:t>Bijoux</a:t>
            </a:r>
          </a:p>
          <a:p>
            <a:r>
              <a:rPr lang="fr-FR" dirty="0"/>
              <a:t>Habits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7040651-8CB2-4C85-2BFD-09A782ED0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997" y="1428471"/>
            <a:ext cx="3982006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955094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3455</TotalTime>
  <Words>201</Words>
  <Application>Microsoft Office PowerPoint</Application>
  <PresentationFormat>Affichage à l'écran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Monotype Sorts</vt:lpstr>
      <vt:lpstr>Times New Roman</vt:lpstr>
      <vt:lpstr>cvc</vt:lpstr>
      <vt:lpstr>Présentation PowerPoint</vt:lpstr>
      <vt:lpstr>Enjeux</vt:lpstr>
      <vt:lpstr>Évolution vers des offres orientées services</vt:lpstr>
      <vt:lpstr>Nouveaux secteurs et opportunités</vt:lpstr>
      <vt:lpstr>Tendances clés pour 2027</vt:lpstr>
      <vt:lpstr>IoT fixe</vt:lpstr>
      <vt:lpstr>IoT embarqué</vt:lpstr>
      <vt:lpstr>Wearable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250</cp:revision>
  <dcterms:created xsi:type="dcterms:W3CDTF">2000-04-10T19:33:12Z</dcterms:created>
  <dcterms:modified xsi:type="dcterms:W3CDTF">2026-03-18T23:19:33Z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