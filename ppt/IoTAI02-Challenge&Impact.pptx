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9"/>
  </p:notesMasterIdLst>
  <p:handoutMasterIdLst>
    <p:handoutMasterId r:id="rId20"/>
  </p:handoutMasterIdLst>
  <p:sldIdLst>
    <p:sldId id="264" r:id="rId2"/>
    <p:sldId id="300" r:id="rId3"/>
    <p:sldId id="301" r:id="rId4"/>
    <p:sldId id="302" r:id="rId5"/>
    <p:sldId id="303" r:id="rId6"/>
    <p:sldId id="304" r:id="rId7"/>
    <p:sldId id="305" r:id="rId8"/>
    <p:sldId id="306" r:id="rId9"/>
    <p:sldId id="307" r:id="rId10"/>
    <p:sldId id="308" r:id="rId11"/>
    <p:sldId id="309" r:id="rId12"/>
    <p:sldId id="310" r:id="rId13"/>
    <p:sldId id="311" r:id="rId14"/>
    <p:sldId id="312" r:id="rId15"/>
    <p:sldId id="313" r:id="rId16"/>
    <p:sldId id="314" r:id="rId17"/>
    <p:sldId id="315" r:id="rId18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931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 err="1"/>
              <a:t>IoT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1628800"/>
            <a:ext cx="6400800" cy="4010000"/>
          </a:xfrm>
        </p:spPr>
        <p:txBody>
          <a:bodyPr/>
          <a:lstStyle/>
          <a:p>
            <a:pPr eaLnBrk="1" hangingPunct="1"/>
            <a:r>
              <a:rPr lang="fr-FR" altLang="fr-FR" dirty="0" err="1"/>
              <a:t>IoT</a:t>
            </a:r>
            <a:endParaRPr lang="fr-FR" altLang="fr-FR" dirty="0"/>
          </a:p>
          <a:p>
            <a:pPr eaLnBrk="1" hangingPunct="1"/>
            <a:endParaRPr lang="fr-FR" altLang="fr-FR" dirty="0"/>
          </a:p>
          <a:p>
            <a:endParaRPr lang="fr-FR" dirty="0"/>
          </a:p>
          <a:p>
            <a:r>
              <a:rPr lang="fr-FR" dirty="0"/>
              <a:t> </a:t>
            </a:r>
            <a:r>
              <a:rPr lang="fr-FR" b="1" dirty="0"/>
              <a:t>Enjeux, impacts</a:t>
            </a:r>
            <a:endParaRPr lang="fr-FR" altLang="fr-FR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F6230C-D225-47ED-751A-192335682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Enjeux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3CA5798-788E-0A24-A6F2-1F37B4B83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Enjeux, impacts sur les marchés, applications et services</a:t>
            </a:r>
          </a:p>
          <a:p>
            <a:r>
              <a:rPr lang="fr-FR" dirty="0"/>
              <a:t>Quel avenir pour l’Internet des objets ?</a:t>
            </a:r>
          </a:p>
        </p:txBody>
      </p:sp>
    </p:spTree>
    <p:extLst>
      <p:ext uri="{BB962C8B-B14F-4D97-AF65-F5344CB8AC3E}">
        <p14:creationId xmlns:p14="http://schemas.microsoft.com/office/powerpoint/2010/main" val="1313199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807CDA-49CF-F5AC-D6E5-734345EDE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Évolution vers des offres orientées services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AE8E87-FD19-C441-AC9C-3840C29EA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L’IoT transforme les modèles économiques traditionnels en favorisant une logique de service plutôt que de simple produit</a:t>
            </a:r>
          </a:p>
          <a:p>
            <a:r>
              <a:rPr lang="fr-FR" dirty="0"/>
              <a:t>Les données collectées par les objets connectés permettent</a:t>
            </a:r>
          </a:p>
          <a:p>
            <a:pPr lvl="1"/>
            <a:r>
              <a:rPr lang="fr-FR" dirty="0"/>
              <a:t>Maintenance prédictive : anticiper les pannes et proposer des contrats de maintenance basés sur l’usage réel</a:t>
            </a:r>
          </a:p>
          <a:p>
            <a:pPr lvl="1"/>
            <a:r>
              <a:rPr lang="fr-FR" dirty="0"/>
              <a:t>Offres personnalisées : ajuster les services en fonction des comportements des clients</a:t>
            </a:r>
          </a:p>
          <a:p>
            <a:pPr lvl="1"/>
            <a:r>
              <a:rPr lang="fr-FR" dirty="0"/>
              <a:t>Abonnements et facturation à l’usage : nouveaux modèles récurrents pour générer des revenus stables.</a:t>
            </a:r>
          </a:p>
        </p:txBody>
      </p:sp>
    </p:spTree>
    <p:extLst>
      <p:ext uri="{BB962C8B-B14F-4D97-AF65-F5344CB8AC3E}">
        <p14:creationId xmlns:p14="http://schemas.microsoft.com/office/powerpoint/2010/main" val="2194675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C1A9D0-8A0D-2092-38DE-FB61D7016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Amélioration de la valeur ajoutée des produits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7294F5B-B918-50E0-BF67-048B97BAF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produits deviennent intelligents et connectés, ce qui ouvre la voie à</a:t>
            </a:r>
          </a:p>
          <a:p>
            <a:pPr lvl="1"/>
            <a:r>
              <a:rPr lang="fr-FR" dirty="0"/>
              <a:t>Surveillance en temps réel des performances et de l’état des équipements</a:t>
            </a:r>
          </a:p>
          <a:p>
            <a:pPr lvl="1"/>
            <a:r>
              <a:rPr lang="fr-FR" dirty="0"/>
              <a:t>Optimisation énergétique et réduction des coûts grâce à des systèmes intelligents (smart </a:t>
            </a:r>
            <a:r>
              <a:rPr lang="fr-FR" dirty="0" err="1"/>
              <a:t>grids</a:t>
            </a:r>
            <a:r>
              <a:rPr lang="fr-FR" dirty="0"/>
              <a:t>, …)</a:t>
            </a:r>
          </a:p>
          <a:p>
            <a:pPr lvl="1"/>
            <a:r>
              <a:rPr lang="fr-FR" dirty="0"/>
              <a:t>Intégration avec l'IA pour des décisions locales rapides et une meilleure sécurité</a:t>
            </a:r>
          </a:p>
        </p:txBody>
      </p:sp>
    </p:spTree>
    <p:extLst>
      <p:ext uri="{BB962C8B-B14F-4D97-AF65-F5344CB8AC3E}">
        <p14:creationId xmlns:p14="http://schemas.microsoft.com/office/powerpoint/2010/main" val="3043744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C4035A-F431-1CA6-09C0-134654C21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Expérience client enrichie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FD2FA15-30F5-5F19-FE84-F5DF3BE2D8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L’IoT permet une relation plus étroite avec les clients</a:t>
            </a:r>
          </a:p>
          <a:p>
            <a:pPr lvl="1"/>
            <a:r>
              <a:rPr lang="fr-FR" dirty="0"/>
              <a:t>Services proactifs basés sur les données (notifications, recommandations)</a:t>
            </a:r>
          </a:p>
          <a:p>
            <a:pPr lvl="1"/>
            <a:r>
              <a:rPr lang="fr-FR" dirty="0"/>
              <a:t>Personnalisation des offres selon les préférences et l’usage</a:t>
            </a:r>
          </a:p>
          <a:p>
            <a:pPr lvl="1"/>
            <a:r>
              <a:rPr lang="fr-FR" dirty="0"/>
              <a:t>Amélioration de la rapidité et de la cohérence des services, notamment dans la logistique et la livraison</a:t>
            </a:r>
          </a:p>
        </p:txBody>
      </p:sp>
    </p:spTree>
    <p:extLst>
      <p:ext uri="{BB962C8B-B14F-4D97-AF65-F5344CB8AC3E}">
        <p14:creationId xmlns:p14="http://schemas.microsoft.com/office/powerpoint/2010/main" val="9971153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5A2354-6938-01D2-DBCD-715999D34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Nouveaux secteurs et opportunités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9DB59B-391A-0FBB-39D2-59C172EDE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Industrie</a:t>
            </a:r>
          </a:p>
          <a:p>
            <a:pPr lvl="1"/>
            <a:r>
              <a:rPr lang="fr-FR" dirty="0"/>
              <a:t>optimisation des chaînes d’approvisionnement, réduction des temps d’arrêt, automatisation</a:t>
            </a:r>
          </a:p>
          <a:p>
            <a:r>
              <a:rPr lang="fr-FR" dirty="0"/>
              <a:t>Santé</a:t>
            </a:r>
          </a:p>
          <a:p>
            <a:pPr lvl="1"/>
            <a:r>
              <a:rPr lang="fr-FR" dirty="0"/>
              <a:t>suivi à distance, dispositifs médicaux connectés</a:t>
            </a:r>
          </a:p>
          <a:p>
            <a:r>
              <a:rPr lang="fr-FR" dirty="0"/>
              <a:t>Smart Cities</a:t>
            </a:r>
          </a:p>
          <a:p>
            <a:pPr lvl="1"/>
            <a:r>
              <a:rPr lang="fr-FR" dirty="0"/>
              <a:t>gestion intelligente des infrastructures (éclairage, parkings, énergie)</a:t>
            </a:r>
          </a:p>
          <a:p>
            <a:r>
              <a:rPr lang="fr-FR" dirty="0"/>
              <a:t>Agriculture</a:t>
            </a:r>
          </a:p>
          <a:p>
            <a:pPr lvl="1"/>
            <a:r>
              <a:rPr lang="fr-FR" dirty="0"/>
              <a:t>irrigation intelligente, réduction des déchets</a:t>
            </a:r>
          </a:p>
        </p:txBody>
      </p:sp>
    </p:spTree>
    <p:extLst>
      <p:ext uri="{BB962C8B-B14F-4D97-AF65-F5344CB8AC3E}">
        <p14:creationId xmlns:p14="http://schemas.microsoft.com/office/powerpoint/2010/main" val="1953114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239543-40CA-EC7C-3E52-E5C075AAE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Défis à anticiper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C34AD35-FB50-E80A-99A2-1F6A4C7DB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Cybersécurité et confidentialité</a:t>
            </a:r>
          </a:p>
          <a:p>
            <a:pPr lvl="1"/>
            <a:r>
              <a:rPr lang="fr-FR" dirty="0"/>
              <a:t>sécurisation des données dès la conception</a:t>
            </a:r>
          </a:p>
          <a:p>
            <a:r>
              <a:rPr lang="fr-FR" dirty="0"/>
              <a:t>Interopérabilité</a:t>
            </a:r>
          </a:p>
          <a:p>
            <a:pPr lvl="1"/>
            <a:r>
              <a:rPr lang="fr-FR" dirty="0"/>
              <a:t>nécessité de standards pour intégrer différents systèmes</a:t>
            </a:r>
          </a:p>
          <a:p>
            <a:r>
              <a:rPr lang="fr-FR" dirty="0"/>
              <a:t>Investissements initiaux élevés</a:t>
            </a:r>
          </a:p>
          <a:p>
            <a:pPr lvl="1"/>
            <a:r>
              <a:rPr lang="fr-FR" dirty="0"/>
              <a:t>coûts d’infrastructure et de formation</a:t>
            </a:r>
          </a:p>
        </p:txBody>
      </p:sp>
    </p:spTree>
    <p:extLst>
      <p:ext uri="{BB962C8B-B14F-4D97-AF65-F5344CB8AC3E}">
        <p14:creationId xmlns:p14="http://schemas.microsoft.com/office/powerpoint/2010/main" val="32060840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5D24EA-24FE-1364-5834-84B970321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Tendances clés pour 2026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9A3965C-4C5A-C5F9-2155-36F8899E17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AIoT</a:t>
            </a:r>
            <a:r>
              <a:rPr lang="fr-FR" dirty="0"/>
              <a:t> (IA + IoT)</a:t>
            </a:r>
          </a:p>
          <a:p>
            <a:pPr lvl="1"/>
            <a:r>
              <a:rPr lang="fr-FR" dirty="0"/>
              <a:t>objets capables de décisions autonomes</a:t>
            </a:r>
          </a:p>
          <a:p>
            <a:r>
              <a:rPr lang="fr-FR" dirty="0"/>
              <a:t>Edge </a:t>
            </a:r>
            <a:r>
              <a:rPr lang="fr-FR" dirty="0" err="1"/>
              <a:t>Computing</a:t>
            </a:r>
            <a:endParaRPr lang="fr-FR" dirty="0"/>
          </a:p>
          <a:p>
            <a:pPr lvl="1"/>
            <a:r>
              <a:rPr lang="fr-FR" dirty="0"/>
              <a:t>traitement local pour réduire la latence</a:t>
            </a:r>
          </a:p>
          <a:p>
            <a:r>
              <a:rPr lang="fr-FR" dirty="0"/>
              <a:t>5G et LPWAN</a:t>
            </a:r>
          </a:p>
          <a:p>
            <a:pPr lvl="1"/>
            <a:r>
              <a:rPr lang="fr-FR" dirty="0"/>
              <a:t>connectivité renforcée pour des applications critiques</a:t>
            </a:r>
          </a:p>
          <a:p>
            <a:r>
              <a:rPr lang="fr-FR" dirty="0"/>
              <a:t>Durabilité</a:t>
            </a:r>
          </a:p>
          <a:p>
            <a:pPr lvl="1"/>
            <a:r>
              <a:rPr lang="fr-FR" dirty="0"/>
              <a:t>solutions IoT pour réduire l’empreinte énergétique</a:t>
            </a:r>
          </a:p>
        </p:txBody>
      </p:sp>
    </p:spTree>
    <p:extLst>
      <p:ext uri="{BB962C8B-B14F-4D97-AF65-F5344CB8AC3E}">
        <p14:creationId xmlns:p14="http://schemas.microsoft.com/office/powerpoint/2010/main" val="27646550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F1CBF23-324E-CE2C-ECCE-B51B9C3B5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IoT fixe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A6720F-0F78-9265-101D-2CB3FF52B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Capteurs en entreprise</a:t>
            </a:r>
          </a:p>
          <a:p>
            <a:r>
              <a:rPr lang="fr-FR" dirty="0"/>
              <a:t>Domotique</a:t>
            </a:r>
          </a:p>
          <a:p>
            <a:r>
              <a:rPr lang="fr-FR" dirty="0"/>
              <a:t>Véhicules</a:t>
            </a:r>
          </a:p>
          <a:p>
            <a:r>
              <a:rPr lang="fr-FR" dirty="0"/>
              <a:t>Transport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82B8140-4EC7-3B44-11A2-7630917DB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848" y="2204864"/>
            <a:ext cx="5013940" cy="390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3224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913075-B6D2-2F0D-2D6F-1F0833213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IoT embarqué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ABABBDA-B082-63C9-4BE2-080070435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Stations météos éloignés</a:t>
            </a:r>
          </a:p>
          <a:p>
            <a:r>
              <a:rPr lang="fr-FR" dirty="0"/>
              <a:t>Nomadisme</a:t>
            </a:r>
          </a:p>
          <a:p>
            <a:r>
              <a:rPr lang="fr-FR" dirty="0"/>
              <a:t>Spatial</a:t>
            </a:r>
          </a:p>
          <a:p>
            <a:r>
              <a:rPr lang="fr-FR" dirty="0"/>
              <a:t>Drone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C2B98DC-C2A9-9F70-C188-8B4E8E8FE8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960" y="3066160"/>
            <a:ext cx="2457793" cy="1733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9867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2469CE-1ECE-BF74-8055-1A8E683FB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Wearable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8ACE3D0-F156-EFFB-4374-93D7DFDF5D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Montre</a:t>
            </a:r>
          </a:p>
          <a:p>
            <a:r>
              <a:rPr lang="fr-FR" dirty="0"/>
              <a:t>Bracelets</a:t>
            </a:r>
          </a:p>
          <a:p>
            <a:r>
              <a:rPr lang="fr-FR" dirty="0"/>
              <a:t>Bijoux</a:t>
            </a:r>
          </a:p>
          <a:p>
            <a:r>
              <a:rPr lang="fr-FR" dirty="0"/>
              <a:t>Habits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7040651-8CB2-4C85-2BFD-09A782ED0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997" y="1428471"/>
            <a:ext cx="3982006" cy="40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9550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E4E122-D110-308E-F133-0574C84A4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Valeur des services associés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4CAAC7-B7D2-1EFF-4D60-DE2A5254CB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services IoT ne se limitent pas à la connectivité</a:t>
            </a:r>
          </a:p>
          <a:p>
            <a:pPr lvl="1"/>
            <a:r>
              <a:rPr lang="fr-FR" dirty="0"/>
              <a:t>ils créent une valeur ajoutée stratégique pour les entreprises en transformant les produits en solutions complètes</a:t>
            </a:r>
          </a:p>
          <a:p>
            <a:r>
              <a:rPr lang="fr-FR" dirty="0"/>
              <a:t>Maintenance prédictive et surveillance à distance</a:t>
            </a:r>
          </a:p>
          <a:p>
            <a:pPr lvl="1"/>
            <a:r>
              <a:rPr lang="fr-FR" dirty="0"/>
              <a:t>Réduction des arrêts imprévus, prolongation de la durée de vie des équipements, baisse des coûts de maintenance</a:t>
            </a:r>
          </a:p>
          <a:p>
            <a:r>
              <a:rPr lang="fr-FR" dirty="0"/>
              <a:t>Alertes et notifications en temps réel</a:t>
            </a:r>
          </a:p>
          <a:p>
            <a:pPr lvl="1"/>
            <a:r>
              <a:rPr lang="fr-FR" dirty="0"/>
              <a:t>amélioration de la réactivité opérationnelle et réduction des pertes</a:t>
            </a:r>
          </a:p>
        </p:txBody>
      </p:sp>
    </p:spTree>
    <p:extLst>
      <p:ext uri="{BB962C8B-B14F-4D97-AF65-F5344CB8AC3E}">
        <p14:creationId xmlns:p14="http://schemas.microsoft.com/office/powerpoint/2010/main" val="12495770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967F07-0CCD-A1DE-D856-978F1C8C5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Valeur des services associés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BD019C-7A52-D12F-10CB-C12496271D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Tableaux de bord et analytique avancé</a:t>
            </a:r>
          </a:p>
          <a:p>
            <a:pPr lvl="1"/>
            <a:r>
              <a:rPr lang="fr-FR" dirty="0"/>
              <a:t>Suivi des performances, optimisation des processus et pilotage basé sur les données</a:t>
            </a:r>
          </a:p>
          <a:p>
            <a:r>
              <a:rPr lang="fr-FR" dirty="0"/>
              <a:t>Services managés IoT</a:t>
            </a:r>
          </a:p>
          <a:p>
            <a:pPr lvl="1"/>
            <a:r>
              <a:rPr lang="fr-FR" dirty="0"/>
              <a:t>Externalisation de la gestion des infrastructures pour se concentrer sur l’innovation et la valeur métier</a:t>
            </a:r>
          </a:p>
        </p:txBody>
      </p:sp>
    </p:spTree>
    <p:extLst>
      <p:ext uri="{BB962C8B-B14F-4D97-AF65-F5344CB8AC3E}">
        <p14:creationId xmlns:p14="http://schemas.microsoft.com/office/powerpoint/2010/main" val="4342436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17E6CE-CBD5-98D9-55EA-5A8243D18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Opportunités stratégiques pour les entreprises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3B5CF3-6E25-E3E8-6AA8-0EB946A5C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L’IoT ouvre des perspectives dans plusieurs dimensions</a:t>
            </a:r>
          </a:p>
          <a:p>
            <a:r>
              <a:rPr lang="fr-FR" sz="2400" dirty="0"/>
              <a:t>Nouveaux modèles économiques</a:t>
            </a:r>
          </a:p>
          <a:p>
            <a:pPr lvl="1"/>
            <a:r>
              <a:rPr lang="fr-FR" sz="2000" dirty="0"/>
              <a:t>passage du produit à l’usage (abonnements, facturation à la performance), création de revenus récurrents</a:t>
            </a:r>
          </a:p>
          <a:p>
            <a:r>
              <a:rPr lang="fr-FR" sz="2400" dirty="0"/>
              <a:t>Optimisation opérationnelle</a:t>
            </a:r>
          </a:p>
          <a:p>
            <a:pPr lvl="1"/>
            <a:r>
              <a:rPr lang="fr-FR" sz="2000" dirty="0"/>
              <a:t>réduction des coûts (jusqu’à 20 %), amélioration de la productivité (+30 %), automatisation des processus</a:t>
            </a:r>
          </a:p>
          <a:p>
            <a:r>
              <a:rPr lang="fr-FR" sz="2400" dirty="0"/>
              <a:t>Expérience client enrichie</a:t>
            </a:r>
          </a:p>
          <a:p>
            <a:pPr lvl="1"/>
            <a:r>
              <a:rPr lang="fr-FR" sz="2000" dirty="0"/>
              <a:t>services personnalisés, suivi proactif, relation continue grâce aux données</a:t>
            </a:r>
          </a:p>
          <a:p>
            <a:r>
              <a:rPr lang="fr-FR" sz="2400" dirty="0"/>
              <a:t>Innovation sectorielle</a:t>
            </a:r>
          </a:p>
          <a:p>
            <a:pPr lvl="1"/>
            <a:r>
              <a:rPr lang="fr-FR" sz="2000" dirty="0"/>
              <a:t>santé (monitoring patient), agriculture (irrigation intelligente), industrie (chaînes d’approvisionnement optimisées), smart </a:t>
            </a:r>
            <a:r>
              <a:rPr lang="fr-FR" sz="2000" dirty="0" err="1"/>
              <a:t>cities</a:t>
            </a:r>
            <a:r>
              <a:rPr lang="fr-FR" sz="2000" dirty="0"/>
              <a:t> (gestion énergétique)</a:t>
            </a:r>
          </a:p>
        </p:txBody>
      </p:sp>
    </p:spTree>
    <p:extLst>
      <p:ext uri="{BB962C8B-B14F-4D97-AF65-F5344CB8AC3E}">
        <p14:creationId xmlns:p14="http://schemas.microsoft.com/office/powerpoint/2010/main" val="3389373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FBB431-1C30-F78C-5BB9-48C71C8B1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Tendances clés à intégrer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55862F-F5FC-69F7-B1D1-786B88CCC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Servitisation</a:t>
            </a:r>
            <a:endParaRPr lang="fr-FR" dirty="0"/>
          </a:p>
          <a:p>
            <a:pPr lvl="1"/>
            <a:r>
              <a:rPr lang="fr-FR" dirty="0"/>
              <a:t>la valeur se déplace vers les services et la donnée, plutôt que le produit seul</a:t>
            </a:r>
          </a:p>
          <a:p>
            <a:r>
              <a:rPr lang="fr-FR" dirty="0"/>
              <a:t>Écosystèmes collaboratifs</a:t>
            </a:r>
          </a:p>
          <a:p>
            <a:pPr lvl="1"/>
            <a:r>
              <a:rPr lang="fr-FR" dirty="0"/>
              <a:t>alliances entre fabricants, opérateurs cloud et fournisseurs de services pour créer des solutions intégrées</a:t>
            </a:r>
          </a:p>
          <a:p>
            <a:r>
              <a:rPr lang="fr-FR" dirty="0"/>
              <a:t>Technologies catalyseurs</a:t>
            </a:r>
          </a:p>
          <a:p>
            <a:pPr lvl="1"/>
            <a:r>
              <a:rPr lang="fr-FR" dirty="0"/>
              <a:t>5G, IA, </a:t>
            </a:r>
            <a:r>
              <a:rPr lang="fr-FR" dirty="0" err="1"/>
              <a:t>edge</a:t>
            </a:r>
            <a:r>
              <a:rPr lang="fr-FR" dirty="0"/>
              <a:t> </a:t>
            </a:r>
            <a:r>
              <a:rPr lang="fr-FR" dirty="0" err="1"/>
              <a:t>computing</a:t>
            </a:r>
            <a:r>
              <a:rPr lang="fr-FR" dirty="0"/>
              <a:t> pour des services temps réel et sécurisés.</a:t>
            </a:r>
          </a:p>
        </p:txBody>
      </p:sp>
    </p:spTree>
    <p:extLst>
      <p:ext uri="{BB962C8B-B14F-4D97-AF65-F5344CB8AC3E}">
        <p14:creationId xmlns:p14="http://schemas.microsoft.com/office/powerpoint/2010/main" val="3918163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BD74CF-5E83-308D-7E34-67EE4AA19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Sécurité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1FDB34-D62C-BC10-B900-A8825E08F9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Sécurité et confidentialité des données</a:t>
            </a:r>
          </a:p>
          <a:p>
            <a:r>
              <a:rPr lang="fr-FR" dirty="0"/>
              <a:t>Enjeu majeur pour la confiance et la conformité*</a:t>
            </a:r>
          </a:p>
          <a:p>
            <a:r>
              <a:rPr lang="fr-FR" dirty="0"/>
              <a:t>Piratage</a:t>
            </a:r>
          </a:p>
          <a:p>
            <a:r>
              <a:rPr lang="fr-FR" dirty="0"/>
              <a:t>Données personnelles ?</a:t>
            </a:r>
          </a:p>
          <a:p>
            <a:r>
              <a:rPr lang="fr-FR" dirty="0"/>
              <a:t>RGPD</a:t>
            </a:r>
          </a:p>
          <a:p>
            <a:r>
              <a:rPr lang="fr-FR" dirty="0"/>
              <a:t>AI </a:t>
            </a:r>
            <a:r>
              <a:rPr lang="fr-FR" dirty="0" err="1"/>
              <a:t>Act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78405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48C430-3BBD-0521-A713-C08CD5B0C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Enjeux énergétiques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B2D37D-9522-9637-6CDE-3C64F25085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Smart Cities</a:t>
            </a:r>
          </a:p>
          <a:p>
            <a:pPr lvl="1"/>
            <a:r>
              <a:rPr lang="fr-FR" dirty="0"/>
              <a:t>Déporter le calcul de consommation en Edge </a:t>
            </a:r>
            <a:r>
              <a:rPr lang="fr-FR" dirty="0" err="1"/>
              <a:t>Computing</a:t>
            </a:r>
            <a:endParaRPr lang="fr-FR" dirty="0"/>
          </a:p>
          <a:p>
            <a:pPr lvl="1"/>
            <a:r>
              <a:rPr lang="fr-FR" dirty="0"/>
              <a:t>Linky</a:t>
            </a:r>
          </a:p>
          <a:p>
            <a:pPr lvl="1"/>
            <a:r>
              <a:rPr lang="fr-FR" dirty="0"/>
              <a:t>IA</a:t>
            </a:r>
          </a:p>
          <a:p>
            <a:r>
              <a:rPr lang="fr-FR" dirty="0"/>
              <a:t>Batterie des voitures</a:t>
            </a:r>
          </a:p>
          <a:p>
            <a:pPr lvl="1"/>
            <a:r>
              <a:rPr lang="fr-FR" dirty="0"/>
              <a:t>Chargement intelligent</a:t>
            </a:r>
          </a:p>
          <a:p>
            <a:pPr lvl="1"/>
            <a:r>
              <a:rPr lang="fr-FR" dirty="0"/>
              <a:t>Heures creuses calculées à la seconde</a:t>
            </a:r>
          </a:p>
          <a:p>
            <a:pPr lvl="1"/>
            <a:r>
              <a:rPr lang="fr-FR" dirty="0"/>
              <a:t>Réinjection de l'énergie de la batterie dans le réseau</a:t>
            </a:r>
          </a:p>
          <a:p>
            <a:pPr lvl="1"/>
            <a:r>
              <a:rPr lang="fr-FR" dirty="0"/>
              <a:t>Meilleure gestion des énergie alternatives (Solaire, …)</a:t>
            </a:r>
          </a:p>
          <a:p>
            <a:pPr lvl="1"/>
            <a:r>
              <a:rPr lang="fr-FR" dirty="0"/>
              <a:t>Incident électrique majeur en Espagne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6171000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3454</TotalTime>
  <Words>661</Words>
  <Application>Microsoft Office PowerPoint</Application>
  <PresentationFormat>Affichage à l'écran (4:3)</PresentationFormat>
  <Paragraphs>110</Paragraphs>
  <Slides>17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1" baseType="lpstr">
      <vt:lpstr>Arial</vt:lpstr>
      <vt:lpstr>Monotype Sorts</vt:lpstr>
      <vt:lpstr>Times New Roman</vt:lpstr>
      <vt:lpstr>cvc</vt:lpstr>
      <vt:lpstr>Présentation PowerPoint</vt:lpstr>
      <vt:lpstr>Enjeux</vt:lpstr>
      <vt:lpstr>Évolution vers des offres orientées services</vt:lpstr>
      <vt:lpstr>Amélioration de la valeur ajoutée des produits</vt:lpstr>
      <vt:lpstr>Expérience client enrichie</vt:lpstr>
      <vt:lpstr>Nouveaux secteurs et opportunités</vt:lpstr>
      <vt:lpstr>Défis à anticiper</vt:lpstr>
      <vt:lpstr>Tendances clés pour 2026</vt:lpstr>
      <vt:lpstr>IoT fixe</vt:lpstr>
      <vt:lpstr>IoT embarqué</vt:lpstr>
      <vt:lpstr>Wearable</vt:lpstr>
      <vt:lpstr>Valeur des services associés</vt:lpstr>
      <vt:lpstr>Valeur des services associés</vt:lpstr>
      <vt:lpstr>Opportunités stratégiques pour les entreprises</vt:lpstr>
      <vt:lpstr>Tendances clés à intégrer</vt:lpstr>
      <vt:lpstr>Sécurité</vt:lpstr>
      <vt:lpstr>Enjeux énergétiques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249</cp:revision>
  <dcterms:created xsi:type="dcterms:W3CDTF">2000-04-10T19:33:12Z</dcterms:created>
  <dcterms:modified xsi:type="dcterms:W3CDTF">2025-11-28T09:29:49Z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