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8"/>
  </p:notesMasterIdLst>
  <p:handoutMasterIdLst>
    <p:handoutMasterId r:id="rId29"/>
  </p:handoutMasterIdLst>
  <p:sldIdLst>
    <p:sldId id="264" r:id="rId2"/>
    <p:sldId id="293" r:id="rId3"/>
    <p:sldId id="294" r:id="rId4"/>
    <p:sldId id="266" r:id="rId5"/>
    <p:sldId id="295" r:id="rId6"/>
    <p:sldId id="298" r:id="rId7"/>
    <p:sldId id="296" r:id="rId8"/>
    <p:sldId id="299" r:id="rId9"/>
    <p:sldId id="300" r:id="rId10"/>
    <p:sldId id="297" r:id="rId11"/>
    <p:sldId id="267" r:id="rId12"/>
    <p:sldId id="290" r:id="rId13"/>
    <p:sldId id="268" r:id="rId14"/>
    <p:sldId id="274" r:id="rId15"/>
    <p:sldId id="291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92" r:id="rId26"/>
    <p:sldId id="289" r:id="rId2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TFlite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66C27A-8CC1-FE3A-4507-EA34AED1F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381" y="3097894"/>
            <a:ext cx="3038899" cy="16671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FBC646-AFF2-69B0-BD15-B8D790C1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3219AB-02E3-541B-CCCB-156421AB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Lite est un ensemble d'outils conçus pour aider les développeurs à exécuter leurs modèles sur des appareils mobiles, intégrés et IoT afin d'apporter le ML embarqué</a:t>
            </a:r>
          </a:p>
          <a:p>
            <a:r>
              <a:rPr lang="fr-FR" dirty="0"/>
              <a:t>Google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D59963-187C-9687-F8E1-39F185B55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-209168"/>
            <a:ext cx="3038899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2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A57FC1-FD72-8E1A-DCE7-39F0620B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Contraintes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19EF08-17C8-5AA4-7FBD-C51BF74D2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Latence</a:t>
            </a:r>
          </a:p>
          <a:p>
            <a:pPr lvl="1"/>
            <a:r>
              <a:rPr lang="fr-FR" dirty="0"/>
              <a:t>pas d'aller-retour avec un serveur</a:t>
            </a:r>
          </a:p>
          <a:p>
            <a:r>
              <a:rPr lang="fr-FR" dirty="0"/>
              <a:t>Confidentialité</a:t>
            </a:r>
          </a:p>
          <a:p>
            <a:pPr lvl="1"/>
            <a:r>
              <a:rPr lang="fr-FR" dirty="0"/>
              <a:t>aucune donnée personnelle ne quitte l'appareil</a:t>
            </a:r>
          </a:p>
          <a:p>
            <a:r>
              <a:rPr lang="fr-FR" dirty="0"/>
              <a:t>Connectivité</a:t>
            </a:r>
          </a:p>
          <a:p>
            <a:pPr lvl="1"/>
            <a:r>
              <a:rPr lang="fr-FR" dirty="0"/>
              <a:t>aucune connexion Internet requise</a:t>
            </a:r>
          </a:p>
          <a:p>
            <a:r>
              <a:rPr lang="fr-FR" dirty="0"/>
              <a:t>Taille</a:t>
            </a:r>
          </a:p>
          <a:p>
            <a:pPr lvl="1"/>
            <a:r>
              <a:rPr lang="fr-FR" dirty="0"/>
              <a:t>modèle réduit et taille binaire</a:t>
            </a:r>
          </a:p>
          <a:p>
            <a:r>
              <a:rPr lang="fr-FR" dirty="0"/>
              <a:t>Consommation d'énergie</a:t>
            </a:r>
          </a:p>
          <a:p>
            <a:pPr lvl="1"/>
            <a:r>
              <a:rPr lang="fr-FR" dirty="0"/>
              <a:t>inférence efficace et absence de connexions réseau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733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Framework pour mobile et </a:t>
            </a:r>
            <a:r>
              <a:rPr lang="fr-FR" dirty="0" err="1"/>
              <a:t>IoT</a:t>
            </a:r>
            <a:endParaRPr lang="fr-FR" dirty="0"/>
          </a:p>
          <a:p>
            <a:pPr lvl="1"/>
            <a:r>
              <a:rPr lang="fr-FR" dirty="0"/>
              <a:t>Permet une utilisation plus légère de TF</a:t>
            </a:r>
          </a:p>
          <a:p>
            <a:pPr lvl="1"/>
            <a:r>
              <a:rPr lang="fr-FR" dirty="0"/>
              <a:t>Inférence</a:t>
            </a:r>
          </a:p>
          <a:p>
            <a:pPr lvl="1"/>
            <a:r>
              <a:rPr lang="fr-FR" dirty="0"/>
              <a:t>32 bits (aucune différence significative avec TF qui est en 64 bits)</a:t>
            </a:r>
          </a:p>
          <a:p>
            <a:pPr lvl="1"/>
            <a:r>
              <a:rPr lang="fr-FR" dirty="0"/>
              <a:t>Implémentation Python, C++, Java, Android, Javascript, …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281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19AE97-78FE-9D95-04F6-5151EE35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Compatibilité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9DCCFD-4793-B393-6BC1-4D23D1B0A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plusieurs plates-formes</a:t>
            </a:r>
          </a:p>
          <a:p>
            <a:pPr lvl="1"/>
            <a:r>
              <a:rPr lang="fr-FR" dirty="0"/>
              <a:t>dont les appareils Android et iOS</a:t>
            </a:r>
          </a:p>
          <a:p>
            <a:pPr lvl="1"/>
            <a:r>
              <a:rPr lang="fr-FR" dirty="0"/>
              <a:t>les appareils avec système d'exploitation Linux intégré</a:t>
            </a:r>
          </a:p>
          <a:p>
            <a:pPr lvl="1"/>
            <a:r>
              <a:rPr lang="fr-FR" dirty="0"/>
              <a:t>les microcontrôleurs</a:t>
            </a:r>
          </a:p>
        </p:txBody>
      </p:sp>
    </p:spTree>
    <p:extLst>
      <p:ext uri="{BB962C8B-B14F-4D97-AF65-F5344CB8AC3E}">
        <p14:creationId xmlns:p14="http://schemas.microsoft.com/office/powerpoint/2010/main" val="386173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8B12F-843D-C1AB-E165-7B02377F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Micro-contrôleurs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2075CC-1761-121A-6B27-DBBADD799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Lite for </a:t>
            </a:r>
            <a:r>
              <a:rPr lang="fr-FR" dirty="0" err="1"/>
              <a:t>Microcontrollers</a:t>
            </a:r>
            <a:r>
              <a:rPr lang="fr-FR" dirty="0"/>
              <a:t> est conçu pour exécuter du ML sur des microcontrôleurs ne disposant que de quelques kilo-octets de mémoire</a:t>
            </a:r>
          </a:p>
          <a:p>
            <a:r>
              <a:rPr lang="fr-FR" dirty="0"/>
              <a:t>Le composant d'exécution principal tient sur 16 Ko sur un processeur Arm Cortex M3 et peut exécuter de nombreux modèles de base</a:t>
            </a:r>
          </a:p>
          <a:p>
            <a:r>
              <a:rPr lang="fr-FR" dirty="0"/>
              <a:t>Aucune compatibilité avec le système d'exploitation n'est nécessaire</a:t>
            </a:r>
          </a:p>
          <a:p>
            <a:r>
              <a:rPr lang="fr-FR" dirty="0"/>
              <a:t>Il ne nécessite, en outre, aucune bibliothèque C ou C++ standard, ni d'allocation de mémoire dynamique.</a:t>
            </a:r>
          </a:p>
        </p:txBody>
      </p:sp>
    </p:spTree>
    <p:extLst>
      <p:ext uri="{BB962C8B-B14F-4D97-AF65-F5344CB8AC3E}">
        <p14:creationId xmlns:p14="http://schemas.microsoft.com/office/powerpoint/2010/main" val="135231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3E62BB-1AA3-699C-12A5-D875DC00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Langages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363C27-D278-6DB1-0599-EB0159BED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de nombreux langages</a:t>
            </a:r>
          </a:p>
          <a:p>
            <a:pPr lvl="1"/>
            <a:r>
              <a:rPr lang="fr-FR" dirty="0"/>
              <a:t>Java</a:t>
            </a:r>
          </a:p>
          <a:p>
            <a:pPr lvl="1"/>
            <a:r>
              <a:rPr lang="fr-FR" dirty="0"/>
              <a:t>Swift</a:t>
            </a:r>
          </a:p>
          <a:p>
            <a:pPr lvl="1"/>
            <a:r>
              <a:rPr lang="fr-FR" dirty="0"/>
              <a:t>Objective-C</a:t>
            </a:r>
          </a:p>
          <a:p>
            <a:pPr lvl="1"/>
            <a:r>
              <a:rPr lang="fr-FR" dirty="0"/>
              <a:t>C++ : librairie embarqué TFML</a:t>
            </a:r>
          </a:p>
          <a:p>
            <a:pPr lvl="1"/>
            <a:r>
              <a:rPr lang="fr-FR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41361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A6520-6CC8-5525-83C1-69D88391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Plateformes compatibles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49F64-BC9F-30D1-74B6-102E7AAA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C++ 32 bits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318E32-3454-B998-1C47-BFE0E208A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132856"/>
            <a:ext cx="5143946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6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4FCB78-4BFB-476D-A41F-FF53E17D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EF7473-7C72-1FD4-741D-17FDD458D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un sous-ensemble limité d'opérations </a:t>
            </a:r>
            <a:r>
              <a:rPr lang="fr-FR" dirty="0" err="1"/>
              <a:t>TensorFlow</a:t>
            </a:r>
            <a:endParaRPr lang="fr-FR" dirty="0"/>
          </a:p>
          <a:p>
            <a:pPr lvl="1"/>
            <a:r>
              <a:rPr lang="fr-FR" dirty="0"/>
              <a:t>Dépendant du </a:t>
            </a:r>
            <a:r>
              <a:rPr lang="fr-FR" dirty="0" err="1"/>
              <a:t>micro-contrôleur</a:t>
            </a:r>
            <a:endParaRPr lang="fr-FR" dirty="0"/>
          </a:p>
          <a:p>
            <a:r>
              <a:rPr lang="fr-FR" dirty="0"/>
              <a:t>Compatibilité avec un nombre limité d'appareils</a:t>
            </a:r>
          </a:p>
          <a:p>
            <a:r>
              <a:rPr lang="fr-FR" dirty="0"/>
              <a:t>API C++ de bas niveau nécessitant une gestion manuelle de la mémoire</a:t>
            </a:r>
          </a:p>
          <a:p>
            <a:pPr lvl="1"/>
            <a:r>
              <a:rPr lang="fr-FR" dirty="0"/>
              <a:t>Pas de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L'entraînement sur l'appareil n'est pas disponible</a:t>
            </a:r>
          </a:p>
        </p:txBody>
      </p:sp>
    </p:spTree>
    <p:extLst>
      <p:ext uri="{BB962C8B-B14F-4D97-AF65-F5344CB8AC3E}">
        <p14:creationId xmlns:p14="http://schemas.microsoft.com/office/powerpoint/2010/main" val="3813616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299C7-45F1-CB31-0C77-60B208C9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07D6C1-ECDF-54DE-2F7E-342C74572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Hautes performances, avec accélération matérielle et optimisation du modèle</a:t>
            </a:r>
          </a:p>
          <a:p>
            <a:r>
              <a:rPr lang="fr-FR" dirty="0"/>
              <a:t>Compatible</a:t>
            </a:r>
          </a:p>
          <a:p>
            <a:pPr lvl="1"/>
            <a:r>
              <a:rPr lang="fr-FR" dirty="0"/>
              <a:t>CPU</a:t>
            </a:r>
          </a:p>
          <a:p>
            <a:pPr lvl="1"/>
            <a:r>
              <a:rPr lang="fr-FR" dirty="0"/>
              <a:t>GPU</a:t>
            </a:r>
          </a:p>
          <a:p>
            <a:pPr lvl="1"/>
            <a:r>
              <a:rPr lang="fr-FR" dirty="0"/>
              <a:t>NPU</a:t>
            </a:r>
          </a:p>
          <a:p>
            <a:pPr lvl="1"/>
            <a:r>
              <a:rPr lang="fr-FR"/>
              <a:t>DSP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2337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n'est pas directement compatible H5</a:t>
            </a:r>
          </a:p>
          <a:p>
            <a:pPr lvl="1"/>
            <a:r>
              <a:rPr lang="fr-FR" dirty="0"/>
              <a:t>Il faut le convertir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Le script h5_to_tflite.py fera la même chose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49" y="2492896"/>
            <a:ext cx="71913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8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5934-7886-8CD7-2217-4A638D27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10D362-2D95-7FEE-988F-C45248D0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4CB43-996C-F590-8DDB-484A00252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h5_to_tflite.py</a:t>
            </a:r>
          </a:p>
          <a:p>
            <a:pPr lvl="1"/>
            <a:r>
              <a:rPr lang="fr-FR" dirty="0"/>
              <a:t>Permet de convertir un .h5 en </a:t>
            </a:r>
            <a:r>
              <a:rPr lang="fr-FR" dirty="0" err="1"/>
              <a:t>tflite</a:t>
            </a:r>
            <a:endParaRPr lang="fr-FR" dirty="0"/>
          </a:p>
          <a:p>
            <a:r>
              <a:rPr lang="fr-FR" dirty="0" err="1"/>
              <a:t>TFLite</a:t>
            </a:r>
            <a:r>
              <a:rPr lang="fr-FR" dirty="0"/>
              <a:t> possède des API de prédiction dans de nombreux langages</a:t>
            </a:r>
          </a:p>
          <a:p>
            <a:pPr lvl="1"/>
            <a:r>
              <a:rPr lang="fr-FR" dirty="0"/>
              <a:t>C++</a:t>
            </a:r>
          </a:p>
          <a:p>
            <a:pPr lvl="1"/>
            <a:r>
              <a:rPr lang="fr-FR" dirty="0"/>
              <a:t>Javascript</a:t>
            </a:r>
          </a:p>
          <a:p>
            <a:pPr lvl="1"/>
            <a:r>
              <a:rPr lang="fr-FR" dirty="0"/>
              <a:t>Python</a:t>
            </a:r>
          </a:p>
          <a:p>
            <a:pPr lvl="1"/>
            <a:r>
              <a:rPr lang="fr-FR" dirty="0"/>
              <a:t>…</a:t>
            </a:r>
          </a:p>
          <a:p>
            <a:endParaRPr lang="fr-FR" dirty="0"/>
          </a:p>
          <a:p>
            <a:pPr lvl="1"/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5612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Inférence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n'est pas compatible </a:t>
            </a:r>
            <a:r>
              <a:rPr lang="fr-FR" dirty="0" err="1"/>
              <a:t>Keras</a:t>
            </a:r>
            <a:endParaRPr lang="fr-FR" dirty="0"/>
          </a:p>
          <a:p>
            <a:pPr lvl="1"/>
            <a:r>
              <a:rPr lang="fr-FR" dirty="0"/>
              <a:t>Possède sa propre API</a:t>
            </a:r>
          </a:p>
          <a:p>
            <a:pPr lvl="1"/>
            <a:r>
              <a:rPr lang="fr-FR" dirty="0"/>
              <a:t>float32 uniquement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33" y="2824467"/>
            <a:ext cx="8543925" cy="18669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29" y="4819650"/>
            <a:ext cx="4152900" cy="3333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29" y="5153025"/>
            <a:ext cx="68580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16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2C071-3C82-503F-011A-4A1592C7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Limitations RAM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3C3C6-F8F3-9055-402A-A9D264C4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</a:t>
            </a:r>
            <a:r>
              <a:rPr lang="fr-FR" dirty="0" err="1"/>
              <a:t>heart</a:t>
            </a:r>
            <a:endParaRPr lang="fr-FR" dirty="0"/>
          </a:p>
          <a:p>
            <a:pPr lvl="1"/>
            <a:r>
              <a:rPr lang="fr-FR" dirty="0"/>
              <a:t>Le réseau exemple fait 10x8x2</a:t>
            </a:r>
          </a:p>
          <a:p>
            <a:pPr lvl="1"/>
            <a:r>
              <a:rPr lang="fr-FR" dirty="0"/>
              <a:t>TF ajute un poids à chaque neurone pour le seuil</a:t>
            </a:r>
          </a:p>
          <a:p>
            <a:pPr lvl="1"/>
            <a:r>
              <a:rPr lang="fr-FR" dirty="0" err="1"/>
              <a:t>nb_weights</a:t>
            </a:r>
            <a:r>
              <a:rPr lang="fr-FR" dirty="0"/>
              <a:t> = 11*9+9*3 = 126 poids 32 bits =&gt; 0.5 Ko</a:t>
            </a:r>
          </a:p>
          <a:p>
            <a:r>
              <a:rPr lang="fr-FR" dirty="0"/>
              <a:t>Pour Cancer</a:t>
            </a:r>
          </a:p>
          <a:p>
            <a:pPr lvl="1"/>
            <a:r>
              <a:rPr lang="fr-FR" dirty="0"/>
              <a:t>Le réseau exemple fait 30x20x10x2</a:t>
            </a:r>
          </a:p>
          <a:p>
            <a:pPr lvl="1"/>
            <a:r>
              <a:rPr lang="fr-FR" dirty="0"/>
              <a:t>31*21+21*11+11*3 = 915 =&gt; 3.7 Ko</a:t>
            </a:r>
          </a:p>
          <a:p>
            <a:r>
              <a:rPr lang="fr-FR" dirty="0"/>
              <a:t>Pour MNIST</a:t>
            </a:r>
          </a:p>
          <a:p>
            <a:pPr lvl="1"/>
            <a:r>
              <a:rPr lang="fr-FR" dirty="0"/>
              <a:t>Le réseau exemple fait 784x500x200x100x10</a:t>
            </a:r>
          </a:p>
          <a:p>
            <a:pPr lvl="1"/>
            <a:r>
              <a:rPr lang="fr-FR" dirty="0"/>
              <a:t>2.8 Mo</a:t>
            </a:r>
          </a:p>
          <a:p>
            <a:pPr lvl="1"/>
            <a:r>
              <a:rPr lang="fr-FR" dirty="0"/>
              <a:t>Ne fonctionne pas sur ESP32 simple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2881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A74109-FECA-78F7-FA17-FB001F5C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D97CD4-3AF8-EE9D-DC11-E167D71D9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Cancer FP32</a:t>
            </a:r>
          </a:p>
        </p:txBody>
      </p:sp>
    </p:spTree>
    <p:extLst>
      <p:ext uri="{BB962C8B-B14F-4D97-AF65-F5344CB8AC3E}">
        <p14:creationId xmlns:p14="http://schemas.microsoft.com/office/powerpoint/2010/main" val="2542655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optimisations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d'optimiser un modèle après apprentissage</a:t>
            </a:r>
          </a:p>
          <a:p>
            <a:pPr lvl="1"/>
            <a:r>
              <a:rPr lang="fr-FR" dirty="0"/>
              <a:t>Afin de réduire sa taille et sa vitesse d'inférence</a:t>
            </a:r>
          </a:p>
        </p:txBody>
      </p:sp>
    </p:spTree>
    <p:extLst>
      <p:ext uri="{BB962C8B-B14F-4D97-AF65-F5344CB8AC3E}">
        <p14:creationId xmlns:p14="http://schemas.microsoft.com/office/powerpoint/2010/main" val="3595743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Réduit la taille des poids</a:t>
            </a:r>
          </a:p>
          <a:p>
            <a:pPr lvl="1"/>
            <a:r>
              <a:rPr lang="fr-FR" sz="2000" dirty="0"/>
              <a:t>TF est 64 bits</a:t>
            </a:r>
          </a:p>
          <a:p>
            <a:pPr lvl="1"/>
            <a:r>
              <a:rPr lang="fr-FR" sz="2000" dirty="0" err="1"/>
              <a:t>TFlite</a:t>
            </a:r>
            <a:r>
              <a:rPr lang="fr-FR" sz="2000" dirty="0"/>
              <a:t> est 32 bits</a:t>
            </a:r>
          </a:p>
          <a:p>
            <a:pPr lvl="1"/>
            <a:r>
              <a:rPr lang="fr-FR" sz="2000" dirty="0"/>
              <a:t>Taille divisée par 2</a:t>
            </a:r>
          </a:p>
          <a:p>
            <a:pPr lvl="1"/>
            <a:r>
              <a:rPr lang="fr-FR" sz="2000" dirty="0"/>
              <a:t>Aucun gain de rapidité sauf sur processeur 32 bits</a:t>
            </a:r>
          </a:p>
          <a:p>
            <a:r>
              <a:rPr lang="fr-FR" sz="2400" dirty="0"/>
              <a:t>Possibilité de réduire la taille des poids sur 16 bits</a:t>
            </a:r>
          </a:p>
          <a:p>
            <a:pPr lvl="1"/>
            <a:r>
              <a:rPr lang="fr-FR" sz="2000" dirty="0"/>
              <a:t>Précision 1/65536</a:t>
            </a:r>
          </a:p>
          <a:p>
            <a:pPr lvl="1"/>
            <a:r>
              <a:rPr lang="fr-FR" sz="2000" dirty="0"/>
              <a:t>Taille divisée par 4</a:t>
            </a:r>
          </a:p>
          <a:p>
            <a:pPr lvl="1"/>
            <a:r>
              <a:rPr lang="fr-FR" sz="2000" dirty="0"/>
              <a:t>Gain de rapidité de 4</a:t>
            </a:r>
          </a:p>
          <a:p>
            <a:r>
              <a:rPr lang="fr-FR" sz="2400" dirty="0"/>
              <a:t>Possibilité de réduire la taille des poids sur 8 bits</a:t>
            </a:r>
          </a:p>
          <a:p>
            <a:pPr lvl="1"/>
            <a:r>
              <a:rPr lang="fr-FR" sz="2000" dirty="0"/>
              <a:t>Entiers</a:t>
            </a:r>
          </a:p>
          <a:p>
            <a:pPr lvl="1"/>
            <a:r>
              <a:rPr lang="fr-FR" sz="2000" dirty="0"/>
              <a:t>Précision 1/256</a:t>
            </a:r>
          </a:p>
          <a:p>
            <a:pPr lvl="1"/>
            <a:r>
              <a:rPr lang="fr-FR" sz="2000" dirty="0"/>
              <a:t>Taille divisée par 8</a:t>
            </a:r>
          </a:p>
          <a:p>
            <a:pPr lvl="1"/>
            <a:r>
              <a:rPr lang="fr-FR" sz="2000" dirty="0"/>
              <a:t>Gain de rapidité de 8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7469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commande est très simple</a:t>
            </a:r>
          </a:p>
          <a:p>
            <a:pPr lvl="1"/>
            <a:r>
              <a:rPr lang="fr-FR" dirty="0" err="1"/>
              <a:t>converter.optimizations</a:t>
            </a:r>
            <a:r>
              <a:rPr lang="fr-FR" dirty="0"/>
              <a:t> = [</a:t>
            </a:r>
            <a:r>
              <a:rPr lang="fr-FR" dirty="0" err="1"/>
              <a:t>tf.lite.Optimize.DEFAULT</a:t>
            </a:r>
            <a:r>
              <a:rPr lang="fr-FR" dirty="0"/>
              <a:t>]</a:t>
            </a:r>
          </a:p>
          <a:p>
            <a:pPr lvl="1"/>
            <a:r>
              <a:rPr lang="fr-FR" dirty="0"/>
              <a:t>Par défaut 8 bits</a:t>
            </a:r>
          </a:p>
          <a:p>
            <a:pPr lvl="1"/>
            <a:r>
              <a:rPr lang="fr-FR" dirty="0"/>
              <a:t>Pour passer en 16 bits</a:t>
            </a:r>
          </a:p>
          <a:p>
            <a:pPr lvl="1"/>
            <a:r>
              <a:rPr lang="fr-FR" dirty="0" err="1"/>
              <a:t>converter.target_spec.supported_types</a:t>
            </a:r>
            <a:r>
              <a:rPr lang="fr-FR" dirty="0"/>
              <a:t> = [tf.float16]</a:t>
            </a:r>
          </a:p>
        </p:txBody>
      </p:sp>
    </p:spTree>
    <p:extLst>
      <p:ext uri="{BB962C8B-B14F-4D97-AF65-F5344CB8AC3E}">
        <p14:creationId xmlns:p14="http://schemas.microsoft.com/office/powerpoint/2010/main" val="88853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possible de </a:t>
            </a:r>
            <a:r>
              <a:rPr lang="fr-FR" dirty="0" err="1"/>
              <a:t>quantiser</a:t>
            </a:r>
            <a:r>
              <a:rPr lang="fr-FR" dirty="0"/>
              <a:t> les fonctions d'activation</a:t>
            </a:r>
          </a:p>
          <a:p>
            <a:pPr lvl="1"/>
            <a:r>
              <a:rPr lang="fr-FR" dirty="0" err="1"/>
              <a:t>converter.optimizations</a:t>
            </a:r>
            <a:r>
              <a:rPr lang="fr-FR" dirty="0"/>
              <a:t> = [</a:t>
            </a:r>
            <a:r>
              <a:rPr lang="fr-FR" dirty="0" err="1"/>
              <a:t>tf.lite.Optimize.OPTIMIZE_FOR_SIZE</a:t>
            </a:r>
            <a:r>
              <a:rPr lang="fr-FR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86817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Pruning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Pruning</a:t>
            </a:r>
            <a:r>
              <a:rPr lang="fr-FR" dirty="0"/>
              <a:t> est une méthode TF pour élaguer les poids proches de 0</a:t>
            </a:r>
          </a:p>
          <a:p>
            <a:pPr lvl="1"/>
            <a:r>
              <a:rPr lang="fr-FR" dirty="0"/>
              <a:t>Constat : les poids proches de 0 participent peu au résultat</a:t>
            </a:r>
          </a:p>
          <a:p>
            <a:pPr lvl="1"/>
            <a:r>
              <a:rPr lang="fr-FR" dirty="0" err="1"/>
              <a:t>DropConnect</a:t>
            </a:r>
            <a:r>
              <a:rPr lang="fr-FR" dirty="0"/>
              <a:t> permanent</a:t>
            </a:r>
          </a:p>
          <a:p>
            <a:pPr lvl="1"/>
            <a:r>
              <a:rPr lang="fr-FR" dirty="0"/>
              <a:t>Un poids exactement = 0 n'évoluera plus</a:t>
            </a:r>
          </a:p>
          <a:p>
            <a:pPr lvl="1"/>
            <a:r>
              <a:rPr lang="fr-FR" dirty="0"/>
              <a:t>D'abord les poids &lt; 0.1 puis augmente avec le temps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8801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Model </a:t>
            </a:r>
            <a:r>
              <a:rPr lang="fr-FR" dirty="0" err="1"/>
              <a:t>Optimization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Sous projet TF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tensorflow</a:t>
            </a:r>
            <a:r>
              <a:rPr lang="fr-FR" dirty="0"/>
              <a:t>-model-</a:t>
            </a:r>
            <a:r>
              <a:rPr lang="fr-FR" dirty="0" err="1"/>
              <a:t>optimization</a:t>
            </a:r>
            <a:endParaRPr lang="fr-FR" dirty="0"/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tensorflow_model_optimization</a:t>
            </a:r>
            <a:r>
              <a:rPr lang="fr-FR" dirty="0"/>
              <a:t> as </a:t>
            </a:r>
            <a:r>
              <a:rPr lang="fr-FR" dirty="0" err="1"/>
              <a:t>tfmot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3704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TFMOT </a:t>
            </a:r>
            <a:r>
              <a:rPr lang="fr-FR" dirty="0" err="1"/>
              <a:t>Pruning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d'appliquer un </a:t>
            </a:r>
            <a:r>
              <a:rPr lang="fr-FR" dirty="0" err="1"/>
              <a:t>Pruning</a:t>
            </a:r>
            <a:r>
              <a:rPr lang="fr-FR" dirty="0"/>
              <a:t> avec une fonction polynomiale qui élague de 0.0 à 0.5 de l'itération 2000 à 4000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8" y="3520361"/>
            <a:ext cx="8916785" cy="251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Aware</a:t>
            </a:r>
            <a:r>
              <a:rPr lang="fr-FR" dirty="0"/>
              <a:t>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une Pré-</a:t>
            </a:r>
            <a:r>
              <a:rPr lang="fr-FR" dirty="0" err="1"/>
              <a:t>quantization</a:t>
            </a:r>
            <a:endParaRPr lang="fr-FR" dirty="0"/>
          </a:p>
          <a:p>
            <a:pPr lvl="1"/>
            <a:r>
              <a:rPr lang="fr-FR" dirty="0"/>
              <a:t>Permet sous TF de </a:t>
            </a:r>
            <a:r>
              <a:rPr lang="fr-FR" dirty="0" err="1"/>
              <a:t>quantiser</a:t>
            </a:r>
            <a:r>
              <a:rPr lang="fr-FR" dirty="0"/>
              <a:t> les poids avant apprentissage sur 8 bits ou 16 bits</a:t>
            </a:r>
          </a:p>
          <a:p>
            <a:pPr lvl="1"/>
            <a:r>
              <a:rPr lang="fr-FR" dirty="0"/>
              <a:t>Attention les poids sont toujours sur 64 bits</a:t>
            </a:r>
          </a:p>
          <a:p>
            <a:pPr lvl="1"/>
            <a:r>
              <a:rPr lang="fr-FR" dirty="0"/>
              <a:t>Seuls les pas d'apprentissages sont de 1/256 ou 1/65536</a:t>
            </a:r>
          </a:p>
          <a:p>
            <a:pPr lvl="1"/>
            <a:r>
              <a:rPr lang="fr-FR" dirty="0"/>
              <a:t>Post </a:t>
            </a:r>
            <a:r>
              <a:rPr lang="fr-FR" dirty="0" err="1"/>
              <a:t>Quantization</a:t>
            </a:r>
            <a:r>
              <a:rPr lang="fr-FR" dirty="0"/>
              <a:t> </a:t>
            </a:r>
            <a:r>
              <a:rPr lang="fr-FR" dirty="0" err="1"/>
              <a:t>TFLite</a:t>
            </a:r>
            <a:r>
              <a:rPr lang="fr-FR" dirty="0"/>
              <a:t> obligatoire</a:t>
            </a:r>
          </a:p>
          <a:p>
            <a:pPr lvl="1"/>
            <a:r>
              <a:rPr lang="fr-FR" dirty="0"/>
              <a:t>Plus précis</a:t>
            </a:r>
          </a:p>
          <a:p>
            <a:pPr lvl="1"/>
            <a:r>
              <a:rPr lang="fr-FR" dirty="0"/>
              <a:t>Nécessite un réapprentissage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tfmot.quantization.keras.quantize_model</a:t>
            </a:r>
            <a:r>
              <a:rPr lang="fr-FR" dirty="0"/>
              <a:t>(model)</a:t>
            </a:r>
          </a:p>
          <a:p>
            <a:r>
              <a:rPr lang="fr-FR" dirty="0"/>
              <a:t>Inutile depuis que </a:t>
            </a:r>
            <a:r>
              <a:rPr lang="fr-FR" dirty="0" err="1"/>
              <a:t>TFLite</a:t>
            </a:r>
            <a:r>
              <a:rPr lang="fr-FR" dirty="0"/>
              <a:t> sait refaire des inférences pendant la </a:t>
            </a:r>
            <a:r>
              <a:rPr lang="fr-FR" dirty="0" err="1"/>
              <a:t>quantisation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8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B134D6-BF84-FE78-469F-8ED969C4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Quantisation</a:t>
            </a:r>
            <a:r>
              <a:rPr lang="fr-FR" dirty="0"/>
              <a:t> </a:t>
            </a:r>
            <a:r>
              <a:rPr lang="fr-FR" dirty="0" err="1"/>
              <a:t>TFLite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923D58-0573-C315-0904-9CE82DFA8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h5_to_tflite.py</a:t>
            </a:r>
          </a:p>
          <a:p>
            <a:pPr lvl="1"/>
            <a:r>
              <a:rPr lang="fr-FR" dirty="0" err="1"/>
              <a:t>Quantisation</a:t>
            </a:r>
            <a:r>
              <a:rPr lang="fr-FR" dirty="0"/>
              <a:t> 8 bits</a:t>
            </a:r>
          </a:p>
          <a:p>
            <a:pPr lvl="1"/>
            <a:r>
              <a:rPr lang="fr-FR" dirty="0"/>
              <a:t>Limitation : seules les données corrélées sont </a:t>
            </a:r>
            <a:r>
              <a:rPr lang="fr-FR" dirty="0" err="1"/>
              <a:t>quantisables</a:t>
            </a:r>
            <a:r>
              <a:rPr lang="fr-FR" dirty="0"/>
              <a:t> pour le moment</a:t>
            </a:r>
          </a:p>
          <a:p>
            <a:pPr lvl="1"/>
            <a:r>
              <a:rPr lang="fr-FR" dirty="0" err="1"/>
              <a:t>I'outil</a:t>
            </a:r>
            <a:r>
              <a:rPr lang="fr-FR" dirty="0"/>
              <a:t> va réexécuter des inférences pour maitrise la </a:t>
            </a:r>
            <a:r>
              <a:rPr lang="fr-FR" dirty="0" err="1"/>
              <a:t>quantisation</a:t>
            </a:r>
            <a:r>
              <a:rPr lang="fr-FR" dirty="0"/>
              <a:t> des fonctions d'activation</a:t>
            </a:r>
          </a:p>
          <a:p>
            <a:pPr lvl="1"/>
            <a:r>
              <a:rPr lang="fr-FR" dirty="0"/>
              <a:t>Nécessité d'avoir un mini </a:t>
            </a:r>
            <a:r>
              <a:rPr lang="fr-FR" dirty="0" err="1"/>
              <a:t>x_train</a:t>
            </a:r>
            <a:r>
              <a:rPr lang="fr-FR" dirty="0"/>
              <a:t> sous la forme d'image</a:t>
            </a:r>
          </a:p>
          <a:p>
            <a:pPr lvl="1"/>
            <a:r>
              <a:rPr lang="en-US" dirty="0"/>
              <a:t>python h5_to_tflite.py mnist_mlp.h5 </a:t>
            </a:r>
            <a:r>
              <a:rPr lang="en-US" dirty="0" err="1"/>
              <a:t>mnist_cnn.tflite</a:t>
            </a:r>
            <a:r>
              <a:rPr lang="en-US" dirty="0"/>
              <a:t> 1 </a:t>
            </a:r>
            <a:r>
              <a:rPr lang="en-US" dirty="0" err="1"/>
              <a:t>quant_img_mnist</a:t>
            </a:r>
            <a:r>
              <a:rPr lang="en-US" dirty="0"/>
              <a:t>/ 0to1</a:t>
            </a:r>
          </a:p>
          <a:p>
            <a:pPr lvl="1"/>
            <a:r>
              <a:rPr lang="en-US" dirty="0"/>
              <a:t>1 = </a:t>
            </a:r>
            <a:r>
              <a:rPr lang="en-US" dirty="0" err="1"/>
              <a:t>Quantisation</a:t>
            </a:r>
            <a:endParaRPr lang="en-US" dirty="0"/>
          </a:p>
          <a:p>
            <a:pPr lvl="1"/>
            <a:r>
              <a:rPr lang="en-US" dirty="0" err="1"/>
              <a:t>quand_img_mnist</a:t>
            </a:r>
            <a:r>
              <a:rPr lang="en-US" dirty="0"/>
              <a:t> : repertoire des image </a:t>
            </a:r>
            <a:r>
              <a:rPr lang="en-US" dirty="0" err="1"/>
              <a:t>d'entrainement</a:t>
            </a:r>
            <a:endParaRPr lang="en-US" dirty="0"/>
          </a:p>
          <a:p>
            <a:pPr lvl="1"/>
            <a:r>
              <a:rPr lang="en-US" dirty="0"/>
              <a:t>0to1 : y est </a:t>
            </a:r>
            <a:r>
              <a:rPr lang="en-US" dirty="0" err="1"/>
              <a:t>compris</a:t>
            </a:r>
            <a:r>
              <a:rPr lang="en-US" dirty="0"/>
              <a:t> entre 0 et 1 =&gt; </a:t>
            </a:r>
            <a:r>
              <a:rPr lang="en-US" dirty="0" err="1"/>
              <a:t>MinMaxScaler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0101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A924B-6369-A9B0-7EAC-5E2AFC65A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9D7F40-888D-05D4-FAEF-DA7DF543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Limitations RAM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5B15A7-CE1C-4D2F-3B87-A80906800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Cancer</a:t>
            </a:r>
          </a:p>
          <a:p>
            <a:pPr lvl="1"/>
            <a:r>
              <a:rPr lang="fr-FR" dirty="0"/>
              <a:t>Le réseau exemple fait 30x20x10x2</a:t>
            </a:r>
          </a:p>
          <a:p>
            <a:pPr lvl="1"/>
            <a:r>
              <a:rPr lang="fr-FR" dirty="0"/>
              <a:t>31*21+21*11+11*3 = 915 Ko</a:t>
            </a:r>
          </a:p>
          <a:p>
            <a:r>
              <a:rPr lang="fr-FR" dirty="0"/>
              <a:t>Pour MNIST</a:t>
            </a:r>
          </a:p>
          <a:p>
            <a:pPr lvl="1"/>
            <a:r>
              <a:rPr lang="fr-FR" dirty="0"/>
              <a:t>Le réseau exemple fait 784x500x200x100x10</a:t>
            </a:r>
          </a:p>
          <a:p>
            <a:pPr lvl="1"/>
            <a:r>
              <a:rPr lang="fr-FR" dirty="0"/>
              <a:t>0.7 Mo</a:t>
            </a:r>
          </a:p>
          <a:p>
            <a:pPr lvl="1"/>
            <a:r>
              <a:rPr lang="fr-FR" dirty="0"/>
              <a:t>Ne fonctionne toujours pas sur ESP32 simple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5126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B93DC-BBE0-54D5-A00A-CA829258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20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733D03-FE4A-7F16-AD34-60E62DDAC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Quantisation</a:t>
            </a:r>
            <a:r>
              <a:rPr lang="fr-FR" dirty="0"/>
              <a:t> </a:t>
            </a:r>
            <a:r>
              <a:rPr lang="fr-FR"/>
              <a:t>MNIST int8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694960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7493</TotalTime>
  <Words>850</Words>
  <Application>Microsoft Office PowerPoint</Application>
  <PresentationFormat>Affichage à l'écran (4:3)</PresentationFormat>
  <Paragraphs>164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Contraintes</vt:lpstr>
      <vt:lpstr>TFLite</vt:lpstr>
      <vt:lpstr>Compatibilité</vt:lpstr>
      <vt:lpstr>Micro-contrôleurs</vt:lpstr>
      <vt:lpstr>Langages</vt:lpstr>
      <vt:lpstr>Plateformes compatibles</vt:lpstr>
      <vt:lpstr>Limites</vt:lpstr>
      <vt:lpstr>Performances</vt:lpstr>
      <vt:lpstr>H5</vt:lpstr>
      <vt:lpstr>TFLite</vt:lpstr>
      <vt:lpstr>Inférence</vt:lpstr>
      <vt:lpstr>Limitations RAM</vt:lpstr>
      <vt:lpstr>TP 19</vt:lpstr>
      <vt:lpstr>Post optimisations</vt:lpstr>
      <vt:lpstr>Post Quantization</vt:lpstr>
      <vt:lpstr>Post Quantization</vt:lpstr>
      <vt:lpstr>Post Quantization</vt:lpstr>
      <vt:lpstr>Pruning</vt:lpstr>
      <vt:lpstr>Tensorflow Model Optimization</vt:lpstr>
      <vt:lpstr>TFMOT Pruning</vt:lpstr>
      <vt:lpstr>Aware Quantization</vt:lpstr>
      <vt:lpstr>Quantisation TFLite</vt:lpstr>
      <vt:lpstr>Limitations RAM</vt:lpstr>
      <vt:lpstr>TP 20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350</cp:revision>
  <dcterms:created xsi:type="dcterms:W3CDTF">2000-04-10T19:33:12Z</dcterms:created>
  <dcterms:modified xsi:type="dcterms:W3CDTF">2026-06-15T11:14:56Z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