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7"/>
  </p:notesMasterIdLst>
  <p:handoutMasterIdLst>
    <p:handoutMasterId r:id="rId38"/>
  </p:handoutMasterIdLst>
  <p:sldIdLst>
    <p:sldId id="264" r:id="rId2"/>
    <p:sldId id="265" r:id="rId3"/>
    <p:sldId id="364" r:id="rId4"/>
    <p:sldId id="267" r:id="rId5"/>
    <p:sldId id="271" r:id="rId6"/>
    <p:sldId id="326" r:id="rId7"/>
    <p:sldId id="298" r:id="rId8"/>
    <p:sldId id="299" r:id="rId9"/>
    <p:sldId id="327" r:id="rId10"/>
    <p:sldId id="328" r:id="rId11"/>
    <p:sldId id="330" r:id="rId12"/>
    <p:sldId id="329" r:id="rId13"/>
    <p:sldId id="331" r:id="rId14"/>
    <p:sldId id="332" r:id="rId15"/>
    <p:sldId id="359" r:id="rId16"/>
    <p:sldId id="301" r:id="rId17"/>
    <p:sldId id="334" r:id="rId18"/>
    <p:sldId id="302" r:id="rId19"/>
    <p:sldId id="333" r:id="rId20"/>
    <p:sldId id="316" r:id="rId21"/>
    <p:sldId id="303" r:id="rId22"/>
    <p:sldId id="304" r:id="rId23"/>
    <p:sldId id="362" r:id="rId24"/>
    <p:sldId id="339" r:id="rId25"/>
    <p:sldId id="341" r:id="rId26"/>
    <p:sldId id="350" r:id="rId27"/>
    <p:sldId id="363" r:id="rId28"/>
    <p:sldId id="347" r:id="rId29"/>
    <p:sldId id="360" r:id="rId30"/>
    <p:sldId id="306" r:id="rId31"/>
    <p:sldId id="351" r:id="rId32"/>
    <p:sldId id="352" r:id="rId33"/>
    <p:sldId id="266" r:id="rId34"/>
    <p:sldId id="365" r:id="rId35"/>
    <p:sldId id="361" r:id="rId3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107" d="100"/>
          <a:sy n="107" d="100"/>
        </p:scale>
        <p:origin x="173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064A7E8C-15F4-61F7-2B29-D562CB325C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9D8472D-5B6A-2686-274F-C3CA58D00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796" y="3530885"/>
            <a:ext cx="4172532" cy="12098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est un outil open source d'apprentissage automatique développé par Google</a:t>
            </a:r>
          </a:p>
          <a:p>
            <a:pPr lvl="1"/>
            <a:r>
              <a:rPr lang="fr-FR" dirty="0"/>
              <a:t>Le code source a été ouvert le 9 novembre 2015 par Google et publié sous licence Apache</a:t>
            </a:r>
          </a:p>
          <a:p>
            <a:pPr lvl="1"/>
            <a:r>
              <a:rPr lang="fr-FR" dirty="0"/>
              <a:t>V 1.0 du 11 février 2017</a:t>
            </a:r>
          </a:p>
          <a:p>
            <a:r>
              <a:rPr lang="fr-FR" dirty="0"/>
              <a:t>Est doté d'une interface Python.</a:t>
            </a:r>
          </a:p>
          <a:p>
            <a:r>
              <a:rPr lang="fr-FR" dirty="0" err="1"/>
              <a:t>TensorFlow</a:t>
            </a:r>
            <a:r>
              <a:rPr lang="fr-FR" dirty="0"/>
              <a:t> est l'un des outils les plus utilisés en IA dans le domaine de l'apprentissage machine</a:t>
            </a:r>
          </a:p>
          <a:p>
            <a:r>
              <a:rPr lang="fr-FR" dirty="0"/>
              <a:t>Développé par Google Brain filiale d'Alphabet</a:t>
            </a:r>
          </a:p>
        </p:txBody>
      </p:sp>
    </p:spTree>
    <p:extLst>
      <p:ext uri="{BB962C8B-B14F-4D97-AF65-F5344CB8AC3E}">
        <p14:creationId xmlns:p14="http://schemas.microsoft.com/office/powerpoint/2010/main" val="309676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A5B5C1-16D3-C7C9-1090-B9136CD7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Tenseurs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513F02-B717-23DF-A0BC-D42B53FF6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Tenseur est un objet mathématique pouvant être multi dimensionnel</a:t>
            </a:r>
          </a:p>
          <a:p>
            <a:r>
              <a:rPr lang="fr-FR" dirty="0"/>
              <a:t>Les scalaires et les vecteurs sont des tenseurs d'ordre 0 et 1</a:t>
            </a:r>
          </a:p>
          <a:p>
            <a:pPr lvl="1"/>
            <a:r>
              <a:rPr lang="fr-FR" dirty="0"/>
              <a:t>Il est possible d'avoir des tenseurs d'ordre n</a:t>
            </a:r>
          </a:p>
          <a:p>
            <a:pPr lvl="1"/>
            <a:r>
              <a:rPr lang="fr-FR" dirty="0"/>
              <a:t>Il est possible d'avoir des tenseurs de tenseur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D5542A-7F9E-B184-BB7F-0EBDAF9A2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4442890"/>
            <a:ext cx="5502117" cy="200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8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tensorflow</a:t>
            </a:r>
            <a:r>
              <a:rPr lang="fr-FR" dirty="0"/>
              <a:t>==2.10.1</a:t>
            </a:r>
          </a:p>
          <a:p>
            <a:r>
              <a:rPr lang="fr-FR" dirty="0"/>
              <a:t>Test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tensorflow</a:t>
            </a:r>
            <a:r>
              <a:rPr lang="fr-FR" dirty="0"/>
              <a:t> as </a:t>
            </a:r>
            <a:r>
              <a:rPr lang="fr-FR" dirty="0" err="1"/>
              <a:t>tf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3785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r>
              <a:rPr lang="fr-FR" dirty="0"/>
              <a:t> est une API Python portable qui permet d'effectuer du </a:t>
            </a:r>
            <a:r>
              <a:rPr lang="fr-FR" dirty="0" err="1"/>
              <a:t>Deep</a:t>
            </a:r>
            <a:r>
              <a:rPr lang="fr-FR" dirty="0"/>
              <a:t> Learning par-dessus </a:t>
            </a:r>
            <a:r>
              <a:rPr lang="fr-FR" dirty="0" err="1"/>
              <a:t>Tensorflow</a:t>
            </a:r>
            <a:r>
              <a:rPr lang="fr-FR" dirty="0"/>
              <a:t>, CNTK et </a:t>
            </a:r>
            <a:r>
              <a:rPr lang="fr-FR" dirty="0" err="1"/>
              <a:t>Theano</a:t>
            </a:r>
            <a:endParaRPr lang="fr-FR" dirty="0"/>
          </a:p>
          <a:p>
            <a:pPr lvl="1"/>
            <a:r>
              <a:rPr lang="fr-FR" dirty="0"/>
              <a:t>Elle a été initialement écrite par François Chollet</a:t>
            </a:r>
          </a:p>
          <a:p>
            <a:pPr lvl="2"/>
            <a:r>
              <a:rPr lang="fr-FR" dirty="0"/>
              <a:t>Salarié de Google</a:t>
            </a:r>
          </a:p>
          <a:p>
            <a:pPr lvl="1"/>
            <a:r>
              <a:rPr lang="fr-FR" dirty="0"/>
              <a:t>Permet d'écrire des réseaux neuronaux simplement</a:t>
            </a:r>
          </a:p>
          <a:p>
            <a:pPr lvl="1"/>
            <a:r>
              <a:rPr lang="fr-FR" dirty="0"/>
              <a:t>Permet de rendre le code </a:t>
            </a:r>
            <a:r>
              <a:rPr lang="fr-FR" dirty="0" err="1"/>
              <a:t>TensorFlow</a:t>
            </a:r>
            <a:r>
              <a:rPr lang="fr-FR" dirty="0"/>
              <a:t> portable vers CNTK et </a:t>
            </a:r>
            <a:r>
              <a:rPr lang="fr-FR" dirty="0" err="1"/>
              <a:t>Theano</a:t>
            </a:r>
            <a:endParaRPr lang="fr-FR" dirty="0"/>
          </a:p>
          <a:p>
            <a:pPr lvl="1"/>
            <a:r>
              <a:rPr lang="fr-FR" dirty="0"/>
              <a:t>Package </a:t>
            </a:r>
            <a:r>
              <a:rPr lang="fr-FR" dirty="0" err="1"/>
              <a:t>keras</a:t>
            </a:r>
            <a:endParaRPr lang="fr-FR" dirty="0"/>
          </a:p>
          <a:p>
            <a:r>
              <a:rPr lang="fr-FR" dirty="0"/>
              <a:t>Inclus dans </a:t>
            </a:r>
            <a:r>
              <a:rPr lang="fr-FR" dirty="0" err="1"/>
              <a:t>Tensorflow</a:t>
            </a:r>
            <a:r>
              <a:rPr lang="fr-FR" dirty="0"/>
              <a:t> 2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tensorflow.keras</a:t>
            </a:r>
            <a:r>
              <a:rPr lang="fr-FR" dirty="0"/>
              <a:t> as </a:t>
            </a:r>
            <a:r>
              <a:rPr lang="fr-FR" dirty="0" err="1"/>
              <a:t>keras</a:t>
            </a:r>
            <a:endParaRPr lang="fr-FR" dirty="0"/>
          </a:p>
        </p:txBody>
      </p:sp>
      <p:pic>
        <p:nvPicPr>
          <p:cNvPr id="1026" name="Picture 2" descr="FranÃ§ois Cholle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577" y="1844824"/>
            <a:ext cx="1381994" cy="138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ras tutorial - keras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0"/>
            <a:ext cx="1320081" cy="132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85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MLP 5x5x1</a:t>
            </a:r>
          </a:p>
          <a:p>
            <a:pPr lvl="1"/>
            <a:r>
              <a:rPr lang="fr-FR" dirty="0"/>
              <a:t>Par défaut l’activation est </a:t>
            </a:r>
            <a:r>
              <a:rPr lang="fr-FR" dirty="0" err="1"/>
              <a:t>linear</a:t>
            </a:r>
            <a:endParaRPr lang="fr-FR" dirty="0"/>
          </a:p>
          <a:p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996952"/>
            <a:ext cx="4886039" cy="204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19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 avec 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580" y="2780928"/>
            <a:ext cx="6984886" cy="200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73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d'activation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relu</a:t>
            </a:r>
          </a:p>
          <a:p>
            <a:r>
              <a:rPr lang="fr-FR" dirty="0" err="1"/>
              <a:t>tanh</a:t>
            </a:r>
            <a:r>
              <a:rPr lang="fr-FR" dirty="0"/>
              <a:t> (assez rapide), </a:t>
            </a:r>
            <a:r>
              <a:rPr lang="fr-FR" dirty="0" err="1"/>
              <a:t>sigmoid</a:t>
            </a:r>
            <a:r>
              <a:rPr lang="fr-FR" dirty="0"/>
              <a:t> (lent), </a:t>
            </a:r>
            <a:r>
              <a:rPr lang="fr-FR" dirty="0" err="1"/>
              <a:t>hard_sigmoid</a:t>
            </a:r>
            <a:r>
              <a:rPr lang="fr-FR" dirty="0"/>
              <a:t> (rapide)</a:t>
            </a:r>
          </a:p>
          <a:p>
            <a:r>
              <a:rPr lang="fr-FR" dirty="0" err="1"/>
              <a:t>LeakyRelu</a:t>
            </a:r>
            <a:endParaRPr lang="fr-FR" dirty="0"/>
          </a:p>
          <a:p>
            <a:r>
              <a:rPr lang="fr-FR" dirty="0" err="1"/>
              <a:t>Softmax</a:t>
            </a:r>
            <a:endParaRPr lang="fr-FR" dirty="0"/>
          </a:p>
          <a:p>
            <a:r>
              <a:rPr lang="fr-FR" dirty="0"/>
              <a:t>Deux écritures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layers.Dense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(64, activation='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sigmoid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layers.Dense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(64, activation=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tf.sigmoid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fr-FR" dirty="0"/>
          </a:p>
        </p:txBody>
      </p:sp>
      <p:sp>
        <p:nvSpPr>
          <p:cNvPr id="4" name="AutoShape 2" descr="RÃ©sultat de recherche d'images pour &quot;wiki softmax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8610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Bias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 défaut </a:t>
            </a:r>
            <a:r>
              <a:rPr lang="fr-FR" dirty="0" err="1"/>
              <a:t>Tensorflow</a:t>
            </a:r>
            <a:r>
              <a:rPr lang="fr-FR" dirty="0"/>
              <a:t> utilise des données centrées sur zéro</a:t>
            </a:r>
          </a:p>
          <a:p>
            <a:pPr lvl="1"/>
            <a:r>
              <a:rPr lang="fr-FR" dirty="0" err="1"/>
              <a:t>Bias</a:t>
            </a:r>
            <a:r>
              <a:rPr lang="fr-FR" dirty="0"/>
              <a:t> = 0</a:t>
            </a:r>
          </a:p>
          <a:p>
            <a:pPr lvl="1"/>
            <a:r>
              <a:rPr lang="fr-FR" dirty="0"/>
              <a:t>TF ajouter toujours un poids supplémentaire </a:t>
            </a:r>
            <a:r>
              <a:rPr lang="fr-FR" dirty="0" err="1"/>
              <a:t>poir</a:t>
            </a:r>
            <a:r>
              <a:rPr lang="fr-FR" dirty="0"/>
              <a:t> le </a:t>
            </a:r>
            <a:r>
              <a:rPr lang="fr-FR" dirty="0" err="1"/>
              <a:t>bias</a:t>
            </a:r>
            <a:r>
              <a:rPr lang="fr-FR" dirty="0"/>
              <a:t> avec un input=-1</a:t>
            </a:r>
          </a:p>
          <a:p>
            <a:r>
              <a:rPr lang="fr-FR" dirty="0"/>
              <a:t>Les données sont des flottants centrées sur zéro essentiellement comprises entre -1 et 1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X = [0,1,2,3,4,5,6,7]</a:t>
            </a:r>
          </a:p>
          <a:p>
            <a:pPr lvl="1"/>
            <a:r>
              <a:rPr lang="fr-FR" dirty="0" err="1"/>
              <a:t>Xnormalized</a:t>
            </a:r>
            <a:r>
              <a:rPr lang="fr-FR" dirty="0"/>
              <a:t> = (X - 3.5) / 3.5</a:t>
            </a:r>
          </a:p>
        </p:txBody>
      </p:sp>
    </p:spTree>
    <p:extLst>
      <p:ext uri="{BB962C8B-B14F-4D97-AF65-F5344CB8AC3E}">
        <p14:creationId xmlns:p14="http://schemas.microsoft.com/office/powerpoint/2010/main" val="2592647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r>
              <a:rPr lang="fr-FR" dirty="0"/>
              <a:t> possède 2 API pour créer un réseau</a:t>
            </a:r>
          </a:p>
          <a:p>
            <a:r>
              <a:rPr lang="fr-FR" dirty="0" err="1"/>
              <a:t>Sequential</a:t>
            </a:r>
            <a:endParaRPr lang="fr-FR" dirty="0"/>
          </a:p>
          <a:p>
            <a:pPr lvl="1"/>
            <a:r>
              <a:rPr lang="fr-FR" dirty="0"/>
              <a:t>Orienté objet</a:t>
            </a:r>
          </a:p>
          <a:p>
            <a:pPr lvl="1"/>
            <a:r>
              <a:rPr lang="fr-FR" dirty="0"/>
              <a:t>Compatible MLP uniquement</a:t>
            </a:r>
          </a:p>
          <a:p>
            <a:r>
              <a:rPr lang="fr-FR" dirty="0"/>
              <a:t>Model</a:t>
            </a:r>
          </a:p>
          <a:p>
            <a:pPr lvl="1"/>
            <a:r>
              <a:rPr lang="fr-FR" dirty="0"/>
              <a:t>Orienté fonctionnel</a:t>
            </a:r>
          </a:p>
          <a:p>
            <a:pPr lvl="1"/>
            <a:r>
              <a:rPr lang="fr-FR" dirty="0"/>
              <a:t>Compatible pour tout graphe cyclique</a:t>
            </a:r>
          </a:p>
          <a:p>
            <a:pPr lvl="1"/>
            <a:r>
              <a:rPr lang="fr-FR" dirty="0"/>
              <a:t>Donc compatible MLP ou autre</a:t>
            </a:r>
          </a:p>
        </p:txBody>
      </p:sp>
    </p:spTree>
    <p:extLst>
      <p:ext uri="{BB962C8B-B14F-4D97-AF65-F5344CB8AC3E}">
        <p14:creationId xmlns:p14="http://schemas.microsoft.com/office/powerpoint/2010/main" val="2833686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Dense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Keras.layers.Dense</a:t>
            </a:r>
            <a:r>
              <a:rPr lang="fr-FR" dirty="0"/>
              <a:t> est le layer MLP</a:t>
            </a:r>
          </a:p>
          <a:p>
            <a:pPr lvl="1"/>
            <a:r>
              <a:rPr lang="fr-FR" dirty="0"/>
              <a:t>Spécifie le nombre de perceptron</a:t>
            </a:r>
          </a:p>
          <a:p>
            <a:pPr lvl="1"/>
            <a:r>
              <a:rPr lang="fr-FR" dirty="0" err="1"/>
              <a:t>keras.layers.Dense</a:t>
            </a:r>
            <a:r>
              <a:rPr lang="fr-FR" dirty="0"/>
              <a:t>(8)</a:t>
            </a:r>
          </a:p>
          <a:p>
            <a:pPr lvl="1"/>
            <a:r>
              <a:rPr lang="fr-FR" dirty="0"/>
              <a:t>La fonction d’activation est identique pour tous le layer</a:t>
            </a:r>
          </a:p>
          <a:p>
            <a:pPr lvl="1"/>
            <a:r>
              <a:rPr lang="fr-FR" dirty="0" err="1"/>
              <a:t>keras.layers.Dense</a:t>
            </a:r>
            <a:r>
              <a:rPr lang="fr-FR" dirty="0"/>
              <a:t>(8, activation=‘relu’)</a:t>
            </a:r>
          </a:p>
          <a:p>
            <a:pPr lvl="1"/>
            <a:r>
              <a:rPr lang="fr-FR" dirty="0"/>
              <a:t>Facultativement </a:t>
            </a:r>
            <a:r>
              <a:rPr lang="fr-FR" dirty="0" err="1"/>
              <a:t>input_shape</a:t>
            </a:r>
            <a:r>
              <a:rPr lang="fr-FR" dirty="0"/>
              <a:t> définit le </a:t>
            </a:r>
            <a:r>
              <a:rPr lang="fr-FR" dirty="0" err="1"/>
              <a:t>shape</a:t>
            </a:r>
            <a:r>
              <a:rPr lang="fr-FR" dirty="0"/>
              <a:t> du tenseur en entrée du layer</a:t>
            </a:r>
          </a:p>
          <a:p>
            <a:pPr lvl="1"/>
            <a:r>
              <a:rPr lang="fr-FR" dirty="0" err="1"/>
              <a:t>keras.layers.Dense</a:t>
            </a:r>
            <a:r>
              <a:rPr lang="fr-FR" dirty="0"/>
              <a:t>(8, </a:t>
            </a:r>
            <a:r>
              <a:rPr lang="fr-FR" dirty="0" err="1"/>
              <a:t>input_shape</a:t>
            </a:r>
            <a:r>
              <a:rPr lang="fr-FR" dirty="0"/>
              <a:t>(2,))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6403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Sequential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Keras.Sequential</a:t>
            </a:r>
            <a:endParaRPr lang="fr-FR" dirty="0"/>
          </a:p>
          <a:p>
            <a:pPr lvl="1"/>
            <a:r>
              <a:rPr lang="fr-FR" dirty="0"/>
              <a:t>Model = </a:t>
            </a:r>
            <a:r>
              <a:rPr lang="fr-FR" dirty="0" err="1"/>
              <a:t>keras.Sequential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Possède une liste de </a:t>
            </a:r>
            <a:r>
              <a:rPr lang="fr-FR" dirty="0" err="1"/>
              <a:t>layers</a:t>
            </a:r>
            <a:endParaRPr lang="fr-FR" dirty="0"/>
          </a:p>
          <a:p>
            <a:pPr lvl="1"/>
            <a:r>
              <a:rPr lang="fr-FR" dirty="0" err="1"/>
              <a:t>Model.layers</a:t>
            </a:r>
            <a:endParaRPr lang="fr-FR" dirty="0"/>
          </a:p>
          <a:p>
            <a:pPr lvl="1"/>
            <a:r>
              <a:rPr lang="fr-FR" dirty="0"/>
              <a:t>Ajout d’un layer soit par </a:t>
            </a:r>
            <a:r>
              <a:rPr lang="fr-FR" dirty="0" err="1"/>
              <a:t>add</a:t>
            </a:r>
            <a:r>
              <a:rPr lang="fr-FR" dirty="0"/>
              <a:t> soit par le constructeur</a:t>
            </a:r>
          </a:p>
          <a:p>
            <a:pPr lvl="1"/>
            <a:r>
              <a:rPr lang="fr-FR" dirty="0"/>
              <a:t>Un layer ne peut avoir qu’un seul parent (MLP)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42" y="4470324"/>
            <a:ext cx="3563283" cy="115212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825" y="4439136"/>
            <a:ext cx="5797759" cy="158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49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Keras.Model</a:t>
            </a:r>
            <a:endParaRPr lang="fr-FR" dirty="0"/>
          </a:p>
          <a:p>
            <a:pPr lvl="1"/>
            <a:r>
              <a:rPr lang="fr-FR" dirty="0"/>
              <a:t>Model = </a:t>
            </a:r>
            <a:r>
              <a:rPr lang="fr-FR" dirty="0" err="1"/>
              <a:t>keras.Model</a:t>
            </a:r>
            <a:r>
              <a:rPr lang="fr-FR" dirty="0"/>
              <a:t>(inputs, outputs)</a:t>
            </a:r>
          </a:p>
          <a:p>
            <a:pPr lvl="1"/>
            <a:r>
              <a:rPr lang="fr-FR" dirty="0"/>
              <a:t>Ajout d’un layer un </a:t>
            </a:r>
            <a:r>
              <a:rPr lang="fr-FR" dirty="0" err="1"/>
              <a:t>tuple</a:t>
            </a:r>
            <a:r>
              <a:rPr lang="fr-FR" dirty="0"/>
              <a:t> </a:t>
            </a:r>
            <a:r>
              <a:rPr lang="fr-FR" dirty="0" err="1"/>
              <a:t>postfixé</a:t>
            </a:r>
            <a:endParaRPr lang="fr-FR" dirty="0"/>
          </a:p>
          <a:p>
            <a:pPr lvl="1"/>
            <a:r>
              <a:rPr lang="fr-FR" dirty="0"/>
              <a:t>Un layer peut avoir plusieurs parents (non MLP)</a:t>
            </a:r>
          </a:p>
          <a:p>
            <a:pPr lvl="1"/>
            <a:r>
              <a:rPr lang="fr-FR" dirty="0"/>
              <a:t>Le modèle peut avoir plusieurs inputs et outputs</a:t>
            </a:r>
          </a:p>
          <a:p>
            <a:pPr lvl="1"/>
            <a:r>
              <a:rPr lang="fr-FR" dirty="0"/>
              <a:t>Le premier layer doit être de type Input(</a:t>
            </a:r>
            <a:r>
              <a:rPr lang="fr-FR" dirty="0" err="1"/>
              <a:t>shape</a:t>
            </a:r>
            <a:r>
              <a:rPr lang="fr-FR" dirty="0"/>
              <a:t>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4221088"/>
            <a:ext cx="5375648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3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Optimizer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Algorithme de </a:t>
            </a:r>
            <a:r>
              <a:rPr lang="fr-FR" dirty="0" err="1"/>
              <a:t>backtracking</a:t>
            </a:r>
            <a:endParaRPr lang="fr-FR" dirty="0"/>
          </a:p>
          <a:p>
            <a:r>
              <a:rPr lang="fr-FR" dirty="0"/>
              <a:t>En 1</a:t>
            </a:r>
            <a:r>
              <a:rPr lang="fr-FR" baseline="30000" dirty="0"/>
              <a:t>ère</a:t>
            </a:r>
            <a:r>
              <a:rPr lang="fr-FR" dirty="0"/>
              <a:t> intention utiliser </a:t>
            </a:r>
            <a:r>
              <a:rPr lang="fr-FR" dirty="0" err="1"/>
              <a:t>RMSProp</a:t>
            </a:r>
            <a:r>
              <a:rPr lang="fr-FR" dirty="0"/>
              <a:t> (pas de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Ou Adam (avec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  <a:p>
            <a:r>
              <a:rPr lang="fr-FR" dirty="0"/>
              <a:t>Plus tard nous verrons SGD (avec dérivée et </a:t>
            </a:r>
            <a:r>
              <a:rPr lang="fr-FR" dirty="0" err="1"/>
              <a:t>nesterov</a:t>
            </a:r>
            <a:r>
              <a:rPr lang="fr-FR" dirty="0"/>
              <a:t>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537" y="3908648"/>
            <a:ext cx="3658245" cy="244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919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Optimizer</a:t>
            </a:r>
            <a:endParaRPr lang="fr-FR" dirty="0"/>
          </a:p>
        </p:txBody>
      </p:sp>
      <p:pic>
        <p:nvPicPr>
          <p:cNvPr id="1026" name="Picture 2" descr="optimzers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340768"/>
            <a:ext cx="59055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32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Compile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Compile construit le réseaux de tenseurs</a:t>
            </a:r>
          </a:p>
          <a:p>
            <a:endParaRPr lang="fr-FR" dirty="0"/>
          </a:p>
          <a:p>
            <a:endParaRPr lang="fr-FR" dirty="0"/>
          </a:p>
          <a:p>
            <a:pPr lvl="1"/>
            <a:r>
              <a:rPr lang="fr-FR" dirty="0" err="1"/>
              <a:t>Loss</a:t>
            </a:r>
            <a:endParaRPr lang="fr-FR" dirty="0"/>
          </a:p>
          <a:p>
            <a:pPr lvl="2"/>
            <a:r>
              <a:rPr lang="fr-FR" dirty="0"/>
              <a:t>Méthode de calcul du </a:t>
            </a:r>
            <a:r>
              <a:rPr lang="fr-FR" dirty="0" err="1"/>
              <a:t>loss</a:t>
            </a:r>
            <a:endParaRPr lang="fr-FR" dirty="0"/>
          </a:p>
          <a:p>
            <a:pPr lvl="2"/>
            <a:r>
              <a:rPr lang="fr-FR" dirty="0" err="1"/>
              <a:t>mse</a:t>
            </a:r>
            <a:r>
              <a:rPr lang="fr-FR" dirty="0"/>
              <a:t> :  </a:t>
            </a:r>
            <a:r>
              <a:rPr lang="fr-FR" dirty="0" err="1"/>
              <a:t>Mean</a:t>
            </a:r>
            <a:r>
              <a:rPr lang="fr-FR" dirty="0"/>
              <a:t> </a:t>
            </a:r>
            <a:r>
              <a:rPr lang="fr-FR" dirty="0" err="1"/>
              <a:t>Squared</a:t>
            </a:r>
            <a:r>
              <a:rPr lang="fr-FR" dirty="0"/>
              <a:t> </a:t>
            </a:r>
            <a:r>
              <a:rPr lang="fr-FR" dirty="0" err="1"/>
              <a:t>Error</a:t>
            </a:r>
            <a:endParaRPr lang="fr-FR" dirty="0"/>
          </a:p>
          <a:p>
            <a:pPr lvl="1"/>
            <a:r>
              <a:rPr lang="fr-FR" dirty="0" err="1"/>
              <a:t>Metrics</a:t>
            </a:r>
            <a:endParaRPr lang="fr-FR" dirty="0"/>
          </a:p>
          <a:p>
            <a:pPr lvl="2"/>
            <a:r>
              <a:rPr lang="fr-FR" dirty="0"/>
              <a:t>Par défaut seul le </a:t>
            </a:r>
            <a:r>
              <a:rPr lang="fr-FR" dirty="0" err="1"/>
              <a:t>loss</a:t>
            </a:r>
            <a:r>
              <a:rPr lang="fr-FR" dirty="0"/>
              <a:t> est affiché (peu parlant)</a:t>
            </a:r>
          </a:p>
          <a:p>
            <a:pPr lvl="2"/>
            <a:r>
              <a:rPr lang="fr-FR" dirty="0"/>
              <a:t>Le </a:t>
            </a:r>
            <a:r>
              <a:rPr lang="fr-FR" dirty="0" err="1"/>
              <a:t>metric</a:t>
            </a:r>
            <a:r>
              <a:rPr lang="fr-FR" dirty="0"/>
              <a:t> le plus parlant est </a:t>
            </a:r>
            <a:r>
              <a:rPr lang="fr-FR" dirty="0" err="1"/>
              <a:t>accuracy</a:t>
            </a:r>
            <a:r>
              <a:rPr lang="fr-FR" dirty="0"/>
              <a:t> qui affiche la précision du calcul soit </a:t>
            </a:r>
            <a:r>
              <a:rPr lang="fr-FR" dirty="0" err="1"/>
              <a:t>nbGoodResult</a:t>
            </a:r>
            <a:r>
              <a:rPr lang="fr-FR" dirty="0"/>
              <a:t> / </a:t>
            </a:r>
            <a:r>
              <a:rPr lang="fr-FR" dirty="0" err="1"/>
              <a:t>nbTotalItem</a:t>
            </a:r>
            <a:endParaRPr lang="fr-FR" dirty="0"/>
          </a:p>
          <a:p>
            <a:r>
              <a:rPr lang="fr-FR" dirty="0" err="1"/>
              <a:t>Model.summary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Affiche le réseau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060848"/>
            <a:ext cx="6790469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92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complet de compilation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412776"/>
            <a:ext cx="7433697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3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Entraine le modèle</a:t>
            </a:r>
          </a:p>
          <a:p>
            <a:pPr lvl="1"/>
            <a:r>
              <a:rPr lang="fr-FR" dirty="0" err="1"/>
              <a:t>model.fit</a:t>
            </a:r>
            <a:r>
              <a:rPr lang="fr-FR" dirty="0"/>
              <a:t>(</a:t>
            </a:r>
            <a:r>
              <a:rPr lang="fr-FR" dirty="0" err="1"/>
              <a:t>dataset</a:t>
            </a:r>
            <a:r>
              <a:rPr lang="fr-FR" dirty="0"/>
              <a:t>, </a:t>
            </a:r>
            <a:r>
              <a:rPr lang="fr-FR" dirty="0" err="1"/>
              <a:t>epochs</a:t>
            </a:r>
            <a:r>
              <a:rPr lang="fr-FR" dirty="0"/>
              <a:t>=10, </a:t>
            </a:r>
            <a:r>
              <a:rPr lang="fr-FR" dirty="0" err="1"/>
              <a:t>batch_size</a:t>
            </a:r>
            <a:r>
              <a:rPr lang="fr-FR" dirty="0"/>
              <a:t>=10)</a:t>
            </a:r>
          </a:p>
          <a:p>
            <a:pPr lvl="1"/>
            <a:r>
              <a:rPr lang="fr-FR" dirty="0"/>
              <a:t>Retourne l’historique des </a:t>
            </a:r>
            <a:r>
              <a:rPr lang="fr-FR" dirty="0" err="1"/>
              <a:t>metrics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140968"/>
            <a:ext cx="73628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4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Epochs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Epochs</a:t>
            </a:r>
            <a:r>
              <a:rPr lang="fr-FR" dirty="0"/>
              <a:t> est le nombre d’itération sur tous le </a:t>
            </a:r>
            <a:r>
              <a:rPr lang="fr-FR" dirty="0" err="1"/>
              <a:t>dataset</a:t>
            </a:r>
            <a:endParaRPr lang="fr-FR" dirty="0"/>
          </a:p>
          <a:p>
            <a:pPr lvl="1"/>
            <a:r>
              <a:rPr lang="fr-FR" dirty="0"/>
              <a:t>Ainsi si le nombre de data dans le </a:t>
            </a:r>
            <a:r>
              <a:rPr lang="fr-FR" dirty="0" err="1"/>
              <a:t>dataset</a:t>
            </a:r>
            <a:r>
              <a:rPr lang="fr-FR" dirty="0"/>
              <a:t> est nb = 1000</a:t>
            </a:r>
          </a:p>
          <a:p>
            <a:pPr lvl="1"/>
            <a:r>
              <a:rPr lang="fr-FR" dirty="0"/>
              <a:t>Si </a:t>
            </a:r>
            <a:r>
              <a:rPr lang="fr-FR" dirty="0" err="1"/>
              <a:t>epochs</a:t>
            </a:r>
            <a:r>
              <a:rPr lang="fr-FR" dirty="0"/>
              <a:t> = 10 il y aura 10000 inférences</a:t>
            </a:r>
          </a:p>
          <a:p>
            <a:r>
              <a:rPr lang="fr-FR" dirty="0" err="1"/>
              <a:t>batch_size</a:t>
            </a:r>
            <a:endParaRPr lang="fr-FR" dirty="0"/>
          </a:p>
          <a:p>
            <a:pPr lvl="1"/>
            <a:r>
              <a:rPr lang="fr-FR" dirty="0"/>
              <a:t>Il s’agit du ratio </a:t>
            </a:r>
            <a:r>
              <a:rPr lang="fr-FR" dirty="0" err="1"/>
              <a:t>nbInference</a:t>
            </a:r>
            <a:r>
              <a:rPr lang="fr-FR" dirty="0"/>
              <a:t> / </a:t>
            </a:r>
            <a:r>
              <a:rPr lang="fr-FR" dirty="0" err="1"/>
              <a:t>nbBacktracking</a:t>
            </a:r>
            <a:endParaRPr lang="fr-FR" dirty="0"/>
          </a:p>
          <a:p>
            <a:pPr lvl="1"/>
            <a:r>
              <a:rPr lang="fr-FR" dirty="0"/>
              <a:t>Moins précis car le </a:t>
            </a:r>
            <a:r>
              <a:rPr lang="fr-FR" dirty="0" err="1"/>
              <a:t>loss</a:t>
            </a:r>
            <a:r>
              <a:rPr lang="fr-FR" dirty="0"/>
              <a:t> est la moyenne des </a:t>
            </a:r>
            <a:r>
              <a:rPr lang="fr-FR" dirty="0" err="1"/>
              <a:t>loss</a:t>
            </a:r>
            <a:r>
              <a:rPr lang="fr-FR" dirty="0"/>
              <a:t> des inférences du </a:t>
            </a:r>
            <a:r>
              <a:rPr lang="fr-FR" dirty="0" err="1"/>
              <a:t>steps</a:t>
            </a:r>
            <a:endParaRPr lang="fr-FR" dirty="0"/>
          </a:p>
          <a:p>
            <a:pPr lvl="1"/>
            <a:r>
              <a:rPr lang="fr-FR" dirty="0"/>
              <a:t>Plus rapide sur GPU</a:t>
            </a:r>
          </a:p>
        </p:txBody>
      </p:sp>
    </p:spTree>
    <p:extLst>
      <p:ext uri="{BB962C8B-B14F-4D97-AF65-F5344CB8AC3E}">
        <p14:creationId xmlns:p14="http://schemas.microsoft.com/office/powerpoint/2010/main" val="1579135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Evolution de </a:t>
            </a:r>
            <a:r>
              <a:rPr lang="fr-FR" dirty="0" err="1"/>
              <a:t>loss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5 </a:t>
            </a:r>
            <a:r>
              <a:rPr lang="fr-FR" dirty="0" err="1"/>
              <a:t>epoch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214008"/>
            <a:ext cx="6408712" cy="379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28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Evaluate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Evalue le modèle</a:t>
            </a:r>
          </a:p>
          <a:p>
            <a:pPr lvl="1"/>
            <a:r>
              <a:rPr lang="fr-FR" dirty="0" err="1"/>
              <a:t>Metrics</a:t>
            </a:r>
            <a:r>
              <a:rPr lang="fr-FR" dirty="0"/>
              <a:t> = </a:t>
            </a:r>
            <a:r>
              <a:rPr lang="fr-FR" dirty="0" err="1"/>
              <a:t>model.evaluate</a:t>
            </a:r>
            <a:r>
              <a:rPr lang="fr-FR" dirty="0"/>
              <a:t>(</a:t>
            </a:r>
            <a:r>
              <a:rPr lang="fr-FR" dirty="0" err="1"/>
              <a:t>dataset</a:t>
            </a:r>
            <a:r>
              <a:rPr lang="fr-FR" dirty="0"/>
              <a:t>, </a:t>
            </a:r>
            <a:r>
              <a:rPr lang="fr-FR" dirty="0" err="1"/>
              <a:t>steps</a:t>
            </a:r>
            <a:r>
              <a:rPr lang="fr-FR" dirty="0"/>
              <a:t>=30)</a:t>
            </a:r>
          </a:p>
          <a:p>
            <a:r>
              <a:rPr lang="fr-FR" dirty="0"/>
              <a:t>Calcul les </a:t>
            </a:r>
            <a:r>
              <a:rPr lang="fr-FR" dirty="0" err="1"/>
              <a:t>metrics</a:t>
            </a:r>
            <a:r>
              <a:rPr lang="fr-FR" dirty="0"/>
              <a:t> du </a:t>
            </a:r>
            <a:r>
              <a:rPr lang="fr-FR" dirty="0" err="1"/>
              <a:t>dataset</a:t>
            </a:r>
            <a:r>
              <a:rPr lang="fr-FR" dirty="0"/>
              <a:t> après l’apprentissage</a:t>
            </a:r>
          </a:p>
        </p:txBody>
      </p:sp>
    </p:spTree>
    <p:extLst>
      <p:ext uri="{BB962C8B-B14F-4D97-AF65-F5344CB8AC3E}">
        <p14:creationId xmlns:p14="http://schemas.microsoft.com/office/powerpoint/2010/main" val="2218724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Predict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Prédiction</a:t>
            </a:r>
          </a:p>
          <a:p>
            <a:pPr lvl="1"/>
            <a:r>
              <a:rPr lang="fr-FR" dirty="0" err="1"/>
              <a:t>result</a:t>
            </a:r>
            <a:r>
              <a:rPr lang="fr-FR" dirty="0"/>
              <a:t> = </a:t>
            </a:r>
            <a:r>
              <a:rPr lang="fr-FR" dirty="0" err="1"/>
              <a:t>model.predict</a:t>
            </a:r>
            <a:r>
              <a:rPr lang="fr-FR" dirty="0"/>
              <a:t>(data, </a:t>
            </a:r>
            <a:r>
              <a:rPr lang="fr-FR" dirty="0" err="1"/>
              <a:t>batch_size</a:t>
            </a:r>
            <a:r>
              <a:rPr lang="fr-FR" dirty="0"/>
              <a:t>=32)</a:t>
            </a:r>
          </a:p>
          <a:p>
            <a:r>
              <a:rPr lang="fr-FR" dirty="0"/>
              <a:t>Calcul la prédiction pour data</a:t>
            </a:r>
          </a:p>
          <a:p>
            <a:pPr lvl="1"/>
            <a:r>
              <a:rPr lang="fr-FR" dirty="0" err="1"/>
              <a:t>Batch_size</a:t>
            </a:r>
            <a:r>
              <a:rPr lang="fr-FR" dirty="0"/>
              <a:t> définit le nombre de données analysées dans le même cycle GPU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933056"/>
            <a:ext cx="6252599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03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67B104-8DCE-BF26-13C6-ED527F6C7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17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E1BCD4-5B40-F0F8-F065-DC24B3AC5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MLP Cancer</a:t>
            </a:r>
          </a:p>
          <a:p>
            <a:r>
              <a:rPr lang="fr-FR" dirty="0" err="1"/>
              <a:t>Tensorflow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9190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Vocabulaire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TensorFlow</a:t>
            </a:r>
            <a:r>
              <a:rPr lang="fr-FR" sz="2400" dirty="0"/>
              <a:t> et </a:t>
            </a:r>
            <a:r>
              <a:rPr lang="fr-FR" sz="2400" dirty="0" err="1"/>
              <a:t>SKLearn</a:t>
            </a:r>
            <a:r>
              <a:rPr lang="fr-FR" sz="2400" dirty="0"/>
              <a:t> n’utilisent pas le même vocabulaire</a:t>
            </a:r>
          </a:p>
          <a:p>
            <a:r>
              <a:rPr lang="fr-FR" sz="2400" dirty="0" err="1"/>
              <a:t>TrainingSet</a:t>
            </a:r>
            <a:endParaRPr lang="fr-FR" sz="2400" dirty="0"/>
          </a:p>
          <a:p>
            <a:pPr lvl="1"/>
            <a:r>
              <a:rPr lang="fr-FR" sz="2000" dirty="0"/>
              <a:t>Jeux d’entrainement</a:t>
            </a:r>
          </a:p>
          <a:p>
            <a:pPr lvl="1"/>
            <a:r>
              <a:rPr lang="fr-FR" sz="2000" dirty="0"/>
              <a:t>Calcul du </a:t>
            </a:r>
            <a:r>
              <a:rPr lang="fr-FR" sz="2000" dirty="0" err="1"/>
              <a:t>Loss</a:t>
            </a:r>
            <a:endParaRPr lang="fr-FR" sz="2000" dirty="0"/>
          </a:p>
          <a:p>
            <a:r>
              <a:rPr lang="fr-FR" sz="2400" dirty="0" err="1"/>
              <a:t>ValidationSet</a:t>
            </a:r>
            <a:endParaRPr lang="fr-FR" sz="2400" dirty="0"/>
          </a:p>
          <a:p>
            <a:pPr lvl="1"/>
            <a:r>
              <a:rPr lang="fr-FR" sz="2000" dirty="0"/>
              <a:t>Jeux pour mesurer la qualité du modèle</a:t>
            </a:r>
          </a:p>
          <a:p>
            <a:pPr lvl="1"/>
            <a:r>
              <a:rPr lang="fr-FR" sz="2000" dirty="0"/>
              <a:t>Ne doit jamais être vu du modèle</a:t>
            </a:r>
          </a:p>
          <a:p>
            <a:r>
              <a:rPr lang="fr-FR" sz="2400" dirty="0" err="1"/>
              <a:t>TestSet</a:t>
            </a:r>
            <a:endParaRPr lang="fr-FR" sz="2400" dirty="0"/>
          </a:p>
          <a:p>
            <a:pPr lvl="1"/>
            <a:r>
              <a:rPr lang="fr-FR" sz="2000" dirty="0"/>
              <a:t>Recette finale</a:t>
            </a:r>
          </a:p>
          <a:p>
            <a:pPr lvl="1"/>
            <a:r>
              <a:rPr lang="fr-FR" sz="2000" dirty="0"/>
              <a:t>Ne doit jamais être vu des développeurs</a:t>
            </a:r>
          </a:p>
        </p:txBody>
      </p:sp>
    </p:spTree>
    <p:extLst>
      <p:ext uri="{BB962C8B-B14F-4D97-AF65-F5344CB8AC3E}">
        <p14:creationId xmlns:p14="http://schemas.microsoft.com/office/powerpoint/2010/main" val="1521370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</a:t>
            </a:r>
            <a:r>
              <a:rPr lang="fr-FR" dirty="0" err="1"/>
              <a:t>Keras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</a:t>
            </a:r>
          </a:p>
          <a:p>
            <a:pPr lvl="1"/>
            <a:r>
              <a:rPr lang="en-US" dirty="0" err="1"/>
              <a:t>model.fit</a:t>
            </a:r>
            <a:r>
              <a:rPr lang="en-US" dirty="0"/>
              <a:t>(</a:t>
            </a:r>
            <a:r>
              <a:rPr lang="en-US" dirty="0" err="1"/>
              <a:t>validation_split</a:t>
            </a:r>
            <a:r>
              <a:rPr lang="en-US" dirty="0"/>
              <a:t>=0.2)</a:t>
            </a:r>
            <a:endParaRPr lang="fr-FR" dirty="0"/>
          </a:p>
          <a:p>
            <a:r>
              <a:rPr lang="fr-FR" dirty="0"/>
              <a:t>Pour s’assurer la reproductibilité de la randomisation</a:t>
            </a:r>
          </a:p>
          <a:p>
            <a:pPr lvl="1"/>
            <a:r>
              <a:rPr lang="fr-FR" dirty="0" err="1"/>
              <a:t>tensorflow.random.set_seed</a:t>
            </a:r>
            <a:r>
              <a:rPr lang="fr-FR" dirty="0"/>
              <a:t>(1511)</a:t>
            </a:r>
          </a:p>
          <a:p>
            <a:r>
              <a:rPr lang="fr-FR" dirty="0"/>
              <a:t>En cas d’utilisation </a:t>
            </a:r>
            <a:r>
              <a:rPr lang="fr-FR" dirty="0" err="1"/>
              <a:t>numpy</a:t>
            </a:r>
            <a:endParaRPr lang="fr-FR" dirty="0"/>
          </a:p>
          <a:p>
            <a:pPr lvl="1"/>
            <a:r>
              <a:rPr lang="fr-FR" dirty="0" err="1"/>
              <a:t>np.random.seed</a:t>
            </a:r>
            <a:r>
              <a:rPr lang="fr-FR" dirty="0"/>
              <a:t>(1511)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41436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Compréhension des résultats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Loss</a:t>
            </a:r>
            <a:r>
              <a:rPr lang="fr-FR" sz="2400" dirty="0"/>
              <a:t> détermine le </a:t>
            </a:r>
            <a:r>
              <a:rPr lang="fr-FR" sz="2400" dirty="0" err="1"/>
              <a:t>loss</a:t>
            </a:r>
            <a:r>
              <a:rPr lang="fr-FR" sz="2400" dirty="0"/>
              <a:t> de l’inférence avec les training set</a:t>
            </a:r>
          </a:p>
          <a:p>
            <a:r>
              <a:rPr lang="fr-FR" sz="2400" dirty="0" err="1"/>
              <a:t>Val_loss</a:t>
            </a:r>
            <a:r>
              <a:rPr lang="fr-FR" sz="2400" dirty="0"/>
              <a:t> détermine le </a:t>
            </a:r>
            <a:r>
              <a:rPr lang="fr-FR" sz="2400" dirty="0" err="1"/>
              <a:t>loss</a:t>
            </a:r>
            <a:r>
              <a:rPr lang="fr-FR" sz="2400" dirty="0"/>
              <a:t> de l’</a:t>
            </a:r>
            <a:r>
              <a:rPr lang="fr-FR" sz="2400" dirty="0" err="1"/>
              <a:t>epoch</a:t>
            </a:r>
            <a:r>
              <a:rPr lang="fr-FR" sz="2400" dirty="0"/>
              <a:t> avec le jeux de validation</a:t>
            </a:r>
          </a:p>
          <a:p>
            <a:r>
              <a:rPr lang="fr-FR" sz="2400" dirty="0" err="1"/>
              <a:t>Accuracy</a:t>
            </a:r>
            <a:r>
              <a:rPr lang="fr-FR" sz="2400" dirty="0"/>
              <a:t> détermine la précision de l’inférence avec les training set</a:t>
            </a:r>
          </a:p>
          <a:p>
            <a:r>
              <a:rPr lang="fr-FR" sz="2400" dirty="0"/>
              <a:t>Val_ </a:t>
            </a:r>
            <a:r>
              <a:rPr lang="fr-FR" sz="2400" dirty="0" err="1"/>
              <a:t>accuracy</a:t>
            </a:r>
            <a:r>
              <a:rPr lang="fr-FR" sz="2400" dirty="0"/>
              <a:t> détermine la précision de l’</a:t>
            </a:r>
            <a:r>
              <a:rPr lang="fr-FR" sz="2400" dirty="0" err="1"/>
              <a:t>epoch</a:t>
            </a:r>
            <a:r>
              <a:rPr lang="fr-FR" sz="2400" dirty="0"/>
              <a:t> avec le jeux de validation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est bas : le réseau ne fonctionne pas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&gt;&gt; </a:t>
            </a:r>
            <a:r>
              <a:rPr lang="fr-FR" sz="2400" dirty="0" err="1"/>
              <a:t>val_accuracy</a:t>
            </a:r>
            <a:r>
              <a:rPr lang="fr-FR" sz="2400" dirty="0"/>
              <a:t> : </a:t>
            </a:r>
            <a:r>
              <a:rPr lang="fr-FR" sz="2400" dirty="0" err="1"/>
              <a:t>overfitting</a:t>
            </a:r>
            <a:endParaRPr lang="fr-FR" sz="2400" dirty="0"/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 </a:t>
            </a:r>
            <a:r>
              <a:rPr lang="fr-FR" sz="2400" dirty="0" err="1"/>
              <a:t>val_accuracy</a:t>
            </a:r>
            <a:r>
              <a:rPr lang="fr-FR" sz="2400" dirty="0"/>
              <a:t> : léger </a:t>
            </a:r>
            <a:r>
              <a:rPr lang="fr-FR" sz="2400" dirty="0" err="1"/>
              <a:t>overfitting</a:t>
            </a:r>
            <a:endParaRPr lang="fr-FR" sz="2400" dirty="0"/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&gt;= </a:t>
            </a:r>
            <a:r>
              <a:rPr lang="fr-FR" sz="2400" dirty="0" err="1"/>
              <a:t>accuracy</a:t>
            </a:r>
            <a:r>
              <a:rPr lang="fr-FR" sz="2400" dirty="0"/>
              <a:t> : parfait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&gt;&gt; </a:t>
            </a:r>
            <a:r>
              <a:rPr lang="fr-FR" sz="2400" dirty="0" err="1"/>
              <a:t>accuracy</a:t>
            </a:r>
            <a:r>
              <a:rPr lang="fr-FR" sz="2400" dirty="0"/>
              <a:t> : anormal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009506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A9CDA0-2EBB-006A-DD48-9754978B4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4B2193-F0F4-4F87-60CA-C36AEC5E4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TF il n'y a pas de différence entre catégorisation et régression</a:t>
            </a:r>
          </a:p>
          <a:p>
            <a:r>
              <a:rPr lang="fr-FR" dirty="0"/>
              <a:t>Pour régression il faut autant de sortie que de prédiction</a:t>
            </a:r>
          </a:p>
          <a:p>
            <a:pPr lvl="1"/>
            <a:r>
              <a:rPr lang="fr-FR" dirty="0"/>
              <a:t>Si y est borné par un </a:t>
            </a:r>
            <a:r>
              <a:rPr lang="fr-FR" dirty="0" err="1"/>
              <a:t>MinMaxScaler</a:t>
            </a:r>
            <a:r>
              <a:rPr lang="fr-FR" dirty="0"/>
              <a:t> utiliser une </a:t>
            </a:r>
            <a:r>
              <a:rPr lang="fr-FR" dirty="0" err="1"/>
              <a:t>sïgmoide</a:t>
            </a:r>
            <a:endParaRPr lang="fr-FR" dirty="0"/>
          </a:p>
          <a:p>
            <a:pPr lvl="1"/>
            <a:r>
              <a:rPr lang="fr-FR" dirty="0"/>
              <a:t>Si y est borné par un </a:t>
            </a:r>
            <a:r>
              <a:rPr lang="fr-FR" dirty="0" err="1"/>
              <a:t>StandardScaler</a:t>
            </a:r>
            <a:r>
              <a:rPr lang="fr-FR" dirty="0"/>
              <a:t> utiliser une </a:t>
            </a:r>
            <a:r>
              <a:rPr lang="fr-FR" dirty="0" err="1"/>
              <a:t>tanh</a:t>
            </a:r>
            <a:endParaRPr lang="fr-FR" dirty="0"/>
          </a:p>
          <a:p>
            <a:pPr lvl="1"/>
            <a:r>
              <a:rPr lang="fr-FR" dirty="0"/>
              <a:t>Sinon utiliser </a:t>
            </a:r>
            <a:r>
              <a:rPr lang="fr-FR" dirty="0" err="1"/>
              <a:t>linear</a:t>
            </a:r>
            <a:endParaRPr lang="fr-FR" dirty="0"/>
          </a:p>
          <a:p>
            <a:pPr lvl="1"/>
            <a:r>
              <a:rPr lang="fr-FR" dirty="0"/>
              <a:t>Dénormaliser les y avec </a:t>
            </a:r>
            <a:r>
              <a:rPr lang="fr-FR" dirty="0" err="1"/>
              <a:t>scaler.inverse_transform</a:t>
            </a:r>
            <a:endParaRPr lang="fr-FR" dirty="0"/>
          </a:p>
          <a:p>
            <a:r>
              <a:rPr lang="fr-FR" dirty="0"/>
              <a:t>Démo tf_regression.py</a:t>
            </a:r>
          </a:p>
        </p:txBody>
      </p:sp>
    </p:spTree>
    <p:extLst>
      <p:ext uri="{BB962C8B-B14F-4D97-AF65-F5344CB8AC3E}">
        <p14:creationId xmlns:p14="http://schemas.microsoft.com/office/powerpoint/2010/main" val="137932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Softmax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autant d’output que de catégorie</a:t>
            </a:r>
          </a:p>
          <a:p>
            <a:r>
              <a:rPr lang="fr-FR" dirty="0"/>
              <a:t>L’activation </a:t>
            </a:r>
            <a:r>
              <a:rPr lang="fr-FR" dirty="0" err="1"/>
              <a:t>softmax</a:t>
            </a:r>
            <a:r>
              <a:rPr lang="fr-FR" dirty="0"/>
              <a:t> doit être utilisée</a:t>
            </a:r>
          </a:p>
          <a:p>
            <a:r>
              <a:rPr lang="fr-FR" dirty="0"/>
              <a:t>La somme des </a:t>
            </a:r>
            <a:r>
              <a:rPr lang="fr-FR" dirty="0" err="1"/>
              <a:t>softmax</a:t>
            </a:r>
            <a:r>
              <a:rPr lang="fr-FR" dirty="0"/>
              <a:t> = 1</a:t>
            </a:r>
          </a:p>
          <a:p>
            <a:r>
              <a:rPr lang="fr-FR" dirty="0" err="1"/>
              <a:t>softmax</a:t>
            </a:r>
            <a:r>
              <a:rPr lang="fr-FR" dirty="0"/>
              <a:t>(x) = </a:t>
            </a:r>
            <a:r>
              <a:rPr lang="fr-FR" dirty="0" err="1"/>
              <a:t>exp</a:t>
            </a:r>
            <a:r>
              <a:rPr lang="fr-FR" dirty="0"/>
              <a:t>(x) / </a:t>
            </a:r>
            <a:r>
              <a:rPr lang="fr-FR" dirty="0" err="1"/>
              <a:t>sum</a:t>
            </a:r>
            <a:r>
              <a:rPr lang="fr-FR" dirty="0"/>
              <a:t>(</a:t>
            </a:r>
            <a:r>
              <a:rPr lang="fr-FR" dirty="0" err="1"/>
              <a:t>exp</a:t>
            </a:r>
            <a:r>
              <a:rPr lang="fr-FR"/>
              <a:t>(x))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1864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162A88-0ECC-A0B0-99CA-CE291892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to_categorical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0F76FA-FEF4-575F-0324-58FC94BFF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 la ne nombre de sortie est &gt; 1 il faut un y sous forme de matrice</a:t>
            </a:r>
          </a:p>
          <a:p>
            <a:pPr lvl="1"/>
            <a:r>
              <a:rPr lang="fr-FR" dirty="0" err="1"/>
              <a:t>y.shape</a:t>
            </a:r>
            <a:r>
              <a:rPr lang="fr-FR" dirty="0"/>
              <a:t>(-1, </a:t>
            </a:r>
            <a:r>
              <a:rPr lang="fr-FR" dirty="0" err="1"/>
              <a:t>nb_output</a:t>
            </a:r>
            <a:r>
              <a:rPr lang="fr-FR" dirty="0"/>
              <a:t>)</a:t>
            </a:r>
          </a:p>
          <a:p>
            <a:r>
              <a:rPr lang="fr-FR" dirty="0" err="1"/>
              <a:t>to_categorical</a:t>
            </a:r>
            <a:r>
              <a:rPr lang="fr-FR" dirty="0"/>
              <a:t> transforme le vecteur y en matrice</a:t>
            </a:r>
          </a:p>
          <a:p>
            <a:r>
              <a:rPr lang="fr-FR" dirty="0"/>
              <a:t>Par exemple si j'ai 3 outputs</a:t>
            </a:r>
          </a:p>
          <a:p>
            <a:pPr lvl="1"/>
            <a:r>
              <a:rPr lang="fr-FR" dirty="0" err="1"/>
              <a:t>ytrain</a:t>
            </a:r>
            <a:r>
              <a:rPr lang="fr-FR" dirty="0"/>
              <a:t> = </a:t>
            </a:r>
            <a:r>
              <a:rPr lang="fr-FR" dirty="0" err="1"/>
              <a:t>tf.keras.utils.to_categorical</a:t>
            </a:r>
            <a:r>
              <a:rPr lang="fr-FR" dirty="0"/>
              <a:t>(</a:t>
            </a:r>
            <a:r>
              <a:rPr lang="fr-FR" dirty="0" err="1"/>
              <a:t>ytrain</a:t>
            </a:r>
            <a:r>
              <a:rPr lang="fr-FR" dirty="0"/>
              <a:t>, 3)</a:t>
            </a:r>
          </a:p>
          <a:p>
            <a:pPr lvl="1"/>
            <a:r>
              <a:rPr lang="fr-FR" dirty="0"/>
              <a:t>[0, 1, 2] en [[1, 0, 0],[0, 1, 0],[0, 0, 1]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0331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Solidification du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sauvegarder entièrement le modèle</a:t>
            </a:r>
          </a:p>
          <a:p>
            <a:pPr lvl="1"/>
            <a:r>
              <a:rPr lang="fr-FR" dirty="0"/>
              <a:t>Uniquement </a:t>
            </a:r>
            <a:r>
              <a:rPr lang="fr-FR" dirty="0" err="1"/>
              <a:t>Keras</a:t>
            </a:r>
            <a:r>
              <a:rPr lang="fr-FR" dirty="0"/>
              <a:t> H5</a:t>
            </a:r>
          </a:p>
          <a:p>
            <a:pPr lvl="1"/>
            <a:r>
              <a:rPr lang="fr-FR" dirty="0" err="1"/>
              <a:t>model.save</a:t>
            </a:r>
            <a:r>
              <a:rPr lang="fr-FR" dirty="0"/>
              <a:t>(file.h5)</a:t>
            </a:r>
          </a:p>
          <a:p>
            <a:pPr lvl="1"/>
            <a:r>
              <a:rPr lang="fr-FR" dirty="0"/>
              <a:t>model </a:t>
            </a:r>
            <a:r>
              <a:rPr lang="fr-FR"/>
              <a:t>= keras</a:t>
            </a:r>
            <a:r>
              <a:rPr lang="fr-FR" dirty="0" err="1"/>
              <a:t>.models.load_model</a:t>
            </a:r>
            <a:r>
              <a:rPr lang="fr-FR" dirty="0"/>
              <a:t>(file.h5)</a:t>
            </a:r>
          </a:p>
        </p:txBody>
      </p:sp>
    </p:spTree>
    <p:extLst>
      <p:ext uri="{BB962C8B-B14F-4D97-AF65-F5344CB8AC3E}">
        <p14:creationId xmlns:p14="http://schemas.microsoft.com/office/powerpoint/2010/main" val="18861557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DropOut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DropOut</a:t>
            </a:r>
            <a:r>
              <a:rPr lang="fr-FR" dirty="0"/>
              <a:t> désactive aléatoirement un perceptron</a:t>
            </a:r>
          </a:p>
          <a:p>
            <a:pPr lvl="1"/>
            <a:r>
              <a:rPr lang="fr-FR" dirty="0"/>
              <a:t>Combat le surapprentissage</a:t>
            </a:r>
          </a:p>
          <a:p>
            <a:pPr lvl="1"/>
            <a:r>
              <a:rPr lang="fr-FR" dirty="0"/>
              <a:t>Evite d'être dépendant d'un neurone</a:t>
            </a:r>
          </a:p>
          <a:p>
            <a:pPr lvl="1"/>
            <a:r>
              <a:rPr lang="fr-FR" dirty="0"/>
              <a:t>Encourage le réseau dans son ensemble</a:t>
            </a:r>
          </a:p>
          <a:p>
            <a:pPr lvl="1"/>
            <a:r>
              <a:rPr lang="fr-FR" dirty="0"/>
              <a:t>Désactivé lors de l’inférence par </a:t>
            </a:r>
            <a:r>
              <a:rPr lang="fr-FR" dirty="0" err="1"/>
              <a:t>predict</a:t>
            </a:r>
            <a:r>
              <a:rPr lang="fr-FR" dirty="0"/>
              <a:t> et </a:t>
            </a:r>
            <a:r>
              <a:rPr lang="fr-FR" dirty="0" err="1"/>
              <a:t>evaluate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sz="2400" dirty="0"/>
              <a:t>Le </a:t>
            </a:r>
            <a:r>
              <a:rPr lang="fr-FR" sz="2400" dirty="0" err="1"/>
              <a:t>DropConnect</a:t>
            </a:r>
            <a:r>
              <a:rPr lang="fr-FR" sz="2400" dirty="0"/>
              <a:t> désactive aléatoirement un input</a:t>
            </a:r>
          </a:p>
          <a:p>
            <a:pPr lvl="1"/>
            <a:r>
              <a:rPr lang="fr-FR" sz="2000" dirty="0"/>
              <a:t>Assez identique au </a:t>
            </a:r>
            <a:r>
              <a:rPr lang="fr-FR" sz="2000" dirty="0" err="1"/>
              <a:t>DropOut</a:t>
            </a:r>
            <a:r>
              <a:rPr lang="fr-FR" sz="2000" dirty="0"/>
              <a:t> en moins puissant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1030" name="Picture 6" descr="https://s3-ap-south-1.amazonaws.com/av-blog-media/wp-content/uploads/2018/04/1IrdJ5PghD9YoOyVAQ73MJw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333" y="3645024"/>
            <a:ext cx="3672408" cy="213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924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Compréhension des résultats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est bas</a:t>
            </a:r>
          </a:p>
          <a:p>
            <a:pPr lvl="1"/>
            <a:r>
              <a:rPr lang="fr-FR" sz="2000" dirty="0"/>
              <a:t>Le réseau ne fonctionne pas</a:t>
            </a:r>
          </a:p>
          <a:p>
            <a:pPr lvl="1"/>
            <a:r>
              <a:rPr lang="fr-FR" sz="2000" dirty="0"/>
              <a:t>Pas assez de données</a:t>
            </a:r>
          </a:p>
          <a:p>
            <a:pPr lvl="1"/>
            <a:r>
              <a:rPr lang="fr-FR" sz="2000" dirty="0"/>
              <a:t>Réseau trop profond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&gt;&gt; </a:t>
            </a:r>
            <a:r>
              <a:rPr lang="fr-FR" sz="2400" dirty="0" err="1"/>
              <a:t>val_accuracy</a:t>
            </a:r>
            <a:endParaRPr lang="fr-FR" sz="2400" dirty="0"/>
          </a:p>
          <a:p>
            <a:pPr lvl="1"/>
            <a:r>
              <a:rPr lang="fr-FR" sz="2000" dirty="0" err="1"/>
              <a:t>Overfitting</a:t>
            </a:r>
            <a:endParaRPr lang="fr-FR" sz="2000" dirty="0"/>
          </a:p>
          <a:p>
            <a:pPr lvl="1"/>
            <a:r>
              <a:rPr lang="fr-FR" sz="2000" dirty="0"/>
              <a:t>Ajouter, modifier des </a:t>
            </a:r>
            <a:r>
              <a:rPr lang="fr-FR" sz="2000" dirty="0" err="1"/>
              <a:t>DropOut</a:t>
            </a:r>
            <a:endParaRPr lang="fr-FR" sz="2000" dirty="0"/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 </a:t>
            </a:r>
            <a:r>
              <a:rPr lang="fr-FR" sz="2400" dirty="0" err="1"/>
              <a:t>val_accuracy</a:t>
            </a:r>
            <a:endParaRPr lang="fr-FR" sz="2400" dirty="0"/>
          </a:p>
          <a:p>
            <a:pPr lvl="1"/>
            <a:r>
              <a:rPr lang="fr-FR" sz="2000" dirty="0"/>
              <a:t>Leger </a:t>
            </a:r>
            <a:r>
              <a:rPr lang="fr-FR" sz="2000" dirty="0" err="1"/>
              <a:t>overfitting</a:t>
            </a:r>
            <a:endParaRPr lang="fr-FR" sz="2000" dirty="0"/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&gt;= </a:t>
            </a:r>
            <a:r>
              <a:rPr lang="fr-FR" sz="2400" dirty="0" err="1"/>
              <a:t>accuracy</a:t>
            </a:r>
            <a:endParaRPr lang="fr-FR" sz="2400" dirty="0"/>
          </a:p>
          <a:p>
            <a:pPr lvl="1"/>
            <a:r>
              <a:rPr lang="fr-FR" sz="2000" dirty="0"/>
              <a:t>Parfait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 </a:t>
            </a:r>
            <a:r>
              <a:rPr lang="fr-FR" sz="2400" dirty="0" err="1"/>
              <a:t>accuracy</a:t>
            </a:r>
            <a:endParaRPr lang="fr-FR" sz="2400" dirty="0"/>
          </a:p>
          <a:p>
            <a:pPr lvl="1"/>
            <a:r>
              <a:rPr lang="fr-FR" sz="2000" dirty="0"/>
              <a:t>Normal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24124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E6E868-106D-3E09-2A65-9A56328AA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ONNX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957D39-4169-822D-2196-606372B64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ONNX pour Open Neural Network Exchange est format standardisé pour les réseaux de neurones</a:t>
            </a:r>
          </a:p>
          <a:p>
            <a:r>
              <a:rPr lang="fr-FR" dirty="0"/>
              <a:t>Compatible </a:t>
            </a:r>
            <a:r>
              <a:rPr lang="fr-FR" dirty="0" err="1"/>
              <a:t>PyTorch</a:t>
            </a:r>
            <a:r>
              <a:rPr lang="fr-FR" dirty="0"/>
              <a:t> &amp; TF</a:t>
            </a:r>
          </a:p>
        </p:txBody>
      </p:sp>
      <p:pic>
        <p:nvPicPr>
          <p:cNvPr id="4" name="Image 3" descr="Description de l'image Open Neural Network Exchange logo.svg.">
            <a:extLst>
              <a:ext uri="{FF2B5EF4-FFF2-40B4-BE49-F238E27FC236}">
                <a16:creationId xmlns:a16="http://schemas.microsoft.com/office/drawing/2014/main" id="{9BE9D5E0-D60F-ADB3-B9B1-1C40DD3BA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573016"/>
            <a:ext cx="6865374" cy="171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08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27B6EC-F8EF-5B95-D836-6A9D26295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tf2onnx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224D95-6C8E-0231-CFD2-0114B10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tf2onnx permet de convertir un .h5 ou .</a:t>
            </a:r>
            <a:r>
              <a:rPr lang="fr-FR" dirty="0" err="1"/>
              <a:t>keras</a:t>
            </a:r>
            <a:r>
              <a:rPr lang="fr-FR" dirty="0"/>
              <a:t> en ONNX</a:t>
            </a:r>
          </a:p>
          <a:p>
            <a:pPr lvl="1"/>
            <a:r>
              <a:rPr lang="fr-FR" dirty="0"/>
              <a:t>Utile pour la </a:t>
            </a:r>
            <a:r>
              <a:rPr lang="fr-FR" dirty="0" err="1"/>
              <a:t>quantisation</a:t>
            </a:r>
            <a:endParaRPr lang="fr-FR" dirty="0"/>
          </a:p>
          <a:p>
            <a:pPr lvl="1"/>
            <a:r>
              <a:rPr lang="fr-FR" dirty="0"/>
              <a:t>Utile pour la portabilité </a:t>
            </a:r>
            <a:r>
              <a:rPr lang="fr-FR"/>
              <a:t>Pytorch</a:t>
            </a:r>
          </a:p>
        </p:txBody>
      </p:sp>
    </p:spTree>
    <p:extLst>
      <p:ext uri="{BB962C8B-B14F-4D97-AF65-F5344CB8AC3E}">
        <p14:creationId xmlns:p14="http://schemas.microsoft.com/office/powerpoint/2010/main" val="30957982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69DFA7-2FBE-D866-9784-19AF5183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TP 17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0BF5C7-8229-FA20-A2F9-C8C087D9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TF </a:t>
            </a:r>
            <a:r>
              <a:rPr lang="fr-FR"/>
              <a:t>MLP Cancer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697073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8745</TotalTime>
  <Words>1253</Words>
  <Application>Microsoft Office PowerPoint</Application>
  <PresentationFormat>Affichage à l'écran (4:3)</PresentationFormat>
  <Paragraphs>212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0" baseType="lpstr">
      <vt:lpstr>Arial</vt:lpstr>
      <vt:lpstr>Courier New</vt:lpstr>
      <vt:lpstr>Monotype Sorts</vt:lpstr>
      <vt:lpstr>Times New Roman</vt:lpstr>
      <vt:lpstr>cvc</vt:lpstr>
      <vt:lpstr>Présentation PowerPoint</vt:lpstr>
      <vt:lpstr>TensorFlow</vt:lpstr>
      <vt:lpstr>Tenseurs</vt:lpstr>
      <vt:lpstr>Installation</vt:lpstr>
      <vt:lpstr>Keras</vt:lpstr>
      <vt:lpstr>Exemple simple</vt:lpstr>
      <vt:lpstr>MLP avec activation</vt:lpstr>
      <vt:lpstr>Fonctions d'activation</vt:lpstr>
      <vt:lpstr>Bias</vt:lpstr>
      <vt:lpstr>API</vt:lpstr>
      <vt:lpstr>Dense</vt:lpstr>
      <vt:lpstr>Sequential</vt:lpstr>
      <vt:lpstr>Model</vt:lpstr>
      <vt:lpstr>Optimizer</vt:lpstr>
      <vt:lpstr>Optimizer</vt:lpstr>
      <vt:lpstr>Compile</vt:lpstr>
      <vt:lpstr>Exemple complet de compilation</vt:lpstr>
      <vt:lpstr>Fit</vt:lpstr>
      <vt:lpstr>Epochs</vt:lpstr>
      <vt:lpstr>Evolution de loss</vt:lpstr>
      <vt:lpstr>Evaluate</vt:lpstr>
      <vt:lpstr>Predict</vt:lpstr>
      <vt:lpstr>TP 17</vt:lpstr>
      <vt:lpstr>Vocabulaire</vt:lpstr>
      <vt:lpstr>Méthode Keras</vt:lpstr>
      <vt:lpstr>Compréhension des résultats</vt:lpstr>
      <vt:lpstr>Régression</vt:lpstr>
      <vt:lpstr>Softmax</vt:lpstr>
      <vt:lpstr>to_categorical</vt:lpstr>
      <vt:lpstr>Solidification du modèle</vt:lpstr>
      <vt:lpstr>DropOut</vt:lpstr>
      <vt:lpstr>Compréhension des résultats</vt:lpstr>
      <vt:lpstr>ONNX</vt:lpstr>
      <vt:lpstr>tf2onnx</vt:lpstr>
      <vt:lpstr>TP 17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user73</cp:lastModifiedBy>
  <cp:revision>345</cp:revision>
  <dcterms:created xsi:type="dcterms:W3CDTF">2000-04-10T19:33:12Z</dcterms:created>
  <dcterms:modified xsi:type="dcterms:W3CDTF">2026-09-01T12:08:47Z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