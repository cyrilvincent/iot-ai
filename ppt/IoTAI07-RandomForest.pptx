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13"/>
  </p:notesMasterIdLst>
  <p:handoutMasterIdLst>
    <p:handoutMasterId r:id="rId14"/>
  </p:handoutMasterIdLst>
  <p:sldIdLst>
    <p:sldId id="264" r:id="rId2"/>
    <p:sldId id="266" r:id="rId3"/>
    <p:sldId id="267" r:id="rId4"/>
    <p:sldId id="279" r:id="rId5"/>
    <p:sldId id="268" r:id="rId6"/>
    <p:sldId id="285" r:id="rId7"/>
    <p:sldId id="280" r:id="rId8"/>
    <p:sldId id="278" r:id="rId9"/>
    <p:sldId id="282" r:id="rId10"/>
    <p:sldId id="284" r:id="rId11"/>
    <p:sldId id="286" r:id="rId12"/>
  </p:sldIdLst>
  <p:sldSz cx="9144000" cy="6858000" type="screen4x3"/>
  <p:notesSz cx="6648450" cy="9782175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81">
          <p15:clr>
            <a:srgbClr val="A4A3A4"/>
          </p15:clr>
        </p15:guide>
        <p15:guide id="2" pos="209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590" autoAdjust="0"/>
  </p:normalViewPr>
  <p:slideViewPr>
    <p:cSldViewPr>
      <p:cViewPr varScale="1">
        <p:scale>
          <a:sx n="74" d="100"/>
          <a:sy n="74" d="100"/>
        </p:scale>
        <p:origin x="1742" y="28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918"/>
    </p:cViewPr>
  </p:sorterViewPr>
  <p:notesViewPr>
    <p:cSldViewPr>
      <p:cViewPr>
        <p:scale>
          <a:sx n="100" d="100"/>
          <a:sy n="100" d="100"/>
        </p:scale>
        <p:origin x="-924" y="2430"/>
      </p:cViewPr>
      <p:guideLst>
        <p:guide orient="horz" pos="3081"/>
        <p:guide pos="209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1000">
                <a:latin typeface="Arial" charset="0"/>
              </a:defRPr>
            </a:lvl1pPr>
          </a:lstStyle>
          <a:p>
            <a:pPr>
              <a:defRPr/>
            </a:pPr>
            <a:fld id="{05A6847E-ECD8-4888-9A6C-CBE85B378C1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43995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15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6300" y="733425"/>
            <a:ext cx="4895850" cy="36703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379413" y="4646613"/>
            <a:ext cx="5851525" cy="440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© HANDSHAKE - Philippe MASINA</a:t>
            </a:r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I-</a:t>
            </a:r>
            <a:fld id="{88B410AF-14E7-4D87-8C8E-6E377E0C238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022458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2118913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87624" y="13209"/>
            <a:ext cx="7829947" cy="1143000"/>
          </a:xfrm>
        </p:spPr>
        <p:txBody>
          <a:bodyPr/>
          <a:lstStyle>
            <a:lvl1pPr>
              <a:defRPr sz="320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412776"/>
            <a:ext cx="8766051" cy="5040560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010342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1731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1355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892756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568818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664286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0620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855899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371934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4254946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002463" y="457200"/>
            <a:ext cx="1943100" cy="56388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173163" y="457200"/>
            <a:ext cx="5676900" cy="56388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716717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6477000"/>
            <a:ext cx="9144000" cy="762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endParaRPr lang="fr-FR" altLang="fr-FR"/>
          </a:p>
        </p:txBody>
      </p:sp>
      <p:sp>
        <p:nvSpPr>
          <p:cNvPr id="1027" name="Text Box 3"/>
          <p:cNvSpPr txBox="1">
            <a:spLocks noChangeArrowheads="1"/>
          </p:cNvSpPr>
          <p:nvPr/>
        </p:nvSpPr>
        <p:spPr bwMode="auto">
          <a:xfrm>
            <a:off x="6934200" y="6553200"/>
            <a:ext cx="12192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 dirty="0"/>
              <a:t>Page </a:t>
            </a:r>
            <a:fld id="{E218E9B1-FD08-4C80-902E-210BA2967D0D}" type="slidenum">
              <a:rPr lang="fr-FR" sz="1200" smtClean="0"/>
              <a:pPr>
                <a:spcBef>
                  <a:spcPct val="50000"/>
                </a:spcBef>
                <a:defRPr/>
              </a:pPr>
              <a:t>‹N°›</a:t>
            </a:fld>
            <a:endParaRPr lang="fr-FR" dirty="0">
              <a:latin typeface="Times New Roman" pitchFamily="18" charset="0"/>
            </a:endParaRPr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2209800" y="6553200"/>
            <a:ext cx="4724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fr-FR" sz="1600" dirty="0"/>
              <a:t>Python</a:t>
            </a:r>
            <a:endParaRPr lang="fr-FR" dirty="0">
              <a:latin typeface="Times New Roman" pitchFamily="18" charset="0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177925" y="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 style du titre du masque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1196975"/>
            <a:ext cx="8766175" cy="528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les styles du texte du masque</a:t>
            </a:r>
          </a:p>
          <a:p>
            <a:pPr lvl="1"/>
            <a:r>
              <a:rPr lang="fr-FR" altLang="fr-FR"/>
              <a:t>Deuxième niveau</a:t>
            </a:r>
          </a:p>
          <a:p>
            <a:pPr lvl="2"/>
            <a:r>
              <a:rPr lang="fr-FR" altLang="fr-FR"/>
              <a:t>Troisième niveau</a:t>
            </a:r>
          </a:p>
          <a:p>
            <a:pPr lvl="3"/>
            <a:r>
              <a:rPr lang="fr-FR" altLang="fr-FR"/>
              <a:t>Quatrième niveau</a:t>
            </a:r>
          </a:p>
          <a:p>
            <a:pPr lvl="4"/>
            <a:r>
              <a:rPr lang="fr-FR" altLang="fr-FR"/>
              <a:t>Cinquième niveau</a:t>
            </a:r>
          </a:p>
        </p:txBody>
      </p:sp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0" y="6521450"/>
            <a:ext cx="34290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/>
              <a:t>© Cyril Vincent Conseil</a:t>
            </a:r>
            <a:endParaRPr lang="fr-FR">
              <a:latin typeface="Times New Roman" pitchFamily="18" charset="0"/>
            </a:endParaRPr>
          </a:p>
        </p:txBody>
      </p:sp>
      <p:pic>
        <p:nvPicPr>
          <p:cNvPr id="1032" name="Picture 8" descr="cartevisite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8745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Monotype Sorts" pitchFamily="2" charset="2"/>
        <a:buChar char="o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5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fr-FR" altLang="fr-FR" dirty="0" err="1"/>
              <a:t>Random</a:t>
            </a:r>
            <a:r>
              <a:rPr lang="fr-FR" altLang="fr-FR"/>
              <a:t> Forest</a:t>
            </a:r>
            <a:endParaRPr lang="fr-FR" altLang="fr-FR" dirty="0"/>
          </a:p>
        </p:txBody>
      </p:sp>
      <p:sp>
        <p:nvSpPr>
          <p:cNvPr id="3" name="ZoneTexte 2"/>
          <p:cNvSpPr txBox="1"/>
          <p:nvPr/>
        </p:nvSpPr>
        <p:spPr>
          <a:xfrm>
            <a:off x="3107495" y="2132856"/>
            <a:ext cx="292900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 dirty="0"/>
              <a:t>Data Science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8560" y="2972129"/>
            <a:ext cx="3067050" cy="762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Random</a:t>
            </a:r>
            <a:r>
              <a:rPr lang="fr-FR" dirty="0"/>
              <a:t> Forest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Les forêts d'arbres décisionnels ont été formellement proposées en 2001 par Leo </a:t>
            </a:r>
            <a:r>
              <a:rPr lang="fr-FR" dirty="0" err="1"/>
              <a:t>Breiman</a:t>
            </a:r>
            <a:r>
              <a:rPr lang="fr-FR" dirty="0"/>
              <a:t> et Adèle </a:t>
            </a:r>
            <a:r>
              <a:rPr lang="fr-FR" dirty="0" err="1"/>
              <a:t>Cutler</a:t>
            </a:r>
            <a:endParaRPr lang="fr-FR" dirty="0"/>
          </a:p>
          <a:p>
            <a:r>
              <a:rPr lang="fr-FR" dirty="0"/>
              <a:t>Cet algorithme combine les concepts de sous-espaces aléatoires et de </a:t>
            </a:r>
            <a:r>
              <a:rPr lang="fr-FR" dirty="0" err="1"/>
              <a:t>bagging</a:t>
            </a:r>
            <a:endParaRPr lang="fr-FR" dirty="0"/>
          </a:p>
          <a:p>
            <a:r>
              <a:rPr lang="fr-FR" dirty="0"/>
              <a:t>L'algorithme des forêts d'arbres décisionnels effectue un apprentissage sur de multiples arbres de décision entraînés sur des sous-ensembles de données légèrement différents</a:t>
            </a:r>
          </a:p>
        </p:txBody>
      </p:sp>
    </p:spTree>
    <p:extLst>
      <p:ext uri="{BB962C8B-B14F-4D97-AF65-F5344CB8AC3E}">
        <p14:creationId xmlns:p14="http://schemas.microsoft.com/office/powerpoint/2010/main" val="34285975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Random</a:t>
            </a:r>
            <a:r>
              <a:rPr lang="fr-FR" dirty="0"/>
              <a:t> Forest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sz="2400" dirty="0"/>
              <a:t>On créé B nouveaux ensembles d'apprentissage par un double processus d'échantillonnage :</a:t>
            </a:r>
          </a:p>
          <a:p>
            <a:pPr lvl="1"/>
            <a:r>
              <a:rPr lang="fr-FR" sz="2000" dirty="0"/>
              <a:t>sur les observations, en utilisant un tirage avec remise d'un nombre N d'observations identique à celui des données d'origine</a:t>
            </a:r>
          </a:p>
          <a:p>
            <a:pPr lvl="1"/>
            <a:r>
              <a:rPr lang="fr-FR" sz="2000" dirty="0"/>
              <a:t>et sur les p prédicteurs, en n'en retenant qu'un échantillon de cardinal m &lt; </a:t>
            </a:r>
            <a:r>
              <a:rPr lang="fr-FR" sz="2000" dirty="0" err="1"/>
              <a:t>sqrt</a:t>
            </a:r>
            <a:r>
              <a:rPr lang="fr-FR" sz="2000" dirty="0"/>
              <a:t>(p)</a:t>
            </a:r>
          </a:p>
          <a:p>
            <a:pPr lvl="1"/>
            <a:r>
              <a:rPr lang="fr-FR" sz="2000" dirty="0"/>
              <a:t>Sur chaque échantillon, on entraîne un arbre de décision selon une des techniques connues, en limitant sa croissance par validation croisée</a:t>
            </a:r>
          </a:p>
          <a:p>
            <a:pPr lvl="1"/>
            <a:r>
              <a:rPr lang="fr-FR" sz="2000" dirty="0"/>
              <a:t>On stocke les B prédictions de la variable d'intérêt pour chaque observation d'origine.</a:t>
            </a:r>
          </a:p>
          <a:p>
            <a:pPr lvl="1"/>
            <a:r>
              <a:rPr lang="fr-FR" sz="2000" dirty="0"/>
              <a:t>La prédiction de la forêt aléatoire est alors un simple vote majoritaire</a:t>
            </a:r>
          </a:p>
          <a:p>
            <a:pPr lvl="1"/>
            <a:r>
              <a:rPr lang="fr-FR" sz="2000" dirty="0"/>
              <a:t>Le principal revers de cette méthode est que l'on perd l'aspect visuel des arbres de décision uniques</a:t>
            </a:r>
          </a:p>
        </p:txBody>
      </p:sp>
    </p:spTree>
    <p:extLst>
      <p:ext uri="{BB962C8B-B14F-4D97-AF65-F5344CB8AC3E}">
        <p14:creationId xmlns:p14="http://schemas.microsoft.com/office/powerpoint/2010/main" val="11926256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Asymétrie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Random</a:t>
            </a:r>
            <a:r>
              <a:rPr lang="fr-FR" dirty="0"/>
              <a:t> Forest est un modèle asymétrique</a:t>
            </a:r>
          </a:p>
          <a:p>
            <a:pPr lvl="1"/>
            <a:r>
              <a:rPr lang="fr-FR" dirty="0"/>
              <a:t>Apprentissage couteux</a:t>
            </a:r>
          </a:p>
          <a:p>
            <a:pPr lvl="1"/>
            <a:r>
              <a:rPr lang="fr-FR" dirty="0"/>
              <a:t>Prédiction rapide</a:t>
            </a:r>
          </a:p>
          <a:p>
            <a:pPr lvl="1"/>
            <a:r>
              <a:rPr lang="fr-FR" dirty="0"/>
              <a:t>Très utile</a:t>
            </a:r>
          </a:p>
        </p:txBody>
      </p:sp>
    </p:spTree>
    <p:extLst>
      <p:ext uri="{BB962C8B-B14F-4D97-AF65-F5344CB8AC3E}">
        <p14:creationId xmlns:p14="http://schemas.microsoft.com/office/powerpoint/2010/main" val="8474020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Random</a:t>
            </a:r>
            <a:r>
              <a:rPr lang="fr-FR" dirty="0"/>
              <a:t> Forest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Exemple</a:t>
            </a:r>
          </a:p>
          <a:p>
            <a:pPr lvl="1"/>
            <a:r>
              <a:rPr lang="fr-FR" dirty="0"/>
              <a:t>import </a:t>
            </a:r>
            <a:r>
              <a:rPr lang="fr-FR" dirty="0" err="1"/>
              <a:t>sk.ensemble</a:t>
            </a:r>
            <a:r>
              <a:rPr lang="fr-FR" dirty="0"/>
              <a:t> as </a:t>
            </a:r>
            <a:r>
              <a:rPr lang="fr-FR" dirty="0" err="1"/>
              <a:t>rf</a:t>
            </a:r>
            <a:endParaRPr lang="fr-FR" dirty="0"/>
          </a:p>
          <a:p>
            <a:pPr lvl="1"/>
            <a:r>
              <a:rPr lang="fr-FR" dirty="0"/>
              <a:t>model = </a:t>
            </a:r>
            <a:r>
              <a:rPr lang="fr-FR" dirty="0" err="1"/>
              <a:t>rf.RandomForestClassifier</a:t>
            </a:r>
            <a:r>
              <a:rPr lang="fr-FR" dirty="0"/>
              <a:t>(</a:t>
            </a:r>
            <a:r>
              <a:rPr lang="fr-FR" dirty="0" err="1"/>
              <a:t>n_estimators</a:t>
            </a:r>
            <a:r>
              <a:rPr lang="fr-FR" dirty="0"/>
              <a:t>=100)</a:t>
            </a:r>
          </a:p>
          <a:p>
            <a:r>
              <a:rPr lang="fr-FR" dirty="0"/>
              <a:t>Très puissant</a:t>
            </a:r>
          </a:p>
          <a:p>
            <a:pPr lvl="1"/>
            <a:r>
              <a:rPr lang="fr-FR" dirty="0"/>
              <a:t>Bien plus gourmand que </a:t>
            </a:r>
            <a:r>
              <a:rPr lang="fr-FR" dirty="0" err="1"/>
              <a:t>kNN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196997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Exemple Iris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1026" name="Picture 2" descr="https://cdn-images-1.medium.com/max/1200/1*IPLwmH-TJRhEWXW7uaetMw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712" y="1156209"/>
            <a:ext cx="5363354" cy="5184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191726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Importances des </a:t>
            </a:r>
            <a:r>
              <a:rPr lang="fr-FR" dirty="0" err="1"/>
              <a:t>features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Les précédents algorithmes ne permettaient pas de connaître l'importance de chaque </a:t>
            </a:r>
            <a:r>
              <a:rPr lang="fr-FR" dirty="0" err="1"/>
              <a:t>feature</a:t>
            </a:r>
            <a:endParaRPr lang="fr-FR" dirty="0"/>
          </a:p>
          <a:p>
            <a:r>
              <a:rPr lang="fr-FR" dirty="0"/>
              <a:t>Il est souvent utile de savoir les </a:t>
            </a:r>
            <a:r>
              <a:rPr lang="fr-FR" dirty="0" err="1"/>
              <a:t>features</a:t>
            </a:r>
            <a:r>
              <a:rPr lang="fr-FR" dirty="0"/>
              <a:t> prépondérantes</a:t>
            </a:r>
          </a:p>
          <a:p>
            <a:pPr lvl="1"/>
            <a:r>
              <a:rPr lang="fr-FR" dirty="0"/>
              <a:t>Et l'inverse celle qui ne le sont pas</a:t>
            </a:r>
          </a:p>
          <a:p>
            <a:pPr lvl="1"/>
            <a:r>
              <a:rPr lang="fr-FR" dirty="0"/>
              <a:t>Permet de faire baisser le nombre de dimension</a:t>
            </a:r>
          </a:p>
          <a:p>
            <a:pPr lvl="1"/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017344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Importance </a:t>
            </a:r>
            <a:r>
              <a:rPr lang="fr-FR" dirty="0" err="1"/>
              <a:t>Feature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forest.feature_importances</a:t>
            </a:r>
            <a:r>
              <a:rPr lang="fr-FR" dirty="0"/>
              <a:t>_</a:t>
            </a:r>
          </a:p>
          <a:p>
            <a:pPr lvl="1"/>
            <a:r>
              <a:rPr lang="fr-FR" dirty="0"/>
              <a:t>Permet de donner pour chaque </a:t>
            </a:r>
            <a:r>
              <a:rPr lang="fr-FR" dirty="0" err="1"/>
              <a:t>feature</a:t>
            </a:r>
            <a:r>
              <a:rPr lang="fr-FR" dirty="0"/>
              <a:t> son importance sur 1</a:t>
            </a:r>
          </a:p>
        </p:txBody>
      </p:sp>
    </p:spTree>
    <p:extLst>
      <p:ext uri="{BB962C8B-B14F-4D97-AF65-F5344CB8AC3E}">
        <p14:creationId xmlns:p14="http://schemas.microsoft.com/office/powerpoint/2010/main" val="27848116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Sérialisation du modèle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Transformation d’un objet en binaire</a:t>
            </a:r>
          </a:p>
          <a:p>
            <a:pPr lvl="1"/>
            <a:r>
              <a:rPr lang="fr-FR" dirty="0"/>
              <a:t>Sérialisation</a:t>
            </a:r>
          </a:p>
          <a:p>
            <a:pPr lvl="1"/>
            <a:r>
              <a:rPr lang="fr-FR" dirty="0" err="1"/>
              <a:t>Marshalling</a:t>
            </a:r>
            <a:endParaRPr lang="fr-FR" dirty="0"/>
          </a:p>
          <a:p>
            <a:r>
              <a:rPr lang="fr-FR" dirty="0"/>
              <a:t>Transformation inverse</a:t>
            </a:r>
          </a:p>
          <a:p>
            <a:pPr lvl="1"/>
            <a:r>
              <a:rPr lang="fr-FR" dirty="0" err="1"/>
              <a:t>Désérialisation</a:t>
            </a:r>
            <a:endParaRPr lang="fr-FR" dirty="0"/>
          </a:p>
          <a:p>
            <a:pPr lvl="1"/>
            <a:r>
              <a:rPr lang="fr-FR" dirty="0" err="1"/>
              <a:t>Unmarshalling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15132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Pickle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Si vous avez un objet x, et un objet fichier f ouvert en écriture, la voie la plus simple de ``</a:t>
            </a:r>
            <a:r>
              <a:rPr lang="fr-FR" dirty="0" err="1"/>
              <a:t>pickler</a:t>
            </a:r>
            <a:r>
              <a:rPr lang="fr-FR" dirty="0"/>
              <a:t>'' l'objet prend seulement une ligne de code </a:t>
            </a:r>
          </a:p>
          <a:p>
            <a:pPr lvl="1"/>
            <a:r>
              <a:rPr lang="fr-FR" dirty="0" err="1"/>
              <a:t>pickle.dump</a:t>
            </a:r>
            <a:r>
              <a:rPr lang="fr-FR" dirty="0"/>
              <a:t>(x, f)</a:t>
            </a:r>
          </a:p>
          <a:p>
            <a:r>
              <a:rPr lang="fr-FR" dirty="0"/>
              <a:t>Pour ``</a:t>
            </a:r>
            <a:r>
              <a:rPr lang="fr-FR" dirty="0" err="1"/>
              <a:t>unpickler</a:t>
            </a:r>
            <a:r>
              <a:rPr lang="fr-FR" dirty="0"/>
              <a:t>'' l'objet, si f est un objet fichier ouvert en lecture</a:t>
            </a:r>
          </a:p>
          <a:p>
            <a:pPr lvl="1"/>
            <a:r>
              <a:rPr lang="fr-FR" dirty="0"/>
              <a:t>x = </a:t>
            </a:r>
            <a:r>
              <a:rPr lang="fr-FR" dirty="0" err="1"/>
              <a:t>pickle.load</a:t>
            </a:r>
            <a:r>
              <a:rPr lang="fr-FR" dirty="0"/>
              <a:t>(f)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112664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765603E-6856-AF22-7BAA-2606E1BEC4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TP 6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DBE30F5-39D5-8415-545F-C64465560A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RF </a:t>
            </a:r>
            <a:r>
              <a:rPr lang="fr-FR" dirty="0" err="1"/>
              <a:t>Breast</a:t>
            </a:r>
            <a:r>
              <a:rPr lang="fr-FR" dirty="0"/>
              <a:t> Cancer</a:t>
            </a:r>
          </a:p>
          <a:p>
            <a:r>
              <a:rPr lang="fr-FR" dirty="0"/>
              <a:t>Modélisation avec </a:t>
            </a:r>
            <a:r>
              <a:rPr lang="fr-FR" dirty="0" err="1"/>
              <a:t>SKLearn</a:t>
            </a:r>
            <a:endParaRPr lang="fr-FR" dirty="0"/>
          </a:p>
          <a:p>
            <a:r>
              <a:rPr lang="fr-FR"/>
              <a:t>Retro-engineering</a:t>
            </a:r>
          </a:p>
        </p:txBody>
      </p:sp>
    </p:spTree>
    <p:extLst>
      <p:ext uri="{BB962C8B-B14F-4D97-AF65-F5344CB8AC3E}">
        <p14:creationId xmlns:p14="http://schemas.microsoft.com/office/powerpoint/2010/main" val="3431846424"/>
      </p:ext>
    </p:extLst>
  </p:cSld>
  <p:clrMapOvr>
    <a:masterClrMapping/>
  </p:clrMapOvr>
</p:sld>
</file>

<file path=ppt/theme/theme1.xml><?xml version="1.0" encoding="utf-8"?>
<a:theme xmlns:a="http://schemas.openxmlformats.org/drawingml/2006/main" name="cvc">
  <a:themeElements>
    <a:clrScheme name="cvc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cv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vc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vc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6107</TotalTime>
  <Words>362</Words>
  <Application>Microsoft Office PowerPoint</Application>
  <PresentationFormat>Affichage à l'écran (4:3)</PresentationFormat>
  <Paragraphs>50</Paragraphs>
  <Slides>11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5" baseType="lpstr">
      <vt:lpstr>Arial</vt:lpstr>
      <vt:lpstr>Monotype Sorts</vt:lpstr>
      <vt:lpstr>Times New Roman</vt:lpstr>
      <vt:lpstr>cvc</vt:lpstr>
      <vt:lpstr>Présentation PowerPoint</vt:lpstr>
      <vt:lpstr>Random Forest</vt:lpstr>
      <vt:lpstr>Random Forest</vt:lpstr>
      <vt:lpstr>Asymétrie</vt:lpstr>
      <vt:lpstr>Random Forest</vt:lpstr>
      <vt:lpstr>Exemple Iris</vt:lpstr>
      <vt:lpstr>Importances des features</vt:lpstr>
      <vt:lpstr>Importance Feature</vt:lpstr>
      <vt:lpstr>Sérialisation du modèle</vt:lpstr>
      <vt:lpstr>Pickle</vt:lpstr>
      <vt:lpstr>TP 6</vt:lpstr>
    </vt:vector>
  </TitlesOfParts>
  <Company>jkhjkjkh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</dc:title>
  <dc:creator>jhkhkhkj</dc:creator>
  <cp:lastModifiedBy>Cyril Vincent</cp:lastModifiedBy>
  <cp:revision>355</cp:revision>
  <dcterms:created xsi:type="dcterms:W3CDTF">2000-04-10T19:33:12Z</dcterms:created>
  <dcterms:modified xsi:type="dcterms:W3CDTF">2026-03-18T23:10:25Z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lpwstr>0.1</vt:lpwstr>
  </property>
</Properties>
</file>