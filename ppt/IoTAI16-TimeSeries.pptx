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73" r:id="rId3"/>
    <p:sldId id="274" r:id="rId4"/>
    <p:sldId id="275" r:id="rId5"/>
    <p:sldId id="278" r:id="rId6"/>
    <p:sldId id="281" r:id="rId7"/>
    <p:sldId id="279" r:id="rId8"/>
    <p:sldId id="280" r:id="rId9"/>
    <p:sldId id="284" r:id="rId10"/>
    <p:sldId id="283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40/human+activity+recognition+using+smartphon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Time </a:t>
            </a:r>
            <a:r>
              <a:rPr lang="fr-FR" altLang="fr-FR" dirty="0" err="1"/>
              <a:t>Series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995C0-78B2-1AF2-FF9B-82F8078B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corrélées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4AC62-8E53-5AF7-6498-987318CD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série corrélée est une série où les </a:t>
            </a:r>
            <a:r>
              <a:rPr lang="fr-FR" dirty="0" err="1"/>
              <a:t>rows</a:t>
            </a:r>
            <a:r>
              <a:rPr lang="fr-FR" dirty="0"/>
              <a:t> sont dépendantes les unes des autres</a:t>
            </a:r>
          </a:p>
          <a:p>
            <a:r>
              <a:rPr lang="fr-FR" dirty="0"/>
              <a:t>x(i+1) est corrélée à x(i)</a:t>
            </a:r>
          </a:p>
          <a:p>
            <a:r>
              <a:rPr lang="fr-FR" dirty="0"/>
              <a:t>Par exemple</a:t>
            </a:r>
          </a:p>
          <a:p>
            <a:pPr lvl="1"/>
            <a:r>
              <a:rPr lang="fr-FR" dirty="0"/>
              <a:t>Les séries temporelles</a:t>
            </a:r>
          </a:p>
          <a:p>
            <a:pPr lvl="1"/>
            <a:r>
              <a:rPr lang="fr-FR" dirty="0"/>
              <a:t>Les images, vidéos, sons</a:t>
            </a:r>
          </a:p>
          <a:p>
            <a:pPr lvl="1"/>
            <a:r>
              <a:rPr lang="fr-FR" dirty="0"/>
              <a:t>Les mesures électroniques et </a:t>
            </a:r>
            <a:r>
              <a:rPr lang="fr-FR" dirty="0" err="1"/>
              <a:t>electro</a:t>
            </a:r>
            <a:r>
              <a:rPr lang="fr-FR" dirty="0"/>
              <a:t>-magnétiques</a:t>
            </a:r>
          </a:p>
          <a:p>
            <a:r>
              <a:rPr lang="fr-FR" dirty="0"/>
              <a:t>Il est possible d'abaisser les data des séries corrélées par de nombreux moyens</a:t>
            </a:r>
          </a:p>
        </p:txBody>
      </p:sp>
    </p:spTree>
    <p:extLst>
      <p:ext uri="{BB962C8B-B14F-4D97-AF65-F5344CB8AC3E}">
        <p14:creationId xmlns:p14="http://schemas.microsoft.com/office/powerpoint/2010/main" val="427988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69A3E-863C-B8D3-9335-C91677B0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du signal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E578DC-7967-4A64-D783-1D7091943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tout signal temporelle il est possible de transformer les données par des transformées de Fourier (FFT)</a:t>
            </a:r>
          </a:p>
          <a:p>
            <a:pPr lvl="1"/>
            <a:r>
              <a:rPr lang="fr-FR" dirty="0"/>
              <a:t>Disponible dans </a:t>
            </a:r>
            <a:r>
              <a:rPr lang="fr-FR" dirty="0" err="1"/>
              <a:t>Scipy</a:t>
            </a:r>
            <a:r>
              <a:rPr lang="fr-FR" dirty="0"/>
              <a:t> et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D'autres transformées existent</a:t>
            </a:r>
          </a:p>
          <a:p>
            <a:pPr lvl="1"/>
            <a:r>
              <a:rPr lang="fr-FR" dirty="0"/>
              <a:t>En général ces transformée peuvent abaisser fortement le nombre de ligne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657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3103C-7126-B987-EDAF-7D1DAC69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3EDF8D-8A97-94B8-BED1-9D185B0F4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d'autres outils pour fusionner des lignes</a:t>
            </a:r>
          </a:p>
          <a:p>
            <a:r>
              <a:rPr lang="fr-FR" dirty="0"/>
              <a:t>Les convolutions</a:t>
            </a:r>
          </a:p>
          <a:p>
            <a:pPr lvl="1"/>
            <a:r>
              <a:rPr lang="fr-FR" dirty="0"/>
              <a:t>Vu dans le chapitre CNN</a:t>
            </a:r>
          </a:p>
          <a:p>
            <a:r>
              <a:rPr lang="fr-FR" dirty="0"/>
              <a:t>Des exemples de convolutions</a:t>
            </a:r>
          </a:p>
          <a:p>
            <a:pPr lvl="1"/>
            <a:r>
              <a:rPr lang="fr-FR" dirty="0"/>
              <a:t>Moyenne et médiane mobile</a:t>
            </a:r>
          </a:p>
          <a:p>
            <a:pPr lvl="1"/>
            <a:r>
              <a:rPr lang="fr-FR" dirty="0"/>
              <a:t>Les dérivées</a:t>
            </a:r>
          </a:p>
          <a:p>
            <a:pPr lvl="1"/>
            <a:r>
              <a:rPr lang="fr-FR" dirty="0"/>
              <a:t>Normalisations L1 et L2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12EE90-3849-067F-F39F-29923A7F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789039"/>
            <a:ext cx="4788024" cy="30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1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AD877-957B-2533-7823-DF2C58BD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15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6F6B9E-F49A-24A7-F34A-70CC57E61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HAR – Human Action Recognition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278069-9DD5-0C8B-A1A6-AB147D28F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0848"/>
            <a:ext cx="5976664" cy="403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8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830FE-4DA5-FFE9-4160-F629B578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574FC6-12E8-622B-1225-93D808900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HAR est un </a:t>
            </a:r>
            <a:r>
              <a:rPr lang="fr-FR" sz="2000" dirty="0" err="1"/>
              <a:t>dataset</a:t>
            </a:r>
            <a:endParaRPr lang="fr-FR" sz="2000" dirty="0"/>
          </a:p>
          <a:p>
            <a:r>
              <a:rPr lang="fr-FR" sz="2000" dirty="0">
                <a:hlinkClick r:id="rId2"/>
              </a:rPr>
              <a:t>https://archive.ics.uci.edu/dataset/240/human+activity+recognition+using+smartphones</a:t>
            </a:r>
            <a:endParaRPr lang="fr-FR" sz="2000" dirty="0"/>
          </a:p>
          <a:p>
            <a:r>
              <a:rPr lang="fr-FR" sz="2000" dirty="0"/>
              <a:t>Il enregistre les activités de votre téléphone</a:t>
            </a:r>
          </a:p>
          <a:p>
            <a:r>
              <a:rPr lang="fr-FR" sz="2000" dirty="0"/>
              <a:t>Une IA essaye de déterminer votre type d'activité </a:t>
            </a:r>
            <a:r>
              <a:rPr lang="fr-FR" sz="2000" dirty="0" err="1"/>
              <a:t>parmis</a:t>
            </a:r>
            <a:r>
              <a:rPr lang="fr-FR" sz="2000" dirty="0"/>
              <a:t> </a:t>
            </a:r>
          </a:p>
          <a:p>
            <a:pPr lvl="1"/>
            <a:r>
              <a:rPr lang="fr-FR" sz="1600" dirty="0"/>
              <a:t>0 WALKING, </a:t>
            </a:r>
          </a:p>
          <a:p>
            <a:pPr lvl="1"/>
            <a:r>
              <a:rPr lang="fr-FR" sz="1600" dirty="0"/>
              <a:t>1 WALKING_UPSTAIRS, </a:t>
            </a:r>
          </a:p>
          <a:p>
            <a:pPr lvl="1"/>
            <a:r>
              <a:rPr lang="fr-FR" sz="1600" dirty="0"/>
              <a:t>2 WALKING_DOWNSTAIRS, </a:t>
            </a:r>
          </a:p>
          <a:p>
            <a:pPr lvl="1"/>
            <a:r>
              <a:rPr lang="fr-FR" sz="1600" dirty="0"/>
              <a:t>3 SITTING, </a:t>
            </a:r>
          </a:p>
          <a:p>
            <a:pPr lvl="1"/>
            <a:r>
              <a:rPr lang="fr-FR" sz="1600" dirty="0"/>
              <a:t>4 STANDING, </a:t>
            </a:r>
          </a:p>
          <a:p>
            <a:pPr lvl="1"/>
            <a:r>
              <a:rPr lang="fr-FR" sz="1600" dirty="0"/>
              <a:t>5 LAYING</a:t>
            </a:r>
          </a:p>
          <a:p>
            <a:r>
              <a:rPr lang="fr-FR" sz="2000" dirty="0"/>
              <a:t>Les activités enregistrées sont les données de l'accéléromètres sur 3 axes et du gyroscope sur 3 axes toutes les 10ms (100Hz)</a:t>
            </a:r>
          </a:p>
          <a:p>
            <a:r>
              <a:rPr lang="fr-FR" sz="2000" dirty="0"/>
              <a:t>Pour le TP nous allons utiliser uniquement l'accéléromètre avec les données notées x, y, z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3444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E7A33-0BC5-E425-7D61-778D1EFC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67FCEB-DF0F-4504-9033-1F8651CD4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BBEB14-564B-DECF-92CA-04B1FC70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4" y="1565763"/>
            <a:ext cx="8326012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5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F2252A-F07D-1311-2BA7-75D4B88C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A5EBA-B94B-0ECA-49B3-56056AFD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Pour déterminer une activité nous avons besoins de 128 mesures soit 1.28s</a:t>
            </a:r>
          </a:p>
          <a:p>
            <a:r>
              <a:rPr lang="fr-FR" sz="2000" dirty="0"/>
              <a:t>Nous avons donc 3*128=384 </a:t>
            </a:r>
            <a:r>
              <a:rPr lang="fr-FR" sz="2000" dirty="0" err="1"/>
              <a:t>features</a:t>
            </a:r>
            <a:r>
              <a:rPr lang="fr-FR" sz="2000" dirty="0"/>
              <a:t> ce qui est trop pour RF</a:t>
            </a:r>
          </a:p>
          <a:p>
            <a:r>
              <a:rPr lang="fr-FR" sz="2000" dirty="0"/>
              <a:t>L'algorithme d'abaissement de dimension est le suivant :</a:t>
            </a:r>
          </a:p>
          <a:p>
            <a:r>
              <a:rPr lang="fr-FR" sz="2000" dirty="0"/>
              <a:t>Sur x, y, z nous prenons une fenêtre mobile de 128 mesures</a:t>
            </a:r>
          </a:p>
          <a:p>
            <a:r>
              <a:rPr lang="fr-FR" sz="2000" dirty="0"/>
              <a:t>Nous allons appliquer les 10 fonctions statistiques suivantes sur x, y et 10: </a:t>
            </a:r>
            <a:r>
              <a:rPr lang="fr-FR" sz="2000" dirty="0" err="1"/>
              <a:t>median</a:t>
            </a:r>
            <a:r>
              <a:rPr lang="fr-FR" sz="2000" dirty="0"/>
              <a:t>, q25, q75, q75-q25, min, max, std, </a:t>
            </a:r>
            <a:r>
              <a:rPr lang="fr-FR" sz="2000" dirty="0" err="1"/>
              <a:t>energy</a:t>
            </a:r>
            <a:r>
              <a:rPr lang="fr-FR" sz="2000" dirty="0"/>
              <a:t>=0, </a:t>
            </a:r>
            <a:r>
              <a:rPr lang="fr-FR" sz="2000" dirty="0" err="1"/>
              <a:t>entropy</a:t>
            </a:r>
            <a:endParaRPr lang="fr-FR" sz="2000" dirty="0"/>
          </a:p>
          <a:p>
            <a:r>
              <a:rPr lang="fr-FR" sz="2000" dirty="0"/>
              <a:t>Cela nous donne 3*10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La série étant temporelle nous appliquons une normalisation L1, nous passons donc de 3*128 à 128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Sur L1 nous appliquons les 8 fonctions statistiques suivantes </a:t>
            </a:r>
            <a:r>
              <a:rPr lang="fr-FR" sz="2000" dirty="0" err="1"/>
              <a:t>median</a:t>
            </a:r>
            <a:r>
              <a:rPr lang="fr-FR" sz="2000" dirty="0"/>
              <a:t>, q25, q75, q75-q25, min, max, std</a:t>
            </a:r>
          </a:p>
          <a:p>
            <a:r>
              <a:rPr lang="fr-FR" sz="2000" dirty="0"/>
              <a:t>Cela nous donne 8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Nous faisons la même chose avec une normalisation L2 et obtenons 8 </a:t>
            </a:r>
            <a:r>
              <a:rPr lang="fr-FR" sz="2000" dirty="0" err="1"/>
              <a:t>features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8954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8743-C478-4A85-1D9B-F6D5327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Worflow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6064D-D52E-EC60-6D17-D7B1A0A2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7BE11-FD26-ADEA-BC6F-C27765EF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7" y="1268760"/>
            <a:ext cx="8345065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2414-4CC0-3282-C823-91AA2FD2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F5EB3-75A3-6EFA-C17D-85443238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A2AA0E-F56B-600B-E815-F0989F41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Nous avons donc obtenu 3*10+8+8=46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Sur la série </a:t>
            </a:r>
            <a:r>
              <a:rPr lang="fr-FR" sz="2000" dirty="0" err="1"/>
              <a:t>x,y,z</a:t>
            </a:r>
            <a:r>
              <a:rPr lang="fr-FR" sz="2000" dirty="0"/>
              <a:t> nous appliquons une dérivée (appelée Jerk f(x+1)=f(x+1)-f(x))</a:t>
            </a:r>
          </a:p>
          <a:p>
            <a:r>
              <a:rPr lang="fr-FR" sz="2000" dirty="0"/>
              <a:t>Sur cette nouvelle série nous appliquons les mêmes calculs et obtenons 46 </a:t>
            </a:r>
            <a:r>
              <a:rPr lang="fr-FR" sz="2000" dirty="0" err="1"/>
              <a:t>features</a:t>
            </a:r>
            <a:r>
              <a:rPr lang="fr-FR" sz="2000" dirty="0"/>
              <a:t> supplémentaires</a:t>
            </a:r>
          </a:p>
          <a:p>
            <a:r>
              <a:rPr lang="fr-FR" sz="2000" dirty="0"/>
              <a:t>Nous avons donc en tout 46+46=92 </a:t>
            </a:r>
            <a:r>
              <a:rPr lang="fr-FR" sz="2000" dirty="0" err="1"/>
              <a:t>features</a:t>
            </a:r>
            <a:r>
              <a:rPr lang="fr-FR" sz="2000" dirty="0"/>
              <a:t> (réduction de 384 à 92)</a:t>
            </a:r>
          </a:p>
          <a:p>
            <a:r>
              <a:rPr lang="fr-FR" sz="2000" dirty="0"/>
              <a:t>Les capteurs sont 16 bits donc 1.28s = 92*2=184 octets</a:t>
            </a:r>
          </a:p>
          <a:p>
            <a:r>
              <a:rPr lang="fr-FR" sz="2000" dirty="0"/>
              <a:t>L'apprentissage est programmé dans har_trees/har_train.py</a:t>
            </a:r>
          </a:p>
          <a:p>
            <a:r>
              <a:rPr lang="fr-FR" sz="2000" dirty="0"/>
              <a:t>Les fonctions de réductions sont programmées har_tree/timebase.py</a:t>
            </a:r>
          </a:p>
          <a:p>
            <a:r>
              <a:rPr lang="fr-FR" sz="2000" dirty="0"/>
              <a:t>Les fonctions de fenêtrage sont programmées dans har_tree/windower.py</a:t>
            </a:r>
          </a:p>
          <a:p>
            <a:r>
              <a:rPr lang="fr-FR" sz="2000" dirty="0"/>
              <a:t>La fonction qui traduit des CSV </a:t>
            </a:r>
            <a:r>
              <a:rPr lang="fr-FR" sz="2000" dirty="0" err="1"/>
              <a:t>x,y,z</a:t>
            </a:r>
            <a:r>
              <a:rPr lang="fr-FR" sz="2000" dirty="0"/>
              <a:t> en </a:t>
            </a:r>
            <a:r>
              <a:rPr lang="fr-FR" sz="2000" dirty="0" err="1"/>
              <a:t>array</a:t>
            </a:r>
            <a:r>
              <a:rPr lang="fr-FR" sz="2000" dirty="0"/>
              <a:t> de 92 </a:t>
            </a:r>
            <a:r>
              <a:rPr lang="fr-FR" sz="2000" dirty="0" err="1"/>
              <a:t>features</a:t>
            </a:r>
            <a:r>
              <a:rPr lang="fr-FR" sz="2000"/>
              <a:t> en 16 bits est programmées dans har_csv_to_npy.py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1419466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7807</TotalTime>
  <Words>538</Words>
  <Application>Microsoft Office PowerPoint</Application>
  <PresentationFormat>Affichage à l'écran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Séries corrélées</vt:lpstr>
      <vt:lpstr>Traitement du signal</vt:lpstr>
      <vt:lpstr>Convolutions</vt:lpstr>
      <vt:lpstr>TP 15</vt:lpstr>
      <vt:lpstr>HAR</vt:lpstr>
      <vt:lpstr>HAR </vt:lpstr>
      <vt:lpstr>HAR</vt:lpstr>
      <vt:lpstr>Worflow</vt:lpstr>
      <vt:lpstr>HAR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373</cp:revision>
  <dcterms:created xsi:type="dcterms:W3CDTF">2000-04-10T19:33:12Z</dcterms:created>
  <dcterms:modified xsi:type="dcterms:W3CDTF">2026-06-10T13:17:33Z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