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70"/>
  </p:notesMasterIdLst>
  <p:handoutMasterIdLst>
    <p:handoutMasterId r:id="rId71"/>
  </p:handoutMasterIdLst>
  <p:sldIdLst>
    <p:sldId id="264" r:id="rId2"/>
    <p:sldId id="256" r:id="rId3"/>
    <p:sldId id="258" r:id="rId4"/>
    <p:sldId id="261" r:id="rId5"/>
    <p:sldId id="279" r:id="rId6"/>
    <p:sldId id="304" r:id="rId7"/>
    <p:sldId id="305" r:id="rId8"/>
    <p:sldId id="260" r:id="rId9"/>
    <p:sldId id="306" r:id="rId10"/>
    <p:sldId id="265" r:id="rId11"/>
    <p:sldId id="271" r:id="rId12"/>
    <p:sldId id="266" r:id="rId13"/>
    <p:sldId id="268" r:id="rId14"/>
    <p:sldId id="270" r:id="rId15"/>
    <p:sldId id="272" r:id="rId16"/>
    <p:sldId id="273" r:id="rId17"/>
    <p:sldId id="274" r:id="rId18"/>
    <p:sldId id="275" r:id="rId19"/>
    <p:sldId id="297" r:id="rId20"/>
    <p:sldId id="276" r:id="rId21"/>
    <p:sldId id="295" r:id="rId22"/>
    <p:sldId id="296" r:id="rId23"/>
    <p:sldId id="298" r:id="rId24"/>
    <p:sldId id="299" r:id="rId25"/>
    <p:sldId id="277" r:id="rId26"/>
    <p:sldId id="307" r:id="rId27"/>
    <p:sldId id="303" r:id="rId28"/>
    <p:sldId id="280" r:id="rId29"/>
    <p:sldId id="282" r:id="rId30"/>
    <p:sldId id="283" r:id="rId31"/>
    <p:sldId id="285" r:id="rId32"/>
    <p:sldId id="286" r:id="rId33"/>
    <p:sldId id="287" r:id="rId34"/>
    <p:sldId id="294" r:id="rId35"/>
    <p:sldId id="289" r:id="rId36"/>
    <p:sldId id="290" r:id="rId37"/>
    <p:sldId id="291" r:id="rId38"/>
    <p:sldId id="292" r:id="rId39"/>
    <p:sldId id="293" r:id="rId40"/>
    <p:sldId id="328" r:id="rId41"/>
    <p:sldId id="259" r:id="rId42"/>
    <p:sldId id="329" r:id="rId43"/>
    <p:sldId id="330" r:id="rId44"/>
    <p:sldId id="316" r:id="rId45"/>
    <p:sldId id="318" r:id="rId46"/>
    <p:sldId id="281" r:id="rId47"/>
    <p:sldId id="263" r:id="rId48"/>
    <p:sldId id="361" r:id="rId49"/>
    <p:sldId id="267" r:id="rId50"/>
    <p:sldId id="362" r:id="rId51"/>
    <p:sldId id="363" r:id="rId52"/>
    <p:sldId id="364" r:id="rId53"/>
    <p:sldId id="367" r:id="rId54"/>
    <p:sldId id="368" r:id="rId55"/>
    <p:sldId id="301" r:id="rId56"/>
    <p:sldId id="369" r:id="rId57"/>
    <p:sldId id="370" r:id="rId58"/>
    <p:sldId id="371" r:id="rId59"/>
    <p:sldId id="372" r:id="rId60"/>
    <p:sldId id="373" r:id="rId61"/>
    <p:sldId id="374" r:id="rId62"/>
    <p:sldId id="376" r:id="rId63"/>
    <p:sldId id="377" r:id="rId64"/>
    <p:sldId id="378" r:id="rId65"/>
    <p:sldId id="379" r:id="rId66"/>
    <p:sldId id="380" r:id="rId67"/>
    <p:sldId id="381" r:id="rId68"/>
    <p:sldId id="382" r:id="rId69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4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45.xml"/><Relationship Id="rId1" Type="http://schemas.openxmlformats.org/officeDocument/2006/relationships/slide" Target="slides/slide4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BCA9E70-AE0A-C68E-88E5-AD36FF6A96A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E3CCB956-C05F-433E-8A07-EDA4C90C1E2E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5365E78-0AF2-207F-3E6D-86D274ACC9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E3D5ACC-C4DF-6319-6388-BF5E788DF0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5BFF71-902F-4748-9718-AD2FFE647041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0B8E2E52-A19A-8BBF-4D26-4BC1AC946E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FA7B3AD-A219-F5D6-7738-50DD81A49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6FF50DB-07C8-6712-3D34-A97FA6B874B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A35F2D0F-2D14-4238-8709-E7743D64175F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3E2C8F2-E158-23E8-D413-CF9309D83DA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B5B4B91-4FF6-859D-1B39-A76D4925C4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6BACB5-77A3-4E68-935B-A94F80B8A6EA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BB830C6D-DA97-0044-6CC4-15D8DDF3A1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7140DCA-881B-DED1-3821-2CD19B3A45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0EB1F19-DAD4-6001-1BF7-04CA9B44DB0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F16838DB-C3FF-4886-8783-2BE1208D982F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9C38224-F368-4CA8-D762-E51B0FAD674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5600608-B376-95D4-FD8E-31783DE3A8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F0470E-EF67-4940-AEC6-32B872D684FA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0F509EFD-2BCC-34D6-6936-E829E089F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1B7050B-956B-8CDC-0312-28A999CEB9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627705D-3583-1D78-3B92-35CE5871497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104436B1-53E5-47B3-8C05-F9900A85A196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9E10C35-7416-0E26-644B-FC430F1C4A6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A674D39-D202-756A-8A4F-0E3F4878E1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ECE860-3534-4A5C-BBF8-9A961F5B7F79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B8AD8F2B-DADD-4938-34DD-CB71E34422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F7B5F83B-7152-0029-6F0F-A743877AA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239A216A-1328-4CB9-D5D0-6F94D7CD766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32C364D-C520-4D49-995C-1F3A77BA4AE9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BFB6A5-AFD1-C8F5-A314-B7C67B63743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ACCF621-3889-1118-7952-3DB2BFAA5A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73F44C-F16D-4CCA-A60D-4D3B48C32D28}" type="slidenum">
              <a:rPr lang="fr-FR" altLang="fr-FR"/>
              <a:pPr/>
              <a:t>8</a:t>
            </a:fld>
            <a:endParaRPr lang="fr-FR" altLang="fr-FR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A0A69915-36D5-EA85-69B5-7F7FD8080D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ECE9F04-5723-735C-BD14-65781D3DFF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082469B-3B26-81D6-DC07-514DD5155F7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21578942-FF1B-4E32-9091-02303EDBF02F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CD9E40C-E691-7FAA-43E7-571F47C0E2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0D9C088-B718-CD41-E18D-BC44E55172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25764A-F510-4327-982E-B2AFAFAF5EAB}" type="slidenum">
              <a:rPr lang="fr-FR" altLang="fr-FR"/>
              <a:pPr/>
              <a:t>9</a:t>
            </a:fld>
            <a:endParaRPr lang="fr-FR" altLang="fr-FR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197C3A2F-628B-1F4E-E445-6612BCE45D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FA8C824-BF80-BF7F-807A-1774D5DC93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2DA6432-38DE-5FAC-723D-941AAC90317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D94FEFE4-0DD4-4755-B03A-01762096F948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633886C-CD8C-7E8A-46DA-62B2F73FC14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9BF04EB-47C1-1BA6-B364-4ACB97D2B4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547980-BEC3-4C0C-9EAF-8C93CFE784C6}" type="slidenum">
              <a:rPr lang="fr-FR" altLang="fr-FR"/>
              <a:pPr/>
              <a:t>10</a:t>
            </a:fld>
            <a:endParaRPr lang="fr-FR" altLang="fr-FR"/>
          </a:p>
        </p:txBody>
      </p:sp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716CD69B-3736-D339-3C1C-92C5CB5FCC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227C5EEE-53BA-1F61-D393-1CC9ED434B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8ECF2B9-E63A-2858-3328-CA58E29B0AC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3D0C43EE-A6A4-4ADA-AD68-5CD8F42A3E3B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BB84B3A-63CC-6B81-5C81-05E6D5F87C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35B15DA-4EE6-3718-967C-F561E8809E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890425-1F3D-4157-A599-6B464815CCA5}" type="slidenum">
              <a:rPr lang="fr-FR" altLang="fr-FR"/>
              <a:pPr/>
              <a:t>11</a:t>
            </a:fld>
            <a:endParaRPr lang="fr-FR" altLang="fr-FR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F5CCA236-8676-3444-A527-842ECA87E7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527A056-D56C-B1EA-88A7-418F888FF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951DA016-96F3-4396-6FC9-62B9ABF385D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9AC52F7D-9A2D-4693-A737-81EEA8F67F7D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2BAC257-8917-2BD8-1F7D-828371807E7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32F2871-6C7E-1BD8-0F60-CD22FB6187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06AD6C-A979-49DA-B1DA-005ABA372996}" type="slidenum">
              <a:rPr lang="fr-FR" altLang="fr-FR"/>
              <a:pPr/>
              <a:t>12</a:t>
            </a:fld>
            <a:endParaRPr lang="fr-FR" altLang="fr-FR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89A173DA-C03A-3661-F41E-9E64E7667D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5731507-EFDF-CB0A-7471-45F6D774CD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2C8B9F57-3F8E-6B04-B2EA-78A36F1632D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C2C9FDE7-A0C8-4E18-8646-573B5C0495A4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63B10FD-5D95-B892-B258-0DC760261C0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AD81278-E1B4-DA4E-FCDF-51563D63F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2518D0-3801-4300-A16A-AFE3B7BD0167}" type="slidenum">
              <a:rPr lang="fr-FR" altLang="fr-FR"/>
              <a:pPr/>
              <a:t>13</a:t>
            </a:fld>
            <a:endParaRPr lang="fr-FR" altLang="fr-FR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CF649D1-450B-555F-C30A-C0AD09CBB1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2116D397-5F79-E221-258A-5ECC2B3CF1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341B5F7-7B04-154A-3A4D-3806FF4D82B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357B4264-0745-4298-BDC7-E3C118EE8882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E240A8B-514E-2A58-1E4D-75AF3707C78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DF4DF43-5929-0529-15CE-AAB20534B6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73741D-E373-47F1-B7F5-9E9C645B21E6}" type="slidenum">
              <a:rPr lang="fr-FR" altLang="fr-FR"/>
              <a:pPr/>
              <a:t>14</a:t>
            </a:fld>
            <a:endParaRPr lang="fr-FR" altLang="fr-FR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4379D1E0-BCF4-32FC-749E-752C1B0AE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C2BE3686-731F-5BA9-A349-754CAB67D6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6325CC75-B3CC-EAC1-FD3A-981C4B7E325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049B73FC-66D9-4D1B-8EC8-DA9C15BE2CD5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C71A3A8-591C-14D5-CC4D-17753F189FB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5ECB948-71A4-180D-71F3-D864CAD7EF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CC784B-2701-42FE-8356-865A5583DDD3}" type="slidenum">
              <a:rPr lang="fr-FR" altLang="fr-FR"/>
              <a:pPr/>
              <a:t>15</a:t>
            </a:fld>
            <a:endParaRPr lang="fr-FR" altLang="fr-FR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4109F24D-D985-8BE5-8A10-22BCA0BC21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FF6B5E5-2E36-850E-3F9F-747E3AFDF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088C120-A607-551F-D004-74560BA1916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6E24893-6360-457F-8965-B9E18D8FE139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016DD16-A643-0E74-936E-0BF77ED2C92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975FE58-CF3E-5E13-B8D2-2A70013BD3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1DD697-101D-49C9-B030-E0A9D288586F}" type="slidenum">
              <a:rPr lang="fr-FR" altLang="fr-FR"/>
              <a:pPr/>
              <a:t>16</a:t>
            </a:fld>
            <a:endParaRPr lang="fr-FR" altLang="fr-FR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7AC5BBC1-59D7-7467-6390-768803FCFD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5FC5E45C-1C9C-9B08-7C96-B7F0D0A4F2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5BCCF0FA-D5AC-550B-FAF9-BB0256844CB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A488EC13-7550-4E6F-91C4-46913AE89217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7CE2202-E672-5CA2-8F1A-308BF303BC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55FBE99-65FB-1D14-7F20-21D2B6C894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444A60-9826-4431-91C5-B20AA0DBA520}" type="slidenum">
              <a:rPr lang="fr-FR" altLang="fr-FR"/>
              <a:pPr/>
              <a:t>17</a:t>
            </a:fld>
            <a:endParaRPr lang="fr-FR" altLang="fr-FR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AF513AAB-C44C-4713-DBE7-FAE8B2FEC3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58ABC598-E20A-214A-35B1-EE0AECC94C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976AD9E-684A-C16E-50C9-9C04E144136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AFD1A642-87B9-4B8B-85B8-B6CDB6C772C0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D2634B2-939D-AD1E-09D9-29AA8C883C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16D75D-C3D6-8C3B-38A2-9721A1431B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BF2C8A-2310-4298-93EA-D6359999C0C1}" type="slidenum">
              <a:rPr lang="fr-FR" altLang="fr-FR"/>
              <a:pPr/>
              <a:t>18</a:t>
            </a:fld>
            <a:endParaRPr lang="fr-FR" altLang="fr-FR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EF990B2E-DA13-93C2-381D-77E1F61855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29BFEB2-6395-6A39-1512-00F324C423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B9CA0C8-7825-C334-FA55-BCF18EC4D93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99B74C46-C326-4134-A3E2-A5F5CF1E9883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DBEAA9C-4B08-07A5-3944-1D9DE1D6549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C44EC6D-33B1-1353-63E9-17DCBD04B5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39A0B7-9C94-4DC5-A352-CD5BFDB1CB3A}" type="slidenum">
              <a:rPr lang="fr-FR" altLang="fr-FR"/>
              <a:pPr/>
              <a:t>20</a:t>
            </a:fld>
            <a:endParaRPr lang="fr-FR" altLang="fr-FR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E7ADCCB5-0A8B-3602-0BA6-01023490F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BD87FBF-EE52-2E3B-0DCC-0521983F12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1947184-50D2-84DF-B870-5D0EF1A31C2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3C7E7777-BF79-4270-922B-B9E2BCA67B06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443475F-78AC-A74A-69F0-5B76C69736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5B9A96A-993F-6E03-D8A5-1BD7CDB359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57C1BE-B9E9-4995-89C9-4EB147B398AC}" type="slidenum">
              <a:rPr lang="fr-FR" altLang="fr-FR"/>
              <a:pPr/>
              <a:t>25</a:t>
            </a:fld>
            <a:endParaRPr lang="fr-FR" altLang="fr-FR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FA007BB9-E02C-4877-33BC-224E1491EC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3A46FBBA-EFD7-5D29-C180-1C4888D03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BFE8C63B-66C7-1419-EAAF-340EAB5A169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97B97177-1D6C-464B-94B5-CE9D5A22B942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55B914A-7B0A-3936-474A-3C6E2F8D471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CDB66BC-B5D7-96FC-8497-5440AE24C7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68B7D7-CDC5-40DA-A30B-854CBC5A91DC}" type="slidenum">
              <a:rPr lang="fr-FR" altLang="fr-FR"/>
              <a:pPr/>
              <a:t>26</a:t>
            </a:fld>
            <a:endParaRPr lang="fr-FR" altLang="fr-FR"/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253F8D2E-976F-5673-88C8-E86251B7D0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891F4E66-5E3D-8737-AAB1-75D9CBDEED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581034A-F9C7-69A7-2314-2BA279F556B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EA6C4E51-3A67-4376-A943-6F4AA927519B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82C5A74-09B8-4918-0B95-6B0AF7A4A7D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3D98E08-FD2F-B888-CB37-C7E1FF73F5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8FA26C-2D53-40C4-8443-72C1235A427D}" type="slidenum">
              <a:rPr lang="fr-FR" altLang="fr-FR"/>
              <a:pPr/>
              <a:t>28</a:t>
            </a:fld>
            <a:endParaRPr lang="fr-FR" altLang="fr-FR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E8043B1B-C9B2-07C7-4B7A-750077A280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41F78235-D8E1-489C-86EA-834AD19C96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F346511-083B-9A6B-3F97-B3A6AFFF27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D276A5BD-A13D-4D84-98F9-7A02804C6C7E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53A5293-AFA6-3898-894B-91261E4960B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3031E19-F4A8-AF13-BE99-9C3F2E5951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7E0EEB-F06C-4CDA-9C7B-D18171C9A239}" type="slidenum">
              <a:rPr lang="fr-FR" altLang="fr-FR"/>
              <a:pPr/>
              <a:t>29</a:t>
            </a:fld>
            <a:endParaRPr lang="fr-FR" altLang="fr-FR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E45B92DB-54A5-D32A-126D-51FA22D81A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78BF087B-BFAF-0C8C-1A65-90E6147E5A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94C5322B-658D-C4C7-502D-9E4ED3AFEEE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29ACCCD7-6766-47AE-BF59-ADA1802B7BBA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2D87726-1F1E-7868-C00E-4BBA8BDFC2E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1D6B174-46AB-29AB-552E-F751F486C0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64C6B1-DAD0-47BD-9F1D-30BBEAAEA4CC}" type="slidenum">
              <a:rPr lang="fr-FR" altLang="fr-FR"/>
              <a:pPr/>
              <a:t>30</a:t>
            </a:fld>
            <a:endParaRPr lang="fr-FR" altLang="fr-FR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B5EA7215-72DB-9754-CBFA-C3AF3D5901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771CCF21-02E0-B8E6-D44F-6E23E8BA01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0D7C08D1-17FD-6F0E-7E97-17D0B14F5E1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7F0F6925-B014-45A3-BB9F-9B0B88EBCAA3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6E30390-4FFB-1A05-C3E5-65F75D06051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8BC2819-3079-416B-6EBB-5C8846B683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EF4EF5-FA26-448A-9E68-FE694C45B3B3}" type="slidenum">
              <a:rPr lang="fr-FR" altLang="fr-FR"/>
              <a:pPr/>
              <a:t>31</a:t>
            </a:fld>
            <a:endParaRPr lang="fr-FR" altLang="fr-FR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EBD76A69-B39B-558A-F68A-9BD82D1BB0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BB6D8A02-593D-7FF2-D8F0-0B651C2912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7193DEB-87D7-072F-AD3C-DAE860F766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ED374177-0DDE-4B8E-BBB7-A247591B9A6D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2944409-E621-15F3-92F6-14F28B15A82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8A054D-1BA1-91EF-8352-C88304FCC3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3C8607-252B-4D71-A0F4-58C4F8953F27}" type="slidenum">
              <a:rPr lang="fr-FR" altLang="fr-FR"/>
              <a:pPr/>
              <a:t>32</a:t>
            </a:fld>
            <a:endParaRPr lang="fr-FR" altLang="fr-FR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DD9382CB-B777-6B2E-3C98-1573D93622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827650D1-DE8A-9C29-685C-3F8FB3901B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72BCB1-ADDE-1975-1F2C-3887905D36D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ABBADFBA-E8FB-4B08-8820-7BA5A4B5D1C5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D41827F-8E45-B02B-CB90-35E02515EB1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616F02-1E0B-0D76-435F-AD69101B65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D03779-B0DB-4B57-89D7-2FC8EB91A339}" type="slidenum">
              <a:rPr lang="fr-FR" altLang="fr-FR"/>
              <a:pPr/>
              <a:t>33</a:t>
            </a:fld>
            <a:endParaRPr lang="fr-FR" altLang="fr-FR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4C9C7E7C-16C7-F1BE-31D7-A89AF3E8F3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 cap="flat"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D00D0415-1E96-86A3-589A-AEDFC8C2F1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F7867BF-71F8-1EED-41B7-E5F81BAF8E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fr-FR" altLang="fr-FR"/>
              <a:t>IUT Bordeaux 1 - Dépt. Informatique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D413995-5B06-FDDB-A1D9-7183D103EAF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C0467097-A11E-4BDF-9847-3E5FDF549832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64A7F68-0044-408B-555B-56E1C68A247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Interface des sockets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BE8C492-A2E3-EE71-DE62-79E8A4CAED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D3ABB4-70AA-49DA-9328-BA08369D5447}" type="slidenum">
              <a:rPr lang="fr-FR" altLang="fr-FR"/>
              <a:pPr/>
              <a:t>42</a:t>
            </a:fld>
            <a:endParaRPr lang="fr-FR" altLang="fr-FR"/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88279BAA-935B-FF38-B8A7-F5C03488B42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46D4F333-C3C6-FCF3-D380-5D53554E4D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3D153F7-A05B-E6F4-C637-43AB39FBA9D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fr-FR" altLang="fr-FR"/>
              <a:t>IUT Bordeaux 1 - Dépt. Informatique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6F6093E-CC71-45F5-2AC9-A108CB14AC5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61FAEE4B-81D4-4DB0-AE2D-85BC5DE374A2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1674BD8-9A03-2E06-96A3-0FABA8D0D8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Applications TCP/IP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2E7D292-16E5-AAA9-C94B-ACAB1D950F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E17B3E-0CCB-4A2C-AD35-EEBDB5FB38DD}" type="slidenum">
              <a:rPr lang="fr-FR" altLang="fr-FR"/>
              <a:pPr/>
              <a:t>53</a:t>
            </a:fld>
            <a:endParaRPr lang="fr-FR" altLang="fr-FR"/>
          </a:p>
        </p:txBody>
      </p:sp>
      <p:sp>
        <p:nvSpPr>
          <p:cNvPr id="203778" name="Rectangle 2">
            <a:extLst>
              <a:ext uri="{FF2B5EF4-FFF2-40B4-BE49-F238E27FC236}">
                <a16:creationId xmlns:a16="http://schemas.microsoft.com/office/drawing/2014/main" id="{1A984731-4AA4-E4E5-CFBD-93B546E3A8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/>
        </p:spPr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05D7E8DB-5F21-CBFD-F11E-15CFAC8C2B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2D0A071-F685-0116-DA32-0E2D4EEFA6E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fr-FR" altLang="fr-FR"/>
              <a:t>IUT Bordeaux 1 - Dépt. Informatique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F578F9-5C41-3C8C-81BE-2489C277393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91F435FE-F67D-49AC-A947-245469B23A09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8FD635-3D94-C1DC-A548-D197C4BB0EF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Applications TCP/IP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D0237F-CD29-C2F6-8144-1B404436B4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663D80-DD42-43BA-A620-A0ED05AFA196}" type="slidenum">
              <a:rPr lang="fr-FR" altLang="fr-FR"/>
              <a:pPr/>
              <a:t>54</a:t>
            </a:fld>
            <a:endParaRPr lang="fr-FR" altLang="fr-FR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B7683D38-7EA2-1195-F16E-1EC66D680D8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66800" y="869950"/>
            <a:ext cx="4611688" cy="3459163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8941E47C-F6C1-5924-2AE5-754EB4B5D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4705350"/>
            <a:ext cx="4943475" cy="4173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882" tIns="45941" rIns="91882" bIns="45941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7F260FA-8EB5-A584-3E12-CC034A2AC51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fr-FR" altLang="fr-FR"/>
              <a:t>IUT Bordeaux 1 - Dépt. Informatique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9393D24-9E97-A254-7CE2-48A6B1E4087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05374CB2-BD46-491E-9341-256C1FD5383D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BB0232-B9EF-FAFB-D008-3C262C01E6B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Applications TCP/IP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BEAF77-56AD-FC86-7210-44A486405F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98C7CC-3BD0-45A8-B5BE-EBD58F3CC64C}" type="slidenum">
              <a:rPr lang="fr-FR" altLang="fr-FR"/>
              <a:pPr/>
              <a:t>55</a:t>
            </a:fld>
            <a:endParaRPr lang="fr-FR" altLang="fr-FR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E37B6AA0-1F50-6EF6-BFAB-561CB60B724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66800" y="869950"/>
            <a:ext cx="4611688" cy="3459163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7720CE99-7D06-2D89-D46B-A9EA002848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4705350"/>
            <a:ext cx="4943475" cy="4173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882" tIns="45941" rIns="91882" bIns="45941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731A2B6-8961-5007-7945-77DA8DEBCF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fr-FR" altLang="fr-FR"/>
              <a:t>IUT Bordeaux 1 - Dépt. Informatique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49FA9B4-804C-D377-7CEE-73D9553B0EF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0C61EED0-E179-43EA-ACDF-32C3BD1DDBF7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5C594E-08AB-597A-ABED-A986C365C0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Applications TCP/IP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38F679-C6CB-EA02-A08B-A0BDE9C7A2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80E818-78F8-4553-856A-D129DAB54FB3}" type="slidenum">
              <a:rPr lang="fr-FR" altLang="fr-FR"/>
              <a:pPr/>
              <a:t>56</a:t>
            </a:fld>
            <a:endParaRPr lang="fr-FR" altLang="fr-FR"/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B1C225A6-E559-8C94-7FA0-E31541AFD62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66800" y="869950"/>
            <a:ext cx="4611688" cy="3459163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9F6E4455-7A7B-FE62-C39B-C54EECC731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4705350"/>
            <a:ext cx="4943475" cy="4173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882" tIns="45941" rIns="91882" bIns="45941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E6C6248-3DBB-6920-DD32-50BB4ED7BBF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fr-FR" altLang="fr-FR"/>
              <a:t>IUT Bordeaux 1 - Dépt. Informatique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FDD4A2A-3471-7B29-7F45-F3D0E388F13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42B5F434-3E83-4BC0-B5CB-EFC0709F1FD7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72FCEC3-6072-DA92-8971-75D68120B98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Applications TCP/IP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4EFB05-8EF5-D39F-3CF6-BC8CA65388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ED0C30-AFFB-4387-9B58-90A7077CADA4}" type="slidenum">
              <a:rPr lang="fr-FR" altLang="fr-FR"/>
              <a:pPr/>
              <a:t>57</a:t>
            </a:fld>
            <a:endParaRPr lang="fr-FR" altLang="fr-FR"/>
          </a:p>
        </p:txBody>
      </p:sp>
      <p:sp>
        <p:nvSpPr>
          <p:cNvPr id="210946" name="Rectangle 2">
            <a:extLst>
              <a:ext uri="{FF2B5EF4-FFF2-40B4-BE49-F238E27FC236}">
                <a16:creationId xmlns:a16="http://schemas.microsoft.com/office/drawing/2014/main" id="{893598E4-ED3D-1AAB-29D4-27C92FC5AA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6800" y="869950"/>
            <a:ext cx="4611688" cy="3459163"/>
          </a:xfrm>
          <a:ln cap="flat"/>
        </p:spPr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A5659D41-03E2-7E5C-80F2-8FC8F3B52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4705350"/>
            <a:ext cx="4943475" cy="4173538"/>
          </a:xfrm>
          <a:ln/>
        </p:spPr>
        <p:txBody>
          <a:bodyPr lIns="91882" tIns="45941" rIns="91882" bIns="45941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A761C47-F5F2-9B69-FBF1-0A4283B265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fr-FR" altLang="fr-FR"/>
              <a:t>IUT Bordeaux 1 - Dépt. Informatique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5290063-843A-FC32-6BCB-1D69C558F21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310C6241-79E3-47EF-88D6-39A375907F80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E32F4D0-12C3-E15F-A9C9-320AB1F0030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Applications TCP/IP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430C11-9CA8-F7A9-2CC9-F91F7D611D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78A52-64A4-42EA-B29E-67E56B1291AD}" type="slidenum">
              <a:rPr lang="fr-FR" altLang="fr-FR"/>
              <a:pPr/>
              <a:t>58</a:t>
            </a:fld>
            <a:endParaRPr lang="fr-FR" altLang="fr-FR"/>
          </a:p>
        </p:txBody>
      </p:sp>
      <p:sp>
        <p:nvSpPr>
          <p:cNvPr id="212994" name="Rectangle 2">
            <a:extLst>
              <a:ext uri="{FF2B5EF4-FFF2-40B4-BE49-F238E27FC236}">
                <a16:creationId xmlns:a16="http://schemas.microsoft.com/office/drawing/2014/main" id="{7BC9A810-4599-9DE4-9FC0-91413A48A3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6800" y="869950"/>
            <a:ext cx="4611688" cy="3459163"/>
          </a:xfrm>
          <a:ln cap="flat"/>
        </p:spPr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788A3A39-CAB2-DAD8-804E-19D96B253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4705350"/>
            <a:ext cx="4943475" cy="4173538"/>
          </a:xfrm>
          <a:ln/>
        </p:spPr>
        <p:txBody>
          <a:bodyPr lIns="91882" tIns="45941" rIns="91882" bIns="45941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E0B1CE-FF67-6ABC-BCDC-D6EACC7332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fr-FR" altLang="fr-FR"/>
              <a:t>IUT Bordeaux 1 - Dépt. Informatique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B2E8622-F8BF-DAD0-D325-F8EA170B018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9951C055-5763-41BB-9D2E-751D20B11F20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66CB59-9D70-3AC8-EB89-B95DF401DE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Applications TCP/IP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7DD012-5791-DCA9-82B2-ACEDC56E08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E3AC03-48D9-4EDF-9BB6-C99FE11F7EDD}" type="slidenum">
              <a:rPr lang="fr-FR" altLang="fr-FR"/>
              <a:pPr/>
              <a:t>59</a:t>
            </a:fld>
            <a:endParaRPr lang="fr-FR" altLang="fr-FR"/>
          </a:p>
        </p:txBody>
      </p:sp>
      <p:sp>
        <p:nvSpPr>
          <p:cNvPr id="215042" name="Rectangle 2">
            <a:extLst>
              <a:ext uri="{FF2B5EF4-FFF2-40B4-BE49-F238E27FC236}">
                <a16:creationId xmlns:a16="http://schemas.microsoft.com/office/drawing/2014/main" id="{76040154-ADBA-6CC2-A8B0-7DDD1C527D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6800" y="869950"/>
            <a:ext cx="4611688" cy="3459163"/>
          </a:xfrm>
          <a:ln cap="flat"/>
        </p:spPr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63F5C572-BE58-2462-6956-58D59B996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4705350"/>
            <a:ext cx="4943475" cy="4173538"/>
          </a:xfrm>
          <a:ln/>
        </p:spPr>
        <p:txBody>
          <a:bodyPr lIns="91882" tIns="45941" rIns="91882" bIns="45941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78880E5-D545-6B23-E9A0-64D2CE7CA3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fr-FR" altLang="fr-FR"/>
              <a:t>IUT Bordeaux 1 - Dépt. Informatique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189D4D8-0315-6CA3-AD73-9942D4A96B9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741BF5E2-7459-43AA-947E-ECACF30ACBAF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5C323D-52DC-636D-0C72-8931FBA731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fr-FR" altLang="fr-FR"/>
              <a:t>Applications TCP/IP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53F7E9-391C-914D-BA9C-C98C81A8C8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489669-25C6-4817-A80E-089D716CC8F1}" type="slidenum">
              <a:rPr lang="fr-FR" altLang="fr-FR"/>
              <a:pPr/>
              <a:t>61</a:t>
            </a:fld>
            <a:endParaRPr lang="fr-FR" altLang="fr-FR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C2F6CF2F-C52C-09F3-3FF2-5DF8AB6A9EA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66800" y="869950"/>
            <a:ext cx="4611688" cy="3459163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378BCE0B-E815-5559-888C-A009A836DD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4705350"/>
            <a:ext cx="4943475" cy="4173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882" tIns="45941" rIns="91882" bIns="45941"/>
          <a:lstStyle/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r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2FB763-26BF-5246-B517-E0B1BDA25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538" y="192088"/>
            <a:ext cx="8162925" cy="14319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graphique 2">
            <a:extLst>
              <a:ext uri="{FF2B5EF4-FFF2-40B4-BE49-F238E27FC236}">
                <a16:creationId xmlns:a16="http://schemas.microsoft.com/office/drawing/2014/main" id="{F20AC9E4-7855-56D0-1A05-AE7A7D5A1D3C}"/>
              </a:ext>
            </a:extLst>
          </p:cNvPr>
          <p:cNvSpPr>
            <a:spLocks noGrp="1"/>
          </p:cNvSpPr>
          <p:nvPr>
            <p:ph type="chart" idx="1"/>
          </p:nvPr>
        </p:nvSpPr>
        <p:spPr>
          <a:xfrm>
            <a:off x="912813" y="1905000"/>
            <a:ext cx="8110537" cy="419100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8EFA50-EAD8-57C5-DD2C-8D091BE9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52525" y="62865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4A6E2FB-0106-4960-8B5E-091237DC99A6}" type="datetime1">
              <a:rPr lang="fr-FR" altLang="fr-FR"/>
              <a:pPr/>
              <a:t>28/11/2025</a:t>
            </a:fld>
            <a:endParaRPr lang="fr-FR" alt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35B0AC-9022-3962-EE83-DE965ACE7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0925" y="62865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00A543-E0AB-F938-35CA-AD74286E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2865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C1C8D5F-AE98-44D7-A143-EB7F520FB099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5892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/>
              <a:t>TCP/IP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0">
            <a:extLst>
              <a:ext uri="{FF2B5EF4-FFF2-40B4-BE49-F238E27FC236}">
                <a16:creationId xmlns:a16="http://schemas.microsoft.com/office/drawing/2014/main" id="{28DC1E6C-A0B8-BB7C-A299-1BF5F53DA72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Rectangle 71">
            <a:extLst>
              <a:ext uri="{FF2B5EF4-FFF2-40B4-BE49-F238E27FC236}">
                <a16:creationId xmlns:a16="http://schemas.microsoft.com/office/drawing/2014/main" id="{10C0E768-CCD7-6CB7-76F9-D9391C2DCC9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214684FB-798B-49BF-8584-14990FD0E04C}" type="slidenum">
              <a:rPr lang="fr-FR" altLang="fr-FR" smtClean="0"/>
              <a:pPr/>
              <a:t>2</a:t>
            </a:fld>
            <a:endParaRPr lang="fr-FR" altLang="fr-FR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864F6EA4-9CF3-F314-33F8-DF2516C5BE1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E248C4E-0868-E556-0651-7AC403E22FF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noFill/>
          <a:ln/>
        </p:spPr>
        <p:txBody>
          <a:bodyPr lIns="92075" tIns="46038" rIns="92075" bIns="46038"/>
          <a:lstStyle/>
          <a:p>
            <a:pPr marL="342900" indent="-342900"/>
            <a:r>
              <a:rPr lang="en-GB" altLang="fr-FR"/>
              <a:t>Transmission Control Protocol</a:t>
            </a:r>
          </a:p>
          <a:p>
            <a:pPr marL="342900" indent="-342900"/>
            <a:r>
              <a:rPr lang="en-GB" altLang="fr-FR"/>
              <a:t>/</a:t>
            </a:r>
          </a:p>
          <a:p>
            <a:pPr marL="342900" indent="-342900"/>
            <a:r>
              <a:rPr lang="en-GB" altLang="fr-FR"/>
              <a:t>Interconnection Protocol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8C996812-216F-F9DF-F61E-06C8148C9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CBD1CED-9178-1E26-4857-CE0D60CA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3</a:t>
            </a:fld>
            <a:endParaRPr lang="fr-FR" altLang="fr-FR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903AF990-BEF0-54B7-897B-11D6DB9F0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Protocoles TCP/IP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B1C57F3-59C1-B03F-4E6F-29BA8A570D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2057400"/>
            <a:ext cx="7772400" cy="41148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fr-FR" altLang="fr-FR"/>
              <a:t>Historique</a:t>
            </a:r>
          </a:p>
          <a:p>
            <a:pPr lvl="1">
              <a:lnSpc>
                <a:spcPct val="90000"/>
              </a:lnSpc>
            </a:pPr>
            <a:r>
              <a:rPr lang="fr-FR" altLang="fr-FR"/>
              <a:t>1972: spécifications de TCP/IP.</a:t>
            </a:r>
          </a:p>
          <a:p>
            <a:pPr lvl="1">
              <a:lnSpc>
                <a:spcPct val="90000"/>
              </a:lnSpc>
            </a:pPr>
            <a:r>
              <a:rPr lang="fr-FR" altLang="fr-FR"/>
              <a:t>1980: TCP/IP  fait partie d'UNIX BSD 4.1.</a:t>
            </a:r>
          </a:p>
          <a:p>
            <a:pPr>
              <a:lnSpc>
                <a:spcPct val="90000"/>
              </a:lnSpc>
            </a:pPr>
            <a:r>
              <a:rPr lang="fr-FR" altLang="fr-FR"/>
              <a:t>Internet/Intranet</a:t>
            </a:r>
          </a:p>
          <a:p>
            <a:pPr>
              <a:lnSpc>
                <a:spcPct val="90000"/>
              </a:lnSpc>
            </a:pPr>
            <a:r>
              <a:rPr lang="fr-FR" altLang="fr-FR"/>
              <a:t>Couches 3 et 4 du modèle OSI</a:t>
            </a:r>
          </a:p>
          <a:p>
            <a:pPr lvl="1">
              <a:lnSpc>
                <a:spcPct val="90000"/>
              </a:lnSpc>
            </a:pPr>
            <a:r>
              <a:rPr lang="fr-FR" altLang="fr-FR"/>
              <a:t>TCP : couche Transport</a:t>
            </a:r>
          </a:p>
          <a:p>
            <a:pPr lvl="1">
              <a:lnSpc>
                <a:spcPct val="90000"/>
              </a:lnSpc>
            </a:pPr>
            <a:r>
              <a:rPr lang="fr-FR" altLang="fr-FR"/>
              <a:t>IP : couche Réseau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156E786-92E3-3CC5-3864-2831CC111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A4E4D05-64B2-DDC2-A53A-8F086EFD5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DB312-0E53-4194-AE50-160A1EE3618F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979EDAFF-6619-421C-A973-3E3426C0BA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 sz="4000"/>
              <a:t>Modèles en couche </a:t>
            </a:r>
            <a:endParaRPr lang="fr-FR" altLang="fr-FR"/>
          </a:p>
        </p:txBody>
      </p:sp>
      <p:sp>
        <p:nvSpPr>
          <p:cNvPr id="14345" name="Rectangle 9">
            <a:extLst>
              <a:ext uri="{FF2B5EF4-FFF2-40B4-BE49-F238E27FC236}">
                <a16:creationId xmlns:a16="http://schemas.microsoft.com/office/drawing/2014/main" id="{360EAB5D-316E-9615-8C6D-54E8A0104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188" y="2600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/>
          </a:p>
        </p:txBody>
      </p:sp>
      <p:graphicFrame>
        <p:nvGraphicFramePr>
          <p:cNvPr id="14344" name="Object 8">
            <a:extLst>
              <a:ext uri="{FF2B5EF4-FFF2-40B4-BE49-F238E27FC236}">
                <a16:creationId xmlns:a16="http://schemas.microsoft.com/office/drawing/2014/main" id="{B67AAD62-6F82-2805-4BED-589EF9E61B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2438400"/>
          <a:ext cx="7720013" cy="331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857244" imgH="1658112" progId="Word.Picture.8">
                  <p:embed/>
                </p:oleObj>
              </mc:Choice>
              <mc:Fallback>
                <p:oleObj r:id="rId3" imgW="3857244" imgH="1658112" progId="Word.Picture.8">
                  <p:embed/>
                  <p:pic>
                    <p:nvPicPr>
                      <p:cNvPr id="14344" name="Object 8">
                        <a:extLst>
                          <a:ext uri="{FF2B5EF4-FFF2-40B4-BE49-F238E27FC236}">
                            <a16:creationId xmlns:a16="http://schemas.microsoft.com/office/drawing/2014/main" id="{B67AAD62-6F82-2805-4BED-589EF9E61B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438400"/>
                        <a:ext cx="7720013" cy="3316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FAA6FA7-8ED5-84F7-499B-870B0FD4D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662B415-2AE7-67A2-1010-39140C09C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5</a:t>
            </a:fld>
            <a:endParaRPr lang="fr-FR" altLang="fr-FR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1B34C110-B329-C105-826D-DF9F48F278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Les protocoles TCP et IP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D6B0803E-6237-C155-02BE-31A8D25AF3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fr-FR" altLang="fr-FR" sz="2800"/>
              <a:t>Protocole IP</a:t>
            </a:r>
          </a:p>
          <a:p>
            <a:pPr lvl="2"/>
            <a:r>
              <a:rPr lang="fr-FR" altLang="fr-FR" sz="2000"/>
              <a:t>protocole réseau</a:t>
            </a:r>
          </a:p>
          <a:p>
            <a:pPr lvl="2"/>
            <a:r>
              <a:rPr lang="fr-FR" altLang="fr-FR" sz="2000"/>
              <a:t>remise non fiable</a:t>
            </a:r>
          </a:p>
          <a:p>
            <a:pPr lvl="2"/>
            <a:r>
              <a:rPr lang="fr-FR" altLang="fr-FR" sz="2000"/>
              <a:t>mode non connecté</a:t>
            </a:r>
          </a:p>
          <a:p>
            <a:r>
              <a:rPr lang="fr-FR" altLang="fr-FR" sz="2800"/>
              <a:t>protocole TCP</a:t>
            </a:r>
          </a:p>
          <a:p>
            <a:pPr lvl="2"/>
            <a:r>
              <a:rPr lang="fr-FR" altLang="fr-FR" sz="2000"/>
              <a:t>protocole de transfert fiable en mode connecté</a:t>
            </a:r>
          </a:p>
          <a:p>
            <a:pPr lvl="2"/>
            <a:r>
              <a:rPr lang="fr-FR" altLang="fr-FR" sz="2000"/>
              <a:t>utile car IP est un protocole de remise non fiable</a:t>
            </a:r>
          </a:p>
          <a:p>
            <a:pPr lvl="2"/>
            <a:r>
              <a:rPr lang="fr-FR" altLang="fr-FR" sz="2000"/>
              <a:t>du style de la couche transport ISO classe 4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0333EC2-AEC3-6566-1AA6-C522C7AB1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1EB1FBB-22EB-6E95-31C2-4DF3D4907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6</a:t>
            </a:fld>
            <a:endParaRPr lang="fr-FR" altLang="fr-FR"/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2EE69A0A-C4F8-C328-43C8-B4C292427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fr-FR" altLang="fr-FR"/>
              <a:t>Adressage IP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F7D7F76C-192A-C14B-7C92-070DD72F0B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fr-FR" sz="2800"/>
              <a:t>Adressage sur 4 octets (147.210.94.1)</a:t>
            </a:r>
          </a:p>
          <a:p>
            <a:r>
              <a:rPr lang="fr-FR" altLang="fr-FR" sz="2800"/>
              <a:t>Classes de réseau</a:t>
            </a:r>
          </a:p>
          <a:p>
            <a:pPr lvl="3"/>
            <a:r>
              <a:rPr lang="fr-FR" altLang="fr-FR" sz="1800"/>
              <a:t>A: </a:t>
            </a:r>
            <a:r>
              <a:rPr lang="fr-FR" altLang="fr-FR" sz="1800">
                <a:solidFill>
                  <a:srgbClr val="0099FF"/>
                </a:solidFill>
              </a:rPr>
              <a:t>0</a:t>
            </a:r>
            <a:r>
              <a:rPr lang="fr-FR" altLang="fr-FR" sz="1800"/>
              <a:t>.0.0.0	</a:t>
            </a:r>
            <a:r>
              <a:rPr lang="fr-FR" altLang="fr-FR" sz="1800">
                <a:sym typeface="Symbol" panose="05050102010706020507" pitchFamily="18" charset="2"/>
              </a:rPr>
              <a:t>	</a:t>
            </a:r>
            <a:r>
              <a:rPr lang="fr-FR" altLang="fr-FR" sz="1800">
                <a:solidFill>
                  <a:srgbClr val="0099FF"/>
                </a:solidFill>
                <a:sym typeface="Symbol" panose="05050102010706020507" pitchFamily="18" charset="2"/>
              </a:rPr>
              <a:t>127</a:t>
            </a:r>
            <a:r>
              <a:rPr lang="fr-FR" altLang="fr-FR" sz="1800">
                <a:sym typeface="Symbol" panose="05050102010706020507" pitchFamily="18" charset="2"/>
              </a:rPr>
              <a:t>.255.255.255 (grand)</a:t>
            </a:r>
          </a:p>
          <a:p>
            <a:pPr lvl="4"/>
            <a:r>
              <a:rPr lang="fr-FR" altLang="fr-FR" sz="1800">
                <a:sym typeface="Symbol" panose="05050102010706020507" pitchFamily="18" charset="2"/>
              </a:rPr>
              <a:t>[</a:t>
            </a:r>
            <a:r>
              <a:rPr lang="fr-FR" altLang="fr-FR" sz="1800" b="1">
                <a:solidFill>
                  <a:srgbClr val="FF9900"/>
                </a:solidFill>
                <a:sym typeface="Symbol" panose="05050102010706020507" pitchFamily="18" charset="2"/>
              </a:rPr>
              <a:t>0</a:t>
            </a:r>
            <a:r>
              <a:rPr lang="fr-FR" altLang="fr-FR" sz="1800">
                <a:sym typeface="Symbol" panose="05050102010706020507" pitchFamily="18" charset="2"/>
              </a:rPr>
              <a:t> </a:t>
            </a:r>
            <a:r>
              <a:rPr lang="fr-FR" altLang="fr-FR" sz="1800">
                <a:solidFill>
                  <a:srgbClr val="0099FF"/>
                </a:solidFill>
                <a:sym typeface="Symbol" panose="05050102010706020507" pitchFamily="18" charset="2"/>
              </a:rPr>
              <a:t>Id. Réseau (7bits)</a:t>
            </a:r>
            <a:r>
              <a:rPr lang="fr-FR" altLang="fr-FR" sz="1800">
                <a:sym typeface="Symbol" panose="05050102010706020507" pitchFamily="18" charset="2"/>
              </a:rPr>
              <a:t> Id. Machine (24bits)]</a:t>
            </a:r>
          </a:p>
          <a:p>
            <a:pPr lvl="3"/>
            <a:r>
              <a:rPr lang="fr-FR" altLang="fr-FR" sz="1800"/>
              <a:t>B: </a:t>
            </a:r>
            <a:r>
              <a:rPr lang="fr-FR" altLang="fr-FR" sz="1800">
                <a:solidFill>
                  <a:srgbClr val="0099FF"/>
                </a:solidFill>
              </a:rPr>
              <a:t>128</a:t>
            </a:r>
            <a:r>
              <a:rPr lang="fr-FR" altLang="fr-FR" sz="1800"/>
              <a:t>.</a:t>
            </a:r>
            <a:r>
              <a:rPr lang="fr-FR" altLang="fr-FR" sz="1800">
                <a:solidFill>
                  <a:srgbClr val="0099FF"/>
                </a:solidFill>
              </a:rPr>
              <a:t>0</a:t>
            </a:r>
            <a:r>
              <a:rPr lang="fr-FR" altLang="fr-FR" sz="1800"/>
              <a:t>.0.0	</a:t>
            </a:r>
            <a:r>
              <a:rPr lang="fr-FR" altLang="fr-FR" sz="1800">
                <a:sym typeface="Symbol" panose="05050102010706020507" pitchFamily="18" charset="2"/>
              </a:rPr>
              <a:t>	</a:t>
            </a:r>
            <a:r>
              <a:rPr lang="fr-FR" altLang="fr-FR" sz="1800">
                <a:solidFill>
                  <a:srgbClr val="0099FF"/>
                </a:solidFill>
                <a:sym typeface="Symbol" panose="05050102010706020507" pitchFamily="18" charset="2"/>
              </a:rPr>
              <a:t>191</a:t>
            </a:r>
            <a:r>
              <a:rPr lang="fr-FR" altLang="fr-FR" sz="1800">
                <a:sym typeface="Symbol" panose="05050102010706020507" pitchFamily="18" charset="2"/>
              </a:rPr>
              <a:t>.</a:t>
            </a:r>
            <a:r>
              <a:rPr lang="fr-FR" altLang="fr-FR" sz="1800">
                <a:solidFill>
                  <a:srgbClr val="0099FF"/>
                </a:solidFill>
                <a:sym typeface="Symbol" panose="05050102010706020507" pitchFamily="18" charset="2"/>
              </a:rPr>
              <a:t>255</a:t>
            </a:r>
            <a:r>
              <a:rPr lang="fr-FR" altLang="fr-FR" sz="1800">
                <a:sym typeface="Symbol" panose="05050102010706020507" pitchFamily="18" charset="2"/>
              </a:rPr>
              <a:t>.255.255 (moyen)</a:t>
            </a:r>
          </a:p>
          <a:p>
            <a:pPr lvl="4"/>
            <a:r>
              <a:rPr lang="fr-FR" altLang="fr-FR" sz="1800">
                <a:sym typeface="Symbol" panose="05050102010706020507" pitchFamily="18" charset="2"/>
              </a:rPr>
              <a:t>[</a:t>
            </a:r>
            <a:r>
              <a:rPr lang="fr-FR" altLang="fr-FR" sz="1800" b="1">
                <a:solidFill>
                  <a:srgbClr val="FF9900"/>
                </a:solidFill>
                <a:sym typeface="Symbol" panose="05050102010706020507" pitchFamily="18" charset="2"/>
              </a:rPr>
              <a:t>1 0</a:t>
            </a:r>
            <a:r>
              <a:rPr lang="fr-FR" altLang="fr-FR" sz="1800">
                <a:sym typeface="Symbol" panose="05050102010706020507" pitchFamily="18" charset="2"/>
              </a:rPr>
              <a:t> </a:t>
            </a:r>
            <a:r>
              <a:rPr lang="fr-FR" altLang="fr-FR" sz="1800">
                <a:solidFill>
                  <a:srgbClr val="0099FF"/>
                </a:solidFill>
                <a:sym typeface="Symbol" panose="05050102010706020507" pitchFamily="18" charset="2"/>
              </a:rPr>
              <a:t>Id. Réseau (14bits)</a:t>
            </a:r>
            <a:r>
              <a:rPr lang="fr-FR" altLang="fr-FR" sz="1800">
                <a:sym typeface="Symbol" panose="05050102010706020507" pitchFamily="18" charset="2"/>
              </a:rPr>
              <a:t> Id. Machine (16bits)]</a:t>
            </a:r>
          </a:p>
          <a:p>
            <a:pPr lvl="3"/>
            <a:r>
              <a:rPr lang="fr-FR" altLang="fr-FR" sz="1800"/>
              <a:t>C: </a:t>
            </a:r>
            <a:r>
              <a:rPr lang="fr-FR" altLang="fr-FR" sz="1800">
                <a:solidFill>
                  <a:srgbClr val="0099FF"/>
                </a:solidFill>
              </a:rPr>
              <a:t>192</a:t>
            </a:r>
            <a:r>
              <a:rPr lang="fr-FR" altLang="fr-FR" sz="1800"/>
              <a:t>.</a:t>
            </a:r>
            <a:r>
              <a:rPr lang="fr-FR" altLang="fr-FR" sz="1800">
                <a:solidFill>
                  <a:srgbClr val="0099FF"/>
                </a:solidFill>
              </a:rPr>
              <a:t>0</a:t>
            </a:r>
            <a:r>
              <a:rPr lang="fr-FR" altLang="fr-FR" sz="1800"/>
              <a:t>.</a:t>
            </a:r>
            <a:r>
              <a:rPr lang="fr-FR" altLang="fr-FR" sz="1800">
                <a:solidFill>
                  <a:srgbClr val="0099FF"/>
                </a:solidFill>
              </a:rPr>
              <a:t>0</a:t>
            </a:r>
            <a:r>
              <a:rPr lang="fr-FR" altLang="fr-FR" sz="1800"/>
              <a:t>.0	</a:t>
            </a:r>
            <a:r>
              <a:rPr lang="fr-FR" altLang="fr-FR" sz="1800">
                <a:sym typeface="Symbol" panose="05050102010706020507" pitchFamily="18" charset="2"/>
              </a:rPr>
              <a:t>	</a:t>
            </a:r>
            <a:r>
              <a:rPr lang="fr-FR" altLang="fr-FR" sz="1800">
                <a:solidFill>
                  <a:srgbClr val="0099FF"/>
                </a:solidFill>
                <a:sym typeface="Symbol" panose="05050102010706020507" pitchFamily="18" charset="2"/>
              </a:rPr>
              <a:t>223</a:t>
            </a:r>
            <a:r>
              <a:rPr lang="fr-FR" altLang="fr-FR" sz="1800">
                <a:sym typeface="Symbol" panose="05050102010706020507" pitchFamily="18" charset="2"/>
              </a:rPr>
              <a:t>.</a:t>
            </a:r>
            <a:r>
              <a:rPr lang="fr-FR" altLang="fr-FR" sz="1800">
                <a:solidFill>
                  <a:srgbClr val="0099FF"/>
                </a:solidFill>
                <a:sym typeface="Symbol" panose="05050102010706020507" pitchFamily="18" charset="2"/>
              </a:rPr>
              <a:t>255</a:t>
            </a:r>
            <a:r>
              <a:rPr lang="fr-FR" altLang="fr-FR" sz="1800">
                <a:sym typeface="Symbol" panose="05050102010706020507" pitchFamily="18" charset="2"/>
              </a:rPr>
              <a:t>.</a:t>
            </a:r>
            <a:r>
              <a:rPr lang="fr-FR" altLang="fr-FR" sz="1800">
                <a:solidFill>
                  <a:srgbClr val="0099FF"/>
                </a:solidFill>
                <a:sym typeface="Symbol" panose="05050102010706020507" pitchFamily="18" charset="2"/>
              </a:rPr>
              <a:t>255</a:t>
            </a:r>
            <a:r>
              <a:rPr lang="fr-FR" altLang="fr-FR" sz="1800">
                <a:sym typeface="Symbol" panose="05050102010706020507" pitchFamily="18" charset="2"/>
              </a:rPr>
              <a:t>.255 (petit)</a:t>
            </a:r>
          </a:p>
          <a:p>
            <a:pPr lvl="4"/>
            <a:r>
              <a:rPr lang="fr-FR" altLang="fr-FR" sz="1800">
                <a:sym typeface="Symbol" panose="05050102010706020507" pitchFamily="18" charset="2"/>
              </a:rPr>
              <a:t>[</a:t>
            </a:r>
            <a:r>
              <a:rPr lang="fr-FR" altLang="fr-FR" sz="1800" b="1">
                <a:solidFill>
                  <a:srgbClr val="FF9900"/>
                </a:solidFill>
                <a:sym typeface="Symbol" panose="05050102010706020507" pitchFamily="18" charset="2"/>
              </a:rPr>
              <a:t>1 1 0</a:t>
            </a:r>
            <a:r>
              <a:rPr lang="fr-FR" altLang="fr-FR" sz="1800">
                <a:sym typeface="Symbol" panose="05050102010706020507" pitchFamily="18" charset="2"/>
              </a:rPr>
              <a:t> </a:t>
            </a:r>
            <a:r>
              <a:rPr lang="fr-FR" altLang="fr-FR" sz="1800">
                <a:solidFill>
                  <a:srgbClr val="0099FF"/>
                </a:solidFill>
                <a:sym typeface="Symbol" panose="05050102010706020507" pitchFamily="18" charset="2"/>
              </a:rPr>
              <a:t>Id. Réseau (21bits)</a:t>
            </a:r>
            <a:r>
              <a:rPr lang="fr-FR" altLang="fr-FR" sz="1800">
                <a:sym typeface="Symbol" panose="05050102010706020507" pitchFamily="18" charset="2"/>
              </a:rPr>
              <a:t> Id. Machine (8bits)]</a:t>
            </a:r>
          </a:p>
          <a:p>
            <a:r>
              <a:rPr lang="fr-FR" altLang="fr-FR" sz="2800">
                <a:sym typeface="Symbol" panose="05050102010706020507" pitchFamily="18" charset="2"/>
              </a:rPr>
              <a:t>Adresses particulières</a:t>
            </a:r>
            <a:r>
              <a:rPr lang="fr-FR" altLang="fr-FR" sz="2800"/>
              <a:t> 				</a:t>
            </a:r>
          </a:p>
          <a:p>
            <a:pPr lvl="3"/>
            <a:r>
              <a:rPr lang="fr-FR" altLang="fr-FR" sz="1800"/>
              <a:t>224.0.0.0</a:t>
            </a:r>
            <a:r>
              <a:rPr lang="fr-FR" altLang="fr-FR" sz="1800">
                <a:sym typeface="Symbol" panose="05050102010706020507" pitchFamily="18" charset="2"/>
              </a:rPr>
              <a:t>239.255.255.255 (diffusion)</a:t>
            </a:r>
          </a:p>
          <a:p>
            <a:pPr lvl="3"/>
            <a:r>
              <a:rPr lang="fr-FR" altLang="fr-FR" sz="1800"/>
              <a:t>240.0.0.0</a:t>
            </a:r>
            <a:r>
              <a:rPr lang="fr-FR" altLang="fr-FR" sz="1800">
                <a:sym typeface="Symbol" panose="05050102010706020507" pitchFamily="18" charset="2"/>
              </a:rPr>
              <a:t>255.255.255.255 (divers)</a:t>
            </a:r>
            <a:endParaRPr lang="fr-FR" altLang="fr-FR" sz="1800"/>
          </a:p>
          <a:p>
            <a:endParaRPr lang="fr-FR" altLang="fr-FR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951D29F-D1E9-F6B6-5B91-429C35F2B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C77C593-086F-EED3-5BDC-F0FD27AB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7</a:t>
            </a:fld>
            <a:endParaRPr lang="fr-FR" altLang="fr-FR"/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87DC63AD-3DAB-7D5E-A538-2E4C168F3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fr-FR" altLang="fr-FR"/>
              <a:t>Adressage IP (suite)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8EFEDA3A-DF00-ACA1-E6F6-1598CE2E7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fr-FR"/>
              <a:t>Dans chaque classe, une poignée d’adresses sont </a:t>
            </a:r>
            <a:r>
              <a:rPr lang="fr-FR" altLang="fr-FR" b="1"/>
              <a:t>privées</a:t>
            </a:r>
            <a:r>
              <a:rPr lang="fr-FR" altLang="fr-FR"/>
              <a:t> :</a:t>
            </a:r>
          </a:p>
          <a:p>
            <a:pPr lvl="1"/>
            <a:r>
              <a:rPr lang="fr-FR" altLang="fr-FR">
                <a:solidFill>
                  <a:srgbClr val="0099FF"/>
                </a:solidFill>
              </a:rPr>
              <a:t>10</a:t>
            </a:r>
            <a:r>
              <a:rPr lang="fr-FR" altLang="fr-FR"/>
              <a:t>.0.0.1 à </a:t>
            </a:r>
            <a:r>
              <a:rPr lang="fr-FR" altLang="fr-FR">
                <a:solidFill>
                  <a:srgbClr val="0099FF"/>
                </a:solidFill>
              </a:rPr>
              <a:t>10</a:t>
            </a:r>
            <a:r>
              <a:rPr lang="fr-FR" altLang="fr-FR"/>
              <a:t>.255.255.254 </a:t>
            </a:r>
          </a:p>
          <a:p>
            <a:pPr lvl="1"/>
            <a:r>
              <a:rPr lang="fr-FR" altLang="fr-FR">
                <a:solidFill>
                  <a:srgbClr val="0099FF"/>
                </a:solidFill>
              </a:rPr>
              <a:t>172.16</a:t>
            </a:r>
            <a:r>
              <a:rPr lang="fr-FR" altLang="fr-FR"/>
              <a:t>.0.1 à </a:t>
            </a:r>
            <a:r>
              <a:rPr lang="fr-FR" altLang="fr-FR">
                <a:solidFill>
                  <a:srgbClr val="0099FF"/>
                </a:solidFill>
              </a:rPr>
              <a:t>172.31</a:t>
            </a:r>
            <a:r>
              <a:rPr lang="fr-FR" altLang="fr-FR"/>
              <a:t>.255.254 </a:t>
            </a:r>
          </a:p>
          <a:p>
            <a:pPr lvl="1"/>
            <a:r>
              <a:rPr lang="fr-FR" altLang="fr-FR">
                <a:solidFill>
                  <a:srgbClr val="0099FF"/>
                </a:solidFill>
              </a:rPr>
              <a:t>192.168.0</a:t>
            </a:r>
            <a:r>
              <a:rPr lang="fr-FR" altLang="fr-FR"/>
              <a:t>.1 à </a:t>
            </a:r>
            <a:r>
              <a:rPr lang="fr-FR" altLang="fr-FR">
                <a:solidFill>
                  <a:srgbClr val="0099FF"/>
                </a:solidFill>
              </a:rPr>
              <a:t>192.168.255</a:t>
            </a:r>
            <a:r>
              <a:rPr lang="fr-FR" altLang="fr-FR"/>
              <a:t>.254 </a:t>
            </a:r>
          </a:p>
          <a:p>
            <a:pPr lvl="1">
              <a:buFont typeface="Wingdings" panose="05000000000000000000" pitchFamily="2" charset="2"/>
              <a:buNone/>
            </a:pPr>
            <a:endParaRPr lang="fr-FR" alt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1B9AF30-63FF-42E0-94E8-B8ACC88F3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55D7932-2A79-678D-D507-23F630B3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36378-6114-4306-AF6E-3A7DBFCD2CC6}" type="slidenum">
              <a:rPr lang="fr-FR" altLang="fr-FR"/>
              <a:pPr/>
              <a:t>8</a:t>
            </a:fld>
            <a:endParaRPr lang="fr-FR" altLang="fr-FR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09E8D433-8F94-55EC-AB69-B36AB3460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Schéma d'une interconnexion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CE162C19-EB32-A00F-17AC-1D1A1856A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257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/>
          </a:p>
        </p:txBody>
      </p:sp>
      <p:graphicFrame>
        <p:nvGraphicFramePr>
          <p:cNvPr id="12293" name="Object 5">
            <a:extLst>
              <a:ext uri="{FF2B5EF4-FFF2-40B4-BE49-F238E27FC236}">
                <a16:creationId xmlns:a16="http://schemas.microsoft.com/office/drawing/2014/main" id="{6A1CD1C2-9C8F-D39C-9442-1D0A6CF8F2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2514600"/>
          <a:ext cx="8709025" cy="306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838700" imgH="1704975" progId="MSDraw.Drawing.8.2">
                  <p:embed/>
                </p:oleObj>
              </mc:Choice>
              <mc:Fallback>
                <p:oleObj r:id="rId3" imgW="4838700" imgH="1704975" progId="MSDraw.Drawing.8.2">
                  <p:embed/>
                  <p:pic>
                    <p:nvPicPr>
                      <p:cNvPr id="12293" name="Object 5">
                        <a:extLst>
                          <a:ext uri="{FF2B5EF4-FFF2-40B4-BE49-F238E27FC236}">
                            <a16:creationId xmlns:a16="http://schemas.microsoft.com/office/drawing/2014/main" id="{6A1CD1C2-9C8F-D39C-9442-1D0A6CF8F2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14600"/>
                        <a:ext cx="8709025" cy="306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5CFA70F-F688-85E3-A5E4-F7AE97783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1AE7067-7D39-D308-51CC-4C1364FFD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9</a:t>
            </a:fld>
            <a:endParaRPr lang="fr-FR" altLang="fr-FR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27511463-60F5-6859-70F9-05531E251E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Résolution d'adresse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C7EACAD-AEA7-E92B-5BD2-8DB61551D7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fr-FR" altLang="fr-FR" sz="2800"/>
              <a:t>Chaque machine a :</a:t>
            </a:r>
          </a:p>
          <a:p>
            <a:pPr lvl="1"/>
            <a:r>
              <a:rPr lang="fr-FR" altLang="fr-FR" sz="2400"/>
              <a:t>adresse physique dans son réseau</a:t>
            </a:r>
          </a:p>
          <a:p>
            <a:pPr lvl="1"/>
            <a:r>
              <a:rPr lang="fr-FR" altLang="fr-FR" sz="2400"/>
              <a:t>adresse IP au niveau interconnexion</a:t>
            </a:r>
          </a:p>
          <a:p>
            <a:pPr lvl="1"/>
            <a:endParaRPr lang="fr-FR" altLang="fr-FR" sz="2400"/>
          </a:p>
          <a:p>
            <a:r>
              <a:rPr lang="fr-FR" altLang="fr-FR" sz="2800"/>
              <a:t>correspondance entre les 2 adresses</a:t>
            </a:r>
          </a:p>
          <a:p>
            <a:pPr lvl="1"/>
            <a:r>
              <a:rPr lang="fr-FR" altLang="fr-FR" sz="2400"/>
              <a:t>directe</a:t>
            </a:r>
          </a:p>
          <a:p>
            <a:pPr lvl="1"/>
            <a:r>
              <a:rPr lang="fr-FR" altLang="fr-FR" sz="2400"/>
              <a:t>protocole ARP (Address Resolution Protocol)</a:t>
            </a:r>
          </a:p>
          <a:p>
            <a:pPr lvl="2"/>
            <a:r>
              <a:rPr lang="fr-FR" altLang="fr-FR" sz="2000"/>
              <a:t>table de correspondance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02F717E-547A-A17B-8DCD-669C558A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F9478DE-37E4-B176-9754-49A0AF53D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10</a:t>
            </a:fld>
            <a:endParaRPr lang="fr-FR" altLang="fr-FR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FE448C45-ED94-8AB1-4CE6-8D60F61743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Résolution d'adresse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5DD6C2D2-0629-16BF-E7A0-1C86D93BF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2386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/>
          </a:p>
        </p:txBody>
      </p:sp>
      <p:graphicFrame>
        <p:nvGraphicFramePr>
          <p:cNvPr id="22533" name="Object 5">
            <a:extLst>
              <a:ext uri="{FF2B5EF4-FFF2-40B4-BE49-F238E27FC236}">
                <a16:creationId xmlns:a16="http://schemas.microsoft.com/office/drawing/2014/main" id="{92033A9F-E5EA-6E58-3F9B-628925E265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625" y="2143125"/>
          <a:ext cx="8080375" cy="425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ssin Microsoft Draw" r:id="rId3" imgW="3729600" imgH="2127240" progId="MSDraw.Drawing.8.2">
                  <p:embed/>
                </p:oleObj>
              </mc:Choice>
              <mc:Fallback>
                <p:oleObj name="Dessin Microsoft Draw" r:id="rId3" imgW="3729600" imgH="2127240" progId="MSDraw.Drawing.8.2">
                  <p:embed/>
                  <p:pic>
                    <p:nvPicPr>
                      <p:cNvPr id="22533" name="Object 5">
                        <a:extLst>
                          <a:ext uri="{FF2B5EF4-FFF2-40B4-BE49-F238E27FC236}">
                            <a16:creationId xmlns:a16="http://schemas.microsoft.com/office/drawing/2014/main" id="{92033A9F-E5EA-6E58-3F9B-628925E26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" y="2143125"/>
                        <a:ext cx="8080375" cy="425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32F269B3-83AF-9799-B029-13DD7C257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0FDDD2A-0100-905A-5690-D3BD9EF83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8F1FC-84B5-4D25-9202-8F2F5833F94D}" type="slidenum">
              <a:rPr lang="fr-FR" altLang="fr-FR"/>
              <a:pPr/>
              <a:t>11</a:t>
            </a:fld>
            <a:endParaRPr lang="fr-FR" altLang="fr-FR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9A9126B7-7F9C-17B5-19AE-70A3454A81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Protocole IP</a:t>
            </a:r>
            <a:br>
              <a:rPr lang="fr-FR" altLang="fr-FR"/>
            </a:br>
            <a:r>
              <a:rPr lang="fr-FR" altLang="fr-FR"/>
              <a:t>Datagramme IP</a:t>
            </a:r>
          </a:p>
        </p:txBody>
      </p:sp>
      <p:graphicFrame>
        <p:nvGraphicFramePr>
          <p:cNvPr id="34819" name="Object 3">
            <a:extLst>
              <a:ext uri="{FF2B5EF4-FFF2-40B4-BE49-F238E27FC236}">
                <a16:creationId xmlns:a16="http://schemas.microsoft.com/office/drawing/2014/main" id="{513C6FCE-4116-22DF-EC4E-ED579D738AD2}"/>
              </a:ext>
            </a:extLst>
          </p:cNvPr>
          <p:cNvGraphicFramePr>
            <a:graphicFrameLocks noGrp="1" noChangeAspect="1"/>
          </p:cNvGraphicFramePr>
          <p:nvPr>
            <p:ph type="chart" idx="1"/>
          </p:nvPr>
        </p:nvGraphicFramePr>
        <p:xfrm>
          <a:off x="222250" y="2190750"/>
          <a:ext cx="8890000" cy="365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283720" imgH="2176200" progId="Word.Document.8">
                  <p:embed/>
                </p:oleObj>
              </mc:Choice>
              <mc:Fallback>
                <p:oleObj name="Document" r:id="rId3" imgW="5283720" imgH="2176200" progId="Word.Document.8">
                  <p:embed/>
                  <p:pic>
                    <p:nvPicPr>
                      <p:cNvPr id="34819" name="Object 3">
                        <a:extLst>
                          <a:ext uri="{FF2B5EF4-FFF2-40B4-BE49-F238E27FC236}">
                            <a16:creationId xmlns:a16="http://schemas.microsoft.com/office/drawing/2014/main" id="{513C6FCE-4116-22DF-EC4E-ED579D738A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" y="2190750"/>
                        <a:ext cx="8890000" cy="365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9E798B4-430A-C349-A0A5-EE7946AB8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95C8D0C-5380-56DD-3258-314BC048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12</a:t>
            </a:fld>
            <a:endParaRPr lang="fr-FR" altLang="fr-FR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B9A7EFEA-85B2-DCEA-7804-2E4F05C78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Datagramme IP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266F27E-540F-375A-3FBA-85EC6C0B22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648200"/>
          </a:xfrm>
          <a:noFill/>
          <a:ln/>
        </p:spPr>
        <p:txBody>
          <a:bodyPr lIns="92075" tIns="46038" rIns="92075" bIns="46038"/>
          <a:lstStyle/>
          <a:p>
            <a:pPr lvl="2">
              <a:lnSpc>
                <a:spcPct val="90000"/>
              </a:lnSpc>
            </a:pPr>
            <a:r>
              <a:rPr lang="fr-FR" altLang="fr-FR"/>
              <a:t>VERS</a:t>
            </a:r>
          </a:p>
          <a:p>
            <a:pPr lvl="3">
              <a:lnSpc>
                <a:spcPct val="90000"/>
              </a:lnSpc>
            </a:pPr>
            <a:r>
              <a:rPr lang="fr-FR" altLang="fr-FR"/>
              <a:t>numéro de version du protocole utilisé (4)</a:t>
            </a:r>
          </a:p>
          <a:p>
            <a:pPr lvl="2">
              <a:lnSpc>
                <a:spcPct val="90000"/>
              </a:lnSpc>
            </a:pPr>
            <a:r>
              <a:rPr lang="fr-FR" altLang="fr-FR"/>
              <a:t>LGENT</a:t>
            </a:r>
          </a:p>
          <a:p>
            <a:pPr lvl="3">
              <a:lnSpc>
                <a:spcPct val="90000"/>
              </a:lnSpc>
            </a:pPr>
            <a:r>
              <a:rPr lang="fr-FR" altLang="fr-FR"/>
              <a:t>longueur de l'entête du datagramme</a:t>
            </a:r>
          </a:p>
          <a:p>
            <a:pPr lvl="2">
              <a:lnSpc>
                <a:spcPct val="90000"/>
              </a:lnSpc>
            </a:pPr>
            <a:r>
              <a:rPr lang="fr-FR" altLang="fr-FR"/>
              <a:t>TYPE SERVICE</a:t>
            </a:r>
          </a:p>
          <a:p>
            <a:pPr lvl="3">
              <a:lnSpc>
                <a:spcPct val="90000"/>
              </a:lnSpc>
            </a:pPr>
            <a:r>
              <a:rPr lang="fr-FR" altLang="fr-FR"/>
              <a:t>définit comment le datagramme doit être acheminé</a:t>
            </a:r>
          </a:p>
          <a:p>
            <a:pPr lvl="4">
              <a:lnSpc>
                <a:spcPct val="90000"/>
              </a:lnSpc>
            </a:pPr>
            <a:r>
              <a:rPr lang="fr-FR" altLang="fr-FR"/>
              <a:t>priorité (0 à 7)</a:t>
            </a:r>
          </a:p>
          <a:p>
            <a:pPr lvl="4">
              <a:lnSpc>
                <a:spcPct val="90000"/>
              </a:lnSpc>
            </a:pPr>
            <a:r>
              <a:rPr lang="fr-FR" altLang="fr-FR"/>
              <a:t>priorité au délai</a:t>
            </a:r>
          </a:p>
          <a:p>
            <a:pPr lvl="4">
              <a:lnSpc>
                <a:spcPct val="90000"/>
              </a:lnSpc>
            </a:pPr>
            <a:r>
              <a:rPr lang="fr-FR" altLang="fr-FR"/>
              <a:t>priorité au débit</a:t>
            </a:r>
          </a:p>
          <a:p>
            <a:pPr lvl="4">
              <a:lnSpc>
                <a:spcPct val="90000"/>
              </a:lnSpc>
            </a:pPr>
            <a:r>
              <a:rPr lang="fr-FR" altLang="fr-FR"/>
              <a:t>priorité à la fiabilité</a:t>
            </a:r>
          </a:p>
          <a:p>
            <a:pPr lvl="2">
              <a:lnSpc>
                <a:spcPct val="90000"/>
              </a:lnSpc>
            </a:pPr>
            <a:r>
              <a:rPr lang="fr-FR" altLang="fr-FR"/>
              <a:t>LGR</a:t>
            </a:r>
          </a:p>
          <a:p>
            <a:pPr lvl="3">
              <a:lnSpc>
                <a:spcPct val="90000"/>
              </a:lnSpc>
            </a:pPr>
            <a:r>
              <a:rPr lang="fr-FR" altLang="fr-FR"/>
              <a:t>longueur total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0BABF6A-DB75-C1F7-73DD-7FECBEB87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2322201-8D24-1D7B-C370-FF32C60AA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13</a:t>
            </a:fld>
            <a:endParaRPr lang="fr-FR" altLang="fr-FR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73C2937D-6BB9-F1AA-1305-6B3493684F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Datagramme IP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C618D94-0486-6EBD-ADA2-9497C071C5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pPr lvl="2">
              <a:lnSpc>
                <a:spcPct val="90000"/>
              </a:lnSpc>
            </a:pPr>
            <a:r>
              <a:rPr lang="fr-FR" altLang="fr-FR"/>
              <a:t>IDENTIFICATION, DRAP, DEPL-FRAG</a:t>
            </a:r>
          </a:p>
          <a:p>
            <a:pPr lvl="4">
              <a:lnSpc>
                <a:spcPct val="90000"/>
              </a:lnSpc>
            </a:pPr>
            <a:r>
              <a:rPr lang="fr-FR" altLang="fr-FR" sz="1800"/>
              <a:t>contrôle la fragmentation</a:t>
            </a:r>
          </a:p>
          <a:p>
            <a:pPr lvl="4">
              <a:lnSpc>
                <a:spcPct val="90000"/>
              </a:lnSpc>
            </a:pPr>
            <a:r>
              <a:rPr lang="fr-FR" altLang="fr-FR" sz="1800"/>
              <a:t>IDENTIFICATION permet de connaître le datagramme auquel appartient le fragment. </a:t>
            </a:r>
          </a:p>
          <a:p>
            <a:pPr lvl="4">
              <a:lnSpc>
                <a:spcPct val="90000"/>
              </a:lnSpc>
            </a:pPr>
            <a:r>
              <a:rPr lang="fr-FR" altLang="fr-FR" sz="1800"/>
              <a:t>DEPL-FRAG donne la position du fragment courant dans le datagramme initial en multiples de 8 octets. </a:t>
            </a:r>
          </a:p>
          <a:p>
            <a:pPr lvl="4">
              <a:lnSpc>
                <a:spcPct val="90000"/>
              </a:lnSpc>
            </a:pPr>
            <a:r>
              <a:rPr lang="fr-FR" altLang="fr-FR" sz="1800"/>
              <a:t>DRAP indique si le fragment est le dernier du datagramme.</a:t>
            </a:r>
          </a:p>
          <a:p>
            <a:pPr lvl="2">
              <a:lnSpc>
                <a:spcPct val="90000"/>
              </a:lnSpc>
            </a:pPr>
            <a:r>
              <a:rPr lang="fr-FR" altLang="fr-FR"/>
              <a:t>DUREE DE VIE</a:t>
            </a:r>
          </a:p>
          <a:p>
            <a:pPr lvl="4">
              <a:lnSpc>
                <a:spcPct val="90000"/>
              </a:lnSpc>
            </a:pPr>
            <a:r>
              <a:rPr lang="fr-FR" altLang="fr-FR" sz="1800"/>
              <a:t>décrémenté à chaque traversée, détruit si égal à 0.</a:t>
            </a:r>
          </a:p>
          <a:p>
            <a:pPr lvl="2">
              <a:lnSpc>
                <a:spcPct val="90000"/>
              </a:lnSpc>
            </a:pPr>
            <a:r>
              <a:rPr lang="fr-FR" altLang="fr-FR"/>
              <a:t>PROTOCOLE</a:t>
            </a:r>
          </a:p>
          <a:p>
            <a:pPr lvl="4">
              <a:lnSpc>
                <a:spcPct val="90000"/>
              </a:lnSpc>
            </a:pPr>
            <a:r>
              <a:rPr lang="fr-FR" altLang="fr-FR" sz="1800"/>
              <a:t>protocole de la couche supérieure qui a créé le datagramme,</a:t>
            </a:r>
          </a:p>
          <a:p>
            <a:pPr>
              <a:lnSpc>
                <a:spcPct val="90000"/>
              </a:lnSpc>
            </a:pPr>
            <a:endParaRPr lang="fr-FR" altLang="fr-FR" sz="280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B533DBCA-8E42-F1F7-EBED-6A300B23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F2B2C2B-E064-8CE3-4E80-1E6DE6950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14</a:t>
            </a:fld>
            <a:endParaRPr lang="fr-FR" altLang="fr-FR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1CC09D9B-16E6-1E06-5724-F0AA941220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Numéros de protocole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10510DF-B479-E438-6EFA-58FAA89D2B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fr-FR" altLang="fr-FR"/>
              <a:t>$  more /etc/protocols                            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altLang="fr-FR" sz="1400" b="1">
                <a:latin typeface="Courier New" panose="02070309020205020404" pitchFamily="49" charset="0"/>
              </a:rPr>
              <a:t># The form for each entry is:                                      # 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altLang="fr-FR" sz="1400" b="1">
                <a:latin typeface="Courier New" panose="02070309020205020404" pitchFamily="49" charset="0"/>
              </a:rPr>
              <a:t>&lt;official protocol name&gt;&lt;protocol number&gt;&lt;aliases&gt;                 # 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altLang="fr-FR" sz="1400" b="1">
                <a:latin typeface="Courier New" panose="02070309020205020404" pitchFamily="49" charset="0"/>
              </a:rPr>
              <a:t>Internet (IP) protocols                                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altLang="fr-FR" sz="1400" b="1">
                <a:latin typeface="Courier New" panose="02070309020205020404" pitchFamily="49" charset="0"/>
              </a:rPr>
              <a:t>icmp    1       ICMP    	# internet control message protocol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altLang="fr-FR" sz="1400" b="1">
                <a:latin typeface="Courier New" panose="02070309020205020404" pitchFamily="49" charset="0"/>
              </a:rPr>
              <a:t>tcp     6       TCP     	# transmission control protocol  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altLang="fr-FR" sz="1400" b="1">
                <a:latin typeface="Courier New" panose="02070309020205020404" pitchFamily="49" charset="0"/>
              </a:rPr>
              <a:t>udp     17      UDP     	# user datagram protocol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A0FCDCE5-8704-F981-C72B-377C843E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591C5D7-18B9-D01E-9931-6BBA39B19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15</a:t>
            </a:fld>
            <a:endParaRPr lang="fr-FR" altLang="fr-FR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955AA3CC-198E-7311-F93E-56F8336D78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pPr algn="ctr"/>
            <a:r>
              <a:rPr lang="fr-FR" altLang="fr-FR" sz="4000"/>
              <a:t>Routage des datagrammes IP</a:t>
            </a:r>
          </a:p>
        </p:txBody>
      </p:sp>
      <p:graphicFrame>
        <p:nvGraphicFramePr>
          <p:cNvPr id="36867" name="Object 3">
            <a:extLst>
              <a:ext uri="{FF2B5EF4-FFF2-40B4-BE49-F238E27FC236}">
                <a16:creationId xmlns:a16="http://schemas.microsoft.com/office/drawing/2014/main" id="{A9336A1C-174D-7358-1486-104A30E5F190}"/>
              </a:ext>
            </a:extLst>
          </p:cNvPr>
          <p:cNvGraphicFramePr>
            <a:graphicFrameLocks noGrp="1" noChangeAspect="1"/>
          </p:cNvGraphicFramePr>
          <p:nvPr>
            <p:ph type="body" idx="1"/>
          </p:nvPr>
        </p:nvGraphicFramePr>
        <p:xfrm>
          <a:off x="2743200" y="3673475"/>
          <a:ext cx="4121150" cy="272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3177720" imgH="2103120" progId="Word.Document.8">
                  <p:embed/>
                </p:oleObj>
              </mc:Choice>
              <mc:Fallback>
                <p:oleObj name="Document" r:id="rId3" imgW="3177720" imgH="2103120" progId="Word.Document.8">
                  <p:embed/>
                  <p:pic>
                    <p:nvPicPr>
                      <p:cNvPr id="36867" name="Object 3">
                        <a:extLst>
                          <a:ext uri="{FF2B5EF4-FFF2-40B4-BE49-F238E27FC236}">
                            <a16:creationId xmlns:a16="http://schemas.microsoft.com/office/drawing/2014/main" id="{A9336A1C-174D-7358-1486-104A30E5F1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673475"/>
                        <a:ext cx="4121150" cy="272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04" name="Rectangle 40">
            <a:extLst>
              <a:ext uri="{FF2B5EF4-FFF2-40B4-BE49-F238E27FC236}">
                <a16:creationId xmlns:a16="http://schemas.microsoft.com/office/drawing/2014/main" id="{052E967C-0339-DE15-D6E3-B43D4E25A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2781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/>
          </a:p>
        </p:txBody>
      </p:sp>
      <p:graphicFrame>
        <p:nvGraphicFramePr>
          <p:cNvPr id="36903" name="Object 39">
            <a:extLst>
              <a:ext uri="{FF2B5EF4-FFF2-40B4-BE49-F238E27FC236}">
                <a16:creationId xmlns:a16="http://schemas.microsoft.com/office/drawing/2014/main" id="{AC6D16B6-25E1-C87D-00AE-03B8DE2D7A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8" y="1828800"/>
          <a:ext cx="8586787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ssin Microsoft Draw" r:id="rId5" imgW="5694480" imgH="1344240" progId="MSDraw.Drawing.8.2">
                  <p:embed/>
                </p:oleObj>
              </mc:Choice>
              <mc:Fallback>
                <p:oleObj name="Dessin Microsoft Draw" r:id="rId5" imgW="5694480" imgH="1344240" progId="MSDraw.Drawing.8.2">
                  <p:embed/>
                  <p:pic>
                    <p:nvPicPr>
                      <p:cNvPr id="36903" name="Object 39">
                        <a:extLst>
                          <a:ext uri="{FF2B5EF4-FFF2-40B4-BE49-F238E27FC236}">
                            <a16:creationId xmlns:a16="http://schemas.microsoft.com/office/drawing/2014/main" id="{AC6D16B6-25E1-C87D-00AE-03B8DE2D7A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8" y="1828800"/>
                        <a:ext cx="8586787" cy="202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92BE07D-61B2-5AF1-00B0-2F64BFA99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6A78568-03CA-9397-B4F7-4C3B11445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16</a:t>
            </a:fld>
            <a:endParaRPr lang="fr-FR" altLang="fr-FR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3A5E9387-9169-C927-FA34-0B3F22F2D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Routage des datagrammes IP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4804899-8720-8A5F-43A9-E6152486E3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fr-FR" altLang="fr-FR" sz="2800"/>
              <a:t>entre 2 machines du même réseau</a:t>
            </a:r>
          </a:p>
          <a:p>
            <a:pPr lvl="1"/>
            <a:r>
              <a:rPr lang="fr-FR" altLang="fr-FR" sz="2400"/>
              <a:t>remise directe</a:t>
            </a:r>
          </a:p>
          <a:p>
            <a:r>
              <a:rPr lang="fr-FR" altLang="fr-FR" sz="2800"/>
              <a:t>entre 2 machines de réseaux différents</a:t>
            </a:r>
          </a:p>
          <a:p>
            <a:pPr lvl="1"/>
            <a:r>
              <a:rPr lang="fr-FR" altLang="fr-FR" sz="2400"/>
              <a:t>utilisation de passerelles</a:t>
            </a:r>
          </a:p>
          <a:p>
            <a:pPr lvl="2"/>
            <a:r>
              <a:rPr lang="fr-FR" altLang="fr-FR" sz="2000"/>
              <a:t>chaque passerelle a deux connexions (donc 2 adresse IP)</a:t>
            </a:r>
          </a:p>
          <a:p>
            <a:pPr lvl="2"/>
            <a:r>
              <a:rPr lang="fr-FR" altLang="fr-FR" sz="2000"/>
              <a:t>chaque passerelle constitue une table de routage</a:t>
            </a:r>
          </a:p>
          <a:p>
            <a:pPr lvl="2"/>
            <a:r>
              <a:rPr lang="fr-FR" altLang="fr-FR" sz="2000"/>
              <a:t>éventuellement une route par défaut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8C4B602A-1E4B-5A48-0E42-CA3F213AE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44EE471-C01D-5609-DF12-B8E7D0AD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17</a:t>
            </a:fld>
            <a:endParaRPr lang="fr-FR" altLang="fr-FR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DE9D1F4B-6D7B-846C-FD5A-E2BAAA5FC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Routage des datagrammes IP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D834453-BF1F-A739-5E0B-4558F792B4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fr-FR" altLang="fr-FR"/>
              <a:t>l'adresse IP de la prochaine passerelle </a:t>
            </a:r>
          </a:p>
          <a:p>
            <a:pPr lvl="1"/>
            <a:r>
              <a:rPr lang="fr-FR" altLang="fr-FR"/>
              <a:t>n'est pas conservée dans le datagramme</a:t>
            </a:r>
          </a:p>
          <a:p>
            <a:pPr lvl="1"/>
            <a:r>
              <a:rPr lang="fr-FR" altLang="fr-FR"/>
              <a:t>est traduite en adresse physique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970B0587-1585-F5D3-E96E-6FFA765A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13B3BA6-58A1-7D89-8B09-D3E9DACF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318C-DDD2-4B1E-A084-FE3CFB75DF2F}" type="slidenum">
              <a:rPr lang="fr-FR" altLang="fr-FR"/>
              <a:pPr/>
              <a:t>18</a:t>
            </a:fld>
            <a:endParaRPr lang="fr-FR" altLang="fr-FR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D9D8BBBC-565A-324A-4A67-5A11272279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Routage des datagrammes IP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77BC221E-14FE-2807-BFD3-46F57E342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00" y="1966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/>
          </a:p>
        </p:txBody>
      </p:sp>
      <p:graphicFrame>
        <p:nvGraphicFramePr>
          <p:cNvPr id="43013" name="Object 5">
            <a:extLst>
              <a:ext uri="{FF2B5EF4-FFF2-40B4-BE49-F238E27FC236}">
                <a16:creationId xmlns:a16="http://schemas.microsoft.com/office/drawing/2014/main" id="{B7011261-F0B2-EC87-CC72-1AE7D76D1F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4625" y="1905000"/>
          <a:ext cx="6270625" cy="439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ssin Microsoft Draw" r:id="rId3" imgW="4180680" imgH="2899440" progId="MSDraw.Drawing.8.2">
                  <p:embed/>
                </p:oleObj>
              </mc:Choice>
              <mc:Fallback>
                <p:oleObj name="Dessin Microsoft Draw" r:id="rId3" imgW="4180680" imgH="2899440" progId="MSDraw.Drawing.8.2">
                  <p:embed/>
                  <p:pic>
                    <p:nvPicPr>
                      <p:cNvPr id="43013" name="Object 5">
                        <a:extLst>
                          <a:ext uri="{FF2B5EF4-FFF2-40B4-BE49-F238E27FC236}">
                            <a16:creationId xmlns:a16="http://schemas.microsoft.com/office/drawing/2014/main" id="{B7011261-F0B2-EC87-CC72-1AE7D76D1F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25" y="1905000"/>
                        <a:ext cx="6270625" cy="439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8EB0A825-3855-8E3C-2222-0EF34FBBF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2FF6D29-450E-03BB-E984-517628E84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19</a:t>
            </a:fld>
            <a:endParaRPr lang="fr-FR" altLang="fr-FR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D45D94D1-D102-2010-3EBC-94CBD3032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ICMP (Internet Control Message Protocol) 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E44432D9-6F4B-C010-9160-7CDEDFF3A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fr-FR"/>
              <a:t>RFC 792</a:t>
            </a:r>
          </a:p>
          <a:p>
            <a:r>
              <a:rPr lang="fr-FR" altLang="fr-FR"/>
              <a:t>Niveau 3</a:t>
            </a:r>
          </a:p>
          <a:p>
            <a:pPr lvl="1"/>
            <a:r>
              <a:rPr lang="fr-FR" altLang="fr-FR"/>
              <a:t>Partie intégrante du logiciel IP</a:t>
            </a:r>
          </a:p>
          <a:p>
            <a:pPr lvl="1"/>
            <a:r>
              <a:rPr lang="fr-FR" altLang="fr-FR"/>
              <a:t>mais 2 niveaux d’encapsulation </a:t>
            </a:r>
          </a:p>
          <a:p>
            <a:pPr lvl="2"/>
            <a:r>
              <a:rPr lang="fr-FR" altLang="fr-FR"/>
              <a:t>Message ICMP encapsulé dans datagramme</a:t>
            </a:r>
          </a:p>
          <a:p>
            <a:pPr lvl="2"/>
            <a:r>
              <a:rPr lang="fr-FR" altLang="fr-FR"/>
              <a:t>champ protocol:1</a:t>
            </a:r>
          </a:p>
          <a:p>
            <a:r>
              <a:rPr lang="fr-FR" altLang="fr-FR"/>
              <a:t>Format</a:t>
            </a:r>
          </a:p>
          <a:p>
            <a:pPr lvl="1"/>
            <a:r>
              <a:rPr lang="fr-FR" altLang="fr-FR"/>
              <a:t>Type/code/information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938F986-1C54-810F-017A-8C4130855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704702B-399C-DE78-DCFE-1F1953CB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20</a:t>
            </a:fld>
            <a:endParaRPr lang="fr-FR" altLang="fr-FR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7D1452DD-E9E7-6902-DEE4-79843A566E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Protocole ICMP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596F3A4-70AD-D572-A467-B27CD650EF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pPr lvl="1">
              <a:lnSpc>
                <a:spcPct val="90000"/>
              </a:lnSpc>
            </a:pPr>
            <a:r>
              <a:rPr lang="fr-FR" altLang="fr-FR"/>
              <a:t>Même niveau que IP</a:t>
            </a:r>
          </a:p>
          <a:p>
            <a:pPr lvl="1">
              <a:lnSpc>
                <a:spcPct val="90000"/>
              </a:lnSpc>
            </a:pPr>
            <a:r>
              <a:rPr lang="fr-FR" altLang="fr-FR"/>
              <a:t>Pour avertir l'émetteur d'un datagramme d'éventuels problèmes</a:t>
            </a:r>
          </a:p>
          <a:p>
            <a:pPr lvl="2">
              <a:lnSpc>
                <a:spcPct val="90000"/>
              </a:lnSpc>
            </a:pPr>
            <a:r>
              <a:rPr lang="fr-FR" altLang="fr-FR"/>
              <a:t>demande d'écho (message d'écho)</a:t>
            </a:r>
          </a:p>
          <a:p>
            <a:pPr lvl="2">
              <a:lnSpc>
                <a:spcPct val="90000"/>
              </a:lnSpc>
            </a:pPr>
            <a:r>
              <a:rPr lang="fr-FR" altLang="fr-FR"/>
              <a:t>détection de destination inaccessible</a:t>
            </a:r>
          </a:p>
          <a:p>
            <a:pPr lvl="2">
              <a:lnSpc>
                <a:spcPct val="90000"/>
              </a:lnSpc>
            </a:pPr>
            <a:r>
              <a:rPr lang="fr-FR" altLang="fr-FR"/>
              <a:t>demande de limitation de débit (une passerelle est proche de la congestion)</a:t>
            </a:r>
          </a:p>
          <a:p>
            <a:pPr lvl="2">
              <a:lnSpc>
                <a:spcPct val="90000"/>
              </a:lnSpc>
            </a:pPr>
            <a:r>
              <a:rPr lang="fr-FR" altLang="fr-FR"/>
              <a:t>demande de modification de route (une passerelle sait qu'il existe une meilleure route)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42228A9-5C74-D691-FD8E-914A36661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849291A-60C4-F008-9B5F-71608DDE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21</a:t>
            </a:fld>
            <a:endParaRPr lang="fr-FR" altLang="fr-FR"/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2B824983-2225-2E56-B1CA-100B8C0755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IP:Echange d’informations de supervision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C37EE3AD-D07C-42D0-D53D-612D5AB0B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fr-FR" altLang="fr-FR" sz="2800"/>
              <a:t>Situation d’erreurs niveau 3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Congestion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Destinataires non accessibles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…</a:t>
            </a:r>
          </a:p>
          <a:p>
            <a:pPr>
              <a:lnSpc>
                <a:spcPct val="90000"/>
              </a:lnSpc>
            </a:pPr>
            <a:r>
              <a:rPr lang="fr-FR" altLang="fr-FR" sz="2800"/>
              <a:t>Echange de messages d’erreur ou de supervision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Compte-rendu (et non correction !)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Restreint à l’expéditeur (pas possible de faire autrement…)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Coopération des administrateurs</a:t>
            </a:r>
          </a:p>
          <a:p>
            <a:pPr>
              <a:lnSpc>
                <a:spcPct val="90000"/>
              </a:lnSpc>
            </a:pPr>
            <a:r>
              <a:rPr lang="fr-FR" altLang="fr-FR" sz="2800"/>
              <a:t>Mécanisme de demande/réponse en écho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00C77BE-BF33-59CA-F025-F2218A088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11107B7-DC07-C7D4-AB7B-87E831F0B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22</a:t>
            </a:fld>
            <a:endParaRPr lang="fr-FR" altLang="fr-FR"/>
          </a:p>
        </p:txBody>
      </p:sp>
      <p:sp>
        <p:nvSpPr>
          <p:cNvPr id="81922" name="Rectangle 1026">
            <a:extLst>
              <a:ext uri="{FF2B5EF4-FFF2-40B4-BE49-F238E27FC236}">
                <a16:creationId xmlns:a16="http://schemas.microsoft.com/office/drawing/2014/main" id="{6F54F721-9D1E-EEB2-5DC5-CA64B3598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Exemples de types/codes des messages ICMP</a:t>
            </a:r>
          </a:p>
        </p:txBody>
      </p:sp>
      <p:sp>
        <p:nvSpPr>
          <p:cNvPr id="81923" name="Rectangle 1027">
            <a:extLst>
              <a:ext uri="{FF2B5EF4-FFF2-40B4-BE49-F238E27FC236}">
                <a16:creationId xmlns:a16="http://schemas.microsoft.com/office/drawing/2014/main" id="{910152D5-5930-B67C-9CAB-4B982CC5D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fr-FR" sz="2400">
                <a:cs typeface="Times New Roman" panose="02020603050405020304" pitchFamily="18" charset="0"/>
              </a:rPr>
              <a:t>0: réponse à une demande d’écho</a:t>
            </a:r>
          </a:p>
          <a:p>
            <a:r>
              <a:rPr lang="fr-FR" altLang="fr-FR" sz="2400">
                <a:cs typeface="Times New Roman" panose="02020603050405020304" pitchFamily="18" charset="0"/>
              </a:rPr>
              <a:t>3: destination inaccessible,</a:t>
            </a:r>
          </a:p>
          <a:p>
            <a:pPr lvl="1"/>
            <a:r>
              <a:rPr lang="fr-FR" altLang="fr-FR" sz="2000">
                <a:cs typeface="Times New Roman" panose="02020603050405020304" pitchFamily="18" charset="0"/>
              </a:rPr>
              <a:t>Code 0: réseau inaccessible</a:t>
            </a:r>
          </a:p>
          <a:p>
            <a:r>
              <a:rPr lang="fr-FR" altLang="fr-FR" sz="2400">
                <a:cs typeface="Times New Roman" panose="02020603050405020304" pitchFamily="18" charset="0"/>
              </a:rPr>
              <a:t>4: demande de limitation de débit (une passerelle est proche de la congestion), </a:t>
            </a:r>
          </a:p>
          <a:p>
            <a:r>
              <a:rPr lang="fr-FR" altLang="fr-FR" sz="2400">
                <a:cs typeface="Times New Roman" panose="02020603050405020304" pitchFamily="18" charset="0"/>
              </a:rPr>
              <a:t>5: demande de modification de route (une passerelle sait qu'il existe une meilleure route),</a:t>
            </a:r>
          </a:p>
          <a:p>
            <a:r>
              <a:rPr lang="fr-FR" altLang="fr-FR" sz="2400">
                <a:cs typeface="Times New Roman" panose="02020603050405020304" pitchFamily="18" charset="0"/>
              </a:rPr>
              <a:t>8: demande d'écho (utile pour la mise au point et exploité par la commande ping),</a:t>
            </a:r>
          </a:p>
          <a:p>
            <a:r>
              <a:rPr lang="fr-FR" altLang="fr-FR" sz="2400">
                <a:cs typeface="Times New Roman" panose="02020603050405020304" pitchFamily="18" charset="0"/>
              </a:rPr>
              <a:t>11:durée de vie expirée.</a:t>
            </a:r>
            <a:endParaRPr lang="fr-FR" altLang="fr-FR" sz="240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E58CEFC-B91F-F83D-4BD8-C5F5456B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155F507-F4B2-DCC8-933C-85B2907B7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23</a:t>
            </a:fld>
            <a:endParaRPr lang="fr-FR" altLang="fr-FR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09298761-02AC-8A73-25DD-8ABD7FAD23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ICMP:Messages d’écho</a:t>
            </a:r>
          </a:p>
        </p:txBody>
      </p:sp>
      <p:graphicFrame>
        <p:nvGraphicFramePr>
          <p:cNvPr id="83971" name="Object 3">
            <a:extLst>
              <a:ext uri="{FF2B5EF4-FFF2-40B4-BE49-F238E27FC236}">
                <a16:creationId xmlns:a16="http://schemas.microsoft.com/office/drawing/2014/main" id="{B22DABEC-54AF-3646-87E7-216274E2B578}"/>
              </a:ext>
            </a:extLst>
          </p:cNvPr>
          <p:cNvGraphicFramePr>
            <a:graphicFrameLocks noGrp="1" noChangeAspect="1"/>
          </p:cNvGraphicFramePr>
          <p:nvPr>
            <p:ph type="body" idx="1"/>
          </p:nvPr>
        </p:nvGraphicFramePr>
        <p:xfrm>
          <a:off x="841375" y="1606550"/>
          <a:ext cx="7386638" cy="271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749720" imgH="2848320" progId="Word.Document.8">
                  <p:embed/>
                </p:oleObj>
              </mc:Choice>
              <mc:Fallback>
                <p:oleObj name="Document" r:id="rId2" imgW="7749720" imgH="2848320" progId="Word.Document.8">
                  <p:embed/>
                  <p:pic>
                    <p:nvPicPr>
                      <p:cNvPr id="83971" name="Object 3">
                        <a:extLst>
                          <a:ext uri="{FF2B5EF4-FFF2-40B4-BE49-F238E27FC236}">
                            <a16:creationId xmlns:a16="http://schemas.microsoft.com/office/drawing/2014/main" id="{B22DABEC-54AF-3646-87E7-216274E2B5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75" y="1606550"/>
                        <a:ext cx="7386638" cy="271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2" name="Text Box 4">
            <a:extLst>
              <a:ext uri="{FF2B5EF4-FFF2-40B4-BE49-F238E27FC236}">
                <a16:creationId xmlns:a16="http://schemas.microsoft.com/office/drawing/2014/main" id="{2E279FEC-E393-532F-87EB-BEB85661D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038600"/>
            <a:ext cx="7162800" cy="237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fr-FR" altLang="fr-FR" sz="2000">
                <a:latin typeface="Times New Roman" panose="02020603050405020304" pitchFamily="18" charset="0"/>
              </a:rPr>
              <a:t>Demande d’écho: envoyée par un routeur ou ordinateur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fr-FR" altLang="fr-FR" sz="2000">
                <a:latin typeface="Times New Roman" panose="02020603050405020304" pitchFamily="18" charset="0"/>
              </a:rPr>
              <a:t>Réponse: envoyée par toute machine destinataire d’une demande d’écho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fr-FR" altLang="fr-FR" sz="2000">
                <a:latin typeface="Times New Roman" panose="02020603050405020304" pitchFamily="18" charset="0"/>
              </a:rPr>
              <a:t>La réponse contient une copie des données envoyées dans la demande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fr-FR" altLang="fr-FR" sz="2000">
                <a:latin typeface="Times New Roman" panose="02020603050405020304" pitchFamily="18" charset="0"/>
              </a:rPr>
              <a:t>Permet un test d’accessibilité et d’état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037CB89-08DA-D13D-61FD-20C37FE1F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331B088-5604-3DCE-081D-D5DFC73FB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24</a:t>
            </a:fld>
            <a:endParaRPr lang="fr-FR" altLang="fr-FR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5241CBF3-068B-EB52-A15F-2E1BE438C6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ICMP:Compte-rendu de destination inaccessible</a:t>
            </a:r>
          </a:p>
        </p:txBody>
      </p:sp>
      <p:graphicFrame>
        <p:nvGraphicFramePr>
          <p:cNvPr id="84995" name="Object 3">
            <a:extLst>
              <a:ext uri="{FF2B5EF4-FFF2-40B4-BE49-F238E27FC236}">
                <a16:creationId xmlns:a16="http://schemas.microsoft.com/office/drawing/2014/main" id="{30B7958C-86B0-F6A8-D8D5-B02B6F943526}"/>
              </a:ext>
            </a:extLst>
          </p:cNvPr>
          <p:cNvGraphicFramePr>
            <a:graphicFrameLocks noGrp="1" noChangeAspect="1"/>
          </p:cNvGraphicFramePr>
          <p:nvPr>
            <p:ph type="body" idx="1"/>
          </p:nvPr>
        </p:nvGraphicFramePr>
        <p:xfrm>
          <a:off x="682625" y="1935163"/>
          <a:ext cx="7705725" cy="317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711560" imgH="3171600" progId="Word.Document.8">
                  <p:embed/>
                </p:oleObj>
              </mc:Choice>
              <mc:Fallback>
                <p:oleObj name="Document" r:id="rId2" imgW="7711560" imgH="3171600" progId="Word.Document.8">
                  <p:embed/>
                  <p:pic>
                    <p:nvPicPr>
                      <p:cNvPr id="84995" name="Object 3">
                        <a:extLst>
                          <a:ext uri="{FF2B5EF4-FFF2-40B4-BE49-F238E27FC236}">
                            <a16:creationId xmlns:a16="http://schemas.microsoft.com/office/drawing/2014/main" id="{30B7958C-86B0-F6A8-D8D5-B02B6F9435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" y="1935163"/>
                        <a:ext cx="7705725" cy="317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Text Box 4">
            <a:extLst>
              <a:ext uri="{FF2B5EF4-FFF2-40B4-BE49-F238E27FC236}">
                <a16:creationId xmlns:a16="http://schemas.microsoft.com/office/drawing/2014/main" id="{7E03A726-8F45-264F-69C1-334CDA566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71628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fr-FR" sz="2000">
                <a:latin typeface="Times New Roman" panose="02020603050405020304" pitchFamily="18" charset="0"/>
              </a:rPr>
              <a:t>0:réseau inaccessible</a:t>
            </a:r>
          </a:p>
          <a:p>
            <a:pPr>
              <a:spcBef>
                <a:spcPct val="50000"/>
              </a:spcBef>
            </a:pPr>
            <a:r>
              <a:rPr lang="fr-FR" altLang="fr-FR" sz="2000">
                <a:latin typeface="Times New Roman" panose="02020603050405020304" pitchFamily="18" charset="0"/>
              </a:rPr>
              <a:t>1:ordinateur inaccessible</a:t>
            </a:r>
          </a:p>
          <a:p>
            <a:pPr>
              <a:spcBef>
                <a:spcPct val="50000"/>
              </a:spcBef>
            </a:pPr>
            <a:r>
              <a:rPr lang="fr-FR" altLang="fr-FR" sz="2000">
                <a:latin typeface="Times New Roman" panose="02020603050405020304" pitchFamily="18" charset="0"/>
              </a:rPr>
              <a:t>2:protocole inaccessible</a:t>
            </a:r>
          </a:p>
          <a:p>
            <a:pPr>
              <a:spcBef>
                <a:spcPct val="50000"/>
              </a:spcBef>
            </a:pPr>
            <a:r>
              <a:rPr lang="fr-FR" altLang="fr-FR" sz="2000">
                <a:latin typeface="Times New Roman" panose="02020603050405020304" pitchFamily="18" charset="0"/>
              </a:rPr>
              <a:t>…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9CC5AC8E-2F97-9671-F2ED-87429716C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F5DFE0-57CB-F0BD-5264-EC39E6D3B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25</a:t>
            </a:fld>
            <a:endParaRPr lang="fr-FR" altLang="fr-FR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73E2F7B8-9024-7F48-574B-82D645104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Commande ping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1BF1B80A-BE46-73E4-F20C-635787BA49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fr-FR" altLang="fr-FR"/>
              <a:t>permet de tester l'accessibilité d'une machine</a:t>
            </a:r>
          </a:p>
          <a:p>
            <a:pPr lvl="1"/>
            <a:r>
              <a:rPr lang="fr-FR" altLang="fr-FR"/>
              <a:t>envoi d'un datagramme ICMP ECHO_REQUEST à la machine à tester</a:t>
            </a:r>
          </a:p>
          <a:p>
            <a:pPr lvl="1"/>
            <a:r>
              <a:rPr lang="fr-FR" altLang="fr-FR"/>
              <a:t>la machine à tester doit répondre par un ICMP ECHO_RESPONSE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A31C28A-6DBA-4CED-46A3-5056E9A61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1343506-E7B6-4313-96EC-FF87762D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26</a:t>
            </a:fld>
            <a:endParaRPr lang="fr-FR" altLang="fr-FR"/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2E8507E9-3613-815E-4481-9A8EC1A56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Exemple d'exécution de ping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DEE3D0BA-822F-23EC-3AA6-29AA1CDD4C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pPr>
              <a:buFont typeface="Wingdings" panose="05000000000000000000" pitchFamily="2" charset="2"/>
              <a:buNone/>
            </a:pPr>
            <a:r>
              <a:rPr lang="fr-FR" altLang="fr-FR" sz="1800" b="1">
                <a:latin typeface="Courier New" panose="02070309020205020404" pitchFamily="49" charset="0"/>
              </a:rPr>
              <a:t>tuba&gt; /bin/ping helicon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altLang="fr-FR" sz="1800" b="1">
                <a:latin typeface="Courier New" panose="02070309020205020404" pitchFamily="49" charset="0"/>
              </a:rPr>
              <a:t>PING helicon.info.prive (172.16.94.22): 56 data bytes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altLang="fr-FR" sz="1800" b="1">
                <a:latin typeface="Courier New" panose="02070309020205020404" pitchFamily="49" charset="0"/>
              </a:rPr>
              <a:t>64 bytes from 172.16.94.22: icmp_seq=0 ttl=255 time=0.4 ms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altLang="fr-FR" sz="1800" b="1">
                <a:latin typeface="Courier New" panose="02070309020205020404" pitchFamily="49" charset="0"/>
              </a:rPr>
              <a:t>64 bytes from 172.16.94.22: icmp_seq=1 ttl=255 time=0.1 ms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altLang="fr-FR" sz="1800" b="1">
                <a:latin typeface="Courier New" panose="02070309020205020404" pitchFamily="49" charset="0"/>
              </a:rPr>
              <a:t>64 bytes from 172.16.94.22: icmp_seq=2 ttl=255 time=0.1 ms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altLang="fr-FR" sz="1800" b="1">
                <a:latin typeface="Courier New" panose="02070309020205020404" pitchFamily="49" charset="0"/>
              </a:rPr>
              <a:t>64 bytes from 172.16.94.22: icmp_seq=3 ttl=255 time=0.1 ms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altLang="fr-FR" sz="1800" b="1">
                <a:latin typeface="Courier New" panose="02070309020205020404" pitchFamily="49" charset="0"/>
              </a:rPr>
              <a:t>64 bytes from 172.16.94.22: icmp_seq=4 ttl=255 time=0.1 ms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altLang="fr-FR" sz="1800" b="1">
                <a:latin typeface="Courier New" panose="02070309020205020404" pitchFamily="49" charset="0"/>
              </a:rPr>
              <a:t>64 bytes from 172.16.94.22: icmp_seq=5 ttl=255 time=0.1 ms</a:t>
            </a:r>
          </a:p>
          <a:p>
            <a:pPr>
              <a:buFont typeface="Wingdings" panose="05000000000000000000" pitchFamily="2" charset="2"/>
              <a:buNone/>
            </a:pPr>
            <a:endParaRPr lang="fr-FR" altLang="fr-F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fr-FR" altLang="fr-FR" sz="1800" b="1">
                <a:latin typeface="Courier New" panose="02070309020205020404" pitchFamily="49" charset="0"/>
              </a:rPr>
              <a:t>--- helicon.info.prive ping statistics ---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altLang="fr-FR" sz="1800" b="1">
                <a:latin typeface="Courier New" panose="02070309020205020404" pitchFamily="49" charset="0"/>
              </a:rPr>
              <a:t>6 packets transmitted, 6 packets received, 0% packet loss</a:t>
            </a:r>
          </a:p>
          <a:p>
            <a:pPr>
              <a:buFont typeface="Wingdings" panose="05000000000000000000" pitchFamily="2" charset="2"/>
              <a:buNone/>
            </a:pPr>
            <a:r>
              <a:rPr lang="fr-FR" altLang="fr-FR" sz="1800" b="1">
                <a:latin typeface="Courier New" panose="02070309020205020404" pitchFamily="49" charset="0"/>
              </a:rPr>
              <a:t>round-trip min/avg/max = 0.1/0.1/0.4 ms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0">
            <a:extLst>
              <a:ext uri="{FF2B5EF4-FFF2-40B4-BE49-F238E27FC236}">
                <a16:creationId xmlns:a16="http://schemas.microsoft.com/office/drawing/2014/main" id="{707DE3C3-1CF5-9481-27F0-044584EA19B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Rectangle 71">
            <a:extLst>
              <a:ext uri="{FF2B5EF4-FFF2-40B4-BE49-F238E27FC236}">
                <a16:creationId xmlns:a16="http://schemas.microsoft.com/office/drawing/2014/main" id="{4EAA9523-7E39-723E-D65D-A581252FAB2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214684FB-798B-49BF-8584-14990FD0E04C}" type="slidenum">
              <a:rPr lang="fr-FR" altLang="fr-FR" smtClean="0"/>
              <a:pPr/>
              <a:t>27</a:t>
            </a:fld>
            <a:endParaRPr lang="fr-FR" altLang="fr-FR"/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4B393525-2672-384E-A7EC-C0157CAF3C9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fr-FR"/>
              <a:t>TCP:Transmission Control Protocol</a:t>
            </a:r>
            <a:endParaRPr lang="fr-FR" altLang="fr-FR"/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A8AAB710-D68D-3AE7-24EB-AD4D47E691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altLang="fr-FR"/>
              <a:t>Protocole de contrôle de transmission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86F1BB8C-1505-2CA5-C7A2-81D9CD6F0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A43D498-D6BB-CEE6-D5F6-AAA5EFAEC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28</a:t>
            </a:fld>
            <a:endParaRPr lang="fr-FR" altLang="fr-FR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ACE3E723-9289-E1E1-B9FC-27BCEFCA57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Protocole TCP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1C4A80BC-87D8-6DBE-73F4-22C6543BB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fr-FR" altLang="fr-FR" sz="2000"/>
              <a:t>Principes</a:t>
            </a:r>
          </a:p>
          <a:p>
            <a:pPr lvl="2">
              <a:lnSpc>
                <a:spcPct val="80000"/>
              </a:lnSpc>
            </a:pPr>
            <a:r>
              <a:rPr lang="fr-FR" altLang="fr-FR" sz="1600"/>
              <a:t>message est un flot de octets (UNIX !)</a:t>
            </a:r>
          </a:p>
          <a:p>
            <a:pPr lvl="3">
              <a:lnSpc>
                <a:spcPct val="80000"/>
              </a:lnSpc>
            </a:pPr>
            <a:r>
              <a:rPr lang="fr-FR" altLang="fr-FR" sz="1400"/>
              <a:t>Connexion non structurée : les applications connaissent la ‘structure’ du flot.</a:t>
            </a:r>
          </a:p>
          <a:p>
            <a:pPr lvl="3">
              <a:lnSpc>
                <a:spcPct val="80000"/>
              </a:lnSpc>
            </a:pPr>
            <a:r>
              <a:rPr lang="fr-FR" altLang="fr-FR" sz="1400"/>
              <a:t>Numéros de séquence</a:t>
            </a:r>
          </a:p>
          <a:p>
            <a:pPr lvl="2">
              <a:lnSpc>
                <a:spcPct val="80000"/>
              </a:lnSpc>
            </a:pPr>
            <a:r>
              <a:rPr lang="fr-FR" altLang="fr-FR" sz="1600"/>
              <a:t>mode bidirectionnel simultané (technique dite de </a:t>
            </a:r>
            <a:r>
              <a:rPr lang="fr-FR" altLang="fr-FR" sz="1600" i="1"/>
              <a:t>superposition </a:t>
            </a:r>
            <a:r>
              <a:rPr lang="fr-FR" altLang="fr-FR" sz="1600"/>
              <a:t>: piggybacking)</a:t>
            </a:r>
          </a:p>
          <a:p>
            <a:pPr lvl="2">
              <a:lnSpc>
                <a:spcPct val="80000"/>
              </a:lnSpc>
            </a:pPr>
            <a:r>
              <a:rPr lang="fr-FR" altLang="fr-FR" sz="1600"/>
              <a:t>mécanisme d'anticipation (fenêtre glissante):mise en œuvre complexe.</a:t>
            </a:r>
          </a:p>
          <a:p>
            <a:pPr lvl="3">
              <a:lnSpc>
                <a:spcPct val="80000"/>
              </a:lnSpc>
            </a:pPr>
            <a:r>
              <a:rPr lang="fr-FR" altLang="fr-FR" sz="1400"/>
              <a:t>taille de la fenêtre d'émission variable (contrôle de flux)</a:t>
            </a:r>
          </a:p>
          <a:p>
            <a:pPr lvl="3">
              <a:lnSpc>
                <a:spcPct val="80000"/>
              </a:lnSpc>
            </a:pPr>
            <a:r>
              <a:rPr lang="fr-FR" altLang="fr-FR" sz="1400"/>
              <a:t>on acquitte sur le dernier octet d'une "séquence sans trou"</a:t>
            </a:r>
          </a:p>
          <a:p>
            <a:pPr lvl="3">
              <a:lnSpc>
                <a:spcPct val="80000"/>
              </a:lnSpc>
            </a:pPr>
            <a:r>
              <a:rPr lang="fr-FR" altLang="fr-FR" sz="1400"/>
              <a:t>retransmission si temporisateur expire</a:t>
            </a:r>
          </a:p>
          <a:p>
            <a:pPr lvl="2">
              <a:lnSpc>
                <a:spcPct val="80000"/>
              </a:lnSpc>
            </a:pPr>
            <a:r>
              <a:rPr lang="fr-FR" altLang="fr-FR" sz="1600"/>
              <a:t>port et circuit virtuel</a:t>
            </a:r>
          </a:p>
          <a:p>
            <a:pPr lvl="3">
              <a:lnSpc>
                <a:spcPct val="80000"/>
              </a:lnSpc>
            </a:pPr>
            <a:r>
              <a:rPr lang="fr-FR" altLang="fr-FR" sz="1400"/>
              <a:t>Numéros réservés : 20/ftp-data, 21/ftp, 23/telnet…</a:t>
            </a:r>
          </a:p>
          <a:p>
            <a:pPr lvl="2">
              <a:lnSpc>
                <a:spcPct val="80000"/>
              </a:lnSpc>
            </a:pPr>
            <a:r>
              <a:rPr lang="fr-FR" altLang="fr-FR" sz="1600"/>
              <a:t>ouverture passive/active</a:t>
            </a:r>
          </a:p>
          <a:p>
            <a:pPr lvl="2">
              <a:lnSpc>
                <a:spcPct val="80000"/>
              </a:lnSpc>
            </a:pPr>
            <a:r>
              <a:rPr lang="fr-FR" altLang="fr-FR" sz="1600"/>
              <a:t>segment  et taille maximale de segment</a:t>
            </a:r>
          </a:p>
          <a:p>
            <a:pPr lvl="2">
              <a:lnSpc>
                <a:spcPct val="80000"/>
              </a:lnSpc>
            </a:pPr>
            <a:r>
              <a:rPr lang="fr-FR" altLang="fr-FR" sz="1600"/>
              <a:t>gestion de la congestion</a:t>
            </a:r>
          </a:p>
          <a:p>
            <a:pPr lvl="2">
              <a:lnSpc>
                <a:spcPct val="80000"/>
              </a:lnSpc>
            </a:pPr>
            <a:r>
              <a:rPr lang="fr-FR" altLang="fr-FR" sz="1600"/>
              <a:t>Pour en savoir plus : rfc793, rfc1122…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000CDF7-645E-CD8C-D091-C87D42B4A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E366580-F37F-41F5-4BAD-E8402B7FD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2B336-174B-461B-8EEE-95E1C1835D1B}" type="slidenum">
              <a:rPr lang="fr-FR" altLang="fr-FR"/>
              <a:pPr/>
              <a:t>29</a:t>
            </a:fld>
            <a:endParaRPr lang="fr-FR" altLang="fr-FR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134531E9-325C-6870-333C-AB35ACE444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Segment TCP</a:t>
            </a:r>
          </a:p>
        </p:txBody>
      </p:sp>
      <p:graphicFrame>
        <p:nvGraphicFramePr>
          <p:cNvPr id="57347" name="Object 3">
            <a:extLst>
              <a:ext uri="{FF2B5EF4-FFF2-40B4-BE49-F238E27FC236}">
                <a16:creationId xmlns:a16="http://schemas.microsoft.com/office/drawing/2014/main" id="{2D941CBF-74C4-12BD-FFD3-1320CE9FDF21}"/>
              </a:ext>
            </a:extLst>
          </p:cNvPr>
          <p:cNvGraphicFramePr>
            <a:graphicFrameLocks noGrp="1" noChangeAspect="1"/>
          </p:cNvGraphicFramePr>
          <p:nvPr>
            <p:ph type="chart" idx="1"/>
          </p:nvPr>
        </p:nvGraphicFramePr>
        <p:xfrm>
          <a:off x="76200" y="2447925"/>
          <a:ext cx="9094788" cy="309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353920" imgH="1824120" progId="Word.Document.8">
                  <p:embed/>
                </p:oleObj>
              </mc:Choice>
              <mc:Fallback>
                <p:oleObj name="Document" r:id="rId3" imgW="5353920" imgH="1824120" progId="Word.Document.8">
                  <p:embed/>
                  <p:pic>
                    <p:nvPicPr>
                      <p:cNvPr id="57347" name="Object 3">
                        <a:extLst>
                          <a:ext uri="{FF2B5EF4-FFF2-40B4-BE49-F238E27FC236}">
                            <a16:creationId xmlns:a16="http://schemas.microsoft.com/office/drawing/2014/main" id="{2D941CBF-74C4-12BD-FFD3-1320CE9FDF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447925"/>
                        <a:ext cx="9094788" cy="309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9E0A530-B5AE-28AB-9762-ED8F3E2E3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1233827-8F98-AC72-2F8A-11010765B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30</a:t>
            </a:fld>
            <a:endParaRPr lang="fr-FR" altLang="fr-FR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50198C05-5720-15F3-CEBA-06512232C1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Segment TCP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230BEC5E-30AE-4208-939C-824BE72C66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pPr lvl="2">
              <a:lnSpc>
                <a:spcPct val="90000"/>
              </a:lnSpc>
            </a:pPr>
            <a:r>
              <a:rPr lang="fr-FR" altLang="fr-FR" sz="2000"/>
              <a:t>PORT SOURCE, PORT DESTINATION</a:t>
            </a:r>
          </a:p>
          <a:p>
            <a:pPr lvl="3">
              <a:lnSpc>
                <a:spcPct val="90000"/>
              </a:lnSpc>
            </a:pPr>
            <a:r>
              <a:rPr lang="fr-FR" altLang="fr-FR" sz="1800"/>
              <a:t> indiquent les numéros de port qui identifient les programmes d'application aux deux extrémités.</a:t>
            </a:r>
          </a:p>
          <a:p>
            <a:pPr lvl="2">
              <a:lnSpc>
                <a:spcPct val="90000"/>
              </a:lnSpc>
            </a:pPr>
            <a:r>
              <a:rPr lang="fr-FR" altLang="fr-FR" sz="2000"/>
              <a:t>NUMERO D'ACCUSE DE RECEPTION</a:t>
            </a:r>
          </a:p>
          <a:p>
            <a:pPr lvl="3">
              <a:lnSpc>
                <a:spcPct val="90000"/>
              </a:lnSpc>
            </a:pPr>
            <a:r>
              <a:rPr lang="fr-FR" altLang="fr-FR" sz="1800"/>
              <a:t> indique le numéro du prochain octet attendu par le récepteur.</a:t>
            </a:r>
          </a:p>
          <a:p>
            <a:pPr lvl="2">
              <a:lnSpc>
                <a:spcPct val="90000"/>
              </a:lnSpc>
            </a:pPr>
            <a:r>
              <a:rPr lang="fr-FR" altLang="fr-FR" sz="2000"/>
              <a:t>NUMERO DE SEQUENCE</a:t>
            </a:r>
          </a:p>
          <a:p>
            <a:pPr lvl="3">
              <a:lnSpc>
                <a:spcPct val="90000"/>
              </a:lnSpc>
            </a:pPr>
            <a:r>
              <a:rPr lang="fr-FR" altLang="fr-FR" sz="1800"/>
              <a:t> est celui du premier octet du segment.</a:t>
            </a:r>
          </a:p>
          <a:p>
            <a:pPr lvl="2">
              <a:lnSpc>
                <a:spcPct val="90000"/>
              </a:lnSpc>
            </a:pPr>
            <a:r>
              <a:rPr lang="fr-FR" altLang="fr-FR" sz="2000"/>
              <a:t>LGR ENT. </a:t>
            </a:r>
          </a:p>
          <a:p>
            <a:pPr lvl="3">
              <a:lnSpc>
                <a:spcPct val="90000"/>
              </a:lnSpc>
            </a:pPr>
            <a:r>
              <a:rPr lang="fr-FR" altLang="fr-FR" sz="1800"/>
              <a:t>contient la longueur de l'en-tête en multiple de 32 bits.</a:t>
            </a:r>
          </a:p>
          <a:p>
            <a:pPr lvl="2">
              <a:lnSpc>
                <a:spcPct val="90000"/>
              </a:lnSpc>
            </a:pPr>
            <a:r>
              <a:rPr lang="fr-FR" altLang="fr-FR" sz="2000"/>
              <a:t>FENETRE </a:t>
            </a:r>
          </a:p>
          <a:p>
            <a:pPr lvl="3">
              <a:lnSpc>
                <a:spcPct val="90000"/>
              </a:lnSpc>
            </a:pPr>
            <a:r>
              <a:rPr lang="fr-FR" altLang="fr-FR" sz="1800"/>
              <a:t>permet d'interagir sur la taille de la fenêtre émission de l'autre extrémité.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CDC5FCC-FED9-574B-F95B-83F5164F2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0DFA25A-6AF5-F72D-27D0-52E44A5C4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31</a:t>
            </a:fld>
            <a:endParaRPr lang="fr-FR" altLang="fr-FR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3556D924-9E9B-5EA5-84C0-F754830FC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Segment TCP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EF5A2CC-E5C7-AC8A-6DFD-58769EDE7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pPr lvl="2">
              <a:lnSpc>
                <a:spcPct val="80000"/>
              </a:lnSpc>
            </a:pPr>
            <a:r>
              <a:rPr lang="fr-FR" altLang="fr-FR" sz="1800"/>
              <a:t>champ BITS CODE</a:t>
            </a:r>
          </a:p>
          <a:p>
            <a:pPr lvl="3">
              <a:lnSpc>
                <a:spcPct val="80000"/>
              </a:lnSpc>
            </a:pPr>
            <a:r>
              <a:rPr lang="fr-FR" altLang="fr-FR" sz="1800"/>
              <a:t>permet de préciser la ou les fonctions du segment: </a:t>
            </a:r>
          </a:p>
          <a:p>
            <a:pPr lvl="4">
              <a:lnSpc>
                <a:spcPct val="80000"/>
              </a:lnSpc>
            </a:pPr>
            <a:r>
              <a:rPr lang="fr-FR" altLang="fr-FR" sz="1800"/>
              <a:t>URG: Le pointeur de données urgentes est valide</a:t>
            </a:r>
          </a:p>
          <a:p>
            <a:pPr lvl="4">
              <a:lnSpc>
                <a:spcPct val="80000"/>
              </a:lnSpc>
            </a:pPr>
            <a:r>
              <a:rPr lang="fr-FR" altLang="fr-FR" sz="1800"/>
              <a:t>ACK: Le champ accusé de réception est valide</a:t>
            </a:r>
          </a:p>
          <a:p>
            <a:pPr lvl="4">
              <a:lnSpc>
                <a:spcPct val="80000"/>
              </a:lnSpc>
            </a:pPr>
            <a:r>
              <a:rPr lang="fr-FR" altLang="fr-FR" sz="1800"/>
              <a:t>RST: Réinitialise la connexion</a:t>
            </a:r>
          </a:p>
          <a:p>
            <a:pPr lvl="4">
              <a:lnSpc>
                <a:spcPct val="80000"/>
              </a:lnSpc>
            </a:pPr>
            <a:r>
              <a:rPr lang="fr-FR" altLang="fr-FR" sz="1800"/>
              <a:t>SYN: Synchronise le numéro de séquence</a:t>
            </a:r>
          </a:p>
          <a:p>
            <a:pPr lvl="4">
              <a:lnSpc>
                <a:spcPct val="80000"/>
              </a:lnSpc>
            </a:pPr>
            <a:r>
              <a:rPr lang="fr-FR" altLang="fr-FR" sz="1800"/>
              <a:t>FIN: L'émetteur a atteint la fin de son flot de données</a:t>
            </a:r>
          </a:p>
          <a:p>
            <a:pPr lvl="4">
              <a:lnSpc>
                <a:spcPct val="80000"/>
              </a:lnSpc>
            </a:pPr>
            <a:r>
              <a:rPr lang="fr-FR" altLang="fr-FR" sz="1800"/>
              <a:t>PSH: oblige TCP-émetteur à envoyer toutes les données même si le tampon n’est pas plein et TCP-récepteur à donner immédiatement les données à l’application</a:t>
            </a:r>
          </a:p>
          <a:p>
            <a:pPr lvl="3">
              <a:lnSpc>
                <a:spcPct val="80000"/>
              </a:lnSpc>
            </a:pPr>
            <a:r>
              <a:rPr lang="fr-FR" altLang="fr-FR" sz="1800"/>
              <a:t>exemple:</a:t>
            </a:r>
          </a:p>
          <a:p>
            <a:pPr lvl="4">
              <a:lnSpc>
                <a:spcPct val="80000"/>
              </a:lnSpc>
            </a:pPr>
            <a:r>
              <a:rPr lang="fr-FR" altLang="fr-FR" sz="1800"/>
              <a:t>lors de la connexion (bit SYN), les extrémités déterminent les numéros de séquence initiaux</a:t>
            </a:r>
            <a:endParaRPr lang="fr-FR" altLang="fr-FR" sz="1600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8E228298-A63D-7A15-0877-9B4746EE0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16BD90F-84F1-0066-4D24-F9D6FF6D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32</a:t>
            </a:fld>
            <a:endParaRPr lang="fr-FR" altLang="fr-FR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30A77591-D01E-EBA7-32DE-C090D1D79F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Segment TCP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B5D7F66-2F90-8335-2118-E134AB45C9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pPr lvl="2"/>
            <a:r>
              <a:rPr lang="fr-FR" altLang="fr-FR"/>
              <a:t>POINTEUR D'URGENCE</a:t>
            </a:r>
          </a:p>
          <a:p>
            <a:pPr lvl="3"/>
            <a:r>
              <a:rPr lang="fr-FR" altLang="fr-FR"/>
              <a:t> permet de repérer dans le flot de données la position de données urgentes (qui doivent "doubler" les autres données) lorsque le bit URG est positionné.</a:t>
            </a:r>
          </a:p>
          <a:p>
            <a:pPr lvl="2"/>
            <a:r>
              <a:rPr lang="fr-FR" altLang="fr-FR"/>
              <a:t>OPTION </a:t>
            </a:r>
          </a:p>
          <a:p>
            <a:pPr lvl="3"/>
            <a:r>
              <a:rPr lang="fr-FR" altLang="fr-FR"/>
              <a:t>permet entre autres la négociation de la taille de segment à la connexion.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26304A9-6014-F211-13F0-937F46F20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2908CFD-E7FD-E20C-2A39-B4D8D30F1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33</a:t>
            </a:fld>
            <a:endParaRPr lang="fr-FR" altLang="fr-FR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8608A131-0EA7-1109-693B-05203FBE37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Protocole UDP </a:t>
            </a:r>
            <a:br>
              <a:rPr lang="fr-FR" altLang="fr-FR"/>
            </a:br>
            <a:r>
              <a:rPr lang="fr-FR" altLang="fr-FR"/>
              <a:t>User Datagram Protocol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1787CE1D-3CE0-1F2E-9493-BF7015254F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fr-FR" altLang="fr-FR"/>
              <a:t>Principes</a:t>
            </a:r>
          </a:p>
          <a:p>
            <a:pPr lvl="1"/>
            <a:r>
              <a:rPr lang="fr-FR" altLang="fr-FR"/>
              <a:t> un service de remise non fiable, mode sans connexion. </a:t>
            </a:r>
          </a:p>
          <a:p>
            <a:pPr lvl="2"/>
            <a:r>
              <a:rPr lang="fr-FR" altLang="fr-FR"/>
              <a:t>les messages UDP peuvent être perdus, déséquencés ou retardés.</a:t>
            </a:r>
          </a:p>
          <a:p>
            <a:pPr lvl="1"/>
            <a:r>
              <a:rPr lang="fr-FR" altLang="fr-FR"/>
              <a:t>mécanisme de "ports" identique à TCP.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B741813E-FF6B-CECD-BFEF-210E1A22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6DB306A-1A34-C7AB-B021-BD6EDB697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34</a:t>
            </a:fld>
            <a:endParaRPr lang="fr-FR" altLang="fr-FR"/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7E1CFD86-59F2-3B11-702A-1752FDC912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fr-FR" altLang="fr-FR"/>
              <a:t>Datagramme UDP</a:t>
            </a:r>
          </a:p>
        </p:txBody>
      </p:sp>
      <p:graphicFrame>
        <p:nvGraphicFramePr>
          <p:cNvPr id="79876" name="Object 4">
            <a:extLst>
              <a:ext uri="{FF2B5EF4-FFF2-40B4-BE49-F238E27FC236}">
                <a16:creationId xmlns:a16="http://schemas.microsoft.com/office/drawing/2014/main" id="{4D13ACCB-D8DC-FEE3-BECB-143784DB7917}"/>
              </a:ext>
            </a:extLst>
          </p:cNvPr>
          <p:cNvGraphicFramePr>
            <a:graphicFrameLocks noGrp="1" noChangeAspect="1"/>
          </p:cNvGraphicFramePr>
          <p:nvPr>
            <p:ph type="body" idx="1"/>
          </p:nvPr>
        </p:nvGraphicFramePr>
        <p:xfrm>
          <a:off x="912813" y="2332038"/>
          <a:ext cx="8110537" cy="333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711560" imgH="3171600" progId="Word.Document.8">
                  <p:embed/>
                </p:oleObj>
              </mc:Choice>
              <mc:Fallback>
                <p:oleObj name="Document" r:id="rId2" imgW="7711560" imgH="3171600" progId="Word.Document.8">
                  <p:embed/>
                  <p:pic>
                    <p:nvPicPr>
                      <p:cNvPr id="79876" name="Object 4">
                        <a:extLst>
                          <a:ext uri="{FF2B5EF4-FFF2-40B4-BE49-F238E27FC236}">
                            <a16:creationId xmlns:a16="http://schemas.microsoft.com/office/drawing/2014/main" id="{4D13ACCB-D8DC-FEE3-BECB-143784DB79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3" y="2332038"/>
                        <a:ext cx="8110537" cy="333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865F18B-72DD-3C4B-DFCF-F240C488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C1E7F95-A339-E80E-AE4B-4726B155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35</a:t>
            </a:fld>
            <a:endParaRPr lang="fr-FR" altLang="fr-FR"/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1B8D74AB-2375-5707-A697-F7C2790F5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162925" cy="762000"/>
          </a:xfrm>
        </p:spPr>
        <p:txBody>
          <a:bodyPr/>
          <a:lstStyle/>
          <a:p>
            <a:r>
              <a:rPr lang="fr-FR" altLang="fr-FR"/>
              <a:t>Protocole Application NNTP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1F48FB08-D5F6-0BDA-5CD8-52C8527B6D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3463" y="1752600"/>
            <a:ext cx="8110537" cy="419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altLang="fr-FR" sz="2000" b="1"/>
              <a:t>Documentation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/>
              <a:t>Network News Transfert Protocol, RFC 977 (Request For Comments)</a:t>
            </a:r>
          </a:p>
          <a:p>
            <a:pPr>
              <a:lnSpc>
                <a:spcPct val="90000"/>
              </a:lnSpc>
            </a:pPr>
            <a:r>
              <a:rPr lang="fr-FR" altLang="fr-FR" sz="2000" b="1"/>
              <a:t>But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/>
              <a:t>Protocole TCP pour l’envoi et la réception des nouvelles, et pour la diffusion des nouvelles entre serveurs NNTP</a:t>
            </a:r>
            <a:r>
              <a:rPr lang="fr-FR" altLang="fr-FR" sz="2800"/>
              <a:t>. </a:t>
            </a:r>
          </a:p>
          <a:p>
            <a:pPr>
              <a:lnSpc>
                <a:spcPct val="90000"/>
              </a:lnSpc>
            </a:pPr>
            <a:r>
              <a:rPr lang="fr-FR" altLang="fr-FR" sz="2000" b="1"/>
              <a:t>Principes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/>
              <a:t>Dialogue client-serveur sur port réservé NNTP (119). Chaque requête du client a pour réponse une ligne commençant par un code numérique à 3 chiffres</a:t>
            </a:r>
            <a:r>
              <a:rPr lang="fr-FR" altLang="fr-FR" sz="2800"/>
              <a:t>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/>
              <a:t>2xx OK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/>
              <a:t>3xx Informations suivent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/>
              <a:t>5xx Pas OK</a:t>
            </a:r>
          </a:p>
          <a:p>
            <a:pPr>
              <a:lnSpc>
                <a:spcPct val="90000"/>
              </a:lnSpc>
            </a:pPr>
            <a:r>
              <a:rPr lang="fr-FR" altLang="fr-FR" sz="2000" b="1"/>
              <a:t>Connexion au serveur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2000"/>
              <a:t>Réponse du serveur: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2000">
                <a:latin typeface="Courier New" panose="02070309020205020404" pitchFamily="49" charset="0"/>
              </a:rPr>
              <a:t>200 Service NNTP Microsoft® Internet Services 5.5 Version: 5.5.1775.8 Posting Allowed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1F142C6-B124-DAA2-9038-898531EB5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ED3AB3C-437A-C437-DF06-A67F8471F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36</a:t>
            </a:fld>
            <a:endParaRPr lang="fr-FR" altLang="fr-FR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BB6612CA-85BA-8BB8-1613-5FC3DD422A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fr-FR" altLang="fr-FR"/>
              <a:t>Protocole Application NNTP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CDCA698F-04E3-8AB4-B52A-A91B3B82ED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fr-FR" altLang="fr-FR" sz="2000" b="1"/>
              <a:t>Voir les groupes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 i="1">
                <a:latin typeface="Courier New" panose="02070309020205020404" pitchFamily="49" charset="0"/>
              </a:rPr>
              <a:t>LIST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215 list of newsgroups follow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recreation.cuisine 0 1 y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recreation.soiree 0 1 y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sport 0 1 y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sport.bodybuilding 0 1 y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test 10 1 y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 i="1">
                <a:latin typeface="Courier New" panose="02070309020205020404" pitchFamily="49" charset="0"/>
              </a:rPr>
              <a:t>NEWGROUPS 001205 000000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231 New newsgroups follow.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recreation.cuisine 0 1 y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sport 0 1 y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sport.bodybuilding 0 1 y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sport.foot 0 1 y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.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5A849E85-74DB-BFD5-CEFD-6A97C30C37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8162925" cy="762000"/>
          </a:xfrm>
        </p:spPr>
        <p:txBody>
          <a:bodyPr/>
          <a:lstStyle/>
          <a:p>
            <a:r>
              <a:rPr lang="fr-FR" altLang="fr-FR"/>
              <a:t>Protocole Application NNTP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0D698E73-D660-8B4A-5C78-BA2C64A76F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3463" y="1295400"/>
            <a:ext cx="8110537" cy="419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altLang="fr-FR" sz="1800" b="1"/>
              <a:t>Voir la liste des nouvelles d’un groupe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 i="1">
                <a:latin typeface="Courier New" panose="02070309020205020404" pitchFamily="49" charset="0"/>
              </a:rPr>
              <a:t>GROUP sport.foot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211 0 1 0 sport.foot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 i="1">
                <a:latin typeface="Courier New" panose="02070309020205020404" pitchFamily="49" charset="0"/>
              </a:rPr>
              <a:t>GROUP test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211 10 1 10 test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 i="1">
                <a:latin typeface="Courier New" panose="02070309020205020404" pitchFamily="49" charset="0"/>
              </a:rPr>
              <a:t>NEWNEWS test 001205 000000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230 list of new articles by message-id follows.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&lt;Pd7KWs1XAHA.258@libreville&gt;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&lt;e91S3l1XAHA.258@libreville&gt;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&lt;NWuSSk1XAHA.258@libreville&gt;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&lt;sn2vMd1XAHA.258@libreville&gt;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&lt;LIRsMd1XAHA.258@libreville&gt;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&lt;6AHoMd1XAHA.258@libreville&gt;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&lt;p1VjMd1XAHA.258@libreville&gt;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&lt;4GYaMd1XAHA.258@libreville&gt;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&lt;n$NWMd1XAHA.258@libreville&gt;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&lt;2U3NMd1XAHA.258@libreville&gt;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.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570BA253-83C0-DE75-42F9-4545EB39A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fr-FR" altLang="fr-FR"/>
              <a:t>Protocole Application NNTP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4BD85EEB-FB93-71C3-D93D-1FD93A81AB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8110538" cy="419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altLang="fr-FR" sz="1600" b="1"/>
              <a:t>lire une nouvelle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600" b="1" i="1">
                <a:latin typeface="Courier New" panose="02070309020205020404" pitchFamily="49" charset="0"/>
              </a:rPr>
              <a:t>group informat.ethernet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600">
                <a:latin typeface="Courier New" panose="02070309020205020404" pitchFamily="49" charset="0"/>
              </a:rPr>
              <a:t>211 2 1 2 informat.ethernet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600" b="1" i="1">
                <a:latin typeface="Courier New" panose="02070309020205020404" pitchFamily="49" charset="0"/>
              </a:rPr>
              <a:t>article 1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600">
                <a:latin typeface="Courier New" panose="02070309020205020404" pitchFamily="49" charset="0"/>
              </a:rPr>
              <a:t>220 1 &lt;hgC8#G2XAHA.258@libreville&gt;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600">
                <a:latin typeface="Courier New" panose="02070309020205020404" pitchFamily="49" charset="0"/>
              </a:rPr>
              <a:t>From: "admin" &lt;admin@ist&gt;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600">
                <a:latin typeface="Courier New" panose="02070309020205020404" pitchFamily="49" charset="0"/>
              </a:rPr>
              <a:t>Subject: Peut-on connecter 2 pc directement en 10BaseT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600">
                <a:latin typeface="Courier New" panose="02070309020205020404" pitchFamily="49" charset="0"/>
              </a:rPr>
              <a:t>Date: Wed, 6 Dec 2000 09:51:38 +0100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600">
                <a:latin typeface="Courier New" panose="02070309020205020404" pitchFamily="49" charset="0"/>
              </a:rPr>
              <a:t>Lines: 4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600">
                <a:latin typeface="Courier New" panose="02070309020205020404" pitchFamily="49" charset="0"/>
              </a:rPr>
              <a:t>X-Newsreader: Microsoft Outlook Express 4.72.3110.5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600">
                <a:latin typeface="Courier New" panose="02070309020205020404" pitchFamily="49" charset="0"/>
              </a:rPr>
              <a:t>Message-ID: &lt;hgC8#G2XAHA.258@libreville&gt;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600">
                <a:latin typeface="Courier New" panose="02070309020205020404" pitchFamily="49" charset="0"/>
              </a:rPr>
              <a:t>Newsgroups: informat.ethernet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600">
                <a:latin typeface="Courier New" panose="02070309020205020404" pitchFamily="49" charset="0"/>
              </a:rPr>
              <a:t>Path: libreville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600">
                <a:latin typeface="Courier New" panose="02070309020205020404" pitchFamily="49" charset="0"/>
              </a:rPr>
              <a:t>Xref: libreville informat.ethernet:1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600">
                <a:latin typeface="Courier New" panose="02070309020205020404" pitchFamily="49" charset="0"/>
              </a:rPr>
              <a:t>NNTP-Posting-Host: LIBREVILLE 172.16.94.1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600">
                <a:latin typeface="Courier New" panose="02070309020205020404" pitchFamily="49" charset="0"/>
              </a:rPr>
              <a:t>j'aimerais savoir s'il est possible de connecter 2 pc directement avec du 10BaseT, ce qui me permettrait d'éviter l'achat d'un hub. Merci pour toute forme de collaboration.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600">
                <a:latin typeface="Courier New" panose="02070309020205020404" pitchFamily="49" charset="0"/>
              </a:rPr>
              <a:t>.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A7038438-2DD3-4F22-BC8A-FF95B595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Architecture TCP/IP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EF92E6B-BCCD-2E05-CC75-BA597925B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54637141-AE15-4A1C-AB14-F8130D81EA9A}" type="slidenum">
              <a:rPr lang="fr-FR" altLang="fr-FR" smtClean="0"/>
              <a:pPr/>
              <a:t>39</a:t>
            </a:fld>
            <a:endParaRPr lang="fr-FR" altLang="fr-FR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70A992B9-B151-498A-B0CD-1EC61AB39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fr-FR" altLang="fr-FR"/>
              <a:t>Protocole Application NNTP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67290CD-B6DB-5531-D000-978F59A234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fr-FR" altLang="fr-FR" sz="1800" b="1"/>
              <a:t>lire une nouvelle (suite)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 b="1" i="1">
                <a:latin typeface="Courier New" panose="02070309020205020404" pitchFamily="49" charset="0"/>
              </a:rPr>
              <a:t>article 3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423 no such article number in group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altLang="fr-FR" sz="1800" b="1" i="1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 b="1" i="1">
                <a:latin typeface="Courier New" panose="02070309020205020404" pitchFamily="49" charset="0"/>
              </a:rPr>
              <a:t>article &lt;hgC8#G2XAHA.258@libreville&gt;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 i="1">
                <a:latin typeface="Courier New" panose="02070309020205020404" pitchFamily="49" charset="0"/>
              </a:rPr>
              <a:t>…</a:t>
            </a:r>
          </a:p>
          <a:p>
            <a:pPr>
              <a:lnSpc>
                <a:spcPct val="90000"/>
              </a:lnSpc>
            </a:pPr>
            <a:r>
              <a:rPr lang="fr-FR" altLang="fr-FR" sz="1800" b="1"/>
              <a:t>poster une nouvelle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 i="1">
                <a:latin typeface="Courier New" panose="02070309020205020404" pitchFamily="49" charset="0"/>
              </a:rPr>
              <a:t>POST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 i="1">
                <a:latin typeface="Courier New" panose="02070309020205020404" pitchFamily="49" charset="0"/>
              </a:rPr>
              <a:t>…</a:t>
            </a:r>
          </a:p>
          <a:p>
            <a:pPr>
              <a:lnSpc>
                <a:spcPct val="90000"/>
              </a:lnSpc>
            </a:pPr>
            <a:r>
              <a:rPr lang="fr-FR" altLang="fr-FR" sz="1800" b="1"/>
              <a:t>Fin prématurée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503 connection timed out</a:t>
            </a:r>
          </a:p>
          <a:p>
            <a:pPr>
              <a:lnSpc>
                <a:spcPct val="90000"/>
              </a:lnSpc>
            </a:pPr>
            <a:r>
              <a:rPr lang="fr-FR" altLang="fr-FR" sz="1800" b="1"/>
              <a:t>S’en aller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 i="1">
                <a:latin typeface="Courier New" panose="02070309020205020404" pitchFamily="49" charset="0"/>
              </a:rPr>
              <a:t>	QUIT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5F8A54CD-484F-DAE9-D207-A73939009F0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7AC4FF45-1A1E-4CD1-AB91-D6562B23B876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2BBA7CEE-E25F-3514-FC91-3B227275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Interface des Sockets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A46174ED-888F-17C3-ACBC-900CC2842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216900" y="6248400"/>
            <a:ext cx="533400" cy="609600"/>
          </a:xfrm>
          <a:prstGeom prst="rect">
            <a:avLst/>
          </a:prstGeom>
          <a:pattFill prst="lgConfetti">
            <a:fgClr>
              <a:schemeClr val="accent2"/>
            </a:fgClr>
            <a:bgClr>
              <a:schemeClr val="folHlink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0FF396-85F4-4C5B-AF1E-4F9FB605BC5B}" type="slidenum">
              <a:rPr lang="fr-FR" altLang="fr-FR" smtClean="0"/>
              <a:pPr/>
              <a:t>40</a:t>
            </a:fld>
            <a:endParaRPr lang="fr-FR" altLang="fr-FR"/>
          </a:p>
        </p:txBody>
      </p:sp>
      <p:sp>
        <p:nvSpPr>
          <p:cNvPr id="113666" name="Rectangle 1026">
            <a:extLst>
              <a:ext uri="{FF2B5EF4-FFF2-40B4-BE49-F238E27FC236}">
                <a16:creationId xmlns:a16="http://schemas.microsoft.com/office/drawing/2014/main" id="{E4DBDBD1-413E-4710-0BC3-15C1F3B93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A quoi ça sert les sockets ?	</a:t>
            </a:r>
          </a:p>
        </p:txBody>
      </p:sp>
      <p:sp>
        <p:nvSpPr>
          <p:cNvPr id="113667" name="Rectangle 1027">
            <a:extLst>
              <a:ext uri="{FF2B5EF4-FFF2-40B4-BE49-F238E27FC236}">
                <a16:creationId xmlns:a16="http://schemas.microsoft.com/office/drawing/2014/main" id="{2B86D3F8-5D1B-FE99-0C85-6037EFDFDC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fr-FR" altLang="fr-FR" sz="2800"/>
              <a:t>Applications client/serveur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Transfert de fichiers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Connexion à distance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Courrier électronique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Groupe de discussions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Web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Et maintenant tous les domaines de l’informatique:</a:t>
            </a:r>
          </a:p>
          <a:p>
            <a:pPr lvl="2">
              <a:lnSpc>
                <a:spcPct val="90000"/>
              </a:lnSpc>
            </a:pPr>
            <a:r>
              <a:rPr lang="fr-FR" altLang="fr-FR" sz="2000"/>
              <a:t>Multimedia, jeux, télémaintenance…</a:t>
            </a:r>
          </a:p>
          <a:p>
            <a:pPr>
              <a:lnSpc>
                <a:spcPct val="90000"/>
              </a:lnSpc>
            </a:pPr>
            <a:r>
              <a:rPr lang="fr-FR" altLang="fr-FR" sz="2800"/>
              <a:t>Comment implémenter de telles applications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Interface des sockets</a:t>
            </a:r>
          </a:p>
          <a:p>
            <a:pPr lvl="1">
              <a:lnSpc>
                <a:spcPct val="90000"/>
              </a:lnSpc>
            </a:pPr>
            <a:endParaRPr lang="fr-FR" altLang="fr-FR" sz="2400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8A49C3B0-F6D0-2D30-1422-B9D2AA625FF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7AC4FF45-1A1E-4CD1-AB91-D6562B23B876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5CDAB409-1A1D-8607-37F9-0EB84CF8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Interface des Sockets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42373F96-E036-BFF2-72A2-1558223EB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216900" y="6248400"/>
            <a:ext cx="533400" cy="609600"/>
          </a:xfrm>
          <a:prstGeom prst="rect">
            <a:avLst/>
          </a:prstGeom>
          <a:pattFill prst="lgConfetti">
            <a:fgClr>
              <a:schemeClr val="accent2"/>
            </a:fgClr>
            <a:bgClr>
              <a:schemeClr val="folHlink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0FF396-85F4-4C5B-AF1E-4F9FB605BC5B}" type="slidenum">
              <a:rPr lang="fr-FR" altLang="fr-FR" smtClean="0"/>
              <a:pPr/>
              <a:t>41</a:t>
            </a:fld>
            <a:endParaRPr lang="fr-FR" altLang="fr-FR"/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DCEA7617-BEB3-C6EF-1D5A-67D727CFC0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Les sockets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572D57F-AC6D-611F-49E7-9F9CFB123A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fr-FR" altLang="fr-FR" sz="2800"/>
              <a:t>Mécanisme de communication inter-processus</a:t>
            </a:r>
          </a:p>
          <a:p>
            <a:pPr>
              <a:lnSpc>
                <a:spcPct val="90000"/>
              </a:lnSpc>
            </a:pPr>
            <a:r>
              <a:rPr lang="fr-FR" altLang="fr-FR" sz="2800"/>
              <a:t>Bref historique: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UNIX BSD4.2 </a:t>
            </a:r>
            <a:r>
              <a:rPr lang="fr-FR" altLang="fr-FR" sz="2000"/>
              <a:t>(Berkeley Software Distribution)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Windows de Microsoft, UNIX System V...</a:t>
            </a:r>
          </a:p>
          <a:p>
            <a:pPr>
              <a:lnSpc>
                <a:spcPct val="90000"/>
              </a:lnSpc>
            </a:pPr>
            <a:r>
              <a:rPr lang="fr-FR" altLang="fr-FR" sz="2800"/>
              <a:t>Interface applicative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Ensemble de primitives permettant des E/S avec la pile de protocole TCP/IP:</a:t>
            </a:r>
          </a:p>
          <a:p>
            <a:pPr lvl="2">
              <a:lnSpc>
                <a:spcPct val="90000"/>
              </a:lnSpc>
            </a:pPr>
            <a:r>
              <a:rPr lang="fr-FR" altLang="fr-FR" sz="2000"/>
              <a:t>socket, connect, write, read, close, bind, listen, accept…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Interface entre couches application et transport</a:t>
            </a:r>
          </a:p>
          <a:p>
            <a:pPr lvl="1">
              <a:lnSpc>
                <a:spcPct val="90000"/>
              </a:lnSpc>
            </a:pPr>
            <a:r>
              <a:rPr lang="fr-FR" altLang="fr-FR" sz="2400"/>
              <a:t>Adaptée aux protocoles TCP et UDP, mais utilisable avec d'autres familles de protocoles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4FDC7093-6BCF-01F1-F5D2-AFD71C92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7AC4FF45-1A1E-4CD1-AB91-D6562B23B876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6912BAA9-C083-467A-B373-1F5981D0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Interface des Sockets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8625F619-180C-7D23-D591-68603B51D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216900" y="6248400"/>
            <a:ext cx="533400" cy="609600"/>
          </a:xfrm>
          <a:prstGeom prst="rect">
            <a:avLst/>
          </a:prstGeom>
          <a:pattFill prst="lgConfetti">
            <a:fgClr>
              <a:schemeClr val="accent2"/>
            </a:fgClr>
            <a:bgClr>
              <a:schemeClr val="folHlink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0FF396-85F4-4C5B-AF1E-4F9FB605BC5B}" type="slidenum">
              <a:rPr lang="fr-FR" altLang="fr-FR" smtClean="0"/>
              <a:pPr/>
              <a:t>42</a:t>
            </a:fld>
            <a:endParaRPr lang="fr-FR" altLang="fr-FR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DB8F4B59-479A-7720-1BBE-96D074E2C1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Communication sous UNIX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40FF906-4A47-4AA0-80BA-66E44D8E94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fr-FR" altLang="fr-FR" sz="2800"/>
              <a:t>Rappels :</a:t>
            </a:r>
          </a:p>
          <a:p>
            <a:pPr lvl="1"/>
            <a:r>
              <a:rPr lang="fr-FR" altLang="fr-FR" sz="2400"/>
              <a:t>tube (pipe) du système UNIX</a:t>
            </a:r>
          </a:p>
          <a:p>
            <a:pPr lvl="1"/>
            <a:r>
              <a:rPr lang="fr-FR" altLang="fr-FR" sz="2400"/>
              <a:t>tube nommé</a:t>
            </a:r>
          </a:p>
          <a:p>
            <a:r>
              <a:rPr lang="fr-FR" altLang="fr-FR" sz="2800"/>
              <a:t>Sockets=généralisation des tubes nommés</a:t>
            </a:r>
          </a:p>
          <a:p>
            <a:pPr lvl="1"/>
            <a:r>
              <a:rPr lang="fr-FR" altLang="fr-FR" sz="2400"/>
              <a:t>Point de communication bidirectionnelle par lequel un processus pourra émettre ou recevoir des informations</a:t>
            </a:r>
          </a:p>
          <a:p>
            <a:pPr lvl="1"/>
            <a:r>
              <a:rPr lang="fr-FR" altLang="fr-FR" sz="2400"/>
              <a:t>processus sur des machines </a:t>
            </a:r>
            <a:r>
              <a:rPr lang="fr-FR" altLang="fr-FR" sz="2000"/>
              <a:t>(éventuellement)</a:t>
            </a:r>
            <a:r>
              <a:rPr lang="fr-FR" altLang="fr-FR" sz="2400"/>
              <a:t> différentes</a:t>
            </a:r>
          </a:p>
          <a:p>
            <a:pPr lvl="1"/>
            <a:r>
              <a:rPr lang="fr-FR" altLang="fr-FR" sz="2400"/>
              <a:t>systèmes d’exploitation </a:t>
            </a:r>
            <a:r>
              <a:rPr lang="fr-FR" altLang="fr-FR" sz="2000"/>
              <a:t>(éventuellement)</a:t>
            </a:r>
            <a:r>
              <a:rPr lang="fr-FR" altLang="fr-FR" sz="2400"/>
              <a:t> différents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9968A600-5D88-8DD1-4207-75BF40BF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7AC4FF45-1A1E-4CD1-AB91-D6562B23B876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009C34F-A22B-2F42-D6E7-F5049992E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Interface des Sockets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EE35E46B-2734-B124-6684-633C0FB0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216900" y="6248400"/>
            <a:ext cx="533400" cy="609600"/>
          </a:xfrm>
          <a:prstGeom prst="rect">
            <a:avLst/>
          </a:prstGeom>
          <a:pattFill prst="lgConfetti">
            <a:fgClr>
              <a:schemeClr val="accent2"/>
            </a:fgClr>
            <a:bgClr>
              <a:schemeClr val="folHlink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0FF396-85F4-4C5B-AF1E-4F9FB605BC5B}" type="slidenum">
              <a:rPr lang="fr-FR" altLang="fr-FR" smtClean="0"/>
              <a:pPr/>
              <a:t>43</a:t>
            </a:fld>
            <a:endParaRPr lang="fr-FR" altLang="fr-FR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8DDF96B1-B5D1-CBE9-FBF8-A21F30AB5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Attributs des sockets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43D0BB9-AA01-5598-D27C-ED0368FCBB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fr-FR" altLang="fr-FR" sz="2800"/>
              <a:t>un nom</a:t>
            </a:r>
          </a:p>
          <a:p>
            <a:pPr lvl="2"/>
            <a:r>
              <a:rPr lang="fr-FR" altLang="fr-FR" sz="2000"/>
              <a:t>Descripteur de fichier</a:t>
            </a:r>
          </a:p>
          <a:p>
            <a:r>
              <a:rPr lang="fr-FR" altLang="fr-FR" sz="2800"/>
              <a:t>un type</a:t>
            </a:r>
          </a:p>
          <a:p>
            <a:pPr lvl="2"/>
            <a:r>
              <a:rPr lang="fr-FR" altLang="fr-FR" sz="2000"/>
              <a:t>SOCK_STREAM:mode connecté, remise fiable </a:t>
            </a:r>
            <a:r>
              <a:rPr lang="fr-FR" altLang="fr-FR" sz="1400"/>
              <a:t>(TCP/IP)</a:t>
            </a:r>
          </a:p>
          <a:p>
            <a:pPr lvl="2"/>
            <a:r>
              <a:rPr lang="fr-FR" altLang="fr-FR" sz="2000"/>
              <a:t>SOCK_DGRAM:mode non connecté, remise non fiable </a:t>
            </a:r>
            <a:r>
              <a:rPr lang="fr-FR" altLang="fr-FR" sz="1400"/>
              <a:t>(UDP/IP)</a:t>
            </a:r>
          </a:p>
          <a:p>
            <a:pPr lvl="2"/>
            <a:r>
              <a:rPr lang="fr-FR" altLang="fr-FR" sz="2000"/>
              <a:t>RAW : mode caractère (pour accès direct aux couches inférieures)</a:t>
            </a:r>
          </a:p>
          <a:p>
            <a:r>
              <a:rPr lang="fr-FR" altLang="fr-FR" sz="2800"/>
              <a:t>associé à un processus </a:t>
            </a:r>
          </a:p>
          <a:p>
            <a:r>
              <a:rPr lang="fr-FR" altLang="fr-FR" sz="2800"/>
              <a:t>une adresse (adresse IP + n° port) 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9DF669B3-7EED-8224-B16F-AE7449B5A7B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7AC4FF45-1A1E-4CD1-AB91-D6562B23B876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79EE6B03-0BDC-1D8B-C7D8-59DF7A559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Interface des Sockets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2D9DE710-25C4-B180-7715-ACCDB2E65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216900" y="6248400"/>
            <a:ext cx="533400" cy="609600"/>
          </a:xfrm>
          <a:prstGeom prst="rect">
            <a:avLst/>
          </a:prstGeom>
          <a:pattFill prst="lgConfetti">
            <a:fgClr>
              <a:schemeClr val="accent2"/>
            </a:fgClr>
            <a:bgClr>
              <a:schemeClr val="folHlink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0FF396-85F4-4C5B-AF1E-4F9FB605BC5B}" type="slidenum">
              <a:rPr lang="fr-FR" altLang="fr-FR" smtClean="0"/>
              <a:pPr/>
              <a:t>44</a:t>
            </a:fld>
            <a:endParaRPr lang="fr-FR" altLang="fr-FR"/>
          </a:p>
        </p:txBody>
      </p:sp>
      <p:sp>
        <p:nvSpPr>
          <p:cNvPr id="92162" name="Rectangle 1026">
            <a:extLst>
              <a:ext uri="{FF2B5EF4-FFF2-40B4-BE49-F238E27FC236}">
                <a16:creationId xmlns:a16="http://schemas.microsoft.com/office/drawing/2014/main" id="{C76A5BF9-E9C3-C8BA-8BDF-D3BA7C03DA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Types de socket et protocoles</a:t>
            </a:r>
          </a:p>
        </p:txBody>
      </p:sp>
      <p:sp>
        <p:nvSpPr>
          <p:cNvPr id="92165" name="Rectangle 1029">
            <a:extLst>
              <a:ext uri="{FF2B5EF4-FFF2-40B4-BE49-F238E27FC236}">
                <a16:creationId xmlns:a16="http://schemas.microsoft.com/office/drawing/2014/main" id="{C60EF08A-0D32-96E7-DAAA-9BC8DD55D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9875" y="2647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/>
          </a:p>
        </p:txBody>
      </p:sp>
      <p:graphicFrame>
        <p:nvGraphicFramePr>
          <p:cNvPr id="92164" name="Object 1028">
            <a:extLst>
              <a:ext uri="{FF2B5EF4-FFF2-40B4-BE49-F238E27FC236}">
                <a16:creationId xmlns:a16="http://schemas.microsoft.com/office/drawing/2014/main" id="{E365F10D-634A-20F3-6676-87B7B27623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1438" y="2590800"/>
          <a:ext cx="6430962" cy="285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15156" imgH="1734312" progId="Word.Picture.8">
                  <p:embed/>
                </p:oleObj>
              </mc:Choice>
              <mc:Fallback>
                <p:oleObj r:id="rId2" imgW="3915156" imgH="1734312" progId="Word.Picture.8">
                  <p:embed/>
                  <p:pic>
                    <p:nvPicPr>
                      <p:cNvPr id="92164" name="Object 1028">
                        <a:extLst>
                          <a:ext uri="{FF2B5EF4-FFF2-40B4-BE49-F238E27FC236}">
                            <a16:creationId xmlns:a16="http://schemas.microsoft.com/office/drawing/2014/main" id="{E365F10D-634A-20F3-6676-87B7B27623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2590800"/>
                        <a:ext cx="6430962" cy="285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241F3BB5-E7DB-8718-A42F-57E36E99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7AC4FF45-1A1E-4CD1-AB91-D6562B23B876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99ACEB92-B2AC-4DCF-3B91-1A6531E49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Interface des Sockets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85B319DE-FB0A-1742-404C-88AD8B1D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216900" y="6248400"/>
            <a:ext cx="533400" cy="609600"/>
          </a:xfrm>
          <a:prstGeom prst="rect">
            <a:avLst/>
          </a:prstGeom>
          <a:pattFill prst="lgConfetti">
            <a:fgClr>
              <a:schemeClr val="accent2"/>
            </a:fgClr>
            <a:bgClr>
              <a:schemeClr val="folHlink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0FF396-85F4-4C5B-AF1E-4F9FB605BC5B}" type="slidenum">
              <a:rPr lang="fr-FR" altLang="fr-FR" smtClean="0"/>
              <a:pPr/>
              <a:t>45</a:t>
            </a:fld>
            <a:endParaRPr lang="fr-FR" altLang="fr-FR"/>
          </a:p>
        </p:txBody>
      </p:sp>
      <p:sp>
        <p:nvSpPr>
          <p:cNvPr id="94210" name="Rectangle 2050">
            <a:extLst>
              <a:ext uri="{FF2B5EF4-FFF2-40B4-BE49-F238E27FC236}">
                <a16:creationId xmlns:a16="http://schemas.microsoft.com/office/drawing/2014/main" id="{46B08DEF-F1F7-7B0E-433D-598231A7E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Modes de dialogue et primitives</a:t>
            </a:r>
          </a:p>
        </p:txBody>
      </p:sp>
      <p:sp>
        <p:nvSpPr>
          <p:cNvPr id="94213" name="Rectangle 2053">
            <a:extLst>
              <a:ext uri="{FF2B5EF4-FFF2-40B4-BE49-F238E27FC236}">
                <a16:creationId xmlns:a16="http://schemas.microsoft.com/office/drawing/2014/main" id="{4959B2E9-1760-A367-26B3-3D012610F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121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/>
          </a:p>
        </p:txBody>
      </p:sp>
      <p:graphicFrame>
        <p:nvGraphicFramePr>
          <p:cNvPr id="94212" name="Object 2052">
            <a:extLst>
              <a:ext uri="{FF2B5EF4-FFF2-40B4-BE49-F238E27FC236}">
                <a16:creationId xmlns:a16="http://schemas.microsoft.com/office/drawing/2014/main" id="{FB1BB459-2D7E-56C4-CB35-2B8A54AAF8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3275" y="1620838"/>
          <a:ext cx="7542213" cy="579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ssin Microsoft Draw" r:id="rId2" imgW="6196680" imgH="4762800" progId="MSDraw.Drawing.8.2">
                  <p:embed/>
                </p:oleObj>
              </mc:Choice>
              <mc:Fallback>
                <p:oleObj name="Dessin Microsoft Draw" r:id="rId2" imgW="6196680" imgH="4762800" progId="MSDraw.Drawing.8.2">
                  <p:embed/>
                  <p:pic>
                    <p:nvPicPr>
                      <p:cNvPr id="94212" name="Object 2052">
                        <a:extLst>
                          <a:ext uri="{FF2B5EF4-FFF2-40B4-BE49-F238E27FC236}">
                            <a16:creationId xmlns:a16="http://schemas.microsoft.com/office/drawing/2014/main" id="{FB1BB459-2D7E-56C4-CB35-2B8A54AAF8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1620838"/>
                        <a:ext cx="7542213" cy="5794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8BEB8A7A-E034-B6BE-7450-E4FECF30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7AC4FF45-1A1E-4CD1-AB91-D6562B23B876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1A6BF908-DCDE-4C9C-A272-C6CB840DE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Interface des Sockets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B7486BF9-A978-47DF-898E-B45AB1DD1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216900" y="6248400"/>
            <a:ext cx="533400" cy="609600"/>
          </a:xfrm>
          <a:prstGeom prst="rect">
            <a:avLst/>
          </a:prstGeom>
          <a:pattFill prst="lgConfetti">
            <a:fgClr>
              <a:schemeClr val="accent2"/>
            </a:fgClr>
            <a:bgClr>
              <a:schemeClr val="folHlink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0FF396-85F4-4C5B-AF1E-4F9FB605BC5B}" type="slidenum">
              <a:rPr lang="fr-FR" altLang="fr-FR" smtClean="0"/>
              <a:pPr/>
              <a:t>46</a:t>
            </a:fld>
            <a:endParaRPr lang="fr-FR" altLang="fr-FR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AFA643EE-6289-F0E5-0958-808529A1F8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Communication en mode connecté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3F0F86F-500E-F03D-AB9F-DA013F1056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fr-FR" sz="2800"/>
              <a:t>Dissymétrie lors de la connexion</a:t>
            </a:r>
          </a:p>
          <a:p>
            <a:pPr lvl="1"/>
            <a:r>
              <a:rPr lang="fr-FR" altLang="fr-FR" sz="2400"/>
              <a:t>Le serveur attend…</a:t>
            </a:r>
          </a:p>
          <a:p>
            <a:pPr lvl="1"/>
            <a:r>
              <a:rPr lang="fr-FR" altLang="fr-FR" sz="2400"/>
              <a:t>Le client demande une connexion</a:t>
            </a:r>
          </a:p>
          <a:p>
            <a:r>
              <a:rPr lang="fr-FR" altLang="fr-FR" sz="2800"/>
              <a:t>Symétrie dans l’échange d’informations</a:t>
            </a:r>
          </a:p>
          <a:p>
            <a:pPr lvl="1"/>
            <a:r>
              <a:rPr lang="fr-FR" altLang="fr-FR" sz="2400"/>
              <a:t>Le client ou le serveur peut </a:t>
            </a:r>
          </a:p>
          <a:p>
            <a:pPr lvl="2"/>
            <a:r>
              <a:rPr lang="fr-FR" altLang="fr-FR" sz="2000"/>
              <a:t>envoyer/recevoir des informations</a:t>
            </a:r>
          </a:p>
          <a:p>
            <a:pPr lvl="2"/>
            <a:r>
              <a:rPr lang="fr-FR" altLang="fr-FR" sz="2000"/>
              <a:t>Demander la fin de la connexion</a:t>
            </a:r>
          </a:p>
          <a:p>
            <a:r>
              <a:rPr lang="fr-FR" altLang="fr-FR" sz="2800"/>
              <a:t>Echange d’un flot continu de caractères</a:t>
            </a:r>
          </a:p>
          <a:p>
            <a:pPr lvl="1"/>
            <a:r>
              <a:rPr lang="fr-FR" altLang="fr-FR" sz="2400"/>
              <a:t>Pas de structure en message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43AB02B2-0D2F-171A-CFCF-5E3AA85B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7AC4FF45-1A1E-4CD1-AB91-D6562B23B876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F42D536-E182-1F5F-3DD6-F1D1B4CB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Interface des Sockets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D0ED31B0-4177-F941-A756-E7240496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216900" y="6248400"/>
            <a:ext cx="533400" cy="609600"/>
          </a:xfrm>
          <a:prstGeom prst="rect">
            <a:avLst/>
          </a:prstGeom>
          <a:pattFill prst="lgConfetti">
            <a:fgClr>
              <a:schemeClr val="accent2"/>
            </a:fgClr>
            <a:bgClr>
              <a:schemeClr val="folHlink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0FF396-85F4-4C5B-AF1E-4F9FB605BC5B}" type="slidenum">
              <a:rPr lang="fr-FR" altLang="fr-FR" smtClean="0"/>
              <a:pPr/>
              <a:t>47</a:t>
            </a:fld>
            <a:endParaRPr lang="fr-FR" altLang="fr-FR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040C9008-5F2D-7E2F-7A7D-5FD5B444D5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Connexion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5D4CC18-3565-D5F1-CBEA-F5CF9FD68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pPr algn="just">
              <a:spcBef>
                <a:spcPct val="96000"/>
              </a:spcBef>
              <a:spcAft>
                <a:spcPct val="24000"/>
              </a:spcAft>
            </a:pPr>
            <a:r>
              <a:rPr lang="fr-FR" altLang="fr-FR" sz="2000" b="1">
                <a:latin typeface="Courier New" panose="02070309020205020404" pitchFamily="49" charset="0"/>
              </a:rPr>
              <a:t>connect (socket, adr-destination, longueur-adr)</a:t>
            </a:r>
          </a:p>
          <a:p>
            <a:pPr lvl="1"/>
            <a:r>
              <a:rPr lang="fr-FR" altLang="fr-FR"/>
              <a:t>Côté client</a:t>
            </a:r>
          </a:p>
          <a:p>
            <a:pPr lvl="1"/>
            <a:r>
              <a:rPr lang="fr-FR" altLang="fr-FR"/>
              <a:t>Pour établir une connexion TCP avec le processus serveur</a:t>
            </a:r>
          </a:p>
          <a:p>
            <a:pPr lvl="1"/>
            <a:r>
              <a:rPr lang="fr-FR" altLang="fr-FR"/>
              <a:t>L’adresse IP et le numéro de port sont spécifiés</a:t>
            </a:r>
          </a:p>
          <a:p>
            <a:pPr lvl="1"/>
            <a:r>
              <a:rPr lang="fr-FR" altLang="fr-FR"/>
              <a:t>Appel bloquant jusqu’à la fin de la prise en compte de la connexion par le serveur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fr-FR" altLang="fr-FR"/>
              <a:t>(configuration par défaut, peut-être modifiée…)</a:t>
            </a:r>
          </a:p>
          <a:p>
            <a:pPr lvl="1">
              <a:buFont typeface="Wingdings" panose="05000000000000000000" pitchFamily="2" charset="2"/>
              <a:buNone/>
            </a:pPr>
            <a:endParaRPr lang="fr-FR" altLang="fr-F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FADA3400-526B-847A-7C5C-00D80D07D5E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7AC4FF45-1A1E-4CD1-AB91-D6562B23B876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FDBC9F4-13AB-1937-E8A7-60BD90032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Interface des Sockets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801E1B83-E544-D867-81CD-00229D04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216900" y="6248400"/>
            <a:ext cx="533400" cy="609600"/>
          </a:xfrm>
          <a:prstGeom prst="rect">
            <a:avLst/>
          </a:prstGeom>
          <a:pattFill prst="lgConfetti">
            <a:fgClr>
              <a:schemeClr val="accent2"/>
            </a:fgClr>
            <a:bgClr>
              <a:schemeClr val="folHlink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0FF396-85F4-4C5B-AF1E-4F9FB605BC5B}" type="slidenum">
              <a:rPr lang="fr-FR" altLang="fr-FR" smtClean="0"/>
              <a:pPr/>
              <a:t>48</a:t>
            </a:fld>
            <a:endParaRPr lang="fr-FR" altLang="fr-FR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FBD63525-F23B-96E9-182F-76FA01F6C7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Création d’une file d’attente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276F0E75-6596-7156-C3EE-5060B6494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pPr algn="just">
              <a:spcBef>
                <a:spcPct val="96000"/>
              </a:spcBef>
              <a:spcAft>
                <a:spcPct val="24000"/>
              </a:spcAft>
            </a:pPr>
            <a:r>
              <a:rPr lang="fr-FR" altLang="fr-FR" sz="2800" b="1">
                <a:latin typeface="Courier New" panose="02070309020205020404" pitchFamily="49" charset="0"/>
              </a:rPr>
              <a:t>listen(int socket, int lgr-file)</a:t>
            </a:r>
          </a:p>
          <a:p>
            <a:pPr lvl="1"/>
            <a:r>
              <a:rPr lang="fr-FR" altLang="fr-FR" sz="2400"/>
              <a:t>Côté serveur</a:t>
            </a:r>
          </a:p>
          <a:p>
            <a:pPr lvl="1"/>
            <a:r>
              <a:rPr lang="fr-FR" altLang="fr-FR" sz="2400"/>
              <a:t>crée une file d'attente pour les demandes de connexion</a:t>
            </a:r>
          </a:p>
          <a:p>
            <a:pPr lvl="1"/>
            <a:r>
              <a:rPr lang="fr-FR" altLang="fr-FR" sz="2400"/>
              <a:t>Place la socket en ‘mode connexion’</a:t>
            </a:r>
          </a:p>
          <a:p>
            <a:pPr lvl="1"/>
            <a:r>
              <a:rPr lang="fr-FR" altLang="fr-FR" sz="2400"/>
              <a:t>lgr-file indique le nombre maximal de demandes de connexion autorisées dans la file (5, 10 ou 20)</a:t>
            </a:r>
          </a:p>
          <a:p>
            <a:pPr lvl="1"/>
            <a:r>
              <a:rPr lang="fr-FR" altLang="fr-FR" sz="2400"/>
              <a:t>file d'attente exploitée par la primitive accept.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408A1937-A8D8-C554-7C44-B4B797B7015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7AC4FF45-1A1E-4CD1-AB91-D6562B23B876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811CA4C8-30E6-66BD-108D-E70A3D3AB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Interface des Sockets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29C14816-1A55-1AD1-DB15-C479310BD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216900" y="6248400"/>
            <a:ext cx="533400" cy="609600"/>
          </a:xfrm>
          <a:prstGeom prst="rect">
            <a:avLst/>
          </a:prstGeom>
          <a:pattFill prst="lgConfetti">
            <a:fgClr>
              <a:schemeClr val="accent2"/>
            </a:fgClr>
            <a:bgClr>
              <a:schemeClr val="folHlink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0FF396-85F4-4C5B-AF1E-4F9FB605BC5B}" type="slidenum">
              <a:rPr lang="fr-FR" altLang="fr-FR" smtClean="0"/>
              <a:pPr/>
              <a:t>49</a:t>
            </a:fld>
            <a:endParaRPr lang="fr-FR" altLang="fr-FR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B981B6B3-4B60-B7FD-5FC3-973FC8060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Acceptation d’une connexion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3ACC307-0D8C-E5DD-62C0-AFA6F2267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pPr algn="just">
              <a:lnSpc>
                <a:spcPct val="90000"/>
              </a:lnSpc>
              <a:spcBef>
                <a:spcPct val="96000"/>
              </a:spcBef>
              <a:spcAft>
                <a:spcPct val="24000"/>
              </a:spcAft>
            </a:pPr>
            <a:r>
              <a:rPr lang="fr-FR" altLang="fr-FR"/>
              <a:t>newsock = </a:t>
            </a:r>
            <a:r>
              <a:rPr lang="fr-FR" altLang="fr-FR" b="1"/>
              <a:t>accept</a:t>
            </a:r>
            <a:r>
              <a:rPr lang="fr-FR" altLang="fr-FR"/>
              <a:t> </a:t>
            </a:r>
            <a:r>
              <a:rPr lang="fr-FR" altLang="fr-FR" sz="2800"/>
              <a:t>(socket, adresse, lgr-adresse)</a:t>
            </a:r>
          </a:p>
          <a:p>
            <a:pPr lvl="3">
              <a:lnSpc>
                <a:spcPct val="90000"/>
              </a:lnSpc>
            </a:pPr>
            <a:r>
              <a:rPr lang="fr-FR" altLang="fr-FR"/>
              <a:t>côté serveur</a:t>
            </a:r>
          </a:p>
          <a:p>
            <a:pPr lvl="3">
              <a:lnSpc>
                <a:spcPct val="90000"/>
              </a:lnSpc>
            </a:pPr>
            <a:r>
              <a:rPr lang="fr-FR" altLang="fr-FR"/>
              <a:t>prise en compte d'une demande de connexion entrante sur une socket  de ‘connexion’. </a:t>
            </a:r>
          </a:p>
          <a:p>
            <a:pPr lvl="3">
              <a:lnSpc>
                <a:spcPct val="90000"/>
              </a:lnSpc>
            </a:pPr>
            <a:r>
              <a:rPr lang="fr-FR" altLang="fr-FR"/>
              <a:t>primitive bloquante</a:t>
            </a:r>
          </a:p>
          <a:p>
            <a:pPr lvl="3">
              <a:lnSpc>
                <a:spcPct val="90000"/>
              </a:lnSpc>
            </a:pPr>
            <a:r>
              <a:rPr lang="fr-FR" altLang="fr-FR"/>
              <a:t>newsock : nouveau descripteur de socket sur laquelle s'effectuera l’échange de données</a:t>
            </a:r>
          </a:p>
          <a:p>
            <a:pPr lvl="3">
              <a:lnSpc>
                <a:spcPct val="90000"/>
              </a:lnSpc>
            </a:pPr>
            <a:r>
              <a:rPr lang="fr-FR" altLang="fr-FR"/>
              <a:t>adresse : adresse du client.</a:t>
            </a:r>
          </a:p>
          <a:p>
            <a:pPr lvl="3">
              <a:lnSpc>
                <a:spcPct val="90000"/>
              </a:lnSpc>
            </a:pPr>
            <a:r>
              <a:rPr lang="fr-FR" altLang="fr-FR"/>
              <a:t>Le processus peut traiter lui-même la nouvelle connexion, puis revenir à accept, ou bien se répliquer (fork() en UNIX) pour la traiter, le processus père étant toujours à l'écoute.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4CE5768D-7A28-37D8-2F53-ADBF36469A7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7AC4FF45-1A1E-4CD1-AB91-D6562B23B876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0F0B5BA2-57D6-14C8-A719-6BA76441C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Interface des Sockets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C8DBDCE1-FCC3-383C-3450-64AD16EF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216900" y="6248400"/>
            <a:ext cx="533400" cy="609600"/>
          </a:xfrm>
          <a:prstGeom prst="rect">
            <a:avLst/>
          </a:prstGeom>
          <a:pattFill prst="lgConfetti">
            <a:fgClr>
              <a:schemeClr val="accent2"/>
            </a:fgClr>
            <a:bgClr>
              <a:schemeClr val="folHlink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0FF396-85F4-4C5B-AF1E-4F9FB605BC5B}" type="slidenum">
              <a:rPr lang="fr-FR" altLang="fr-FR" smtClean="0"/>
              <a:pPr/>
              <a:t>50</a:t>
            </a:fld>
            <a:endParaRPr lang="fr-FR" altLang="fr-FR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C67994E0-B25D-A058-A359-17EA3DBBE5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Lecture-Ecriture TCP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E28EC48-C794-9A3E-24AD-0BDA900468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pPr lvl="1"/>
            <a:r>
              <a:rPr lang="fr-FR" altLang="fr-FR" b="1"/>
              <a:t>write</a:t>
            </a:r>
            <a:r>
              <a:rPr lang="fr-FR" altLang="fr-FR"/>
              <a:t>(socket, tampon, longueur )    </a:t>
            </a:r>
            <a:r>
              <a:rPr lang="fr-FR" altLang="fr-FR" b="1"/>
              <a:t>read</a:t>
            </a:r>
            <a:r>
              <a:rPr lang="fr-FR" altLang="fr-FR"/>
              <a:t>(socket, tampon, longueur)</a:t>
            </a:r>
          </a:p>
          <a:p>
            <a:pPr lvl="2"/>
            <a:r>
              <a:rPr lang="fr-FR" altLang="fr-FR"/>
              <a:t>Envoie/reçoit des données sur une connexion TCP</a:t>
            </a:r>
          </a:p>
          <a:p>
            <a:pPr lvl="2"/>
            <a:r>
              <a:rPr lang="fr-FR" altLang="fr-FR"/>
              <a:t>Plus besoin de l’adresse émetteur/destinataire !</a:t>
            </a:r>
          </a:p>
          <a:p>
            <a:pPr lvl="1"/>
            <a:r>
              <a:rPr lang="fr-FR" altLang="fr-FR" b="1"/>
              <a:t>send</a:t>
            </a:r>
            <a:r>
              <a:rPr lang="fr-FR" altLang="fr-FR"/>
              <a:t>(socket, tampon, longueur, drapeaux) </a:t>
            </a:r>
            <a:r>
              <a:rPr lang="fr-FR" altLang="fr-FR" b="1"/>
              <a:t>recv</a:t>
            </a:r>
            <a:r>
              <a:rPr lang="fr-FR" altLang="fr-FR"/>
              <a:t>(socket, tampon, longueur, drapeaux)</a:t>
            </a:r>
          </a:p>
          <a:p>
            <a:pPr lvl="2"/>
            <a:r>
              <a:rPr lang="fr-FR" altLang="fr-FR"/>
              <a:t>Idem, avec drapeaux permettant l'utilisation d'options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4">
            <a:extLst>
              <a:ext uri="{FF2B5EF4-FFF2-40B4-BE49-F238E27FC236}">
                <a16:creationId xmlns:a16="http://schemas.microsoft.com/office/drawing/2014/main" id="{002D923E-D92B-C635-7B53-9E580EE429A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41415D45-FAB7-4675-8B39-F5E400B060F0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5">
            <a:extLst>
              <a:ext uri="{FF2B5EF4-FFF2-40B4-BE49-F238E27FC236}">
                <a16:creationId xmlns:a16="http://schemas.microsoft.com/office/drawing/2014/main" id="{9D5A885F-7A52-4D29-AD7E-D13ED06ED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Interface des Sockets</a:t>
            </a:r>
          </a:p>
        </p:txBody>
      </p:sp>
      <p:sp>
        <p:nvSpPr>
          <p:cNvPr id="4" name="Espace réservé du numéro de diapositive 6">
            <a:extLst>
              <a:ext uri="{FF2B5EF4-FFF2-40B4-BE49-F238E27FC236}">
                <a16:creationId xmlns:a16="http://schemas.microsoft.com/office/drawing/2014/main" id="{70F21946-AEAA-D04D-2CFA-2A6DD119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216900" y="6248400"/>
            <a:ext cx="533400" cy="609600"/>
          </a:xfrm>
          <a:prstGeom prst="rect">
            <a:avLst/>
          </a:prstGeom>
          <a:pattFill prst="lgConfetti">
            <a:fgClr>
              <a:schemeClr val="accent2"/>
            </a:fgClr>
            <a:bgClr>
              <a:schemeClr val="folHlink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CA87B316-7350-42D7-8D24-F3C144C59E3E}" type="slidenum">
              <a:rPr lang="fr-FR" altLang="fr-FR" smtClean="0"/>
              <a:pPr/>
              <a:t>51</a:t>
            </a:fld>
            <a:endParaRPr lang="fr-FR" altLang="fr-FR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B3D2942-BC8B-BDD5-E72D-FF6ECD4994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Exemple de dialogue </a:t>
            </a:r>
            <a:r>
              <a:rPr lang="fr-FR" altLang="fr-FR" sz="3200"/>
              <a:t>(connecté)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2CB1469-82B0-B0FE-635F-B8944BF6132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fr-FR" altLang="fr-FR" sz="2800"/>
              <a:t>Sur le serveur</a:t>
            </a:r>
          </a:p>
          <a:p>
            <a:pPr lvl="1"/>
            <a:r>
              <a:rPr lang="fr-FR" altLang="fr-FR" sz="2400"/>
              <a:t>socket()</a:t>
            </a:r>
          </a:p>
          <a:p>
            <a:pPr lvl="1"/>
            <a:r>
              <a:rPr lang="fr-FR" altLang="fr-FR" sz="2400"/>
              <a:t>bind() : nommage</a:t>
            </a:r>
          </a:p>
          <a:p>
            <a:pPr lvl="1"/>
            <a:r>
              <a:rPr lang="fr-FR" altLang="fr-FR" sz="2400"/>
              <a:t>listen()</a:t>
            </a:r>
          </a:p>
          <a:p>
            <a:pPr lvl="1"/>
            <a:r>
              <a:rPr lang="fr-FR" altLang="fr-FR" sz="2400"/>
              <a:t>accept()</a:t>
            </a:r>
          </a:p>
          <a:p>
            <a:pPr lvl="1"/>
            <a:r>
              <a:rPr lang="fr-FR" altLang="fr-FR" sz="2400"/>
              <a:t>read | write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623F2796-4562-344C-5DF8-8A4345B0DAC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noFill/>
          <a:ln/>
        </p:spPr>
        <p:txBody>
          <a:bodyPr lIns="92075" tIns="46038" rIns="92075" bIns="46038"/>
          <a:lstStyle/>
          <a:p>
            <a:pPr algn="just">
              <a:spcBef>
                <a:spcPct val="96000"/>
              </a:spcBef>
              <a:spcAft>
                <a:spcPct val="24000"/>
              </a:spcAft>
            </a:pPr>
            <a:r>
              <a:rPr lang="fr-FR" altLang="fr-FR" sz="2800"/>
              <a:t>Sur le client</a:t>
            </a:r>
          </a:p>
          <a:p>
            <a:pPr>
              <a:buFontTx/>
              <a:buNone/>
            </a:pPr>
            <a:r>
              <a:rPr lang="fr-FR" altLang="fr-FR" sz="1600" b="1"/>
              <a:t>Créer une socket (socket)</a:t>
            </a:r>
          </a:p>
          <a:p>
            <a:pPr>
              <a:buFontTx/>
              <a:buNone/>
            </a:pPr>
            <a:r>
              <a:rPr lang="fr-FR" altLang="fr-FR" sz="1600" b="1"/>
              <a:t>Connecter la socket au serveur (connect)</a:t>
            </a:r>
          </a:p>
          <a:p>
            <a:pPr>
              <a:buFontTx/>
              <a:buNone/>
            </a:pPr>
            <a:r>
              <a:rPr lang="fr-FR" altLang="fr-FR" sz="1600" b="1"/>
              <a:t>Tant que pas fini</a:t>
            </a:r>
          </a:p>
          <a:p>
            <a:pPr>
              <a:buFontTx/>
              <a:buNone/>
            </a:pPr>
            <a:r>
              <a:rPr lang="fr-FR" altLang="fr-FR" sz="1600" b="1"/>
              <a:t>	envoyer une requête (write)</a:t>
            </a:r>
          </a:p>
          <a:p>
            <a:pPr>
              <a:buFontTx/>
              <a:buNone/>
            </a:pPr>
            <a:r>
              <a:rPr lang="fr-FR" altLang="fr-FR" sz="1600" b="1"/>
              <a:t>	lire la réponse (read)</a:t>
            </a:r>
          </a:p>
          <a:p>
            <a:pPr>
              <a:buFontTx/>
              <a:buNone/>
            </a:pPr>
            <a:r>
              <a:rPr lang="fr-FR" altLang="fr-FR" sz="1600" b="1"/>
              <a:t>	traiter la réponse</a:t>
            </a:r>
          </a:p>
          <a:p>
            <a:pPr>
              <a:buFontTx/>
              <a:buNone/>
            </a:pPr>
            <a:r>
              <a:rPr lang="fr-FR" altLang="fr-FR" sz="1600" b="1"/>
              <a:t>Fermer la socket (close)</a:t>
            </a:r>
          </a:p>
        </p:txBody>
      </p:sp>
      <p:sp>
        <p:nvSpPr>
          <p:cNvPr id="17416" name="Line 8">
            <a:extLst>
              <a:ext uri="{FF2B5EF4-FFF2-40B4-BE49-F238E27FC236}">
                <a16:creationId xmlns:a16="http://schemas.microsoft.com/office/drawing/2014/main" id="{946E1F30-AE4D-4641-A065-3E14DC1665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3581400"/>
            <a:ext cx="3048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17417" name="Line 9">
            <a:extLst>
              <a:ext uri="{FF2B5EF4-FFF2-40B4-BE49-F238E27FC236}">
                <a16:creationId xmlns:a16="http://schemas.microsoft.com/office/drawing/2014/main" id="{FF15D2D0-AAD6-4A01-EFB7-CDC804062A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3886200"/>
            <a:ext cx="20574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fr-F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1C29251D-7742-EA1B-E9D5-46B9BECBA22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7AC4FF45-1A1E-4CD1-AB91-D6562B23B876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2B64D050-CD6C-D046-608C-B53051B06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Interface des Sockets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9BF2452C-255B-051B-2589-C9DF169EB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216900" y="6248400"/>
            <a:ext cx="533400" cy="609600"/>
          </a:xfrm>
          <a:prstGeom prst="rect">
            <a:avLst/>
          </a:prstGeom>
          <a:pattFill prst="lgConfetti">
            <a:fgClr>
              <a:schemeClr val="accent2"/>
            </a:fgClr>
            <a:bgClr>
              <a:schemeClr val="folHlink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0FF396-85F4-4C5B-AF1E-4F9FB605BC5B}" type="slidenum">
              <a:rPr lang="fr-FR" altLang="fr-FR" smtClean="0"/>
              <a:pPr/>
              <a:t>52</a:t>
            </a:fld>
            <a:endParaRPr lang="fr-FR" altLang="fr-FR"/>
          </a:p>
        </p:txBody>
      </p:sp>
      <p:sp>
        <p:nvSpPr>
          <p:cNvPr id="114690" name="Rectangle 1026">
            <a:extLst>
              <a:ext uri="{FF2B5EF4-FFF2-40B4-BE49-F238E27FC236}">
                <a16:creationId xmlns:a16="http://schemas.microsoft.com/office/drawing/2014/main" id="{A16E06CB-A4B6-3A60-89AC-9719114F39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Telnet:un client universel</a:t>
            </a:r>
          </a:p>
        </p:txBody>
      </p:sp>
      <p:sp>
        <p:nvSpPr>
          <p:cNvPr id="114691" name="Rectangle 1027">
            <a:extLst>
              <a:ext uri="{FF2B5EF4-FFF2-40B4-BE49-F238E27FC236}">
                <a16:creationId xmlns:a16="http://schemas.microsoft.com/office/drawing/2014/main" id="{9BB67654-D46A-7906-BFD6-17FBF42296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$&gt;telnet stargate.ist.ga</a:t>
            </a:r>
          </a:p>
          <a:p>
            <a:pPr>
              <a:buFontTx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User: felix</a:t>
            </a:r>
          </a:p>
          <a:p>
            <a:pPr>
              <a:buFontTx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Password:</a:t>
            </a:r>
          </a:p>
          <a:p>
            <a:pPr>
              <a:buFontTx/>
              <a:buNone/>
            </a:pPr>
            <a:r>
              <a:rPr lang="fr-FR" altLang="fr-FR" sz="1800">
                <a:latin typeface="Courier New" panose="02070309020205020404" pitchFamily="49" charset="0"/>
              </a:rPr>
              <a:t>$&gt;telnet stargate.ist.ga 110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fr-FR" altLang="fr-FR" sz="1600" b="1" i="1">
                <a:latin typeface="Courier New" panose="02070309020205020404" pitchFamily="49" charset="0"/>
              </a:rPr>
              <a:t>+OK Qpopper (version 4.0.4) at stargate starting.</a:t>
            </a:r>
          </a:p>
          <a:p>
            <a:pPr lvl="1"/>
            <a:r>
              <a:rPr lang="fr-FR" altLang="fr-FR" sz="1600" b="1" i="1">
                <a:latin typeface="Courier New" panose="02070309020205020404" pitchFamily="49" charset="0"/>
              </a:rPr>
              <a:t>USER felixp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fr-FR" altLang="fr-FR" sz="1600" b="1" i="1">
                <a:latin typeface="Courier New" panose="02070309020205020404" pitchFamily="49" charset="0"/>
              </a:rPr>
              <a:t>+OK Password required for felixp.</a:t>
            </a:r>
          </a:p>
          <a:p>
            <a:pPr lvl="1"/>
            <a:r>
              <a:rPr lang="fr-FR" altLang="fr-FR" sz="1600" b="1" i="1">
                <a:latin typeface="Courier New" panose="02070309020205020404" pitchFamily="49" charset="0"/>
              </a:rPr>
              <a:t>PASS Devine!!!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fr-FR" altLang="fr-FR" sz="1600" b="1" i="1">
                <a:latin typeface="Courier New" panose="02070309020205020404" pitchFamily="49" charset="0"/>
              </a:rPr>
              <a:t>+OK felixp has 3 visible messages (0 hidden) in 4235 octets.</a:t>
            </a:r>
          </a:p>
          <a:p>
            <a:pPr lvl="1"/>
            <a:r>
              <a:rPr lang="fr-FR" altLang="fr-FR" sz="1600" b="1" i="1">
                <a:latin typeface="Courier New" panose="02070309020205020404" pitchFamily="49" charset="0"/>
              </a:rPr>
              <a:t>STAT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fr-FR" altLang="fr-FR" sz="1600" b="1" i="1">
                <a:latin typeface="Courier New" panose="02070309020205020404" pitchFamily="49" charset="0"/>
              </a:rPr>
              <a:t>+OK 3 4235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0F7DD1F-E105-D47F-4E5E-6188D9E3023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4B1C0C1F-1CFC-4FE0-B3A7-C98495302E2B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F2ECCDE-2B2A-2AC7-B408-ACBC2BE69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Applications TCP/IP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2D33ED-07D6-70DE-68EB-CF9630AB4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77993E3E-434B-4D3D-AD1B-86F78C55BFCD}" type="slidenum">
              <a:rPr lang="fr-FR" altLang="fr-FR" smtClean="0"/>
              <a:pPr/>
              <a:t>53</a:t>
            </a:fld>
            <a:endParaRPr lang="fr-FR" altLang="fr-FR"/>
          </a:p>
        </p:txBody>
      </p:sp>
      <p:sp>
        <p:nvSpPr>
          <p:cNvPr id="138242" name="Rectangle 2">
            <a:extLst>
              <a:ext uri="{FF2B5EF4-FFF2-40B4-BE49-F238E27FC236}">
                <a16:creationId xmlns:a16="http://schemas.microsoft.com/office/drawing/2014/main" id="{B5A316B9-9E1C-FC0E-AF10-A92FD2131E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fr-FR" altLang="fr-FR"/>
              <a:t>Protocoles « Application »</a:t>
            </a:r>
          </a:p>
        </p:txBody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6F546A6A-B3AE-7F0D-8AC5-A7FE8178FD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  <a:p>
            <a:r>
              <a:rPr lang="fr-FR" altLang="fr-FR"/>
              <a:t>POP3 (rappel)</a:t>
            </a:r>
          </a:p>
          <a:p>
            <a:endParaRPr lang="fr-FR" altLang="fr-FR"/>
          </a:p>
          <a:p>
            <a:r>
              <a:rPr lang="fr-FR" altLang="fr-FR"/>
              <a:t>TFTP</a:t>
            </a:r>
          </a:p>
          <a:p>
            <a:r>
              <a:rPr lang="fr-FR" altLang="fr-FR"/>
              <a:t>BOOTP</a:t>
            </a:r>
          </a:p>
          <a:p>
            <a:r>
              <a:rPr lang="fr-FR" altLang="fr-FR"/>
              <a:t>DHCP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5238AEF-0B72-AAF6-1F48-38816AFE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4B1C0C1F-1CFC-4FE0-B3A7-C98495302E2B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18E97BD-3ABE-152C-A42C-6F15BDC37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Applications TCP/IP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382453-C824-8598-EFAD-72EEB30B3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77993E3E-434B-4D3D-AD1B-86F78C55BFCD}" type="slidenum">
              <a:rPr lang="fr-FR" altLang="fr-FR" smtClean="0"/>
              <a:pPr/>
              <a:t>54</a:t>
            </a:fld>
            <a:endParaRPr lang="fr-FR" altLang="fr-FR"/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68694044-11B8-B59D-3BBF-A0D066F126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Le protocole TFTP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74EE2180-3081-1ECF-D888-4D813B51AE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fr-FR" altLang="fr-FR"/>
              <a:t>Trivial File Transfert Protocol</a:t>
            </a:r>
          </a:p>
          <a:p>
            <a:pPr>
              <a:lnSpc>
                <a:spcPct val="90000"/>
              </a:lnSpc>
            </a:pPr>
            <a:r>
              <a:rPr lang="fr-FR" altLang="fr-FR"/>
              <a:t>Utilise UDP</a:t>
            </a:r>
          </a:p>
          <a:p>
            <a:pPr>
              <a:lnSpc>
                <a:spcPct val="90000"/>
              </a:lnSpc>
            </a:pPr>
            <a:r>
              <a:rPr lang="fr-FR" altLang="fr-FR"/>
              <a:t>RFC 783 et RFC 1350</a:t>
            </a:r>
          </a:p>
          <a:p>
            <a:pPr>
              <a:lnSpc>
                <a:spcPct val="90000"/>
              </a:lnSpc>
            </a:pPr>
            <a:r>
              <a:rPr lang="fr-FR" altLang="fr-FR"/>
              <a:t>Permet uniquement le transfert de fichiers, pas d’identification</a:t>
            </a:r>
          </a:p>
          <a:p>
            <a:pPr>
              <a:lnSpc>
                <a:spcPct val="90000"/>
              </a:lnSpc>
            </a:pPr>
            <a:r>
              <a:rPr lang="fr-FR" altLang="fr-FR"/>
              <a:t>Caractéristiques</a:t>
            </a:r>
          </a:p>
          <a:p>
            <a:pPr lvl="2">
              <a:lnSpc>
                <a:spcPct val="90000"/>
              </a:lnSpc>
            </a:pPr>
            <a:r>
              <a:rPr lang="fr-FR" altLang="fr-FR"/>
              <a:t>demande peu de ressource (code, tampon)</a:t>
            </a:r>
          </a:p>
          <a:p>
            <a:pPr lvl="2">
              <a:lnSpc>
                <a:spcPct val="90000"/>
              </a:lnSpc>
            </a:pPr>
            <a:r>
              <a:rPr lang="fr-FR" altLang="fr-FR"/>
              <a:t>contrôle de flux simple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CD13071-4692-B39A-475C-B0B41D01F72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4B1C0C1F-1CFC-4FE0-B3A7-C98495302E2B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B9304E1-7AF2-EE17-98BF-60AD7051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Applications TCP/IP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E20B26-F8BC-E360-57AD-ACA890349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77993E3E-434B-4D3D-AD1B-86F78C55BFCD}" type="slidenum">
              <a:rPr lang="fr-FR" altLang="fr-FR" smtClean="0"/>
              <a:pPr/>
              <a:t>55</a:t>
            </a:fld>
            <a:endParaRPr lang="fr-FR" altLang="fr-FR"/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8FB0FD59-270E-50B0-F645-CFB1402A5A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Principes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67E9453B-4BF4-15D0-C402-D42A2AF143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fr-FR" altLang="fr-FR"/>
              <a:t>« Connexion »</a:t>
            </a:r>
          </a:p>
          <a:p>
            <a:pPr lvl="1"/>
            <a:r>
              <a:rPr lang="fr-FR" altLang="fr-FR"/>
              <a:t>demande de lecture ou d'écriture</a:t>
            </a:r>
          </a:p>
          <a:p>
            <a:r>
              <a:rPr lang="fr-FR" altLang="fr-FR"/>
              <a:t>5 types de paquet:</a:t>
            </a:r>
          </a:p>
          <a:p>
            <a:pPr lvl="1"/>
            <a:r>
              <a:rPr lang="fr-FR" altLang="fr-FR"/>
              <a:t>RRQ, WRQ, DATA, ERR, ACK</a:t>
            </a:r>
          </a:p>
          <a:p>
            <a:r>
              <a:rPr lang="fr-FR" altLang="fr-FR"/>
              <a:t>transfert par bloc de 512 octets</a:t>
            </a:r>
          </a:p>
          <a:p>
            <a:r>
              <a:rPr lang="fr-FR" altLang="fr-FR"/>
              <a:t>acquittement</a:t>
            </a:r>
          </a:p>
          <a:p>
            <a:r>
              <a:rPr lang="fr-FR" altLang="fr-FR"/>
              <a:t>retransmission si perte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66D29F9-E084-F349-B279-CC2B337BA84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4B1C0C1F-1CFC-4FE0-B3A7-C98495302E2B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06AEC22-5F14-D657-C5B1-4C98760B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Applications TCP/IP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278430-9438-4EE3-D8AF-F31461F1F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77993E3E-434B-4D3D-AD1B-86F78C55BFCD}" type="slidenum">
              <a:rPr lang="fr-FR" altLang="fr-FR" smtClean="0"/>
              <a:pPr/>
              <a:t>56</a:t>
            </a:fld>
            <a:endParaRPr lang="fr-FR" altLang="fr-FR"/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AD862E00-F8D6-B312-1153-D10CA5F65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Phase de connexion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10E0C26C-7A92-1821-6724-47AD8CFED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fr-FR" altLang="fr-FR"/>
              <a:t>TID (Transfert IDentification)</a:t>
            </a:r>
          </a:p>
          <a:p>
            <a:r>
              <a:rPr lang="fr-FR" altLang="fr-FR"/>
              <a:t>le client choisit un TIDsource et prend TIDdest=69 (port réservé tftp)</a:t>
            </a:r>
          </a:p>
          <a:p>
            <a:r>
              <a:rPr lang="fr-FR" altLang="fr-FR"/>
              <a:t>la réponse positive du serveur contient le TIDsource à utiliser ensuite</a:t>
            </a: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C0D30A7-1602-8A1F-AB46-80F76604C27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4B1C0C1F-1CFC-4FE0-B3A7-C98495302E2B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B67B3C7-EA63-18CE-7C82-6ADAD3730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Applications TCP/IP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8FAB63-32AD-E6C0-A7CA-B1225C488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77993E3E-434B-4D3D-AD1B-86F78C55BFCD}" type="slidenum">
              <a:rPr lang="fr-FR" altLang="fr-FR" smtClean="0"/>
              <a:pPr/>
              <a:t>57</a:t>
            </a:fld>
            <a:endParaRPr lang="fr-FR" altLang="fr-FR"/>
          </a:p>
        </p:txBody>
      </p:sp>
      <p:sp>
        <p:nvSpPr>
          <p:cNvPr id="209922" name="Rectangle 2">
            <a:extLst>
              <a:ext uri="{FF2B5EF4-FFF2-40B4-BE49-F238E27FC236}">
                <a16:creationId xmlns:a16="http://schemas.microsoft.com/office/drawing/2014/main" id="{E8542D18-DB01-58B5-8087-2C96A1974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7772400" cy="41148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fr-FR" altLang="fr-FR" sz="2800"/>
              <a:t>requête de lecture(RRQ) ou écriture(WRQ)																									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2800"/>
              <a:t>Opcode RRQ =1						     WRQ=2</a:t>
            </a:r>
          </a:p>
          <a:p>
            <a:pPr>
              <a:lnSpc>
                <a:spcPct val="90000"/>
              </a:lnSpc>
            </a:pPr>
            <a:r>
              <a:rPr lang="fr-FR" altLang="fr-FR" sz="2800"/>
              <a:t>réponse : ACK(acquittement=0 pour WRQ) ou DATA(pour RRQ), ou ERROR					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E03E7526-54BE-E7FC-70CA-E3373347C5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Phase de connexion</a:t>
            </a:r>
          </a:p>
        </p:txBody>
      </p:sp>
      <p:graphicFrame>
        <p:nvGraphicFramePr>
          <p:cNvPr id="209924" name="Object 4">
            <a:extLst>
              <a:ext uri="{FF2B5EF4-FFF2-40B4-BE49-F238E27FC236}">
                <a16:creationId xmlns:a16="http://schemas.microsoft.com/office/drawing/2014/main" id="{5D717436-FB69-0914-6197-532AD885023B}"/>
              </a:ext>
            </a:extLst>
          </p:cNvPr>
          <p:cNvGraphicFramePr>
            <a:graphicFrameLocks/>
          </p:cNvGraphicFramePr>
          <p:nvPr/>
        </p:nvGraphicFramePr>
        <p:xfrm>
          <a:off x="1906588" y="2743200"/>
          <a:ext cx="461010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664000" imgH="550080" progId="Word.Document.8">
                  <p:embed/>
                </p:oleObj>
              </mc:Choice>
              <mc:Fallback>
                <p:oleObj name="Document" r:id="rId3" imgW="2664000" imgH="550080" progId="Word.Document.8">
                  <p:embed/>
                  <p:pic>
                    <p:nvPicPr>
                      <p:cNvPr id="209924" name="Object 4">
                        <a:extLst>
                          <a:ext uri="{FF2B5EF4-FFF2-40B4-BE49-F238E27FC236}">
                            <a16:creationId xmlns:a16="http://schemas.microsoft.com/office/drawing/2014/main" id="{5D717436-FB69-0914-6197-532AD885023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2743200"/>
                        <a:ext cx="4610100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BA4127A-F0E8-20EF-0DEF-7B99EFE442F9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4B1C0C1F-1CFC-4FE0-B3A7-C98495302E2B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60271E7-29DB-E4FB-9D3C-6F593869A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Applications TCP/IP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A0DEEB7-640A-810E-FA65-2FAC8BEE2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77993E3E-434B-4D3D-AD1B-86F78C55BFCD}" type="slidenum">
              <a:rPr lang="fr-FR" altLang="fr-FR" smtClean="0"/>
              <a:pPr/>
              <a:t>58</a:t>
            </a:fld>
            <a:endParaRPr lang="fr-FR" altLang="fr-FR"/>
          </a:p>
        </p:txBody>
      </p:sp>
      <p:sp>
        <p:nvSpPr>
          <p:cNvPr id="211970" name="Rectangle 2">
            <a:extLst>
              <a:ext uri="{FF2B5EF4-FFF2-40B4-BE49-F238E27FC236}">
                <a16:creationId xmlns:a16="http://schemas.microsoft.com/office/drawing/2014/main" id="{B297F2D9-2A92-D3FD-3A32-6E83109E2C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Transfert de données</a:t>
            </a:r>
          </a:p>
        </p:txBody>
      </p:sp>
      <p:graphicFrame>
        <p:nvGraphicFramePr>
          <p:cNvPr id="211971" name="Object 3">
            <a:extLst>
              <a:ext uri="{FF2B5EF4-FFF2-40B4-BE49-F238E27FC236}">
                <a16:creationId xmlns:a16="http://schemas.microsoft.com/office/drawing/2014/main" id="{557EFB27-702A-D4F9-8F93-00F1CB8C9FB5}"/>
              </a:ext>
            </a:extLst>
          </p:cNvPr>
          <p:cNvGraphicFramePr>
            <a:graphicFrameLocks/>
          </p:cNvGraphicFramePr>
          <p:nvPr/>
        </p:nvGraphicFramePr>
        <p:xfrm>
          <a:off x="2014538" y="2819400"/>
          <a:ext cx="461010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442960" imgH="550800" progId="Word.Document.6">
                  <p:embed/>
                </p:oleObj>
              </mc:Choice>
              <mc:Fallback>
                <p:oleObj name="Document" r:id="rId3" imgW="2442960" imgH="550800" progId="Word.Document.6">
                  <p:embed/>
                  <p:pic>
                    <p:nvPicPr>
                      <p:cNvPr id="211971" name="Object 3">
                        <a:extLst>
                          <a:ext uri="{FF2B5EF4-FFF2-40B4-BE49-F238E27FC236}">
                            <a16:creationId xmlns:a16="http://schemas.microsoft.com/office/drawing/2014/main" id="{557EFB27-702A-D4F9-8F93-00F1CB8C9FB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538" y="2819400"/>
                        <a:ext cx="4610100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72" name="Rectangle 4">
            <a:extLst>
              <a:ext uri="{FF2B5EF4-FFF2-40B4-BE49-F238E27FC236}">
                <a16:creationId xmlns:a16="http://schemas.microsoft.com/office/drawing/2014/main" id="{85214C55-E988-3FCC-0FD8-C6CAAD1076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fr-FR" altLang="fr-FR" sz="2800"/>
              <a:t>paquet DATA																																						</a:t>
            </a:r>
          </a:p>
          <a:p>
            <a:pPr lvl="1"/>
            <a:r>
              <a:rPr lang="fr-FR" altLang="fr-FR" sz="2400"/>
              <a:t>opcode = 3</a:t>
            </a:r>
          </a:p>
          <a:p>
            <a:pPr lvl="1"/>
            <a:r>
              <a:rPr lang="fr-FR" altLang="fr-FR" sz="2400"/>
              <a:t>numéro de bloc: commence à 1</a:t>
            </a:r>
          </a:p>
          <a:p>
            <a:pPr lvl="1"/>
            <a:r>
              <a:rPr lang="fr-FR" altLang="fr-FR" sz="2400"/>
              <a:t>taille maximale des données: 512 octets</a:t>
            </a: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FE6C6EF-C55A-6010-5DC6-D771CBFA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4B1C0C1F-1CFC-4FE0-B3A7-C98495302E2B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9C052F-F3D3-DEF2-1EE1-2E233F8AE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Applications TCP/IP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05B460-C562-7054-7494-62F9C299B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77993E3E-434B-4D3D-AD1B-86F78C55BFCD}" type="slidenum">
              <a:rPr lang="fr-FR" altLang="fr-FR" smtClean="0"/>
              <a:pPr/>
              <a:t>59</a:t>
            </a:fld>
            <a:endParaRPr lang="fr-FR" altLang="fr-FR"/>
          </a:p>
        </p:txBody>
      </p:sp>
      <p:sp>
        <p:nvSpPr>
          <p:cNvPr id="214018" name="Rectangle 2">
            <a:extLst>
              <a:ext uri="{FF2B5EF4-FFF2-40B4-BE49-F238E27FC236}">
                <a16:creationId xmlns:a16="http://schemas.microsoft.com/office/drawing/2014/main" id="{9D031834-128D-B1CA-9A52-CD4BFD7A01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  <a:noFill/>
          <a:ln/>
        </p:spPr>
        <p:txBody>
          <a:bodyPr lIns="92075" tIns="46038" rIns="92075" bIns="46038"/>
          <a:lstStyle/>
          <a:p>
            <a:r>
              <a:rPr lang="fr-FR" altLang="fr-FR"/>
              <a:t>paquet ACK																										</a:t>
            </a:r>
          </a:p>
          <a:p>
            <a:pPr lvl="1"/>
            <a:r>
              <a:rPr lang="fr-FR" altLang="fr-FR"/>
              <a:t>Ack Opcode=4</a:t>
            </a:r>
          </a:p>
          <a:p>
            <a:pPr lvl="1"/>
            <a:r>
              <a:rPr lang="fr-FR" altLang="fr-FR"/>
              <a:t>WRQ et DATA acquittés par ACK ou ERR</a:t>
            </a:r>
          </a:p>
          <a:p>
            <a:pPr lvl="1"/>
            <a:r>
              <a:rPr lang="fr-FR" altLang="fr-FR"/>
              <a:t>RRQ acquitté par DATA ou ERR</a:t>
            </a:r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AE95BD28-D4C3-940C-90C9-FEA7077FCD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Transfert de données</a:t>
            </a:r>
          </a:p>
        </p:txBody>
      </p:sp>
      <p:graphicFrame>
        <p:nvGraphicFramePr>
          <p:cNvPr id="214020" name="Object 4">
            <a:extLst>
              <a:ext uri="{FF2B5EF4-FFF2-40B4-BE49-F238E27FC236}">
                <a16:creationId xmlns:a16="http://schemas.microsoft.com/office/drawing/2014/main" id="{A323BFE7-CCA5-C531-B5EC-F6BAF6CF45B4}"/>
              </a:ext>
            </a:extLst>
          </p:cNvPr>
          <p:cNvGraphicFramePr>
            <a:graphicFrameLocks/>
          </p:cNvGraphicFramePr>
          <p:nvPr/>
        </p:nvGraphicFramePr>
        <p:xfrm>
          <a:off x="2203450" y="2819400"/>
          <a:ext cx="4268788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442960" imgH="550800" progId="Word.Document.6">
                  <p:embed/>
                </p:oleObj>
              </mc:Choice>
              <mc:Fallback>
                <p:oleObj name="Document" r:id="rId3" imgW="2442960" imgH="550800" progId="Word.Document.6">
                  <p:embed/>
                  <p:pic>
                    <p:nvPicPr>
                      <p:cNvPr id="214020" name="Object 4">
                        <a:extLst>
                          <a:ext uri="{FF2B5EF4-FFF2-40B4-BE49-F238E27FC236}">
                            <a16:creationId xmlns:a16="http://schemas.microsoft.com/office/drawing/2014/main" id="{A323BFE7-CCA5-C531-B5EC-F6BAF6CF45B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2819400"/>
                        <a:ext cx="4268788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6B7B6F0-C7CA-1296-0908-49AA73E2654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4B1C0C1F-1CFC-4FE0-B3A7-C98495302E2B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8A26489-033A-C99B-657F-57488BABB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Applications TCP/IP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C61FB4-8B18-D246-B220-5F8CBF024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77993E3E-434B-4D3D-AD1B-86F78C55BFCD}" type="slidenum">
              <a:rPr lang="fr-FR" altLang="fr-FR" smtClean="0"/>
              <a:pPr/>
              <a:t>60</a:t>
            </a:fld>
            <a:endParaRPr lang="fr-FR" altLang="fr-FR"/>
          </a:p>
        </p:txBody>
      </p:sp>
      <p:sp>
        <p:nvSpPr>
          <p:cNvPr id="216066" name="Rectangle 2">
            <a:extLst>
              <a:ext uri="{FF2B5EF4-FFF2-40B4-BE49-F238E27FC236}">
                <a16:creationId xmlns:a16="http://schemas.microsoft.com/office/drawing/2014/main" id="{4DFC820D-0550-81D7-DE6B-38191F674B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Traitement des erreurs</a:t>
            </a: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1C359454-CECB-3D9A-0F47-BB2D9B6FB3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fr-FR"/>
              <a:t>paquet ERROR</a:t>
            </a:r>
          </a:p>
          <a:p>
            <a:pPr lvl="1"/>
            <a:r>
              <a:rPr lang="fr-FR" altLang="fr-FR"/>
              <a:t>Opcode=5</a:t>
            </a:r>
          </a:p>
          <a:p>
            <a:pPr lvl="1"/>
            <a:r>
              <a:rPr lang="fr-FR" altLang="fr-FR"/>
              <a:t>code erreur:</a:t>
            </a:r>
          </a:p>
          <a:p>
            <a:pPr lvl="2"/>
            <a:r>
              <a:rPr lang="fr-FR" altLang="fr-FR"/>
              <a:t>(0) non défini, voir message.</a:t>
            </a:r>
          </a:p>
          <a:p>
            <a:pPr lvl="2"/>
            <a:r>
              <a:rPr lang="fr-FR" altLang="fr-FR"/>
              <a:t>(1) fichier non trouvé  </a:t>
            </a:r>
          </a:p>
          <a:p>
            <a:pPr lvl="2"/>
            <a:r>
              <a:rPr lang="fr-FR" altLang="fr-FR"/>
              <a:t>(2) violation d'accès</a:t>
            </a:r>
          </a:p>
          <a:p>
            <a:pPr lvl="2"/>
            <a:r>
              <a:rPr lang="fr-FR" altLang="fr-FR"/>
              <a:t>...</a:t>
            </a:r>
          </a:p>
          <a:p>
            <a:endParaRPr lang="fr-FR" altLang="fr-F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B8D4051-BF54-8E10-E38E-D6C9B68A70E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4B1C0C1F-1CFC-4FE0-B3A7-C98495302E2B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D92F308-2690-D22D-A78C-4D2B54D10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Applications TCP/IP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DD16D2-851C-B9D2-52DE-E58149355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77993E3E-434B-4D3D-AD1B-86F78C55BFCD}" type="slidenum">
              <a:rPr lang="fr-FR" altLang="fr-FR" smtClean="0"/>
              <a:pPr/>
              <a:t>61</a:t>
            </a:fld>
            <a:endParaRPr lang="fr-FR" altLang="fr-FR"/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4EC253C9-7F3A-7C37-EF71-E7E6E61AC3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fr-FR" altLang="fr-FR"/>
              <a:t>Terminaison 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FFC5444A-BAFB-EFF9-660B-47E51A3C85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fr-FR" altLang="fr-FR"/>
              <a:t>terminaison normale</a:t>
            </a:r>
          </a:p>
          <a:p>
            <a:pPr lvl="1"/>
            <a:r>
              <a:rPr lang="fr-FR" altLang="fr-FR"/>
              <a:t>paquet DATA &lt;512 octets</a:t>
            </a:r>
          </a:p>
          <a:p>
            <a:pPr lvl="1"/>
            <a:r>
              <a:rPr lang="fr-FR" altLang="fr-FR"/>
              <a:t>dernier paquet DATA acquitté</a:t>
            </a:r>
          </a:p>
          <a:p>
            <a:endParaRPr lang="fr-FR" altLang="fr-FR"/>
          </a:p>
          <a:p>
            <a:r>
              <a:rPr lang="fr-FR" altLang="fr-FR"/>
              <a:t>terminaison prématurée</a:t>
            </a:r>
          </a:p>
          <a:p>
            <a:pPr lvl="1"/>
            <a:r>
              <a:rPr lang="fr-FR" altLang="fr-FR"/>
              <a:t>paquet ERROR</a:t>
            </a: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59D2120-2532-3867-075E-5F74314F8D7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4B1C0C1F-1CFC-4FE0-B3A7-C98495302E2B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F9BEF79-0D23-A578-45DF-EC5F5E882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Applications TCP/IP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AB839C-2B65-26D0-C9A3-FC1728A74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77993E3E-434B-4D3D-AD1B-86F78C55BFCD}" type="slidenum">
              <a:rPr lang="fr-FR" altLang="fr-FR" smtClean="0"/>
              <a:pPr/>
              <a:t>62</a:t>
            </a:fld>
            <a:endParaRPr lang="fr-FR" altLang="fr-FR"/>
          </a:p>
        </p:txBody>
      </p:sp>
      <p:sp>
        <p:nvSpPr>
          <p:cNvPr id="137218" name="Rectangle 2">
            <a:extLst>
              <a:ext uri="{FF2B5EF4-FFF2-40B4-BE49-F238E27FC236}">
                <a16:creationId xmlns:a16="http://schemas.microsoft.com/office/drawing/2014/main" id="{8A39A062-E3B7-1D7E-2B12-E4A78E658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fr-FR" altLang="fr-FR"/>
              <a:t>Rappel:Datagramme UDP</a:t>
            </a:r>
          </a:p>
        </p:txBody>
      </p:sp>
      <p:graphicFrame>
        <p:nvGraphicFramePr>
          <p:cNvPr id="137219" name="Object 3">
            <a:extLst>
              <a:ext uri="{FF2B5EF4-FFF2-40B4-BE49-F238E27FC236}">
                <a16:creationId xmlns:a16="http://schemas.microsoft.com/office/drawing/2014/main" id="{90111FFD-FA00-36E1-ACB5-052FCF5A55C8}"/>
              </a:ext>
            </a:extLst>
          </p:cNvPr>
          <p:cNvGraphicFramePr>
            <a:graphicFrameLocks noGrp="1" noChangeAspect="1"/>
          </p:cNvGraphicFramePr>
          <p:nvPr>
            <p:ph type="body" idx="1"/>
          </p:nvPr>
        </p:nvGraphicFramePr>
        <p:xfrm>
          <a:off x="304800" y="2387600"/>
          <a:ext cx="9228138" cy="317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688520" imgH="2644200" progId="Word.Document.8">
                  <p:embed/>
                </p:oleObj>
              </mc:Choice>
              <mc:Fallback>
                <p:oleObj name="Document" r:id="rId2" imgW="7688520" imgH="2644200" progId="Word.Document.8">
                  <p:embed/>
                  <p:pic>
                    <p:nvPicPr>
                      <p:cNvPr id="137219" name="Object 3">
                        <a:extLst>
                          <a:ext uri="{FF2B5EF4-FFF2-40B4-BE49-F238E27FC236}">
                            <a16:creationId xmlns:a16="http://schemas.microsoft.com/office/drawing/2014/main" id="{90111FFD-FA00-36E1-ACB5-052FCF5A55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387600"/>
                        <a:ext cx="9228138" cy="317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644350F-6BA3-D3F2-388F-ACEAB0F65B9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4B1C0C1F-1CFC-4FE0-B3A7-C98495302E2B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D8D4D8F-5E6F-8A51-E844-79C3B9468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Applications TCP/IP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E7B1ED-8B48-233E-4F35-108BAC31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77993E3E-434B-4D3D-AD1B-86F78C55BFCD}" type="slidenum">
              <a:rPr lang="fr-FR" altLang="fr-FR" smtClean="0"/>
              <a:pPr/>
              <a:t>63</a:t>
            </a:fld>
            <a:endParaRPr lang="fr-FR" altLang="fr-FR"/>
          </a:p>
        </p:txBody>
      </p:sp>
      <p:sp>
        <p:nvSpPr>
          <p:cNvPr id="139266" name="Rectangle 2">
            <a:extLst>
              <a:ext uri="{FF2B5EF4-FFF2-40B4-BE49-F238E27FC236}">
                <a16:creationId xmlns:a16="http://schemas.microsoft.com/office/drawing/2014/main" id="{F25FECFF-E504-8887-B77B-F23119F1AF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2209800"/>
          </a:xfrm>
        </p:spPr>
        <p:txBody>
          <a:bodyPr/>
          <a:lstStyle/>
          <a:p>
            <a:r>
              <a:rPr lang="fr-FR" altLang="fr-FR"/>
              <a:t>Les protocoles de</a:t>
            </a:r>
            <a:br>
              <a:rPr lang="fr-FR" altLang="fr-FR"/>
            </a:br>
            <a:r>
              <a:rPr lang="fr-FR" altLang="fr-FR"/>
              <a:t>résolution d’adresses et</a:t>
            </a:r>
            <a:br>
              <a:rPr lang="fr-FR" altLang="fr-FR"/>
            </a:br>
            <a:r>
              <a:rPr lang="fr-FR" altLang="fr-FR"/>
              <a:t>configuration automatique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7FAE622B-6237-2E9A-2AF2-0901E825F5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781300"/>
            <a:ext cx="7924800" cy="36004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altLang="fr-FR" sz="2800"/>
              <a:t>ARP (IP</a:t>
            </a:r>
            <a:r>
              <a:rPr lang="fr-FR" altLang="fr-FR" sz="2800">
                <a:sym typeface="Symbol" panose="05050102010706020507" pitchFamily="18" charset="2"/>
              </a:rPr>
              <a:t></a:t>
            </a:r>
            <a:r>
              <a:rPr lang="fr-FR" altLang="fr-FR" sz="2800"/>
              <a:t>physique)</a:t>
            </a:r>
          </a:p>
          <a:p>
            <a:pPr>
              <a:lnSpc>
                <a:spcPct val="90000"/>
              </a:lnSpc>
            </a:pPr>
            <a:r>
              <a:rPr lang="fr-FR" altLang="fr-FR" sz="2800"/>
              <a:t>RARP (physique</a:t>
            </a:r>
            <a:r>
              <a:rPr lang="fr-FR" altLang="fr-FR" sz="2800">
                <a:sym typeface="Symbol" panose="05050102010706020507" pitchFamily="18" charset="2"/>
              </a:rPr>
              <a:t></a:t>
            </a:r>
            <a:r>
              <a:rPr lang="fr-FR" altLang="fr-FR" sz="2800"/>
              <a:t>IP)</a:t>
            </a:r>
            <a:br>
              <a:rPr lang="fr-FR" altLang="fr-FR" sz="2800"/>
            </a:br>
            <a:r>
              <a:rPr lang="fr-FR" altLang="fr-FR" sz="2800"/>
              <a:t>RARP/ARP:bas niveau</a:t>
            </a:r>
          </a:p>
          <a:p>
            <a:pPr>
              <a:lnSpc>
                <a:spcPct val="90000"/>
              </a:lnSpc>
            </a:pPr>
            <a:endParaRPr lang="fr-FR" altLang="fr-FR" sz="2800"/>
          </a:p>
          <a:p>
            <a:pPr>
              <a:lnSpc>
                <a:spcPct val="90000"/>
              </a:lnSpc>
            </a:pPr>
            <a:r>
              <a:rPr lang="fr-FR" altLang="fr-FR" sz="2800"/>
              <a:t>BOOTP, DHCP</a:t>
            </a:r>
            <a:br>
              <a:rPr lang="fr-FR" altLang="fr-FR" sz="2800"/>
            </a:br>
            <a:r>
              <a:rPr lang="fr-FR" altLang="fr-FR" sz="2800"/>
              <a:t>s’appuient sur UDP / IP, portables</a:t>
            </a:r>
            <a:br>
              <a:rPr lang="fr-FR" altLang="fr-FR" sz="2800"/>
            </a:br>
            <a:r>
              <a:rPr lang="fr-FR" altLang="fr-FR" sz="2800"/>
              <a:t>véhiculent l’ensemble des paramètres réseau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9700E8A-4D0F-FA11-4831-A9D21EDF843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4B1C0C1F-1CFC-4FE0-B3A7-C98495302E2B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6EAB7CC-0B2E-B563-7F6D-7926D8F93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Applications TCP/IP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D4811E-F2D3-EB33-EBAF-72CC1657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77993E3E-434B-4D3D-AD1B-86F78C55BFCD}" type="slidenum">
              <a:rPr lang="fr-FR" altLang="fr-FR" smtClean="0"/>
              <a:pPr/>
              <a:t>64</a:t>
            </a:fld>
            <a:endParaRPr lang="fr-FR" altLang="fr-FR"/>
          </a:p>
        </p:txBody>
      </p:sp>
      <p:sp>
        <p:nvSpPr>
          <p:cNvPr id="140290" name="Rectangle 2">
            <a:extLst>
              <a:ext uri="{FF2B5EF4-FFF2-40B4-BE49-F238E27FC236}">
                <a16:creationId xmlns:a16="http://schemas.microsoft.com/office/drawing/2014/main" id="{E9AAFAAA-812B-F25D-CC30-618FD5F4A8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Au démarrage d’une station...</a:t>
            </a:r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01578D2D-407F-8FF4-B5E6-DCCC97C7AB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3505200"/>
            <a:ext cx="7772400" cy="2876550"/>
          </a:xfrm>
        </p:spPr>
        <p:txBody>
          <a:bodyPr/>
          <a:lstStyle/>
          <a:p>
            <a:r>
              <a:rPr lang="fr-FR" altLang="fr-FR" sz="2800"/>
              <a:t>Soit  RARP + ICMP (netmask) + TFTP</a:t>
            </a:r>
            <a:br>
              <a:rPr lang="fr-FR" altLang="fr-FR" sz="2800"/>
            </a:br>
            <a:r>
              <a:rPr lang="fr-FR" altLang="fr-FR" sz="2800"/>
              <a:t>un peu lourd… et pas optimal</a:t>
            </a:r>
          </a:p>
          <a:p>
            <a:endParaRPr lang="fr-FR" altLang="fr-FR" sz="2800"/>
          </a:p>
          <a:p>
            <a:r>
              <a:rPr lang="fr-FR" altLang="fr-FR" sz="2800"/>
              <a:t>Soit BOOTP / DHCP</a:t>
            </a:r>
            <a:br>
              <a:rPr lang="fr-FR" altLang="fr-FR" sz="2800"/>
            </a:br>
            <a:r>
              <a:rPr lang="fr-FR" altLang="fr-FR" sz="2800"/>
              <a:t>(+ TFTP si sans disque uniquement)</a:t>
            </a:r>
          </a:p>
        </p:txBody>
      </p:sp>
      <p:sp>
        <p:nvSpPr>
          <p:cNvPr id="140292" name="Rectangle 4">
            <a:extLst>
              <a:ext uri="{FF2B5EF4-FFF2-40B4-BE49-F238E27FC236}">
                <a16:creationId xmlns:a16="http://schemas.microsoft.com/office/drawing/2014/main" id="{E21CF742-B3CE-7100-49F4-71DA45625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133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>
              <a:defRPr sz="4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>
              <a:defRPr sz="4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>
              <a:defRPr sz="44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>
              <a:defRPr sz="44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r>
              <a:rPr lang="fr-FR" altLang="fr-FR" sz="3200"/>
              <a:t>Récupération de sa configuration réseau :</a:t>
            </a:r>
            <a:endParaRPr lang="fr-FR" altLang="fr-F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99AEC4A-9BE9-A359-D394-009F201A144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4B1C0C1F-1CFC-4FE0-B3A7-C98495302E2B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4B36DDD-CE87-BCC2-9603-963E282EE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Applications TCP/IP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262927-7B10-CA82-2849-2CB8C4F16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77993E3E-434B-4D3D-AD1B-86F78C55BFCD}" type="slidenum">
              <a:rPr lang="fr-FR" altLang="fr-FR" smtClean="0"/>
              <a:pPr/>
              <a:t>65</a:t>
            </a:fld>
            <a:endParaRPr lang="fr-FR" altLang="fr-FR"/>
          </a:p>
        </p:txBody>
      </p:sp>
      <p:sp>
        <p:nvSpPr>
          <p:cNvPr id="141314" name="Rectangle 2">
            <a:extLst>
              <a:ext uri="{FF2B5EF4-FFF2-40B4-BE49-F238E27FC236}">
                <a16:creationId xmlns:a16="http://schemas.microsoft.com/office/drawing/2014/main" id="{E63C5356-76CB-B99F-4034-C9FABA286C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Le protocole BOOTP</a:t>
            </a:r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4A82C769-234F-CFBC-A2FB-4C2B6A9F0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2447925"/>
            <a:ext cx="8110537" cy="3648075"/>
          </a:xfrm>
        </p:spPr>
        <p:txBody>
          <a:bodyPr/>
          <a:lstStyle/>
          <a:p>
            <a:r>
              <a:rPr lang="fr-FR" altLang="fr-FR"/>
              <a:t>BOOTstrap Protocol</a:t>
            </a:r>
          </a:p>
          <a:p>
            <a:r>
              <a:rPr lang="fr-FR" altLang="fr-FR"/>
              <a:t>RFC 951 et RFC 1542</a:t>
            </a:r>
          </a:p>
          <a:p>
            <a:r>
              <a:rPr lang="fr-FR" altLang="fr-FR"/>
              <a:t>utilise UDP</a:t>
            </a:r>
            <a:br>
              <a:rPr lang="fr-FR" altLang="fr-FR"/>
            </a:br>
            <a:r>
              <a:rPr lang="fr-FR" altLang="fr-FR"/>
              <a:t>port 67 (serveur)  et  port 68 (client)</a:t>
            </a:r>
          </a:p>
          <a:p>
            <a:r>
              <a:rPr lang="fr-FR" altLang="fr-FR"/>
              <a:t>fournit informations de configuration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4E3A9B3-C2E3-7B6A-BBE2-23B57C8062D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4B1C0C1F-1CFC-4FE0-B3A7-C98495302E2B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D86CD05-789A-1AB7-7F0C-366A8BFFB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Applications TCP/IP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324F28-7EC0-543D-2E31-46B59CEC3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77993E3E-434B-4D3D-AD1B-86F78C55BFCD}" type="slidenum">
              <a:rPr lang="fr-FR" altLang="fr-FR" smtClean="0"/>
              <a:pPr/>
              <a:t>66</a:t>
            </a:fld>
            <a:endParaRPr lang="fr-FR" altLang="fr-FR"/>
          </a:p>
        </p:txBody>
      </p:sp>
      <p:sp>
        <p:nvSpPr>
          <p:cNvPr id="142338" name="Rectangle 2">
            <a:extLst>
              <a:ext uri="{FF2B5EF4-FFF2-40B4-BE49-F238E27FC236}">
                <a16:creationId xmlns:a16="http://schemas.microsoft.com/office/drawing/2014/main" id="{9DBBBA29-A296-FC0F-ABA3-8DD6B127BD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Principe</a:t>
            </a:r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9969B044-D446-7E66-800F-2034CC81E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001000" cy="4114800"/>
          </a:xfrm>
        </p:spPr>
        <p:txBody>
          <a:bodyPr/>
          <a:lstStyle/>
          <a:p>
            <a:r>
              <a:rPr lang="fr-FR" altLang="fr-FR" sz="2800"/>
              <a:t>Le client envoie en broadcast un paquet</a:t>
            </a:r>
            <a:br>
              <a:rPr lang="fr-FR" altLang="fr-FR" sz="2800"/>
            </a:br>
            <a:r>
              <a:rPr lang="fr-FR" altLang="fr-FR" sz="2800"/>
              <a:t>BOOTREQUEST</a:t>
            </a:r>
            <a:br>
              <a:rPr lang="fr-FR" altLang="fr-FR" sz="2800"/>
            </a:br>
            <a:r>
              <a:rPr lang="fr-FR" altLang="fr-FR" sz="2800"/>
              <a:t>contenant au minimum son adresse physique</a:t>
            </a:r>
          </a:p>
          <a:p>
            <a:r>
              <a:rPr lang="fr-FR" altLang="fr-FR" sz="2800"/>
              <a:t>Le serveur répond avec un paquet</a:t>
            </a:r>
            <a:br>
              <a:rPr lang="fr-FR" altLang="fr-FR" sz="2800"/>
            </a:br>
            <a:r>
              <a:rPr lang="fr-FR" altLang="fr-FR" sz="2800"/>
              <a:t>BOOTREPLY</a:t>
            </a:r>
            <a:br>
              <a:rPr lang="fr-FR" altLang="fr-FR" sz="2800"/>
            </a:br>
            <a:r>
              <a:rPr lang="fr-FR" altLang="fr-FR" sz="2800"/>
              <a:t>contenant tous les paramètres utiles</a:t>
            </a:r>
            <a:br>
              <a:rPr lang="fr-FR" altLang="fr-FR" sz="2800"/>
            </a:br>
            <a:r>
              <a:rPr lang="fr-FR" altLang="fr-FR" sz="2800"/>
              <a:t>(IP du client, netmask, IP serveurs, passerelles, etc…)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BB65665-9349-453F-2E42-86856E7DAC8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4B1C0C1F-1CFC-4FE0-B3A7-C98495302E2B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400E8F1-E058-B200-08DD-9DF61F481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Applications TCP/IP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4043B1-04B9-100F-3A24-AE7C1E19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77993E3E-434B-4D3D-AD1B-86F78C55BFCD}" type="slidenum">
              <a:rPr lang="fr-FR" altLang="fr-FR" smtClean="0"/>
              <a:pPr/>
              <a:t>67</a:t>
            </a:fld>
            <a:endParaRPr lang="fr-FR" altLang="fr-FR"/>
          </a:p>
        </p:txBody>
      </p:sp>
      <p:sp>
        <p:nvSpPr>
          <p:cNvPr id="143362" name="Rectangle 2">
            <a:extLst>
              <a:ext uri="{FF2B5EF4-FFF2-40B4-BE49-F238E27FC236}">
                <a16:creationId xmlns:a16="http://schemas.microsoft.com/office/drawing/2014/main" id="{B0A60403-C1FB-F334-4870-DB646D7957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Le protocole DHCP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8C020521-E30B-6560-6500-E927670AF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fr-FR" sz="2800"/>
              <a:t>Dynamic Host Configuration Protocol</a:t>
            </a:r>
          </a:p>
          <a:p>
            <a:r>
              <a:rPr lang="fr-FR" altLang="fr-FR" sz="2800"/>
              <a:t>RFC 2131 et RFC 2132</a:t>
            </a:r>
          </a:p>
          <a:p>
            <a:r>
              <a:rPr lang="fr-FR" altLang="fr-FR" sz="2800"/>
              <a:t>extension de BOOTP</a:t>
            </a:r>
          </a:p>
          <a:p>
            <a:r>
              <a:rPr lang="fr-FR" altLang="fr-FR" sz="2800"/>
              <a:t>compatible avec BOOTP</a:t>
            </a:r>
          </a:p>
          <a:p>
            <a:r>
              <a:rPr lang="fr-FR" altLang="fr-FR" sz="2800"/>
              <a:t>mêmes ports : 67 (serveur) et 68 (client)</a:t>
            </a:r>
          </a:p>
          <a:p>
            <a:r>
              <a:rPr lang="fr-FR" altLang="fr-FR" sz="2800"/>
              <a:t>plus de paramètres pris en compte, et allocation automatique d’adresses IP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462B6B8-465D-5836-FA1D-E8F584A6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4B1C0C1F-1CFC-4FE0-B3A7-C98495302E2B}" type="datetime1">
              <a:rPr lang="fr-FR" altLang="fr-FR" smtClean="0"/>
              <a:pPr/>
              <a:t>28/11/2025</a:t>
            </a:fld>
            <a:endParaRPr lang="fr-FR" alt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97AADE-FB96-1C0B-6737-182577FE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fr-FR" altLang="fr-FR"/>
              <a:t>Applications TCP/IP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73C414-FB61-5EF0-02C5-E9E94836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fld id="{77993E3E-434B-4D3D-AD1B-86F78C55BFCD}" type="slidenum">
              <a:rPr lang="fr-FR" altLang="fr-FR" smtClean="0"/>
              <a:pPr/>
              <a:t>68</a:t>
            </a:fld>
            <a:endParaRPr lang="fr-FR" altLang="fr-FR"/>
          </a:p>
        </p:txBody>
      </p:sp>
      <p:sp>
        <p:nvSpPr>
          <p:cNvPr id="144386" name="Rectangle 2">
            <a:extLst>
              <a:ext uri="{FF2B5EF4-FFF2-40B4-BE49-F238E27FC236}">
                <a16:creationId xmlns:a16="http://schemas.microsoft.com/office/drawing/2014/main" id="{4D4BFAAE-C52F-62E1-1539-5F3358A61C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Principe allocation IP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9E379E03-F9D9-39DC-6097-4BB0646CC6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fr-FR"/>
              <a:t>Allocation « statique »</a:t>
            </a:r>
            <a:br>
              <a:rPr lang="fr-FR" altLang="fr-FR"/>
            </a:br>
            <a:r>
              <a:rPr lang="fr-FR" altLang="fr-FR"/>
              <a:t>1 adresse IP </a:t>
            </a:r>
            <a:r>
              <a:rPr lang="fr-FR" altLang="fr-FR">
                <a:sym typeface="Symbol" panose="05050102010706020507" pitchFamily="18" charset="2"/>
              </a:rPr>
              <a:t> 1 adresse </a:t>
            </a:r>
            <a:r>
              <a:rPr lang="fr-FR" altLang="fr-FR"/>
              <a:t>physique</a:t>
            </a:r>
          </a:p>
          <a:p>
            <a:r>
              <a:rPr lang="fr-FR" altLang="fr-FR"/>
              <a:t>Allocation « dynamique »</a:t>
            </a:r>
            <a:br>
              <a:rPr lang="fr-FR" altLang="fr-FR"/>
            </a:br>
            <a:r>
              <a:rPr lang="fr-FR" altLang="fr-FR"/>
              <a:t>adresse IP allouée pour une durée limitée</a:t>
            </a:r>
            <a:br>
              <a:rPr lang="fr-FR" altLang="fr-FR"/>
            </a:br>
            <a:r>
              <a:rPr lang="fr-FR" altLang="fr-FR"/>
              <a:t>ex : wanadoo câble = 24h (1 jour),        entreprise = 1 jour, 1 semaine…</a:t>
            </a:r>
            <a:br>
              <a:rPr lang="fr-FR" altLang="fr-FR"/>
            </a:br>
            <a:r>
              <a:rPr lang="fr-FR" altLang="fr-FR"/>
              <a:t>renégociation du « bail » à la fin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2768</TotalTime>
  <Words>3746</Words>
  <Application>Microsoft Office PowerPoint</Application>
  <PresentationFormat>Affichage à l'écran (4:3)</PresentationFormat>
  <Paragraphs>748</Paragraphs>
  <Slides>68</Slides>
  <Notes>33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6</vt:i4>
      </vt:variant>
      <vt:variant>
        <vt:lpstr>Titres des diapositives</vt:lpstr>
      </vt:variant>
      <vt:variant>
        <vt:i4>68</vt:i4>
      </vt:variant>
    </vt:vector>
  </HeadingPairs>
  <TitlesOfParts>
    <vt:vector size="81" baseType="lpstr">
      <vt:lpstr>Arial</vt:lpstr>
      <vt:lpstr>Courier New</vt:lpstr>
      <vt:lpstr>Monotype Sorts</vt:lpstr>
      <vt:lpstr>Symbol</vt:lpstr>
      <vt:lpstr>Times New Roman</vt:lpstr>
      <vt:lpstr>Wingdings</vt:lpstr>
      <vt:lpstr>cvc</vt:lpstr>
      <vt:lpstr>Microsoft Word Picture</vt:lpstr>
      <vt:lpstr>MSDraw.Drawing.8.2</vt:lpstr>
      <vt:lpstr>Dessin Microsoft Draw</vt:lpstr>
      <vt:lpstr>Document</vt:lpstr>
      <vt:lpstr>Image Microsoft Word</vt:lpstr>
      <vt:lpstr>Dessin Microsoft Draw 98</vt:lpstr>
      <vt:lpstr>Présentation PowerPoint</vt:lpstr>
      <vt:lpstr>Architecture TCP/IP</vt:lpstr>
      <vt:lpstr>Protocoles TCP/IP</vt:lpstr>
      <vt:lpstr>Modèles en couche </vt:lpstr>
      <vt:lpstr>Les protocoles TCP et IP</vt:lpstr>
      <vt:lpstr>Adressage IP</vt:lpstr>
      <vt:lpstr>Adressage IP (suite)</vt:lpstr>
      <vt:lpstr>Schéma d'une interconnexion</vt:lpstr>
      <vt:lpstr>Résolution d'adresse</vt:lpstr>
      <vt:lpstr>Résolution d'adresse</vt:lpstr>
      <vt:lpstr>Protocole IP Datagramme IP</vt:lpstr>
      <vt:lpstr>Datagramme IP</vt:lpstr>
      <vt:lpstr>Datagramme IP</vt:lpstr>
      <vt:lpstr>Numéros de protocole</vt:lpstr>
      <vt:lpstr>Routage des datagrammes IP</vt:lpstr>
      <vt:lpstr>Routage des datagrammes IP</vt:lpstr>
      <vt:lpstr>Routage des datagrammes IP</vt:lpstr>
      <vt:lpstr>Routage des datagrammes IP</vt:lpstr>
      <vt:lpstr>ICMP (Internet Control Message Protocol) </vt:lpstr>
      <vt:lpstr>Protocole ICMP</vt:lpstr>
      <vt:lpstr>IP:Echange d’informations de supervision</vt:lpstr>
      <vt:lpstr>Exemples de types/codes des messages ICMP</vt:lpstr>
      <vt:lpstr>ICMP:Messages d’écho</vt:lpstr>
      <vt:lpstr>ICMP:Compte-rendu de destination inaccessible</vt:lpstr>
      <vt:lpstr>Commande ping</vt:lpstr>
      <vt:lpstr>Exemple d'exécution de ping</vt:lpstr>
      <vt:lpstr>TCP:Transmission Control Protocol</vt:lpstr>
      <vt:lpstr>Protocole TCP</vt:lpstr>
      <vt:lpstr>Segment TCP</vt:lpstr>
      <vt:lpstr>Segment TCP</vt:lpstr>
      <vt:lpstr>Segment TCP</vt:lpstr>
      <vt:lpstr>Segment TCP</vt:lpstr>
      <vt:lpstr>Protocole UDP  User Datagram Protocol</vt:lpstr>
      <vt:lpstr>Datagramme UDP</vt:lpstr>
      <vt:lpstr>Protocole Application NNTP</vt:lpstr>
      <vt:lpstr>Protocole Application NNTP</vt:lpstr>
      <vt:lpstr>Protocole Application NNTP</vt:lpstr>
      <vt:lpstr>Protocole Application NNTP</vt:lpstr>
      <vt:lpstr>Protocole Application NNTP</vt:lpstr>
      <vt:lpstr>A quoi ça sert les sockets ? </vt:lpstr>
      <vt:lpstr>Les sockets</vt:lpstr>
      <vt:lpstr>Communication sous UNIX</vt:lpstr>
      <vt:lpstr>Attributs des sockets</vt:lpstr>
      <vt:lpstr>Types de socket et protocoles</vt:lpstr>
      <vt:lpstr>Modes de dialogue et primitives</vt:lpstr>
      <vt:lpstr>Communication en mode connecté</vt:lpstr>
      <vt:lpstr>Connexion</vt:lpstr>
      <vt:lpstr>Création d’une file d’attente</vt:lpstr>
      <vt:lpstr>Acceptation d’une connexion</vt:lpstr>
      <vt:lpstr>Lecture-Ecriture TCP</vt:lpstr>
      <vt:lpstr>Exemple de dialogue (connecté)</vt:lpstr>
      <vt:lpstr>Telnet:un client universel</vt:lpstr>
      <vt:lpstr>Protocoles « Application »</vt:lpstr>
      <vt:lpstr>Le protocole TFTP</vt:lpstr>
      <vt:lpstr>Principes</vt:lpstr>
      <vt:lpstr>Phase de connexion</vt:lpstr>
      <vt:lpstr>Phase de connexion</vt:lpstr>
      <vt:lpstr>Transfert de données</vt:lpstr>
      <vt:lpstr>Transfert de données</vt:lpstr>
      <vt:lpstr>Traitement des erreurs</vt:lpstr>
      <vt:lpstr>Terminaison </vt:lpstr>
      <vt:lpstr>Rappel:Datagramme UDP</vt:lpstr>
      <vt:lpstr>Les protocoles de résolution d’adresses et configuration automatique</vt:lpstr>
      <vt:lpstr>Au démarrage d’une station...</vt:lpstr>
      <vt:lpstr>Le protocole BOOTP</vt:lpstr>
      <vt:lpstr>Principe</vt:lpstr>
      <vt:lpstr>Le protocole DHCP</vt:lpstr>
      <vt:lpstr>Principe allocation IP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213</cp:revision>
  <dcterms:created xsi:type="dcterms:W3CDTF">2000-04-10T19:33:12Z</dcterms:created>
  <dcterms:modified xsi:type="dcterms:W3CDTF">2025-11-28T16:33:17Z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