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2"/>
  </p:notesMasterIdLst>
  <p:handoutMasterIdLst>
    <p:handoutMasterId r:id="rId43"/>
  </p:handoutMasterIdLst>
  <p:sldIdLst>
    <p:sldId id="264" r:id="rId2"/>
    <p:sldId id="265" r:id="rId3"/>
    <p:sldId id="270" r:id="rId4"/>
    <p:sldId id="271" r:id="rId5"/>
    <p:sldId id="272" r:id="rId6"/>
    <p:sldId id="266" r:id="rId7"/>
    <p:sldId id="267" r:id="rId8"/>
    <p:sldId id="269" r:id="rId9"/>
    <p:sldId id="273" r:id="rId10"/>
    <p:sldId id="274" r:id="rId11"/>
    <p:sldId id="275" r:id="rId12"/>
    <p:sldId id="276" r:id="rId13"/>
    <p:sldId id="277" r:id="rId14"/>
    <p:sldId id="278" r:id="rId15"/>
    <p:sldId id="287" r:id="rId16"/>
    <p:sldId id="286" r:id="rId17"/>
    <p:sldId id="283" r:id="rId18"/>
    <p:sldId id="290" r:id="rId19"/>
    <p:sldId id="294" r:id="rId20"/>
    <p:sldId id="301" r:id="rId21"/>
    <p:sldId id="284" r:id="rId22"/>
    <p:sldId id="298" r:id="rId23"/>
    <p:sldId id="285" r:id="rId24"/>
    <p:sldId id="309" r:id="rId25"/>
    <p:sldId id="297" r:id="rId26"/>
    <p:sldId id="299" r:id="rId27"/>
    <p:sldId id="303" r:id="rId28"/>
    <p:sldId id="308" r:id="rId29"/>
    <p:sldId id="310" r:id="rId30"/>
    <p:sldId id="292" r:id="rId31"/>
    <p:sldId id="293" r:id="rId32"/>
    <p:sldId id="304" r:id="rId33"/>
    <p:sldId id="296" r:id="rId34"/>
    <p:sldId id="311" r:id="rId35"/>
    <p:sldId id="312" r:id="rId36"/>
    <p:sldId id="313" r:id="rId37"/>
    <p:sldId id="315" r:id="rId38"/>
    <p:sldId id="316" r:id="rId39"/>
    <p:sldId id="317" r:id="rId40"/>
    <p:sldId id="314" r:id="rId4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bert-hh/BME280/blob/master/bme280_float.py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Standardisation, alliances industrielles et plateforme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68956-2274-061B-4896-4B120162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Standardisation des réseaux cellulaires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1AE464-DEAD-6625-468C-393717D31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cellulaires se sont normalisés pour l'IoT</a:t>
            </a:r>
          </a:p>
          <a:p>
            <a:pPr lvl="1"/>
            <a:r>
              <a:rPr lang="fr-FR" dirty="0"/>
              <a:t>LTE</a:t>
            </a:r>
          </a:p>
          <a:p>
            <a:pPr lvl="1"/>
            <a:r>
              <a:rPr lang="fr-FR" dirty="0" err="1"/>
              <a:t>Narrowband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820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6F55D-1DFA-16D6-B32C-7D6E3A9D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1FF841-BBBA-6588-D03C-75995A3CB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LTE (Long </a:t>
            </a:r>
            <a:r>
              <a:rPr lang="fr-FR" dirty="0" err="1"/>
              <a:t>Term</a:t>
            </a:r>
            <a:r>
              <a:rPr lang="fr-FR" dirty="0"/>
              <a:t> Evolution) est une évolution des normes de téléphonie mobile GSM/EDGE, CDMA2000, TD-SCDMA et UMTS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940FDB-6C1B-E4E1-23F2-5FEDDB28E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638" y="2780928"/>
            <a:ext cx="5353797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BA9EE-595A-CF66-F13C-D2B9B518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LTE-M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240FD9-D7E0-C1C2-C969-7B389AD1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LTE-M (Long-</a:t>
            </a:r>
            <a:r>
              <a:rPr lang="fr-FR" dirty="0" err="1"/>
              <a:t>Term</a:t>
            </a:r>
            <a:r>
              <a:rPr lang="fr-FR" dirty="0"/>
              <a:t> Evolution for Machines), aussi appelé Cat-M1, est une technologie cellulaire LPWAN (Low Power Wide Area Network) normalisée par le 3GPP en 2016 (Release 13)</a:t>
            </a:r>
          </a:p>
          <a:p>
            <a:r>
              <a:rPr lang="fr-FR" dirty="0"/>
              <a:t>Elle s’appuie sur l’infrastructure 4G LTE existante et est conçue spécifiquement pour l’IoT et les communications M2M (Machine-to-Machine).</a:t>
            </a:r>
          </a:p>
        </p:txBody>
      </p:sp>
    </p:spTree>
    <p:extLst>
      <p:ext uri="{BB962C8B-B14F-4D97-AF65-F5344CB8AC3E}">
        <p14:creationId xmlns:p14="http://schemas.microsoft.com/office/powerpoint/2010/main" val="56101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FFD24E-B60B-E903-7254-CDC6FFD5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Caractéristiques techniques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76C30A-D997-4F54-AB36-1B3106313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LTE-M (Cat M1)</a:t>
            </a:r>
          </a:p>
          <a:p>
            <a:pPr lvl="1"/>
            <a:r>
              <a:rPr lang="fr-FR" dirty="0"/>
              <a:t>bande passante 1,4 MHz</a:t>
            </a:r>
          </a:p>
          <a:p>
            <a:pPr lvl="1"/>
            <a:r>
              <a:rPr lang="fr-FR" dirty="0"/>
              <a:t>débit jusqu’à 1 Mbps et jusqu'à 4Mbps (Release 14)</a:t>
            </a:r>
          </a:p>
          <a:p>
            <a:pPr lvl="1"/>
            <a:r>
              <a:rPr lang="fr-FR" dirty="0"/>
              <a:t>latence faible</a:t>
            </a:r>
          </a:p>
          <a:p>
            <a:pPr lvl="1"/>
            <a:r>
              <a:rPr lang="fr-FR" dirty="0"/>
              <a:t>support voix/SMS et mobilité (</a:t>
            </a:r>
            <a:r>
              <a:rPr lang="fr-FR" dirty="0" err="1"/>
              <a:t>handover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autonomie : jusqu’à 10 ans grâce aux modes PSM (Power </a:t>
            </a:r>
            <a:r>
              <a:rPr lang="fr-FR" dirty="0" err="1"/>
              <a:t>Saving</a:t>
            </a:r>
            <a:r>
              <a:rPr lang="fr-FR" dirty="0"/>
              <a:t> Mode) et </a:t>
            </a:r>
            <a:r>
              <a:rPr lang="fr-FR" dirty="0" err="1"/>
              <a:t>eDRX</a:t>
            </a:r>
            <a:r>
              <a:rPr lang="fr-FR" dirty="0"/>
              <a:t> (Extended </a:t>
            </a:r>
            <a:r>
              <a:rPr lang="fr-FR" dirty="0" err="1"/>
              <a:t>Discontinuous</a:t>
            </a:r>
            <a:r>
              <a:rPr lang="fr-FR" dirty="0"/>
              <a:t> </a:t>
            </a:r>
            <a:r>
              <a:rPr lang="fr-FR" dirty="0" err="1"/>
              <a:t>Reception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Couverture : excellente pénétration indoor (parkings, sous-sols) grâce aux fréquences basses (800 MHz)</a:t>
            </a:r>
          </a:p>
          <a:p>
            <a:pPr lvl="1"/>
            <a:r>
              <a:rPr lang="fr-FR" dirty="0"/>
              <a:t>Sécurité : basée sur les standards LTE (authentification SIM, chiffrement).</a:t>
            </a:r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78878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F47859-35D9-D20D-C7C1-50AC060E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Narrowband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D57B04-F96F-30A5-9685-81E267AF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NB-IoT (</a:t>
            </a:r>
            <a:r>
              <a:rPr lang="fr-FR" dirty="0" err="1"/>
              <a:t>Narrowband</a:t>
            </a:r>
            <a:r>
              <a:rPr lang="fr-FR" dirty="0"/>
              <a:t> IoT) est une technologie LPWAN (Low Power Wide Area Network) standardisée par le 3GPP dans la Release 13 (2016), intégrée à la plateforme LTE</a:t>
            </a:r>
          </a:p>
          <a:p>
            <a:r>
              <a:rPr lang="fr-FR" dirty="0"/>
              <a:t>Objectif</a:t>
            </a:r>
          </a:p>
          <a:p>
            <a:pPr lvl="1"/>
            <a:r>
              <a:rPr lang="fr-FR" dirty="0"/>
              <a:t>connecter des milliards d’objets avec une consommation énergétique minimale, une large couverture et un coût réduit</a:t>
            </a:r>
          </a:p>
          <a:p>
            <a:pPr lvl="1"/>
            <a:r>
              <a:rPr lang="fr-FR" dirty="0"/>
              <a:t>NB-IoT fonctionne dans les bandes sous licence des opérateurs mobiles, ce qui garantit qualité de service et sécurité</a:t>
            </a:r>
          </a:p>
        </p:txBody>
      </p:sp>
    </p:spTree>
    <p:extLst>
      <p:ext uri="{BB962C8B-B14F-4D97-AF65-F5344CB8AC3E}">
        <p14:creationId xmlns:p14="http://schemas.microsoft.com/office/powerpoint/2010/main" val="348338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39D581-8BCF-7D58-A879-14C0FD38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Caractéristiques techniques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B8BD1D-04E7-42BF-BB53-C29A61695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/>
              <a:t>Bande passante : 180–200 kHz (très étroite, optimisée pour petits paquets)</a:t>
            </a:r>
          </a:p>
          <a:p>
            <a:r>
              <a:rPr lang="fr-FR" sz="2000" dirty="0"/>
              <a:t>Modes de déploiement</a:t>
            </a:r>
          </a:p>
          <a:p>
            <a:pPr lvl="1"/>
            <a:r>
              <a:rPr lang="fr-FR" sz="1800" dirty="0"/>
              <a:t>In-band : dans une porteuse LTE existante</a:t>
            </a:r>
          </a:p>
          <a:p>
            <a:pPr lvl="1"/>
            <a:r>
              <a:rPr lang="fr-FR" sz="1800" dirty="0"/>
              <a:t>Guard-band : dans les bandes de garde LTE</a:t>
            </a:r>
          </a:p>
          <a:p>
            <a:pPr lvl="1"/>
            <a:r>
              <a:rPr lang="fr-FR" sz="1800" dirty="0"/>
              <a:t>Standalone : sur une bande dédiée (ex-GSM)</a:t>
            </a:r>
          </a:p>
          <a:p>
            <a:r>
              <a:rPr lang="fr-FR" sz="2000" dirty="0"/>
              <a:t>Modulation</a:t>
            </a:r>
          </a:p>
          <a:p>
            <a:pPr lvl="1"/>
            <a:r>
              <a:rPr lang="fr-FR" sz="1800" dirty="0" err="1"/>
              <a:t>Downlink</a:t>
            </a:r>
            <a:r>
              <a:rPr lang="fr-FR" sz="1800" dirty="0"/>
              <a:t> : OFDMA</a:t>
            </a:r>
          </a:p>
          <a:p>
            <a:pPr lvl="1"/>
            <a:r>
              <a:rPr lang="fr-FR" sz="1800" dirty="0" err="1"/>
              <a:t>Uplink</a:t>
            </a:r>
            <a:r>
              <a:rPr lang="fr-FR" sz="1800" dirty="0"/>
              <a:t> : SC-FDMA (mono-ton ou </a:t>
            </a:r>
            <a:r>
              <a:rPr lang="fr-FR" sz="1800" dirty="0" err="1"/>
              <a:t>multi-ton</a:t>
            </a:r>
            <a:r>
              <a:rPr lang="fr-FR" sz="1800" dirty="0"/>
              <a:t>)</a:t>
            </a:r>
          </a:p>
          <a:p>
            <a:pPr lvl="1"/>
            <a:r>
              <a:rPr lang="fr-FR" sz="1800" dirty="0"/>
              <a:t>Débit :Cat NB1 (Rel.13) : ~26 kbps </a:t>
            </a:r>
            <a:r>
              <a:rPr lang="fr-FR" sz="1800" dirty="0" err="1"/>
              <a:t>uplink</a:t>
            </a:r>
            <a:endParaRPr lang="fr-FR" sz="1800" dirty="0"/>
          </a:p>
          <a:p>
            <a:pPr lvl="1"/>
            <a:r>
              <a:rPr lang="fr-FR" sz="1800" dirty="0"/>
              <a:t>Cat NB2 (Rel.14) : jusqu’à 127 kbps </a:t>
            </a:r>
            <a:r>
              <a:rPr lang="fr-FR" sz="1800" dirty="0" err="1"/>
              <a:t>uplink</a:t>
            </a:r>
            <a:r>
              <a:rPr lang="fr-FR" sz="1800" dirty="0"/>
              <a:t> et 159 kbps </a:t>
            </a:r>
            <a:r>
              <a:rPr lang="fr-FR" sz="1800" dirty="0" err="1"/>
              <a:t>downlink</a:t>
            </a:r>
            <a:endParaRPr lang="fr-FR" sz="1800" dirty="0"/>
          </a:p>
          <a:p>
            <a:pPr lvl="1"/>
            <a:r>
              <a:rPr lang="fr-FR" sz="1800" dirty="0"/>
              <a:t>Couverture : jusqu’à 164 dB MCL (Maximum </a:t>
            </a:r>
            <a:r>
              <a:rPr lang="fr-FR" sz="1800" dirty="0" err="1"/>
              <a:t>Coupling</a:t>
            </a:r>
            <a:r>
              <a:rPr lang="fr-FR" sz="1800" dirty="0"/>
              <a:t> </a:t>
            </a:r>
            <a:r>
              <a:rPr lang="fr-FR" sz="1800" dirty="0" err="1"/>
              <a:t>Loss</a:t>
            </a:r>
            <a:r>
              <a:rPr lang="fr-FR" sz="1800" dirty="0"/>
              <a:t>), idéal pour zones profondes (sous-sols, parkings)</a:t>
            </a:r>
          </a:p>
          <a:p>
            <a:pPr lvl="1"/>
            <a:r>
              <a:rPr lang="fr-FR" sz="1800" dirty="0"/>
              <a:t>Autonomie : &gt;10 ans avec PSM (Power </a:t>
            </a:r>
            <a:r>
              <a:rPr lang="fr-FR" sz="1800" dirty="0" err="1"/>
              <a:t>Saving</a:t>
            </a:r>
            <a:r>
              <a:rPr lang="fr-FR" sz="1800" dirty="0"/>
              <a:t> Mode) et </a:t>
            </a:r>
            <a:r>
              <a:rPr lang="fr-FR" sz="1800" dirty="0" err="1"/>
              <a:t>eDRX</a:t>
            </a:r>
            <a:r>
              <a:rPr lang="fr-FR" sz="1800" dirty="0"/>
              <a:t> (Extended </a:t>
            </a:r>
            <a:r>
              <a:rPr lang="fr-FR" sz="1800" dirty="0" err="1"/>
              <a:t>Discontinuous</a:t>
            </a:r>
            <a:r>
              <a:rPr lang="fr-FR" sz="1800" dirty="0"/>
              <a:t> </a:t>
            </a:r>
            <a:r>
              <a:rPr lang="fr-FR" sz="1800" dirty="0" err="1"/>
              <a:t>Reception</a:t>
            </a:r>
            <a:r>
              <a:rPr lang="fr-F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672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60518-3F0D-585C-815B-975E555A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70C0B9-8E0D-1C32-11E3-9A1D0851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NB-IoT</a:t>
            </a:r>
          </a:p>
          <a:p>
            <a:pPr lvl="1"/>
            <a:r>
              <a:rPr lang="fr-FR" sz="2000" dirty="0"/>
              <a:t>optimisé pour objets fixes, faible débit, très longue autonomie, meilleure pénétration indoor</a:t>
            </a:r>
          </a:p>
          <a:p>
            <a:pPr lvl="1"/>
            <a:r>
              <a:rPr lang="fr-FR" sz="2000" dirty="0"/>
              <a:t>Cas d’usage : compteurs intelligents, capteurs environnementaux, suivi d’actifs statiques</a:t>
            </a:r>
          </a:p>
          <a:p>
            <a:r>
              <a:rPr lang="fr-FR" sz="2400" dirty="0"/>
              <a:t>LTE-M</a:t>
            </a:r>
          </a:p>
          <a:p>
            <a:pPr lvl="1"/>
            <a:r>
              <a:rPr lang="fr-FR" sz="2000" dirty="0" err="1"/>
              <a:t>tracking</a:t>
            </a:r>
            <a:r>
              <a:rPr lang="fr-FR" sz="2000" dirty="0"/>
              <a:t> mobile, dispositifs médicaux, applications critiques.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68905A-438D-F5DC-A65E-4CCE575EE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12" y="4077072"/>
            <a:ext cx="6984776" cy="29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01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4558E7-ED9D-B5B0-54D0-99EE1C1C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Standardisation des réseaux IoT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4BDB3F-96D0-AE0A-DF1F-A9B30EA99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OneM2M</a:t>
            </a:r>
          </a:p>
          <a:p>
            <a:r>
              <a:rPr lang="fr-FR" dirty="0"/>
              <a:t>GS1</a:t>
            </a:r>
          </a:p>
          <a:p>
            <a:r>
              <a:rPr lang="fr-FR" dirty="0" err="1"/>
              <a:t>EPCGlobal</a:t>
            </a:r>
            <a:r>
              <a:rPr lang="fr-FR" dirty="0"/>
              <a:t> </a:t>
            </a:r>
          </a:p>
          <a:p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1785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225781-A6FF-14E2-F454-A93DB74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OneM2M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47F3D3-A0C4-F04E-A29E-F63F6A5CB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Créer une couche de services commune pour les applications IoT afin d’éviter la fragmentation et garantir l’interopérabilité entre dispositifs et plateformes</a:t>
            </a:r>
          </a:p>
          <a:p>
            <a:pPr lvl="1"/>
            <a:r>
              <a:rPr lang="fr-FR" sz="2000" dirty="0"/>
              <a:t>Architecture horizontale applicable à tous les secteurs</a:t>
            </a:r>
          </a:p>
          <a:p>
            <a:r>
              <a:rPr lang="fr-FR" sz="2400" dirty="0"/>
              <a:t>Fonctions communes</a:t>
            </a:r>
          </a:p>
          <a:p>
            <a:pPr lvl="1"/>
            <a:r>
              <a:rPr lang="fr-FR" sz="2000" dirty="0"/>
              <a:t>enregistrement, découverte, gestion des appareils, sécurité, notifications</a:t>
            </a:r>
          </a:p>
          <a:p>
            <a:pPr lvl="1"/>
            <a:r>
              <a:rPr lang="fr-FR" sz="2000" dirty="0"/>
              <a:t>Support des protocoles ouverts : HTTP, </a:t>
            </a:r>
            <a:r>
              <a:rPr lang="fr-FR" sz="2000" dirty="0" err="1"/>
              <a:t>CoAP</a:t>
            </a:r>
            <a:r>
              <a:rPr lang="fr-FR" sz="2000" dirty="0"/>
              <a:t>, MQTT</a:t>
            </a:r>
          </a:p>
          <a:p>
            <a:pPr lvl="1"/>
            <a:r>
              <a:rPr lang="fr-FR" sz="2000" dirty="0"/>
              <a:t>Évolutions :Release 1 à 4 : ajout de fonctionnalités comme Edge/Fog </a:t>
            </a:r>
            <a:r>
              <a:rPr lang="fr-FR" sz="2000" dirty="0" err="1"/>
              <a:t>computing</a:t>
            </a:r>
            <a:r>
              <a:rPr lang="fr-FR" sz="2000" dirty="0"/>
              <a:t>, </a:t>
            </a:r>
            <a:r>
              <a:rPr lang="fr-FR" sz="2000" dirty="0" err="1"/>
              <a:t>interworking</a:t>
            </a:r>
            <a:r>
              <a:rPr lang="fr-FR" sz="2000" dirty="0"/>
              <a:t> avec 3GPP, sécurité renforcée, sémantique et </a:t>
            </a:r>
            <a:r>
              <a:rPr lang="fr-FR" sz="2000" dirty="0" err="1"/>
              <a:t>ontologies.Release</a:t>
            </a:r>
            <a:r>
              <a:rPr lang="fr-FR" sz="2000" dirty="0"/>
              <a:t> 5 (prévue) : intégration IA/ML pour IoT intelligent. [onem2m.org], [5ghub.us]Reconnaissance internationale : Transposition par ITU-T (Y.4500) et adoption par ETSI, ATIS, TTA, etc.</a:t>
            </a:r>
          </a:p>
        </p:txBody>
      </p:sp>
    </p:spTree>
    <p:extLst>
      <p:ext uri="{BB962C8B-B14F-4D97-AF65-F5344CB8AC3E}">
        <p14:creationId xmlns:p14="http://schemas.microsoft.com/office/powerpoint/2010/main" val="305141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C29531-E03D-8E2C-1055-2C632BCE4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GS1 et </a:t>
            </a:r>
            <a:r>
              <a:rPr lang="fr-FR" dirty="0" err="1"/>
              <a:t>EPCglobal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53A727-BDE1-3EA4-FDF0-A4653A6F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Standards pour traçabilité et identification</a:t>
            </a:r>
          </a:p>
          <a:p>
            <a:r>
              <a:rPr lang="fr-FR" sz="2400" dirty="0"/>
              <a:t>GS1</a:t>
            </a:r>
          </a:p>
          <a:p>
            <a:pPr lvl="1"/>
            <a:r>
              <a:rPr lang="fr-FR" sz="2000" dirty="0"/>
              <a:t>Fournit un langage global pour l’IoT, basé sur l’identification (codes-barres, EPC/RFID) et la synchronisation des données (GDSN)</a:t>
            </a:r>
          </a:p>
          <a:p>
            <a:r>
              <a:rPr lang="fr-FR" sz="2400" dirty="0" err="1"/>
              <a:t>EPCglobal</a:t>
            </a:r>
            <a:endParaRPr lang="fr-FR" sz="2400" dirty="0"/>
          </a:p>
          <a:p>
            <a:pPr lvl="1"/>
            <a:r>
              <a:rPr lang="fr-FR" sz="2000" dirty="0"/>
              <a:t>Développe les standards pour </a:t>
            </a:r>
            <a:r>
              <a:rPr lang="fr-FR" sz="2000" dirty="0" err="1"/>
              <a:t>Electronic</a:t>
            </a:r>
            <a:r>
              <a:rPr lang="fr-FR" sz="2000" dirty="0"/>
              <a:t> Product Code (EPC) et RFID</a:t>
            </a:r>
          </a:p>
          <a:p>
            <a:pPr lvl="1"/>
            <a:r>
              <a:rPr lang="fr-FR" sz="2000" dirty="0"/>
              <a:t>EPCIS : standard pour partager les événements de visibilité (quoi, où, quand, pourquoi)</a:t>
            </a:r>
          </a:p>
          <a:p>
            <a:pPr lvl="1"/>
            <a:r>
              <a:rPr lang="fr-FR" sz="2000" dirty="0"/>
              <a:t>ONS (Object Name Service) : équivalent DNS pour relier EPC à des informations produit</a:t>
            </a:r>
          </a:p>
          <a:p>
            <a:pPr lvl="1"/>
            <a:r>
              <a:rPr lang="fr-FR" sz="2000" dirty="0"/>
              <a:t>PML (Physical Markup </a:t>
            </a:r>
            <a:r>
              <a:rPr lang="fr-FR" sz="2000" dirty="0" err="1"/>
              <a:t>Language</a:t>
            </a:r>
            <a:r>
              <a:rPr lang="fr-FR" sz="2000" dirty="0"/>
              <a:t>) : format XML pour décrire les objets physiques. [gs1.org], [gs1.fr], [gs1inmaghreb.org]Applications :</a:t>
            </a:r>
            <a:r>
              <a:rPr lang="fr-FR" sz="2000" dirty="0" err="1"/>
              <a:t>Supply</a:t>
            </a:r>
            <a:r>
              <a:rPr lang="fr-FR" sz="2000" dirty="0"/>
              <a:t> </a:t>
            </a:r>
            <a:r>
              <a:rPr lang="fr-FR" sz="2000" dirty="0" err="1"/>
              <a:t>chain</a:t>
            </a:r>
            <a:r>
              <a:rPr lang="fr-FR" sz="2000" dirty="0"/>
              <a:t>, </a:t>
            </a:r>
            <a:r>
              <a:rPr lang="fr-FR" sz="2000" dirty="0" err="1"/>
              <a:t>retail</a:t>
            </a:r>
            <a:r>
              <a:rPr lang="fr-FR" sz="2000" dirty="0"/>
              <a:t>, santé, </a:t>
            </a:r>
            <a:r>
              <a:rPr lang="fr-FR" sz="2000" dirty="0" err="1"/>
              <a:t>agroalimentaire.Traçabilité</a:t>
            </a:r>
            <a:r>
              <a:rPr lang="fr-FR" sz="2000" dirty="0"/>
              <a:t> bout en bout et lutte contre la contrefaçon</a:t>
            </a:r>
          </a:p>
        </p:txBody>
      </p:sp>
    </p:spTree>
    <p:extLst>
      <p:ext uri="{BB962C8B-B14F-4D97-AF65-F5344CB8AC3E}">
        <p14:creationId xmlns:p14="http://schemas.microsoft.com/office/powerpoint/2010/main" val="4059967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6EDDD-597D-6406-B34A-7E9A5135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ces standards sont essentiels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65461D-93ED-A4BE-6B2F-8A28CE476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Interopérabilité</a:t>
            </a:r>
          </a:p>
          <a:p>
            <a:pPr lvl="1"/>
            <a:r>
              <a:rPr lang="fr-FR" dirty="0"/>
              <a:t>Permet aux objets et systèmes hétérogènes de communiquer sans passerelles complexes</a:t>
            </a:r>
          </a:p>
          <a:p>
            <a:r>
              <a:rPr lang="fr-FR" dirty="0"/>
              <a:t>Sécurité et conformité</a:t>
            </a:r>
          </a:p>
          <a:p>
            <a:pPr lvl="1"/>
            <a:r>
              <a:rPr lang="fr-FR" dirty="0"/>
              <a:t>Intégration de mécanismes robustes (authentification, chiffrement)</a:t>
            </a:r>
          </a:p>
          <a:p>
            <a:r>
              <a:rPr lang="fr-FR" dirty="0"/>
              <a:t>Scalabilité</a:t>
            </a:r>
          </a:p>
          <a:p>
            <a:pPr lvl="1"/>
            <a:r>
              <a:rPr lang="fr-FR" dirty="0"/>
              <a:t>Support de millions d’objets connectés</a:t>
            </a:r>
          </a:p>
          <a:p>
            <a:r>
              <a:rPr lang="fr-FR" dirty="0"/>
              <a:t>Durabilité</a:t>
            </a:r>
          </a:p>
          <a:p>
            <a:pPr lvl="1"/>
            <a:r>
              <a:rPr lang="fr-FR" dirty="0"/>
              <a:t>Réduction des coûts et empreinte carbone via architectures optimisées (Edge, Cloud).</a:t>
            </a:r>
          </a:p>
        </p:txBody>
      </p:sp>
    </p:spTree>
    <p:extLst>
      <p:ext uri="{BB962C8B-B14F-4D97-AF65-F5344CB8AC3E}">
        <p14:creationId xmlns:p14="http://schemas.microsoft.com/office/powerpoint/2010/main" val="2031092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A2A27B-A904-8B15-0827-6A99B2F2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standards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14DFEB-A6B0-1794-6566-99911FF68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ISO/IEC 30141</a:t>
            </a:r>
          </a:p>
          <a:p>
            <a:pPr lvl="1"/>
            <a:r>
              <a:rPr lang="fr-FR" dirty="0"/>
              <a:t>Architecture de référence pour l’IoT</a:t>
            </a:r>
          </a:p>
          <a:p>
            <a:r>
              <a:rPr lang="fr-FR" dirty="0"/>
              <a:t>ETSI SmartM2M</a:t>
            </a:r>
          </a:p>
          <a:p>
            <a:pPr lvl="1"/>
            <a:r>
              <a:rPr lang="fr-FR" dirty="0"/>
              <a:t>Normes pour M2M et IoT en Europe</a:t>
            </a:r>
          </a:p>
          <a:p>
            <a:r>
              <a:rPr lang="fr-FR" dirty="0"/>
              <a:t>Connectivity Standards Alliance (CSA)</a:t>
            </a:r>
          </a:p>
          <a:p>
            <a:pPr lvl="1"/>
            <a:r>
              <a:rPr lang="fr-FR" dirty="0"/>
              <a:t>Protocoles ouverts (</a:t>
            </a:r>
            <a:r>
              <a:rPr lang="fr-FR" dirty="0" err="1"/>
              <a:t>Matter</a:t>
            </a:r>
            <a:r>
              <a:rPr lang="fr-FR" dirty="0"/>
              <a:t>, </a:t>
            </a:r>
            <a:r>
              <a:rPr lang="fr-FR" dirty="0" err="1"/>
              <a:t>Zigbee</a:t>
            </a:r>
            <a:r>
              <a:rPr lang="fr-FR" dirty="0"/>
              <a:t>) pour la maison connectée.</a:t>
            </a:r>
          </a:p>
        </p:txBody>
      </p:sp>
    </p:spTree>
    <p:extLst>
      <p:ext uri="{BB962C8B-B14F-4D97-AF65-F5344CB8AC3E}">
        <p14:creationId xmlns:p14="http://schemas.microsoft.com/office/powerpoint/2010/main" val="265191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424A7-968B-9FAB-5970-E7EEB977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Alliances industrielles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9FB68-4B09-1291-C40D-D41B57A1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AllSeen</a:t>
            </a:r>
            <a:endParaRPr lang="fr-FR" dirty="0"/>
          </a:p>
          <a:p>
            <a:r>
              <a:rPr lang="fr-FR" dirty="0"/>
              <a:t>OIC</a:t>
            </a:r>
          </a:p>
          <a:p>
            <a:r>
              <a:rPr lang="fr-FR" dirty="0"/>
              <a:t>IPSO</a:t>
            </a:r>
          </a:p>
          <a:p>
            <a:r>
              <a:rPr lang="fr-FR" dirty="0"/>
              <a:t>Bus </a:t>
            </a:r>
          </a:p>
        </p:txBody>
      </p:sp>
    </p:spTree>
    <p:extLst>
      <p:ext uri="{BB962C8B-B14F-4D97-AF65-F5344CB8AC3E}">
        <p14:creationId xmlns:p14="http://schemas.microsoft.com/office/powerpoint/2010/main" val="461662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6CB81-77FF-D984-1FF4-28D88665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B35C95-FAF8-2523-F9E8-8E7974F2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73" y="1412775"/>
            <a:ext cx="8766051" cy="5040560"/>
          </a:xfrm>
        </p:spPr>
        <p:txBody>
          <a:bodyPr/>
          <a:lstStyle/>
          <a:p>
            <a:r>
              <a:rPr lang="fr-FR" dirty="0"/>
              <a:t>Un bus informatique est un dispositif de transmission de données partagé entre plusieurs composants d'un système numérique</a:t>
            </a:r>
          </a:p>
          <a:p>
            <a:pPr lvl="1"/>
            <a:r>
              <a:rPr lang="fr-FR" dirty="0"/>
              <a:t>Par l'intermédiaire d'une voie de transmission commune, dans lequel les composants ne prennent aucune part à la transmission des données entre les autres participants</a:t>
            </a:r>
          </a:p>
        </p:txBody>
      </p:sp>
      <p:pic>
        <p:nvPicPr>
          <p:cNvPr id="1026" name="Picture 2" descr="Vue des trois sous-ensembles composant un bus : données, adresse et contrôle">
            <a:extLst>
              <a:ext uri="{FF2B5EF4-FFF2-40B4-BE49-F238E27FC236}">
                <a16:creationId xmlns:a16="http://schemas.microsoft.com/office/drawing/2014/main" id="{5DF06DDB-49A1-C739-B343-F2B2C1168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365104"/>
            <a:ext cx="23812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7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061F8F-A749-06D6-C0B5-CE4BA350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AC1C2-59CB-46CF-DA07-6A3F2C67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Proposé par Apple dans l'Apple // en 1977</a:t>
            </a:r>
          </a:p>
          <a:p>
            <a:r>
              <a:rPr lang="fr-FR" dirty="0"/>
              <a:t>Popularisé par IBM PC en 1981</a:t>
            </a:r>
          </a:p>
          <a:p>
            <a:pPr lvl="1"/>
            <a:r>
              <a:rPr lang="fr-FR" dirty="0"/>
              <a:t>Bus ISA 8 bits</a:t>
            </a:r>
          </a:p>
          <a:p>
            <a:r>
              <a:rPr lang="fr-FR" dirty="0"/>
              <a:t>Evolutions</a:t>
            </a:r>
          </a:p>
          <a:p>
            <a:pPr lvl="1"/>
            <a:r>
              <a:rPr lang="fr-FR" dirty="0"/>
              <a:t>ISA 16 bits</a:t>
            </a:r>
          </a:p>
          <a:p>
            <a:pPr lvl="1"/>
            <a:r>
              <a:rPr lang="fr-FR" dirty="0"/>
              <a:t>PCI</a:t>
            </a:r>
          </a:p>
          <a:p>
            <a:pPr lvl="1"/>
            <a:r>
              <a:rPr lang="fr-FR" dirty="0"/>
              <a:t>AGP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Un périphérique est identifié par son adresse sur le bus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477CDB-B17A-F835-C5BB-4DDF217F3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314" y="1988840"/>
            <a:ext cx="3159249" cy="307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58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 I2C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I2C (Inter-Integrated Circuit) est un bus informatique qui a émergé de la « guerre des standards » lancée par les acteurs du monde électronique</a:t>
            </a:r>
          </a:p>
          <a:p>
            <a:pPr lvl="1"/>
            <a:r>
              <a:rPr lang="fr-FR" dirty="0"/>
              <a:t>Conçu par Philips pour les applications de domotique et d’électronique domestique, il permet de relier facilement un microprocesseur et différents circuits, notamment ceux d’un téléviseur moderne : récepteur de la télécommande, réglages des amplificateurs basses fréquences, tuner, horloge, …</a:t>
            </a:r>
          </a:p>
          <a:p>
            <a:r>
              <a:rPr lang="fr-FR" dirty="0"/>
              <a:t>Natif dans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machine.I2C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3932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DAA47-2E1E-4182-E2E9-63C85EFE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95AD00-2A6D-B2F7-7294-A4456E7B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Programmer du I2C est difficile</a:t>
            </a:r>
          </a:p>
          <a:p>
            <a:pPr lvl="1"/>
            <a:r>
              <a:rPr lang="fr-FR" dirty="0"/>
              <a:t>Dépend complètement du périphérique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Code du BME280 : </a:t>
            </a:r>
            <a:r>
              <a:rPr lang="fr-FR" dirty="0">
                <a:hlinkClick r:id="rId2"/>
              </a:rPr>
              <a:t>https://github.com/robert-hh/BME280/blob/master/bme280_float.py</a:t>
            </a:r>
            <a:endParaRPr lang="fr-FR" dirty="0"/>
          </a:p>
          <a:p>
            <a:pPr lvl="1"/>
            <a:r>
              <a:rPr lang="fr-FR" dirty="0"/>
              <a:t>La plupart des périphériques I2C sont fournis avec un driver</a:t>
            </a:r>
          </a:p>
        </p:txBody>
      </p:sp>
    </p:spTree>
    <p:extLst>
      <p:ext uri="{BB962C8B-B14F-4D97-AF65-F5344CB8AC3E}">
        <p14:creationId xmlns:p14="http://schemas.microsoft.com/office/powerpoint/2010/main" val="37913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44F62-F0B8-697C-761E-5F625F27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FA0753-ED80-146A-AF08-68D11A6F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ESP32 il y a 1 bus I2C</a:t>
            </a:r>
          </a:p>
          <a:p>
            <a:pPr lvl="1"/>
            <a:r>
              <a:rPr lang="fr-FR" dirty="0"/>
              <a:t>21 = SDA</a:t>
            </a:r>
          </a:p>
          <a:p>
            <a:pPr lvl="1"/>
            <a:r>
              <a:rPr lang="fr-FR" dirty="0"/>
              <a:t>22 = SCL</a:t>
            </a:r>
          </a:p>
          <a:p>
            <a:pPr lvl="1"/>
            <a:r>
              <a:rPr lang="fr-FR" dirty="0"/>
              <a:t>Il est possible de brancher tous les périphériques I2C sur le même port I2C</a:t>
            </a:r>
          </a:p>
          <a:p>
            <a:r>
              <a:rPr lang="fr-FR" dirty="0"/>
              <a:t>machine.I2C</a:t>
            </a:r>
          </a:p>
          <a:p>
            <a:r>
              <a:rPr lang="fr-FR" dirty="0"/>
              <a:t>Il est possible d'émuler de l'I2C sur tous les ports en sortie</a:t>
            </a:r>
          </a:p>
          <a:p>
            <a:pPr lvl="1"/>
            <a:r>
              <a:rPr lang="fr-FR" dirty="0"/>
              <a:t>Remplacer machine.I2C par machine.SoftI2C</a:t>
            </a:r>
          </a:p>
        </p:txBody>
      </p:sp>
    </p:spTree>
    <p:extLst>
      <p:ext uri="{BB962C8B-B14F-4D97-AF65-F5344CB8AC3E}">
        <p14:creationId xmlns:p14="http://schemas.microsoft.com/office/powerpoint/2010/main" val="2295480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5FA1-CF3C-D5FA-9FE8-4A2810A4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CA8EEC-E370-296D-8DD4-6BA87BC1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C2B61A84-7040-3DC2-0F0C-7D183081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4357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272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Capteur de pression I2C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5040559" cy="5040560"/>
          </a:xfrm>
        </p:spPr>
        <p:txBody>
          <a:bodyPr/>
          <a:lstStyle/>
          <a:p>
            <a:r>
              <a:rPr lang="fr-FR" dirty="0"/>
              <a:t>BM280 est un capteur de pression I2C</a:t>
            </a:r>
          </a:p>
          <a:p>
            <a:pPr lvl="1"/>
            <a:r>
              <a:rPr lang="fr-FR" dirty="0"/>
              <a:t>BME280_float.py</a:t>
            </a:r>
          </a:p>
          <a:p>
            <a:pPr lvl="1"/>
            <a:r>
              <a:rPr lang="fr-FR" dirty="0"/>
              <a:t>A sauver sur ESP32 avec Save As</a:t>
            </a:r>
          </a:p>
          <a:p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135710" y="1348774"/>
            <a:ext cx="3104381" cy="181565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B4593B8-53AF-BB9E-9AD1-B0D42734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231" y="4726653"/>
            <a:ext cx="5639587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9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07E13-C1FE-5F93-2E20-65023D45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FABC04-8983-9588-2C36-465E941D1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MicroPython : BME280 avec ESP32 et ESP8266 (Pression, Température, Humidité)">
            <a:extLst>
              <a:ext uri="{FF2B5EF4-FFF2-40B4-BE49-F238E27FC236}">
                <a16:creationId xmlns:a16="http://schemas.microsoft.com/office/drawing/2014/main" id="{6AE904DA-5073-5A53-D2EC-50BDAA480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6712"/>
            <a:ext cx="6633501" cy="577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50D0363-C604-2494-7A5B-1C49C4E2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17" y="4705032"/>
            <a:ext cx="4761583" cy="14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00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LCD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400600" cy="5040560"/>
          </a:xfrm>
        </p:spPr>
        <p:txBody>
          <a:bodyPr/>
          <a:lstStyle/>
          <a:p>
            <a:r>
              <a:rPr lang="fr-FR" sz="2400" dirty="0"/>
              <a:t>2 types</a:t>
            </a:r>
          </a:p>
          <a:p>
            <a:r>
              <a:rPr lang="fr-FR" sz="2400" dirty="0"/>
              <a:t>Grove RGB </a:t>
            </a:r>
            <a:r>
              <a:rPr lang="fr-FR" sz="2400" dirty="0" err="1"/>
              <a:t>Backlight</a:t>
            </a:r>
            <a:endParaRPr lang="fr-FR" sz="2400" dirty="0"/>
          </a:p>
          <a:p>
            <a:pPr lvl="1"/>
            <a:r>
              <a:rPr lang="fr-FR" sz="2000" dirty="0"/>
              <a:t>import i2c_lcd</a:t>
            </a:r>
          </a:p>
          <a:p>
            <a:pPr lvl="1"/>
            <a:r>
              <a:rPr lang="fr-FR" sz="2000" dirty="0"/>
              <a:t>3 fichiers à mettre ESP32</a:t>
            </a:r>
          </a:p>
          <a:p>
            <a:pPr lvl="1"/>
            <a:r>
              <a:rPr lang="fr-FR" sz="2000" dirty="0"/>
              <a:t>i2c_lcd*.py</a:t>
            </a:r>
          </a:p>
          <a:p>
            <a:pPr lvl="1"/>
            <a:r>
              <a:rPr lang="fr-FR" sz="2000" dirty="0"/>
              <a:t>Bug sur i2c_lcd_backlight j'ai mis 21 et 22 en dur</a:t>
            </a:r>
          </a:p>
          <a:p>
            <a:pPr lvl="1"/>
            <a:r>
              <a:rPr lang="fr-FR" sz="2000" dirty="0"/>
              <a:t>5V</a:t>
            </a:r>
          </a:p>
          <a:p>
            <a:r>
              <a:rPr lang="fr-FR" sz="2400" dirty="0"/>
              <a:t>1602</a:t>
            </a:r>
          </a:p>
          <a:p>
            <a:pPr lvl="1"/>
            <a:r>
              <a:rPr lang="fr-FR" sz="2000" dirty="0"/>
              <a:t>import i2c_lcd1602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606776-6119-44D8-8CDD-9E453E89C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268760"/>
            <a:ext cx="2762636" cy="24482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040F75F-AF5F-80E7-76D3-A2397B76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32" y="4951184"/>
            <a:ext cx="4020111" cy="1467055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4918519" y="4100509"/>
            <a:ext cx="32861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60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E9DA5-DF17-2521-537A-37F0948C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LCD 1602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B2570B-D25F-9A97-D006-B2FB6BFB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0D2287-B6D1-1C5B-EB3A-B94D86D34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000"/>
            <a:ext cx="9144000" cy="4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7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39832-8660-45B4-AC1A-A987CD84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 sur le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BF7959-E3D2-BB17-8F1B-BD50ED9B6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brancher plusieurs périphériques sur le bus</a:t>
            </a:r>
          </a:p>
        </p:txBody>
      </p:sp>
      <p:pic>
        <p:nvPicPr>
          <p:cNvPr id="2050" name="Picture 2" descr="Arduino I2C Tutorial | Arduino Wire Library I2C Communication">
            <a:extLst>
              <a:ext uri="{FF2B5EF4-FFF2-40B4-BE49-F238E27FC236}">
                <a16:creationId xmlns:a16="http://schemas.microsoft.com/office/drawing/2014/main" id="{45BA1B2F-2418-32EF-5D18-E3DB9FB31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6588224" cy="375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04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843E2-9469-1258-5A67-268564D4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9F82C-B300-F237-EA73-F13E4FFE4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 descr="BMP280: Measure Temperature, Pressure and Altitude | Arduino Project Hub">
            <a:extLst>
              <a:ext uri="{FF2B5EF4-FFF2-40B4-BE49-F238E27FC236}">
                <a16:creationId xmlns:a16="http://schemas.microsoft.com/office/drawing/2014/main" id="{854A8CE9-93A0-6253-2256-D52ECBAB2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0"/>
            <a:ext cx="914400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576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5F0FF-BCB0-4C61-BD54-F5C50013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OLED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BFC818-01C9-A9B3-A2C4-7DD504072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Ecran OLED SSD1306 0.98 </a:t>
            </a:r>
            <a:r>
              <a:rPr lang="fr-FR" dirty="0" err="1"/>
              <a:t>inch</a:t>
            </a:r>
            <a:endParaRPr lang="fr-FR" dirty="0"/>
          </a:p>
          <a:p>
            <a:pPr lvl="1"/>
            <a:r>
              <a:rPr lang="fr-FR" dirty="0"/>
              <a:t>3.3V uniquement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94575C41-31FC-B284-B372-8B4D06F89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" y="1916832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AA85F3-C8C1-DAA2-EE89-1953F411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00" y="2209872"/>
            <a:ext cx="5638704" cy="40994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12C09FA-485F-A9D6-682A-18AB33BF7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8960"/>
            <a:ext cx="387469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86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94D93-CE43-09E0-2F8E-8CEFDA09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LIDAR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29362-E116-0AED-BC22-515F3EDE7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Capteur de distance</a:t>
            </a:r>
          </a:p>
          <a:p>
            <a:pPr lvl="1"/>
            <a:r>
              <a:rPr lang="fr-FR" dirty="0"/>
              <a:t>Time of flight</a:t>
            </a:r>
          </a:p>
        </p:txBody>
      </p:sp>
      <p:pic>
        <p:nvPicPr>
          <p:cNvPr id="1028" name="Picture 4" descr="Picture of Time of Flight Principle">
            <a:extLst>
              <a:ext uri="{FF2B5EF4-FFF2-40B4-BE49-F238E27FC236}">
                <a16:creationId xmlns:a16="http://schemas.microsoft.com/office/drawing/2014/main" id="{76C0BA22-6BD2-E6BE-3F09-94FE09CA3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092372"/>
            <a:ext cx="6012160" cy="336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631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19E45-663E-813D-AEF8-31A82656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VL53L0X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E55425-6267-B6A2-EA5C-BBC0990A1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ToF</a:t>
            </a:r>
            <a:endParaRPr lang="fr-FR" dirty="0"/>
          </a:p>
          <a:p>
            <a:r>
              <a:rPr lang="fr-FR" dirty="0"/>
              <a:t>3 à 5v</a:t>
            </a:r>
          </a:p>
          <a:p>
            <a:r>
              <a:rPr lang="fr-FR" dirty="0"/>
              <a:t>Plage de fonctionnement : 3cm à 2m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6E53ABA-939D-6C25-079A-3339AED5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645024"/>
            <a:ext cx="5039428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77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7917A-2F17-3A05-54A7-8AC5DE24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4A22F4-098F-A765-30E7-556ED218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Bus SPI</a:t>
            </a:r>
          </a:p>
          <a:p>
            <a:pPr lvl="1"/>
            <a:r>
              <a:rPr lang="fr-FR" dirty="0"/>
              <a:t>Il s'agit d'un bus maître esclave en série</a:t>
            </a:r>
          </a:p>
          <a:p>
            <a:pPr lvl="1"/>
            <a:r>
              <a:rPr lang="fr-FR" dirty="0"/>
              <a:t>Toutes les communications passent par le périphérique maitre</a:t>
            </a:r>
          </a:p>
          <a:p>
            <a:pPr lvl="1"/>
            <a:r>
              <a:rPr lang="fr-FR" dirty="0"/>
              <a:t>SCLK : Serial </a:t>
            </a:r>
            <a:r>
              <a:rPr lang="fr-FR" dirty="0" err="1"/>
              <a:t>Clock</a:t>
            </a:r>
            <a:r>
              <a:rPr lang="fr-FR" dirty="0"/>
              <a:t> (généré par le maitre)</a:t>
            </a:r>
          </a:p>
          <a:p>
            <a:pPr lvl="1"/>
            <a:r>
              <a:rPr lang="fr-FR" dirty="0"/>
              <a:t>MOSI : Master Output Slave Input (généré par le maitre)</a:t>
            </a:r>
          </a:p>
          <a:p>
            <a:pPr lvl="1"/>
            <a:r>
              <a:rPr lang="fr-FR" dirty="0"/>
              <a:t>MISO : Master Input, Slave Output (généré par l'esclave)</a:t>
            </a:r>
          </a:p>
          <a:p>
            <a:pPr lvl="1"/>
            <a:r>
              <a:rPr lang="fr-FR" dirty="0"/>
              <a:t>SS : Slave Select, Actif à l'état bas (généré par le maître)</a:t>
            </a:r>
          </a:p>
          <a:p>
            <a:r>
              <a:rPr lang="fr-FR" dirty="0"/>
              <a:t>Utilisé par Serial, Bluetooth, </a:t>
            </a:r>
            <a:r>
              <a:rPr lang="fr-FR" dirty="0" err="1"/>
              <a:t>SDCard</a:t>
            </a:r>
            <a:r>
              <a:rPr lang="fr-FR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737664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42DC52-D223-A94A-0167-7FC7DEDD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5F77F-19C2-7F4D-DD92-349954DCE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les ports UART</a:t>
            </a:r>
          </a:p>
          <a:p>
            <a:r>
              <a:rPr lang="fr-FR" dirty="0"/>
              <a:t>Sur les ports 10 à 13</a:t>
            </a:r>
          </a:p>
          <a:p>
            <a:r>
              <a:rPr lang="fr-FR" dirty="0"/>
              <a:t>Sur le connecteur ISP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6080B7-CDAE-BE2D-9278-BFABE714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56209"/>
            <a:ext cx="3748062" cy="266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58CFF9C-6161-94AD-AC33-8A24E55F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73" y="3836090"/>
            <a:ext cx="6494160" cy="257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357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F4542-13A5-51F6-67F3-9AE8E2D4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2CDF19-14EA-7993-BF17-6CCB8E9C5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L'écran </a:t>
            </a:r>
            <a:r>
              <a:rPr lang="fr-FR" dirty="0" err="1"/>
              <a:t>oled</a:t>
            </a:r>
            <a:r>
              <a:rPr lang="fr-FR" dirty="0"/>
              <a:t> peut également être programmé sur SPI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3B98B9-61BB-B972-093A-C211928A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8" y="2636912"/>
            <a:ext cx="915935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22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0D49D-F7C7-B89E-6608-1A4A3160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BF851-DB02-58D2-437A-73464D240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D'autres bus peuvent être utilisés</a:t>
            </a:r>
          </a:p>
          <a:p>
            <a:r>
              <a:rPr lang="fr-FR" dirty="0"/>
              <a:t>ADC</a:t>
            </a:r>
          </a:p>
          <a:p>
            <a:pPr lvl="1"/>
            <a:r>
              <a:rPr lang="fr-FR" dirty="0" err="1"/>
              <a:t>Analogic</a:t>
            </a:r>
            <a:r>
              <a:rPr lang="fr-FR" dirty="0"/>
              <a:t> Digital Converter</a:t>
            </a:r>
          </a:p>
          <a:p>
            <a:pPr lvl="1"/>
            <a:r>
              <a:rPr lang="fr-FR" dirty="0"/>
              <a:t>Convertisseur analogique numérique</a:t>
            </a:r>
          </a:p>
          <a:p>
            <a:pPr lvl="1"/>
            <a:r>
              <a:rPr lang="fr-FR" dirty="0"/>
              <a:t>Utilisé par le module Wifi (natif dans ESP32)</a:t>
            </a:r>
          </a:p>
          <a:p>
            <a:r>
              <a:rPr lang="fr-FR" dirty="0"/>
              <a:t>DAC</a:t>
            </a:r>
          </a:p>
          <a:p>
            <a:pPr lvl="1"/>
            <a:r>
              <a:rPr lang="fr-FR" dirty="0"/>
              <a:t>Digital </a:t>
            </a:r>
            <a:r>
              <a:rPr lang="fr-FR" dirty="0" err="1"/>
              <a:t>Analogic</a:t>
            </a:r>
            <a:r>
              <a:rPr lang="fr-FR" dirty="0"/>
              <a:t> Converter</a:t>
            </a:r>
          </a:p>
          <a:p>
            <a:pPr lvl="1"/>
            <a:r>
              <a:rPr lang="fr-FR" dirty="0"/>
              <a:t>Utilisé sur les cartes son (natif dans ESP32)</a:t>
            </a:r>
          </a:p>
          <a:p>
            <a:r>
              <a:rPr lang="fr-FR" dirty="0"/>
              <a:t>CAN</a:t>
            </a:r>
          </a:p>
          <a:p>
            <a:pPr lvl="1"/>
            <a:r>
              <a:rPr lang="fr-FR" dirty="0"/>
              <a:t>Controller Area Network</a:t>
            </a:r>
          </a:p>
          <a:p>
            <a:pPr lvl="1"/>
            <a:r>
              <a:rPr lang="fr-FR" dirty="0"/>
              <a:t>Industriel (</a:t>
            </a:r>
            <a:r>
              <a:rPr lang="fr-FR" dirty="0" err="1"/>
              <a:t>Bosh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2768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28D60B-8BB0-3301-FB3D-5012551E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AllSeen</a:t>
            </a:r>
            <a:r>
              <a:rPr lang="fr-FR" dirty="0"/>
              <a:t> Alliance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7F502D-E66E-10E8-E4F3-441A2CD0B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Favoriser l’interopérabilité des objets connectés via des standards ouverts</a:t>
            </a:r>
          </a:p>
          <a:p>
            <a:r>
              <a:rPr lang="fr-FR" dirty="0" err="1"/>
              <a:t>AllJoyn</a:t>
            </a:r>
            <a:r>
              <a:rPr lang="fr-FR" dirty="0"/>
              <a:t>, un </a:t>
            </a:r>
            <a:r>
              <a:rPr lang="fr-FR" dirty="0" err="1"/>
              <a:t>framework</a:t>
            </a:r>
            <a:r>
              <a:rPr lang="fr-FR" dirty="0"/>
              <a:t> open source permettant aux appareils et applications de découvrir et communiquer entre eux, indépendamment du fabricant, du système d’exploitation ou du protocole réseau</a:t>
            </a:r>
          </a:p>
          <a:p>
            <a:pPr lvl="1"/>
            <a:r>
              <a:rPr lang="fr-FR" dirty="0"/>
              <a:t>Communication peer-to-peer et via le cloud</a:t>
            </a:r>
          </a:p>
          <a:p>
            <a:pPr lvl="1"/>
            <a:r>
              <a:rPr lang="fr-FR" dirty="0"/>
              <a:t>Sécurité intégrée (chiffrement, contrôle d’accès)</a:t>
            </a:r>
          </a:p>
          <a:p>
            <a:pPr lvl="1"/>
            <a:r>
              <a:rPr lang="fr-FR" dirty="0"/>
              <a:t>Écosystème collaboratif avec plus de 180 membres (Microsoft, Qualcomm, LG, Panasonic…).</a:t>
            </a:r>
          </a:p>
        </p:txBody>
      </p:sp>
    </p:spTree>
    <p:extLst>
      <p:ext uri="{BB962C8B-B14F-4D97-AF65-F5344CB8AC3E}">
        <p14:creationId xmlns:p14="http://schemas.microsoft.com/office/powerpoint/2010/main" val="470012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542A2-4757-030A-C824-2C60B0C2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OIC / OCF (Open Connectivity Foundation)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90E1BD-4B83-3EAE-B374-28139D119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Créé en 2014 sous le nom Open </a:t>
            </a:r>
            <a:r>
              <a:rPr lang="fr-FR" dirty="0" err="1"/>
              <a:t>Interconnect</a:t>
            </a:r>
            <a:r>
              <a:rPr lang="fr-FR" dirty="0"/>
              <a:t> Consortium (OIC), devenu OCF en 2016</a:t>
            </a:r>
          </a:p>
          <a:p>
            <a:r>
              <a:rPr lang="fr-FR" dirty="0"/>
              <a:t>Mission</a:t>
            </a:r>
          </a:p>
          <a:p>
            <a:pPr lvl="1"/>
            <a:r>
              <a:rPr lang="fr-FR" dirty="0"/>
              <a:t>Définir des spécifications ouvertes et fournir une implémentation open source (</a:t>
            </a:r>
            <a:r>
              <a:rPr lang="fr-FR" dirty="0" err="1"/>
              <a:t>IoTivity</a:t>
            </a:r>
            <a:r>
              <a:rPr lang="fr-FR" dirty="0"/>
              <a:t>) pour assurer la connectivité sécurisée entre appareils IoT</a:t>
            </a:r>
          </a:p>
          <a:p>
            <a:pPr lvl="1"/>
            <a:r>
              <a:rPr lang="fr-FR" dirty="0"/>
              <a:t>Basé sur IPv6, </a:t>
            </a:r>
            <a:r>
              <a:rPr lang="fr-FR" dirty="0" err="1"/>
              <a:t>CoAP</a:t>
            </a:r>
            <a:r>
              <a:rPr lang="fr-FR" dirty="0"/>
              <a:t>, RESTful API, intégration avec UPnP.</a:t>
            </a:r>
          </a:p>
        </p:txBody>
      </p:sp>
    </p:spTree>
    <p:extLst>
      <p:ext uri="{BB962C8B-B14F-4D97-AF65-F5344CB8AC3E}">
        <p14:creationId xmlns:p14="http://schemas.microsoft.com/office/powerpoint/2010/main" val="561880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97368-F91F-E2B7-4996-C73C74DE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IPSO Alliance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DDCDE3-A60F-C758-FC07-707D8D761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Promouvoir l’usage de protocoles IP pour les objets intelligents et définir des modèles de données standardisés (IPSO Smart </a:t>
            </a:r>
            <a:r>
              <a:rPr lang="fr-FR" dirty="0" err="1"/>
              <a:t>Objects</a:t>
            </a:r>
            <a:r>
              <a:rPr lang="fr-FR" dirty="0"/>
              <a:t>)</a:t>
            </a:r>
          </a:p>
          <a:p>
            <a:r>
              <a:rPr lang="fr-FR" dirty="0"/>
              <a:t>Basé sur </a:t>
            </a:r>
            <a:r>
              <a:rPr lang="fr-FR" dirty="0" err="1"/>
              <a:t>CoAP</a:t>
            </a:r>
            <a:r>
              <a:rPr lang="fr-FR" dirty="0"/>
              <a:t> et LwM2M pour les environnements </a:t>
            </a:r>
            <a:r>
              <a:rPr lang="fr-FR" dirty="0" err="1"/>
              <a:t>contraints.Fournit</a:t>
            </a:r>
            <a:r>
              <a:rPr lang="fr-FR" dirty="0"/>
              <a:t> des objets normalisés (capteurs, actionneurs) pour assurer une interopérabilité </a:t>
            </a:r>
            <a:r>
              <a:rPr lang="fr-FR" dirty="0" err="1"/>
              <a:t>applicative.Collaboration</a:t>
            </a:r>
            <a:r>
              <a:rPr lang="fr-FR" dirty="0"/>
              <a:t> avec l’Open Mobile Alliance (OMA) → création d’OMA </a:t>
            </a:r>
            <a:r>
              <a:rPr lang="fr-FR" dirty="0" err="1"/>
              <a:t>SpecWorks</a:t>
            </a:r>
            <a:r>
              <a:rPr lang="fr-FR" dirty="0"/>
              <a:t> en 2018</a:t>
            </a:r>
          </a:p>
        </p:txBody>
      </p:sp>
    </p:spTree>
    <p:extLst>
      <p:ext uri="{BB962C8B-B14F-4D97-AF65-F5344CB8AC3E}">
        <p14:creationId xmlns:p14="http://schemas.microsoft.com/office/powerpoint/2010/main" val="2612740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32ABAE-ADB2-BE08-C843-D3929F6C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à un saut (Single-Hop)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8F39E3-E9DE-F3F8-3310-312EF29DD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objet communique directement avec la passerelle ou le point d’accès (Wi-Fi, LTE, </a:t>
            </a:r>
            <a:r>
              <a:rPr lang="fr-FR" dirty="0" err="1"/>
              <a:t>LoRaWAN</a:t>
            </a:r>
            <a:r>
              <a:rPr lang="fr-FR" dirty="0"/>
              <a:t>, etc.)</a:t>
            </a:r>
          </a:p>
          <a:p>
            <a:pPr lvl="1"/>
            <a:r>
              <a:rPr lang="fr-FR" dirty="0"/>
              <a:t>Simplicité de configuration</a:t>
            </a:r>
          </a:p>
          <a:p>
            <a:pPr lvl="1"/>
            <a:r>
              <a:rPr lang="fr-FR" dirty="0"/>
              <a:t>Faible latence (pas de relais intermédiaire)</a:t>
            </a:r>
          </a:p>
          <a:p>
            <a:pPr lvl="1"/>
            <a:r>
              <a:rPr lang="fr-FR" dirty="0"/>
              <a:t>Dépendance à la portée radio : si l’objet est hors couverture, il devient inaccessible</a:t>
            </a:r>
          </a:p>
          <a:p>
            <a:r>
              <a:rPr lang="fr-FR" dirty="0"/>
              <a:t>Cas d’usage</a:t>
            </a:r>
          </a:p>
          <a:p>
            <a:pPr lvl="1"/>
            <a:r>
              <a:rPr lang="fr-FR" dirty="0"/>
              <a:t>Environnements compacts (bâtiments, usines).Objets proches d’une passerelle (capteurs fixes, équipements industriels).</a:t>
            </a:r>
          </a:p>
        </p:txBody>
      </p:sp>
    </p:spTree>
    <p:extLst>
      <p:ext uri="{BB962C8B-B14F-4D97-AF65-F5344CB8AC3E}">
        <p14:creationId xmlns:p14="http://schemas.microsoft.com/office/powerpoint/2010/main" val="3815347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E91CE8-ED55-D436-C6F1-CCC14F4D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en multi-saut (Multi-Hop)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805582-9414-9D19-1307-B92A8DE01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Les objets communiquent via un réseau maillé, où certains nœuds servent de relais pour atteindre la passerelle</a:t>
            </a:r>
          </a:p>
          <a:p>
            <a:r>
              <a:rPr lang="fr-FR" sz="2400" dirty="0"/>
              <a:t>Couverture étendue sans augmenter la puissance d’émission</a:t>
            </a:r>
          </a:p>
          <a:p>
            <a:pPr lvl="1"/>
            <a:r>
              <a:rPr lang="fr-FR" sz="2000" dirty="0"/>
              <a:t>Tolérance aux pannes : plusieurs chemins </a:t>
            </a:r>
            <a:r>
              <a:rPr lang="fr-FR" sz="2000" dirty="0" err="1"/>
              <a:t>possibles.Complexité</a:t>
            </a:r>
            <a:r>
              <a:rPr lang="fr-FR" sz="2000" dirty="0"/>
              <a:t> accrue (routage, synchronisation, consommation énergétique)</a:t>
            </a:r>
          </a:p>
          <a:p>
            <a:r>
              <a:rPr lang="fr-FR" sz="2400" dirty="0"/>
              <a:t>Protocoles typiques</a:t>
            </a:r>
          </a:p>
          <a:p>
            <a:pPr lvl="1"/>
            <a:r>
              <a:rPr lang="fr-FR" sz="2000" dirty="0"/>
              <a:t>RPL (</a:t>
            </a:r>
            <a:r>
              <a:rPr lang="fr-FR" sz="2000" dirty="0" err="1"/>
              <a:t>Routing</a:t>
            </a:r>
            <a:r>
              <a:rPr lang="fr-FR" sz="2000" dirty="0"/>
              <a:t> Protocol for Low-Power and </a:t>
            </a:r>
            <a:r>
              <a:rPr lang="fr-FR" sz="2000" dirty="0" err="1"/>
              <a:t>Lossy</a:t>
            </a:r>
            <a:r>
              <a:rPr lang="fr-FR" sz="2000" dirty="0"/>
              <a:t> Networks) pour IPv6</a:t>
            </a:r>
          </a:p>
          <a:p>
            <a:pPr lvl="1"/>
            <a:r>
              <a:rPr lang="fr-FR" sz="2000" dirty="0"/>
              <a:t>Réseaux </a:t>
            </a:r>
            <a:r>
              <a:rPr lang="fr-FR" sz="2000" dirty="0" err="1"/>
              <a:t>Zigbee</a:t>
            </a:r>
            <a:r>
              <a:rPr lang="fr-FR" sz="2000" dirty="0"/>
              <a:t>, Thread, Bluetooth </a:t>
            </a:r>
            <a:r>
              <a:rPr lang="fr-FR" sz="2000" dirty="0" err="1"/>
              <a:t>Mesh</a:t>
            </a:r>
            <a:endParaRPr lang="fr-FR" sz="2000" dirty="0"/>
          </a:p>
          <a:p>
            <a:r>
              <a:rPr lang="fr-FR" sz="2400"/>
              <a:t>Cas d’usage</a:t>
            </a:r>
          </a:p>
          <a:p>
            <a:pPr lvl="1"/>
            <a:r>
              <a:rPr lang="fr-FR" sz="2000" dirty="0"/>
              <a:t>Smart </a:t>
            </a:r>
            <a:r>
              <a:rPr lang="fr-FR" sz="2000" dirty="0" err="1"/>
              <a:t>cities</a:t>
            </a:r>
            <a:r>
              <a:rPr lang="fr-FR" sz="2000" dirty="0"/>
              <a:t>, agriculture connectée, zones étendues avec </a:t>
            </a:r>
            <a:r>
              <a:rPr lang="fr-FR" sz="2000" dirty="0" err="1"/>
              <a:t>obstacles.Scénarios</a:t>
            </a:r>
            <a:r>
              <a:rPr lang="fr-FR" sz="2000" dirty="0"/>
              <a:t> où la densité d’objets est élevée et la portée directe insuffisante.</a:t>
            </a:r>
          </a:p>
        </p:txBody>
      </p:sp>
    </p:spTree>
    <p:extLst>
      <p:ext uri="{BB962C8B-B14F-4D97-AF65-F5344CB8AC3E}">
        <p14:creationId xmlns:p14="http://schemas.microsoft.com/office/powerpoint/2010/main" val="2360351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D593A6-F546-B200-4013-5A1E823C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Plateformes IoT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36622-6A56-6B69-D5C8-1590FE19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SaaS</a:t>
            </a:r>
          </a:p>
          <a:p>
            <a:pPr lvl="1"/>
            <a:r>
              <a:rPr lang="fr-FR" dirty="0"/>
              <a:t>Software as a Service</a:t>
            </a:r>
          </a:p>
          <a:p>
            <a:r>
              <a:rPr lang="fr-FR" dirty="0"/>
              <a:t>Amazon AWS</a:t>
            </a:r>
          </a:p>
          <a:p>
            <a:r>
              <a:rPr lang="fr-FR" dirty="0"/>
              <a:t>Google GCP</a:t>
            </a:r>
          </a:p>
          <a:p>
            <a:r>
              <a:rPr lang="fr-FR" dirty="0"/>
              <a:t>Microsoft Azure</a:t>
            </a:r>
          </a:p>
          <a:p>
            <a:r>
              <a:rPr lang="fr-FR" dirty="0"/>
              <a:t>Cisco</a:t>
            </a:r>
          </a:p>
          <a:p>
            <a:r>
              <a:rPr lang="fr-FR" dirty="0"/>
              <a:t>Oracle</a:t>
            </a:r>
          </a:p>
          <a:p>
            <a:r>
              <a:rPr lang="fr-FR" dirty="0" err="1"/>
              <a:t>ThingWorks</a:t>
            </a:r>
            <a:endParaRPr lang="fr-FR" dirty="0"/>
          </a:p>
          <a:p>
            <a:r>
              <a:rPr lang="fr-FR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53641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9F89F3-9FB6-B188-A3B6-0E65C724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Passerelles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1D06F9-D782-79BA-E31C-7DE3BC32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Passerelle de communication avec les objets connectés de technologies hétérogènes</a:t>
            </a:r>
          </a:p>
          <a:p>
            <a:r>
              <a:rPr lang="fr-FR" dirty="0"/>
              <a:t>Voir chapitre MQTT</a:t>
            </a:r>
          </a:p>
        </p:txBody>
      </p:sp>
    </p:spTree>
    <p:extLst>
      <p:ext uri="{BB962C8B-B14F-4D97-AF65-F5344CB8AC3E}">
        <p14:creationId xmlns:p14="http://schemas.microsoft.com/office/powerpoint/2010/main" val="104363321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3689</TotalTime>
  <Words>1681</Words>
  <Application>Microsoft Office PowerPoint</Application>
  <PresentationFormat>Affichage à l'écran (4:3)</PresentationFormat>
  <Paragraphs>219</Paragraphs>
  <Slides>40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4" baseType="lpstr">
      <vt:lpstr>Arial</vt:lpstr>
      <vt:lpstr>Monotype Sorts</vt:lpstr>
      <vt:lpstr>Times New Roman</vt:lpstr>
      <vt:lpstr>cvc</vt:lpstr>
      <vt:lpstr>Présentation PowerPoint</vt:lpstr>
      <vt:lpstr>Standardisation des réseaux cellulaires</vt:lpstr>
      <vt:lpstr>LTE</vt:lpstr>
      <vt:lpstr>LTE-M</vt:lpstr>
      <vt:lpstr>Caractéristiques techniques</vt:lpstr>
      <vt:lpstr>Narrowband</vt:lpstr>
      <vt:lpstr>Caractéristiques techniques</vt:lpstr>
      <vt:lpstr>Comparatif</vt:lpstr>
      <vt:lpstr>Standardisation des réseaux IoT</vt:lpstr>
      <vt:lpstr>OneM2M</vt:lpstr>
      <vt:lpstr>GS1 et EPCglobal </vt:lpstr>
      <vt:lpstr>Pourquoi ces standards sont essentiels ?</vt:lpstr>
      <vt:lpstr>Autres standards</vt:lpstr>
      <vt:lpstr>Alliances industrielles</vt:lpstr>
      <vt:lpstr>Bus</vt:lpstr>
      <vt:lpstr>Historique</vt:lpstr>
      <vt:lpstr>Bus I2C</vt:lpstr>
      <vt:lpstr>I2C</vt:lpstr>
      <vt:lpstr>I2C</vt:lpstr>
      <vt:lpstr>Protocole I2C</vt:lpstr>
      <vt:lpstr>Capteur de pression I2C</vt:lpstr>
      <vt:lpstr>Branchement</vt:lpstr>
      <vt:lpstr>Ecran LCD</vt:lpstr>
      <vt:lpstr>LCD 1602</vt:lpstr>
      <vt:lpstr>Branchement sur le bus</vt:lpstr>
      <vt:lpstr>Branchement</vt:lpstr>
      <vt:lpstr>Ecran OLED</vt:lpstr>
      <vt:lpstr>LIDAR</vt:lpstr>
      <vt:lpstr>VL53L0X</vt:lpstr>
      <vt:lpstr>SPI</vt:lpstr>
      <vt:lpstr>SPI</vt:lpstr>
      <vt:lpstr>Oled</vt:lpstr>
      <vt:lpstr>Autres bus</vt:lpstr>
      <vt:lpstr>AllSeen Alliance</vt:lpstr>
      <vt:lpstr>OIC / OCF (Open Connectivity Foundation)</vt:lpstr>
      <vt:lpstr>IPSO Alliance</vt:lpstr>
      <vt:lpstr>Gestion à un saut (Single-Hop)</vt:lpstr>
      <vt:lpstr>Gestion en multi-saut (Multi-Hop)</vt:lpstr>
      <vt:lpstr>Plateformes IoT</vt:lpstr>
      <vt:lpstr>Passerelles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235</cp:revision>
  <dcterms:created xsi:type="dcterms:W3CDTF">2000-04-10T19:33:12Z</dcterms:created>
  <dcterms:modified xsi:type="dcterms:W3CDTF">2025-11-29T20:18:31Z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