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18"/>
  </p:notesMasterIdLst>
  <p:handoutMasterIdLst>
    <p:handoutMasterId r:id="rId19"/>
  </p:handoutMasterIdLst>
  <p:sldIdLst>
    <p:sldId id="264" r:id="rId2"/>
    <p:sldId id="285" r:id="rId3"/>
    <p:sldId id="265" r:id="rId4"/>
    <p:sldId id="266" r:id="rId5"/>
    <p:sldId id="284" r:id="rId6"/>
    <p:sldId id="278" r:id="rId7"/>
    <p:sldId id="273" r:id="rId8"/>
    <p:sldId id="275" r:id="rId9"/>
    <p:sldId id="274" r:id="rId10"/>
    <p:sldId id="276" r:id="rId11"/>
    <p:sldId id="287" r:id="rId12"/>
    <p:sldId id="288" r:id="rId13"/>
    <p:sldId id="289" r:id="rId14"/>
    <p:sldId id="290" r:id="rId15"/>
    <p:sldId id="291" r:id="rId16"/>
    <p:sldId id="292" r:id="rId17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70" d="100"/>
          <a:sy n="70" d="100"/>
        </p:scale>
        <p:origin x="931" y="2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/>
              <a:t>Chapitre 13</a:t>
            </a:r>
            <a:endParaRPr lang="fr-FR" altLang="fr-FR" dirty="0"/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437" y="5023445"/>
            <a:ext cx="6715125" cy="1285875"/>
          </a:xfrm>
          <a:prstGeom prst="rect">
            <a:avLst/>
          </a:prstGeom>
        </p:spPr>
      </p:pic>
      <p:sp>
        <p:nvSpPr>
          <p:cNvPr id="3" name="ZoneTexte 2"/>
          <p:cNvSpPr txBox="1"/>
          <p:nvPr/>
        </p:nvSpPr>
        <p:spPr>
          <a:xfrm>
            <a:off x="3107495" y="2132856"/>
            <a:ext cx="29290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/>
              <a:t>Data Science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7495" y="4381500"/>
            <a:ext cx="3067050" cy="762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3" y="1412776"/>
            <a:ext cx="5047360" cy="5040560"/>
          </a:xfrm>
        </p:spPr>
        <p:txBody>
          <a:bodyPr/>
          <a:lstStyle/>
          <a:p>
            <a:r>
              <a:rPr lang="fr-FR" sz="2400" dirty="0"/>
              <a:t>Initié et piloté en France par l'INRIA et Télécom </a:t>
            </a:r>
            <a:r>
              <a:rPr lang="fr-FR" sz="2400" dirty="0" err="1"/>
              <a:t>ParisTech</a:t>
            </a:r>
            <a:r>
              <a:rPr lang="fr-FR" sz="2400" dirty="0"/>
              <a:t>, le projet open source </a:t>
            </a:r>
            <a:r>
              <a:rPr lang="fr-FR" sz="2400" dirty="0" err="1"/>
              <a:t>Scikit-learn</a:t>
            </a:r>
            <a:r>
              <a:rPr lang="fr-FR" sz="2400" dirty="0"/>
              <a:t> est devenu une référence dans le monde de l'intelligence artificielle</a:t>
            </a:r>
          </a:p>
          <a:p>
            <a:pPr lvl="1"/>
            <a:r>
              <a:rPr lang="fr-FR" sz="2000" dirty="0"/>
              <a:t>De Paris à San Francisco en passant par Singapour, la bibliothèque de machine </a:t>
            </a:r>
            <a:r>
              <a:rPr lang="fr-FR" sz="2000" dirty="0" err="1"/>
              <a:t>learning</a:t>
            </a:r>
            <a:r>
              <a:rPr lang="fr-FR" sz="2000" dirty="0"/>
              <a:t>, écrite en Python, s'impose aux start-up jusqu'aux grands groupes, </a:t>
            </a:r>
            <a:r>
              <a:rPr lang="fr-FR" sz="2000" dirty="0" err="1"/>
              <a:t>Gafam</a:t>
            </a:r>
            <a:r>
              <a:rPr lang="fr-FR" sz="2000" dirty="0"/>
              <a:t> compris.</a:t>
            </a:r>
          </a:p>
          <a:p>
            <a:r>
              <a:rPr lang="fr-FR" sz="2400" dirty="0" err="1"/>
              <a:t>pip</a:t>
            </a:r>
            <a:r>
              <a:rPr lang="fr-FR" sz="2400" dirty="0"/>
              <a:t> </a:t>
            </a:r>
            <a:r>
              <a:rPr lang="fr-FR" sz="2400" dirty="0" err="1"/>
              <a:t>install</a:t>
            </a:r>
            <a:r>
              <a:rPr lang="fr-FR" sz="2400" dirty="0"/>
              <a:t> </a:t>
            </a:r>
            <a:r>
              <a:rPr lang="fr-FR" sz="2400" dirty="0" err="1"/>
              <a:t>scikit-learn</a:t>
            </a:r>
            <a:endParaRPr lang="fr-FR" sz="2400" dirty="0"/>
          </a:p>
          <a:p>
            <a:pPr lvl="1"/>
            <a:endParaRPr lang="fr-FR" sz="2000" dirty="0"/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951" y="203709"/>
            <a:ext cx="3067050" cy="762000"/>
          </a:xfrm>
          <a:prstGeom prst="rect">
            <a:avLst/>
          </a:prstGeom>
        </p:spPr>
      </p:pic>
      <p:pic>
        <p:nvPicPr>
          <p:cNvPr id="4" name="Imag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6873" y="1844824"/>
            <a:ext cx="3893488" cy="4752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14712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Scikit-learn</a:t>
            </a:r>
            <a:r>
              <a:rPr lang="fr-FR" dirty="0"/>
              <a:t> est le package de machine </a:t>
            </a:r>
            <a:r>
              <a:rPr lang="fr-FR" dirty="0" err="1"/>
              <a:t>learning</a:t>
            </a:r>
            <a:r>
              <a:rPr lang="fr-FR" dirty="0"/>
              <a:t> Python</a:t>
            </a:r>
          </a:p>
          <a:p>
            <a:pPr lvl="1"/>
            <a:r>
              <a:rPr lang="fr-FR" dirty="0"/>
              <a:t>Catégorisation</a:t>
            </a:r>
          </a:p>
          <a:p>
            <a:pPr lvl="1"/>
            <a:r>
              <a:rPr lang="fr-FR" dirty="0"/>
              <a:t>Régression</a:t>
            </a:r>
          </a:p>
          <a:p>
            <a:pPr lvl="1"/>
            <a:r>
              <a:rPr lang="fr-FR" dirty="0" err="1"/>
              <a:t>Clusterisation</a:t>
            </a:r>
            <a:r>
              <a:rPr lang="fr-FR" dirty="0"/>
              <a:t> (regroupement)</a:t>
            </a:r>
          </a:p>
          <a:p>
            <a:pPr lvl="1"/>
            <a:r>
              <a:rPr lang="fr-FR" dirty="0"/>
              <a:t>Réduction de dimension</a:t>
            </a:r>
          </a:p>
          <a:p>
            <a:pPr lvl="1"/>
            <a:r>
              <a:rPr lang="fr-FR" dirty="0"/>
              <a:t>Sélection de modèle</a:t>
            </a:r>
          </a:p>
          <a:p>
            <a:pPr lvl="1"/>
            <a:r>
              <a:rPr lang="fr-FR" dirty="0" err="1"/>
              <a:t>Preprocessing</a:t>
            </a:r>
            <a:r>
              <a:rPr lang="fr-FR" dirty="0"/>
              <a:t> (Filtrage, Randomisation)</a:t>
            </a:r>
          </a:p>
          <a:p>
            <a:pPr lvl="1"/>
            <a:endParaRPr lang="fr-FR" dirty="0"/>
          </a:p>
          <a:p>
            <a:pPr lvl="1"/>
            <a:endParaRPr lang="fr-FR" dirty="0"/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951" y="203709"/>
            <a:ext cx="3067050" cy="762000"/>
          </a:xfrm>
          <a:prstGeom prst="rect">
            <a:avLst/>
          </a:prstGeom>
        </p:spPr>
      </p:pic>
      <p:pic>
        <p:nvPicPr>
          <p:cNvPr id="1026" name="Picture 2" descr="http://scikit-learn.org/stable/_images/sphx_glr_plot_classifier_comparison_001_carousel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6" y="5043336"/>
            <a:ext cx="5715000" cy="18097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986054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Régression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Commençons par la régression linéaire</a:t>
            </a:r>
          </a:p>
          <a:p>
            <a:r>
              <a:rPr lang="fr-FR" dirty="0"/>
              <a:t>Import </a:t>
            </a:r>
            <a:r>
              <a:rPr lang="fr-FR" dirty="0" err="1"/>
              <a:t>sklearn.linearmodel</a:t>
            </a:r>
            <a:endParaRPr lang="fr-FR" dirty="0"/>
          </a:p>
          <a:p>
            <a:pPr lvl="1"/>
            <a:r>
              <a:rPr lang="fr-FR" dirty="0"/>
              <a:t>Minimisation de l’erreur </a:t>
            </a:r>
            <a:r>
              <a:rPr lang="fr-FR" dirty="0" err="1"/>
              <a:t>quadritique</a:t>
            </a:r>
            <a:endParaRPr lang="fr-FR" dirty="0"/>
          </a:p>
          <a:p>
            <a:r>
              <a:rPr lang="fr-FR" dirty="0"/>
              <a:t>Classe </a:t>
            </a:r>
            <a:r>
              <a:rPr lang="fr-FR" dirty="0" err="1"/>
              <a:t>LinearRegression</a:t>
            </a:r>
            <a:endParaRPr lang="fr-FR" dirty="0"/>
          </a:p>
          <a:p>
            <a:r>
              <a:rPr lang="fr-FR" dirty="0"/>
              <a:t>Fit()</a:t>
            </a:r>
          </a:p>
          <a:p>
            <a:pPr lvl="1"/>
            <a:r>
              <a:rPr lang="fr-FR" dirty="0"/>
              <a:t>Va démarrer l’apprentissage</a:t>
            </a:r>
          </a:p>
          <a:p>
            <a:r>
              <a:rPr lang="fr-FR" dirty="0" err="1"/>
              <a:t>Predict</a:t>
            </a:r>
            <a:r>
              <a:rPr lang="fr-FR" dirty="0"/>
              <a:t>()</a:t>
            </a:r>
          </a:p>
          <a:p>
            <a:pPr lvl="1"/>
            <a:r>
              <a:rPr lang="fr-FR" dirty="0"/>
              <a:t>Joue le modèle</a:t>
            </a:r>
          </a:p>
          <a:p>
            <a:r>
              <a:rPr lang="fr-FR" dirty="0"/>
              <a:t>Résultats identiques à </a:t>
            </a:r>
            <a:r>
              <a:rPr lang="fr-FR" dirty="0" err="1"/>
              <a:t>SciPy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098378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Régression</a:t>
            </a:r>
          </a:p>
        </p:txBody>
      </p:sp>
      <p:pic>
        <p:nvPicPr>
          <p:cNvPr id="1026" name="Picture 2" descr="https://www.guru99.com/images/1/080618_0520_LinearRegre3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1760" y="1268759"/>
            <a:ext cx="4464496" cy="53318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31480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Dataset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X représente le </a:t>
            </a:r>
            <a:r>
              <a:rPr lang="fr-FR" dirty="0" err="1"/>
              <a:t>Dataset</a:t>
            </a:r>
            <a:endParaRPr lang="fr-FR" dirty="0"/>
          </a:p>
          <a:p>
            <a:pPr lvl="1"/>
            <a:r>
              <a:rPr lang="fr-FR" dirty="0"/>
              <a:t>S’exprime en majuscule car il s’agit d’une matrice</a:t>
            </a:r>
          </a:p>
          <a:p>
            <a:pPr lvl="1"/>
            <a:r>
              <a:rPr lang="fr-FR" dirty="0"/>
              <a:t>1 dimension = 1 variable</a:t>
            </a:r>
          </a:p>
          <a:p>
            <a:r>
              <a:rPr lang="fr-FR" dirty="0"/>
              <a:t>y représente le résultat</a:t>
            </a:r>
          </a:p>
        </p:txBody>
      </p:sp>
    </p:spTree>
    <p:extLst>
      <p:ext uri="{BB962C8B-B14F-4D97-AF65-F5344CB8AC3E}">
        <p14:creationId xmlns:p14="http://schemas.microsoft.com/office/powerpoint/2010/main" val="34976019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Régression polynomiale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Sklearn</a:t>
            </a:r>
            <a:r>
              <a:rPr lang="fr-FR" dirty="0"/>
              <a:t> effectue des régressions polynomiales</a:t>
            </a:r>
          </a:p>
        </p:txBody>
      </p:sp>
      <p:pic>
        <p:nvPicPr>
          <p:cNvPr id="4098" name="Picture 2" descr="../../_images/sphx_glr_plot_polynomial_interpolation_001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5696" y="1877210"/>
            <a:ext cx="609600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483549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PreProcessing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Preprocessing</a:t>
            </a:r>
            <a:r>
              <a:rPr lang="fr-FR" dirty="0"/>
              <a:t> contient des </a:t>
            </a:r>
            <a:r>
              <a:rPr lang="fr-FR" dirty="0" err="1"/>
              <a:t>Features</a:t>
            </a:r>
            <a:r>
              <a:rPr lang="fr-FR" dirty="0"/>
              <a:t> qui sont des algorithmes de modèles pré-calculés</a:t>
            </a:r>
          </a:p>
          <a:p>
            <a:r>
              <a:rPr lang="fr-FR" dirty="0"/>
              <a:t>Il en existe des centaines</a:t>
            </a:r>
          </a:p>
          <a:p>
            <a:r>
              <a:rPr lang="fr-FR" dirty="0"/>
              <a:t>import </a:t>
            </a:r>
            <a:r>
              <a:rPr lang="fr-FR" dirty="0" err="1"/>
              <a:t>sklearn.preprocessing</a:t>
            </a:r>
            <a:r>
              <a:rPr lang="fr-FR" dirty="0"/>
              <a:t> as pp</a:t>
            </a:r>
          </a:p>
          <a:p>
            <a:r>
              <a:rPr lang="fr-FR" dirty="0" err="1"/>
              <a:t>pp.PolynomialFeatures</a:t>
            </a:r>
            <a:r>
              <a:rPr lang="fr-FR" dirty="0"/>
              <a:t>(2)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332382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Pipeline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Pipeline permet de créer des modèles avec des </a:t>
            </a:r>
            <a:r>
              <a:rPr lang="fr-FR" dirty="0" err="1"/>
              <a:t>features</a:t>
            </a:r>
            <a:r>
              <a:rPr lang="fr-FR" dirty="0"/>
              <a:t> et des calculs d’erreurs paramétrables</a:t>
            </a:r>
          </a:p>
          <a:p>
            <a:r>
              <a:rPr lang="fr-FR" dirty="0"/>
              <a:t>import </a:t>
            </a:r>
            <a:r>
              <a:rPr lang="fr-FR" dirty="0" err="1"/>
              <a:t>sklearn.pipeline</a:t>
            </a:r>
            <a:r>
              <a:rPr lang="fr-FR" dirty="0"/>
              <a:t> as pipe</a:t>
            </a:r>
          </a:p>
          <a:p>
            <a:r>
              <a:rPr lang="fr-FR" dirty="0" err="1"/>
              <a:t>pipe.make_pipeline</a:t>
            </a:r>
            <a:r>
              <a:rPr lang="fr-FR" dirty="0"/>
              <a:t>(</a:t>
            </a:r>
            <a:r>
              <a:rPr lang="fr-FR" dirty="0" err="1"/>
              <a:t>pp.PolynomialFeatures</a:t>
            </a:r>
            <a:r>
              <a:rPr lang="fr-FR" dirty="0"/>
              <a:t>(2), </a:t>
            </a:r>
            <a:r>
              <a:rPr lang="fr-FR" dirty="0" err="1"/>
              <a:t>sklm.Ridge</a:t>
            </a:r>
            <a:r>
              <a:rPr lang="fr-FR" dirty="0"/>
              <a:t>())</a:t>
            </a:r>
          </a:p>
          <a:p>
            <a:pPr lvl="1"/>
            <a:r>
              <a:rPr lang="fr-FR" dirty="0"/>
              <a:t>Ridge est l’algorithme de calcul de l’erreur quadratique</a:t>
            </a:r>
          </a:p>
          <a:p>
            <a:pPr lvl="1"/>
            <a:r>
              <a:rPr lang="fr-FR" dirty="0"/>
              <a:t>model = </a:t>
            </a:r>
            <a:r>
              <a:rPr lang="fr-FR" dirty="0" err="1"/>
              <a:t>pipe.make_pipeline</a:t>
            </a:r>
            <a:r>
              <a:rPr lang="fr-FR" dirty="0"/>
              <a:t>(</a:t>
            </a:r>
            <a:r>
              <a:rPr lang="fr-FR" dirty="0" err="1"/>
              <a:t>pp.PolynomialFeatures</a:t>
            </a:r>
            <a:r>
              <a:rPr lang="fr-FR" dirty="0"/>
              <a:t>(1), </a:t>
            </a:r>
            <a:r>
              <a:rPr lang="fr-FR" dirty="0" err="1"/>
              <a:t>sklm.Ridge</a:t>
            </a:r>
            <a:r>
              <a:rPr lang="fr-FR" dirty="0"/>
              <a:t>()) # est identique à </a:t>
            </a:r>
            <a:r>
              <a:rPr lang="fr-FR" dirty="0" err="1"/>
              <a:t>LinearRegression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350563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Interprétation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Polynôme degré 4</a:t>
            </a:r>
          </a:p>
          <a:p>
            <a:pPr lvl="1"/>
            <a:r>
              <a:rPr lang="fr-FR" dirty="0"/>
              <a:t>Erreur 61%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/>
              <a:t>Polynôme </a:t>
            </a:r>
            <a:r>
              <a:rPr lang="fr-FR" dirty="0"/>
              <a:t>degré 6</a:t>
            </a:r>
          </a:p>
          <a:p>
            <a:pPr lvl="1"/>
            <a:r>
              <a:rPr lang="fr-FR" dirty="0"/>
              <a:t>Erreur 3%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2537" y="1142204"/>
            <a:ext cx="3521137" cy="2739380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2536" y="3881584"/>
            <a:ext cx="3521137" cy="2718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21241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Surapprentissage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La notion de </a:t>
            </a:r>
            <a:r>
              <a:rPr lang="fr-FR" dirty="0" err="1"/>
              <a:t>surapprentissage</a:t>
            </a:r>
            <a:r>
              <a:rPr lang="fr-FR" dirty="0"/>
              <a:t> désigne le fait que le modèle que vous avez choisi est trop collé aux données d'entraînement</a:t>
            </a:r>
          </a:p>
          <a:p>
            <a:pPr lvl="1"/>
            <a:r>
              <a:rPr lang="fr-FR" dirty="0"/>
              <a:t>C'est un problème classique de data science, lorsqu'on choisi un modèle trop "flexible", c'est à dire avec une complexité trop élevée qui prend aussi en compte le bruit du phénomène</a:t>
            </a:r>
          </a:p>
          <a:p>
            <a:pPr lvl="1"/>
            <a:r>
              <a:rPr lang="fr-FR" dirty="0"/>
              <a:t>Ici modèle simple </a:t>
            </a:r>
          </a:p>
          <a:p>
            <a:pPr lvl="1"/>
            <a:r>
              <a:rPr lang="fr-FR" dirty="0"/>
              <a:t>vs modèle complexe</a:t>
            </a:r>
          </a:p>
          <a:p>
            <a:r>
              <a:rPr lang="fr-FR" dirty="0"/>
              <a:t>D’où l’utiliser d’un </a:t>
            </a:r>
            <a:r>
              <a:rPr lang="fr-FR" dirty="0" err="1"/>
              <a:t>TestSet</a:t>
            </a:r>
            <a:endParaRPr lang="fr-FR" dirty="0"/>
          </a:p>
          <a:p>
            <a:pPr lvl="1"/>
            <a:endParaRPr lang="fr-FR" dirty="0"/>
          </a:p>
        </p:txBody>
      </p:sp>
      <p:pic>
        <p:nvPicPr>
          <p:cNvPr id="1026" name="Picture 2" descr="Comparaison entre un modèle en overfitting vs une modélisation plus réaliste du phénomèn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2040" y="4019384"/>
            <a:ext cx="3590925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54773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Échantillonnage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jeu de données (</a:t>
            </a:r>
            <a:r>
              <a:rPr lang="fr-FR" dirty="0" err="1"/>
              <a:t>dataset</a:t>
            </a:r>
            <a:r>
              <a:rPr lang="fr-FR" dirty="0"/>
              <a:t>) dont vous disposez constitue une ressource précieuse</a:t>
            </a:r>
          </a:p>
          <a:p>
            <a:pPr lvl="1"/>
            <a:r>
              <a:rPr lang="fr-FR" dirty="0"/>
              <a:t>Il faut pouvoir l’utiliser à bon escient afin de pouvoir à la fois choisir un modèle et l'entraîner</a:t>
            </a:r>
          </a:p>
          <a:p>
            <a:pPr lvl="1"/>
            <a:r>
              <a:rPr lang="fr-FR" dirty="0"/>
              <a:t>mais aussi de pouvoir tester la qualité de ce modèle</a:t>
            </a:r>
          </a:p>
          <a:p>
            <a:r>
              <a:rPr lang="fr-FR" dirty="0"/>
              <a:t>La première question à se poser est</a:t>
            </a:r>
          </a:p>
          <a:p>
            <a:pPr lvl="1"/>
            <a:r>
              <a:rPr lang="fr-FR" dirty="0"/>
              <a:t>Est-ce qu’on va utiliser toutes les données d'exemple dont on dispose ?</a:t>
            </a:r>
          </a:p>
          <a:p>
            <a:pPr lvl="1"/>
            <a:r>
              <a:rPr lang="fr-FR" dirty="0"/>
              <a:t>Volume, tests, …</a:t>
            </a:r>
          </a:p>
          <a:p>
            <a:r>
              <a:rPr lang="fr-FR" dirty="0"/>
              <a:t>Il faut échantillonner (</a:t>
            </a:r>
            <a:r>
              <a:rPr lang="fr-FR" dirty="0" err="1"/>
              <a:t>sampling</a:t>
            </a:r>
            <a:r>
              <a:rPr lang="fr-FR" dirty="0"/>
              <a:t>) les données à tester</a:t>
            </a:r>
          </a:p>
        </p:txBody>
      </p:sp>
    </p:spTree>
    <p:extLst>
      <p:ext uri="{BB962C8B-B14F-4D97-AF65-F5344CB8AC3E}">
        <p14:creationId xmlns:p14="http://schemas.microsoft.com/office/powerpoint/2010/main" val="14846590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Randomisation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faut utiliser le bon échantillon</a:t>
            </a:r>
          </a:p>
          <a:p>
            <a:pPr lvl="1"/>
            <a:r>
              <a:rPr lang="fr-FR" dirty="0"/>
              <a:t>Bien répartis</a:t>
            </a:r>
          </a:p>
          <a:p>
            <a:pPr lvl="1"/>
            <a:r>
              <a:rPr lang="fr-FR" dirty="0"/>
              <a:t>Ne pas introduire de biais</a:t>
            </a:r>
          </a:p>
          <a:p>
            <a:pPr lvl="1"/>
            <a:r>
              <a:rPr lang="fr-FR" dirty="0"/>
              <a:t>Par exemple à Paris les loyers sont plus chères qu’ailleurs</a:t>
            </a:r>
          </a:p>
          <a:p>
            <a:r>
              <a:rPr lang="fr-FR" dirty="0"/>
              <a:t>Il faut ensuite découper l’échantillon avec le</a:t>
            </a:r>
          </a:p>
          <a:p>
            <a:pPr lvl="1"/>
            <a:r>
              <a:rPr lang="fr-FR" dirty="0"/>
              <a:t>Training Set</a:t>
            </a:r>
          </a:p>
          <a:p>
            <a:pPr lvl="1"/>
            <a:r>
              <a:rPr lang="fr-FR" dirty="0" err="1"/>
              <a:t>Testing</a:t>
            </a:r>
            <a:r>
              <a:rPr lang="fr-FR" dirty="0"/>
              <a:t> Set</a:t>
            </a:r>
          </a:p>
          <a:p>
            <a:r>
              <a:rPr lang="fr-FR" dirty="0"/>
              <a:t>L’un sert à l’apprentissage, l’autre au test</a:t>
            </a:r>
          </a:p>
          <a:p>
            <a:pPr lvl="1"/>
            <a:r>
              <a:rPr lang="fr-FR" dirty="0"/>
              <a:t>Souvent 80/20</a:t>
            </a:r>
          </a:p>
        </p:txBody>
      </p:sp>
    </p:spTree>
    <p:extLst>
      <p:ext uri="{BB962C8B-B14F-4D97-AF65-F5344CB8AC3E}">
        <p14:creationId xmlns:p14="http://schemas.microsoft.com/office/powerpoint/2010/main" val="7856131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Randomisation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s’avère que si on entraîne le modèle avec des données, il va naturellement être plus performant sur ces données-là</a:t>
            </a:r>
          </a:p>
          <a:p>
            <a:r>
              <a:rPr lang="fr-FR" dirty="0"/>
              <a:t>Ce qui nous intéresse c’est de mesurer sa performance sur des données qu’il n’a jamais vues puisque c’est ce qui va se passer en pratique</a:t>
            </a:r>
          </a:p>
          <a:p>
            <a:r>
              <a:rPr lang="fr-FR" dirty="0"/>
              <a:t>Cette performance est appelée la </a:t>
            </a:r>
            <a:r>
              <a:rPr lang="fr-FR" b="1" dirty="0"/>
              <a:t>généralisation</a:t>
            </a:r>
            <a:r>
              <a:rPr lang="fr-FR" dirty="0"/>
              <a:t> du modèle</a:t>
            </a:r>
          </a:p>
          <a:p>
            <a:pPr lvl="1"/>
            <a:r>
              <a:rPr lang="fr-FR" dirty="0"/>
              <a:t>Sa capacité à effectuer des prédictions de qualité sur des situations jamais rencontrées.</a:t>
            </a:r>
          </a:p>
        </p:txBody>
      </p:sp>
    </p:spTree>
    <p:extLst>
      <p:ext uri="{BB962C8B-B14F-4D97-AF65-F5344CB8AC3E}">
        <p14:creationId xmlns:p14="http://schemas.microsoft.com/office/powerpoint/2010/main" val="22712598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Model </a:t>
            </a:r>
            <a:r>
              <a:rPr lang="fr-FR" dirty="0" err="1"/>
              <a:t>Selection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Model </a:t>
            </a:r>
            <a:r>
              <a:rPr lang="fr-FR" dirty="0" err="1"/>
              <a:t>Selection</a:t>
            </a:r>
            <a:r>
              <a:rPr lang="fr-FR" dirty="0"/>
              <a:t> est un module de sélection de modèle</a:t>
            </a:r>
          </a:p>
          <a:p>
            <a:r>
              <a:rPr lang="fr-FR" dirty="0" err="1"/>
              <a:t>Train_test_split</a:t>
            </a:r>
            <a:r>
              <a:rPr lang="fr-FR" dirty="0"/>
              <a:t> permet de découper le </a:t>
            </a:r>
            <a:r>
              <a:rPr lang="fr-FR" dirty="0" err="1"/>
              <a:t>dataset</a:t>
            </a:r>
            <a:endParaRPr lang="fr-FR" dirty="0"/>
          </a:p>
          <a:p>
            <a:pPr lvl="1"/>
            <a:r>
              <a:rPr lang="fr-FR" dirty="0"/>
              <a:t>import </a:t>
            </a:r>
            <a:r>
              <a:rPr lang="fr-FR" dirty="0" err="1"/>
              <a:t>sklearn.model_selection</a:t>
            </a:r>
            <a:r>
              <a:rPr lang="fr-FR" dirty="0"/>
              <a:t> as ms</a:t>
            </a:r>
          </a:p>
          <a:p>
            <a:pPr lvl="1"/>
            <a:r>
              <a:rPr lang="fr-FR" dirty="0" err="1"/>
              <a:t>xtrain</a:t>
            </a:r>
            <a:r>
              <a:rPr lang="fr-FR" dirty="0"/>
              <a:t>, </a:t>
            </a:r>
            <a:r>
              <a:rPr lang="fr-FR" dirty="0" err="1"/>
              <a:t>xtest</a:t>
            </a:r>
            <a:r>
              <a:rPr lang="fr-FR" dirty="0"/>
              <a:t>, </a:t>
            </a:r>
            <a:r>
              <a:rPr lang="fr-FR" dirty="0" err="1"/>
              <a:t>ytrain</a:t>
            </a:r>
            <a:r>
              <a:rPr lang="fr-FR" dirty="0"/>
              <a:t>, </a:t>
            </a:r>
            <a:r>
              <a:rPr lang="fr-FR" dirty="0" err="1"/>
              <a:t>ytest</a:t>
            </a:r>
            <a:r>
              <a:rPr lang="fr-FR" dirty="0"/>
              <a:t> = </a:t>
            </a:r>
            <a:r>
              <a:rPr lang="fr-FR" dirty="0" err="1"/>
              <a:t>ms.train_test_split</a:t>
            </a:r>
            <a:r>
              <a:rPr lang="fr-FR" dirty="0"/>
              <a:t>(X, y, </a:t>
            </a:r>
            <a:r>
              <a:rPr lang="fr-FR" dirty="0" err="1"/>
              <a:t>train_size</a:t>
            </a:r>
            <a:r>
              <a:rPr lang="fr-FR" dirty="0"/>
              <a:t>=0.8, </a:t>
            </a:r>
            <a:r>
              <a:rPr lang="fr-FR" dirty="0" err="1"/>
              <a:t>test_size</a:t>
            </a:r>
            <a:r>
              <a:rPr lang="fr-FR" dirty="0"/>
              <a:t>=0.2)</a:t>
            </a:r>
          </a:p>
        </p:txBody>
      </p:sp>
    </p:spTree>
    <p:extLst>
      <p:ext uri="{BB962C8B-B14F-4D97-AF65-F5344CB8AC3E}">
        <p14:creationId xmlns:p14="http://schemas.microsoft.com/office/powerpoint/2010/main" val="38865770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E0526E-1B72-9909-C483-321DC2532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TP 3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C59B333-8092-D5CD-DE88-E94C950479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Faire une régression linéaire sur house.csv</a:t>
            </a:r>
          </a:p>
          <a:p>
            <a:r>
              <a:rPr lang="fr-FR" dirty="0"/>
              <a:t>Faire une régression polynomiale</a:t>
            </a:r>
          </a:p>
          <a:p>
            <a:r>
              <a:rPr lang="fr-FR" dirty="0"/>
              <a:t>Exécuter </a:t>
            </a:r>
            <a:r>
              <a:rPr lang="fr-FR"/>
              <a:t>la régression sur ESP32</a:t>
            </a:r>
          </a:p>
        </p:txBody>
      </p:sp>
    </p:spTree>
    <p:extLst>
      <p:ext uri="{BB962C8B-B14F-4D97-AF65-F5344CB8AC3E}">
        <p14:creationId xmlns:p14="http://schemas.microsoft.com/office/powerpoint/2010/main" val="1921654759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8096</TotalTime>
  <Words>594</Words>
  <Application>Microsoft Office PowerPoint</Application>
  <PresentationFormat>Affichage à l'écran (4:3)</PresentationFormat>
  <Paragraphs>88</Paragraphs>
  <Slides>16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0" baseType="lpstr">
      <vt:lpstr>Arial</vt:lpstr>
      <vt:lpstr>Monotype Sorts</vt:lpstr>
      <vt:lpstr>Times New Roman</vt:lpstr>
      <vt:lpstr>cvc</vt:lpstr>
      <vt:lpstr>Présentation PowerPoint</vt:lpstr>
      <vt:lpstr>Présentation PowerPoint</vt:lpstr>
      <vt:lpstr>Présentation PowerPoint</vt:lpstr>
      <vt:lpstr>Régression</vt:lpstr>
      <vt:lpstr>Régression</vt:lpstr>
      <vt:lpstr>Dataset</vt:lpstr>
      <vt:lpstr>Régression polynomiale</vt:lpstr>
      <vt:lpstr>PreProcessing</vt:lpstr>
      <vt:lpstr>Pipeline</vt:lpstr>
      <vt:lpstr>Interprétation</vt:lpstr>
      <vt:lpstr>Surapprentissage</vt:lpstr>
      <vt:lpstr>Échantillonnage</vt:lpstr>
      <vt:lpstr>Randomisation</vt:lpstr>
      <vt:lpstr>Randomisation</vt:lpstr>
      <vt:lpstr>Model Selection</vt:lpstr>
      <vt:lpstr>TP 3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335</cp:revision>
  <dcterms:created xsi:type="dcterms:W3CDTF">2000-04-10T19:33:12Z</dcterms:created>
  <dcterms:modified xsi:type="dcterms:W3CDTF">2026-03-16T14:37:07Z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