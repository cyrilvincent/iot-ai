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83"/>
  </p:notesMasterIdLst>
  <p:handoutMasterIdLst>
    <p:handoutMasterId r:id="rId84"/>
  </p:handoutMasterIdLst>
  <p:sldIdLst>
    <p:sldId id="264" r:id="rId2"/>
    <p:sldId id="334" r:id="rId3"/>
    <p:sldId id="335" r:id="rId4"/>
    <p:sldId id="336" r:id="rId5"/>
    <p:sldId id="337" r:id="rId6"/>
    <p:sldId id="341" r:id="rId7"/>
    <p:sldId id="342" r:id="rId8"/>
    <p:sldId id="343" r:id="rId9"/>
    <p:sldId id="344" r:id="rId10"/>
    <p:sldId id="345" r:id="rId11"/>
    <p:sldId id="346" r:id="rId12"/>
    <p:sldId id="347" r:id="rId13"/>
    <p:sldId id="348" r:id="rId14"/>
    <p:sldId id="349" r:id="rId15"/>
    <p:sldId id="350" r:id="rId16"/>
    <p:sldId id="351" r:id="rId17"/>
    <p:sldId id="352"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33" r:id="rId32"/>
    <p:sldId id="322" r:id="rId33"/>
    <p:sldId id="369" r:id="rId34"/>
    <p:sldId id="370" r:id="rId35"/>
    <p:sldId id="371" r:id="rId36"/>
    <p:sldId id="265" r:id="rId37"/>
    <p:sldId id="297" r:id="rId38"/>
    <p:sldId id="313" r:id="rId39"/>
    <p:sldId id="298" r:id="rId40"/>
    <p:sldId id="299" r:id="rId41"/>
    <p:sldId id="300" r:id="rId42"/>
    <p:sldId id="301" r:id="rId43"/>
    <p:sldId id="302" r:id="rId44"/>
    <p:sldId id="303" r:id="rId45"/>
    <p:sldId id="304" r:id="rId46"/>
    <p:sldId id="305" r:id="rId47"/>
    <p:sldId id="306" r:id="rId48"/>
    <p:sldId id="293" r:id="rId49"/>
    <p:sldId id="292" r:id="rId50"/>
    <p:sldId id="266" r:id="rId51"/>
    <p:sldId id="267" r:id="rId52"/>
    <p:sldId id="269" r:id="rId53"/>
    <p:sldId id="284" r:id="rId54"/>
    <p:sldId id="270" r:id="rId55"/>
    <p:sldId id="291" r:id="rId56"/>
    <p:sldId id="286" r:id="rId57"/>
    <p:sldId id="285" r:id="rId58"/>
    <p:sldId id="287" r:id="rId59"/>
    <p:sldId id="288" r:id="rId60"/>
    <p:sldId id="274" r:id="rId61"/>
    <p:sldId id="273" r:id="rId62"/>
    <p:sldId id="283" r:id="rId63"/>
    <p:sldId id="289" r:id="rId64"/>
    <p:sldId id="294" r:id="rId65"/>
    <p:sldId id="271" r:id="rId66"/>
    <p:sldId id="272" r:id="rId67"/>
    <p:sldId id="275" r:id="rId68"/>
    <p:sldId id="282" r:id="rId69"/>
    <p:sldId id="279" r:id="rId70"/>
    <p:sldId id="281" r:id="rId71"/>
    <p:sldId id="290" r:id="rId72"/>
    <p:sldId id="295" r:id="rId73"/>
    <p:sldId id="311" r:id="rId74"/>
    <p:sldId id="307" r:id="rId75"/>
    <p:sldId id="312" r:id="rId76"/>
    <p:sldId id="308" r:id="rId77"/>
    <p:sldId id="277" r:id="rId78"/>
    <p:sldId id="309" r:id="rId79"/>
    <p:sldId id="276" r:id="rId80"/>
    <p:sldId id="310" r:id="rId81"/>
    <p:sldId id="296" r:id="rId82"/>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err="1"/>
              <a:t>IoT</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5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371600" y="1628800"/>
            <a:ext cx="6400800" cy="4010000"/>
          </a:xfrm>
        </p:spPr>
        <p:txBody>
          <a:bodyPr/>
          <a:lstStyle/>
          <a:p>
            <a:pPr eaLnBrk="1" hangingPunct="1"/>
            <a:r>
              <a:rPr lang="fr-FR" altLang="fr-FR" dirty="0"/>
              <a:t>IoT</a:t>
            </a:r>
          </a:p>
          <a:p>
            <a:pPr eaLnBrk="1" hangingPunct="1"/>
            <a:r>
              <a:rPr lang="fr-FR" altLang="fr-FR" dirty="0"/>
              <a:t>AI</a:t>
            </a:r>
          </a:p>
          <a:p>
            <a:pPr eaLnBrk="1" hangingPunct="1"/>
            <a:endParaRPr lang="fr-FR" altLang="fr-FR" dirty="0"/>
          </a:p>
          <a:p>
            <a:pPr eaLnBrk="1" hangingPunct="1"/>
            <a:r>
              <a:rPr lang="fr-FR" altLang="fr-FR" dirty="0"/>
              <a:t>Introduction</a:t>
            </a:r>
          </a:p>
        </p:txBody>
      </p:sp>
      <p:pic>
        <p:nvPicPr>
          <p:cNvPr id="6" name="Image 5">
            <a:extLst>
              <a:ext uri="{FF2B5EF4-FFF2-40B4-BE49-F238E27FC236}">
                <a16:creationId xmlns:a16="http://schemas.microsoft.com/office/drawing/2014/main" id="{1FDDAC18-5CE6-EECA-36F1-F8037D49AE19}"/>
              </a:ext>
            </a:extLst>
          </p:cNvPr>
          <p:cNvPicPr>
            <a:picLocks noChangeAspect="1"/>
          </p:cNvPicPr>
          <p:nvPr/>
        </p:nvPicPr>
        <p:blipFill>
          <a:blip r:embed="rId2"/>
          <a:stretch>
            <a:fillRect/>
          </a:stretch>
        </p:blipFill>
        <p:spPr>
          <a:xfrm>
            <a:off x="3347864" y="3732921"/>
            <a:ext cx="2911454" cy="31317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 de Turing</a:t>
            </a:r>
          </a:p>
        </p:txBody>
      </p:sp>
      <p:sp>
        <p:nvSpPr>
          <p:cNvPr id="3" name="Espace réservé du contenu 2"/>
          <p:cNvSpPr>
            <a:spLocks noGrp="1"/>
          </p:cNvSpPr>
          <p:nvPr>
            <p:ph idx="1"/>
          </p:nvPr>
        </p:nvSpPr>
        <p:spPr>
          <a:xfrm>
            <a:off x="179513" y="1412776"/>
            <a:ext cx="6850928" cy="5040560"/>
          </a:xfrm>
        </p:spPr>
        <p:txBody>
          <a:bodyPr/>
          <a:lstStyle/>
          <a:p>
            <a:r>
              <a:rPr lang="fr-FR" dirty="0"/>
              <a:t>Le test de Turing est une proposition de test d’intelligence artificielle fondée sur la faculté d'une machine à imiter la conversation humaine</a:t>
            </a:r>
          </a:p>
          <a:p>
            <a:pPr lvl="1"/>
            <a:r>
              <a:rPr lang="fr-FR" dirty="0"/>
              <a:t>Ce test consiste à mettre un humain en confrontation verbale à l’aveugle avec un ordinateur et un autre humain</a:t>
            </a:r>
          </a:p>
          <a:p>
            <a:pPr lvl="1"/>
            <a:r>
              <a:rPr lang="fr-FR" dirty="0"/>
              <a:t>Si la personne qui engage les conversations n’est pas capable de dire lequel de ses interlocuteurs est un ordinateur, on peut considérer que le logiciel de l’ordinateur a passé avec succès le test</a:t>
            </a:r>
          </a:p>
        </p:txBody>
      </p:sp>
      <p:pic>
        <p:nvPicPr>
          <p:cNvPr id="4098" name="Picture 2" descr="https://upload.wikimedia.org/wikipedia/commons/thumb/e/e4/Turing_Test_version_3.png/220px-Turing_Test_version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441" y="2276872"/>
            <a:ext cx="20955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962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supervisé</a:t>
            </a:r>
          </a:p>
        </p:txBody>
      </p:sp>
      <p:sp>
        <p:nvSpPr>
          <p:cNvPr id="3" name="Espace réservé du contenu 2"/>
          <p:cNvSpPr>
            <a:spLocks noGrp="1"/>
          </p:cNvSpPr>
          <p:nvPr>
            <p:ph idx="1"/>
          </p:nvPr>
        </p:nvSpPr>
        <p:spPr>
          <a:xfrm>
            <a:off x="628651" y="2226469"/>
            <a:ext cx="3499466" cy="3263504"/>
          </a:xfrm>
        </p:spPr>
        <p:txBody>
          <a:bodyPr/>
          <a:lstStyle/>
          <a:p>
            <a:r>
              <a:rPr lang="fr-FR" dirty="0"/>
              <a:t>Dans cet exemple les images ont été annotés par un expert avec leur catégorie</a:t>
            </a:r>
          </a:p>
        </p:txBody>
      </p:sp>
      <p:pic>
        <p:nvPicPr>
          <p:cNvPr id="1026" name="Picture 2" descr="Chaque image est labellée de sa catégor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1350" y="1691934"/>
            <a:ext cx="4833898" cy="3737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292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 vs Programmation</a:t>
            </a:r>
          </a:p>
        </p:txBody>
      </p:sp>
      <p:pic>
        <p:nvPicPr>
          <p:cNvPr id="1026" name="Picture 2" descr="https://dpzbhybb2pdcj.cloudfront.net/allaire/Figures/01fig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5603" y="1947168"/>
            <a:ext cx="6211602" cy="3152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381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a:xfrm>
            <a:off x="628650" y="2226469"/>
            <a:ext cx="4262005" cy="3263504"/>
          </a:xfrm>
        </p:spPr>
        <p:txBody>
          <a:bodyPr/>
          <a:lstStyle/>
          <a:p>
            <a:r>
              <a:rPr lang="fr-FR" dirty="0"/>
              <a:t>En </a:t>
            </a:r>
            <a:r>
              <a:rPr lang="fr-FR" dirty="0" err="1"/>
              <a:t>Deep</a:t>
            </a:r>
            <a:r>
              <a:rPr lang="fr-FR" dirty="0"/>
              <a:t> Learning, l'idée est que l'algorithme construise une "représentation interne" tout seul </a:t>
            </a:r>
          </a:p>
          <a:p>
            <a:pPr lvl="1"/>
            <a:r>
              <a:rPr lang="fr-FR" dirty="0"/>
              <a:t>L’être humain est quasiment incapable d’écrire l’algorithme</a:t>
            </a:r>
          </a:p>
          <a:p>
            <a:r>
              <a:rPr lang="fr-FR" dirty="0"/>
              <a:t>Pour cela, il va d'abord falloir lui entrer un jeu de données d'exemples afin qu'il puisse s'entraîner</a:t>
            </a:r>
          </a:p>
          <a:p>
            <a:endParaRPr lang="fr-FR" dirty="0"/>
          </a:p>
        </p:txBody>
      </p:sp>
      <p:pic>
        <p:nvPicPr>
          <p:cNvPr id="5122" name="Picture 2" descr="MNIST - Lecture de la base de chiffres manuscrits | Intelligence  Artificielle">
            <a:extLst>
              <a:ext uri="{FF2B5EF4-FFF2-40B4-BE49-F238E27FC236}">
                <a16:creationId xmlns:a16="http://schemas.microsoft.com/office/drawing/2014/main" id="{1A4D7DB9-6909-4529-A857-5E2BF0ACA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050" y="2280914"/>
            <a:ext cx="4171950" cy="2764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347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9D51E5-13D3-4051-959E-71DF6575790E}"/>
              </a:ext>
            </a:extLst>
          </p:cNvPr>
          <p:cNvSpPr>
            <a:spLocks noGrp="1"/>
          </p:cNvSpPr>
          <p:nvPr>
            <p:ph type="title"/>
          </p:nvPr>
        </p:nvSpPr>
        <p:spPr/>
        <p:txBody>
          <a:bodyPr/>
          <a:lstStyle/>
          <a:p>
            <a:r>
              <a:rPr lang="fr-FR" dirty="0"/>
              <a:t>Prédiction</a:t>
            </a:r>
          </a:p>
        </p:txBody>
      </p:sp>
      <p:sp>
        <p:nvSpPr>
          <p:cNvPr id="3" name="Espace réservé du contenu 2">
            <a:extLst>
              <a:ext uri="{FF2B5EF4-FFF2-40B4-BE49-F238E27FC236}">
                <a16:creationId xmlns:a16="http://schemas.microsoft.com/office/drawing/2014/main" id="{6AE44763-AE4C-46F7-BB16-F40FA40A1A9B}"/>
              </a:ext>
            </a:extLst>
          </p:cNvPr>
          <p:cNvSpPr>
            <a:spLocks noGrp="1"/>
          </p:cNvSpPr>
          <p:nvPr>
            <p:ph idx="1"/>
          </p:nvPr>
        </p:nvSpPr>
        <p:spPr/>
        <p:txBody>
          <a:bodyPr/>
          <a:lstStyle/>
          <a:p>
            <a:r>
              <a:rPr lang="fr-FR" dirty="0"/>
              <a:t>Une fois l'apprentissage effectué le modèle est capable d'effectuer des prédictions sur des nouvelles données</a:t>
            </a:r>
          </a:p>
        </p:txBody>
      </p:sp>
      <p:pic>
        <p:nvPicPr>
          <p:cNvPr id="4098" name="Picture 2" descr="Applied Sciences | Free Full-Text | A Survey of Handwritten Character  Recognition with MNIST and EMNIST | HTML">
            <a:extLst>
              <a:ext uri="{FF2B5EF4-FFF2-40B4-BE49-F238E27FC236}">
                <a16:creationId xmlns:a16="http://schemas.microsoft.com/office/drawing/2014/main" id="{FE728249-27BB-4C95-91AD-87A5086EAF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8396" y="2947082"/>
            <a:ext cx="4847208" cy="2542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446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26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Trouver le bon modèle</a:t>
            </a:r>
          </a:p>
        </p:txBody>
      </p:sp>
      <p:sp>
        <p:nvSpPr>
          <p:cNvPr id="3" name="Espace réservé du contenu 2"/>
          <p:cNvSpPr>
            <a:spLocks noGrp="1"/>
          </p:cNvSpPr>
          <p:nvPr>
            <p:ph idx="1"/>
          </p:nvPr>
        </p:nvSpPr>
        <p:spPr/>
        <p:txBody>
          <a:bodyPr/>
          <a:lstStyle/>
          <a:p>
            <a:r>
              <a:rPr lang="fr-FR" dirty="0"/>
              <a:t>Pour résumer, le travail de modélisation consiste à trouver le bon modèle statistique qui colle le mieux aux données d'exemple</a:t>
            </a:r>
          </a:p>
          <a:p>
            <a:r>
              <a:rPr lang="fr-FR" dirty="0"/>
              <a:t>Le machine </a:t>
            </a:r>
            <a:r>
              <a:rPr lang="fr-FR" dirty="0" err="1"/>
              <a:t>learning</a:t>
            </a:r>
            <a:r>
              <a:rPr lang="fr-FR" dirty="0"/>
              <a:t> en particulier intervient pour trouver ce modèle de manière automatisée</a:t>
            </a:r>
          </a:p>
          <a:p>
            <a:r>
              <a:rPr lang="fr-FR" dirty="0"/>
              <a:t>Problème du quartet d’</a:t>
            </a:r>
            <a:r>
              <a:rPr lang="fr-FR" dirty="0" err="1"/>
              <a:t>Ascombe</a:t>
            </a:r>
            <a:endParaRPr lang="fr-FR" dirty="0"/>
          </a:p>
        </p:txBody>
      </p:sp>
    </p:spTree>
    <p:extLst>
      <p:ext uri="{BB962C8B-B14F-4D97-AF65-F5344CB8AC3E}">
        <p14:creationId xmlns:p14="http://schemas.microsoft.com/office/powerpoint/2010/main" val="541696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Quartet d’</a:t>
            </a:r>
            <a:r>
              <a:rPr lang="fr-FR" dirty="0" err="1"/>
              <a:t>Ascombe</a:t>
            </a:r>
            <a:endParaRPr lang="fr-FR" dirty="0"/>
          </a:p>
        </p:txBody>
      </p:sp>
      <p:sp>
        <p:nvSpPr>
          <p:cNvPr id="3" name="Espace réservé du contenu 2"/>
          <p:cNvSpPr>
            <a:spLocks noGrp="1"/>
          </p:cNvSpPr>
          <p:nvPr>
            <p:ph idx="1"/>
          </p:nvPr>
        </p:nvSpPr>
        <p:spPr/>
        <p:txBody>
          <a:bodyPr/>
          <a:lstStyle/>
          <a:p>
            <a:r>
              <a:rPr lang="fr-FR" dirty="0"/>
              <a:t>Ces 4 modèles possède la même régression linéaire</a:t>
            </a:r>
          </a:p>
          <a:p>
            <a:pPr lvl="1"/>
            <a:r>
              <a:rPr lang="fr-FR" dirty="0"/>
              <a:t>Trouver les erreurs</a:t>
            </a:r>
          </a:p>
        </p:txBody>
      </p:sp>
      <p:pic>
        <p:nvPicPr>
          <p:cNvPr id="4098" name="Picture 2" descr="Le quartet d'anscom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833" y="2783429"/>
            <a:ext cx="6067407" cy="4053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036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1900" dirty="0" err="1"/>
              <a:t>PyTorch</a:t>
            </a:r>
            <a:endParaRPr lang="fr-FR" sz="1900" dirty="0"/>
          </a:p>
          <a:p>
            <a:pPr lvl="2"/>
            <a:r>
              <a:rPr lang="fr-FR" sz="1500" dirty="0"/>
              <a:t>Facebook</a:t>
            </a:r>
          </a:p>
          <a:p>
            <a:r>
              <a:rPr lang="fr-FR" sz="2400"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9BEBE-6249-4EE9-A3DE-988A6532E15C}"/>
              </a:ext>
            </a:extLst>
          </p:cNvPr>
          <p:cNvSpPr>
            <a:spLocks noGrp="1"/>
          </p:cNvSpPr>
          <p:nvPr>
            <p:ph type="title"/>
          </p:nvPr>
        </p:nvSpPr>
        <p:spPr/>
        <p:txBody>
          <a:bodyPr/>
          <a:lstStyle/>
          <a:p>
            <a:r>
              <a:rPr lang="fr-FR" dirty="0"/>
              <a:t>Les </a:t>
            </a:r>
            <a:r>
              <a:rPr lang="fr-FR" dirty="0" err="1"/>
              <a:t>Frameworks</a:t>
            </a:r>
            <a:r>
              <a:rPr lang="fr-FR" dirty="0"/>
              <a:t> ML et DL</a:t>
            </a:r>
          </a:p>
        </p:txBody>
      </p:sp>
      <p:pic>
        <p:nvPicPr>
          <p:cNvPr id="1036" name="Picture 12">
            <a:extLst>
              <a:ext uri="{FF2B5EF4-FFF2-40B4-BE49-F238E27FC236}">
                <a16:creationId xmlns:a16="http://schemas.microsoft.com/office/drawing/2014/main" id="{CC81630E-520F-4640-A4D7-4C649ED09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507" y="1851422"/>
            <a:ext cx="5938352" cy="34010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nsorFlow — Wikipédia">
            <a:extLst>
              <a:ext uri="{FF2B5EF4-FFF2-40B4-BE49-F238E27FC236}">
                <a16:creationId xmlns:a16="http://schemas.microsoft.com/office/drawing/2014/main" id="{C4B0032F-A73B-40A0-917F-E14A99B3F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34" y="2089516"/>
            <a:ext cx="1304594" cy="108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04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connectée à d’autre neurones qui a la faculté de laisser passer ou non un courant électrique</a:t>
            </a:r>
          </a:p>
          <a:p>
            <a:pPr lvl="1"/>
            <a:r>
              <a:rPr lang="fr-FR" dirty="0"/>
              <a:t>La modélisation mathématique est appelée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²</a:t>
            </a:r>
            <a:endParaRPr lang="fr-FR" dirty="0"/>
          </a:p>
        </p:txBody>
      </p:sp>
      <p:sp>
        <p:nvSpPr>
          <p:cNvPr id="3" name="Espace réservé du contenu 2"/>
          <p:cNvSpPr>
            <a:spLocks noGrp="1"/>
          </p:cNvSpPr>
          <p:nvPr>
            <p:ph idx="1"/>
          </p:nvPr>
        </p:nvSpPr>
        <p:spPr/>
        <p:txBody>
          <a:bodyPr/>
          <a:lstStyle/>
          <a:p>
            <a:endParaRPr lang="fr-FR" dirty="0"/>
          </a:p>
        </p:txBody>
      </p:sp>
      <p:pic>
        <p:nvPicPr>
          <p:cNvPr id="3074" name="Picture 2" descr="https://cdn.technologyreview.com/i/images/Face%20detection.png?sw=6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09"/>
            <a:ext cx="9252520" cy="51814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Ã©sultat de recherche d'images pour &quot;deep learning face recognition&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5999" y="5073942"/>
            <a:ext cx="5280521" cy="176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1616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IoT</a:t>
            </a:r>
            <a:endParaRPr lang="fr-FR" dirty="0"/>
          </a:p>
        </p:txBody>
      </p:sp>
      <p:sp>
        <p:nvSpPr>
          <p:cNvPr id="3" name="Espace réservé du contenu 2"/>
          <p:cNvSpPr>
            <a:spLocks noGrp="1"/>
          </p:cNvSpPr>
          <p:nvPr>
            <p:ph idx="1"/>
          </p:nvPr>
        </p:nvSpPr>
        <p:spPr>
          <a:xfrm>
            <a:off x="179512" y="1412776"/>
            <a:ext cx="8568951" cy="526026"/>
          </a:xfrm>
        </p:spPr>
        <p:txBody>
          <a:bodyPr/>
          <a:lstStyle/>
          <a:p>
            <a:r>
              <a:rPr lang="fr-FR" dirty="0"/>
              <a:t>Internet of </a:t>
            </a:r>
            <a:r>
              <a:rPr lang="fr-FR" dirty="0" err="1"/>
              <a:t>Thing</a:t>
            </a:r>
            <a:endParaRPr lang="fr-FR" dirty="0"/>
          </a:p>
          <a:p>
            <a:pPr lvl="1"/>
            <a:r>
              <a:rPr lang="fr-FR" dirty="0"/>
              <a:t>L'internet des objets est l'interconnexion entre Internet et des objets, des lieux et des environnements physiques.</a:t>
            </a:r>
          </a:p>
          <a:p>
            <a:endParaRPr lang="fr-FR" dirty="0"/>
          </a:p>
        </p:txBody>
      </p:sp>
      <p:pic>
        <p:nvPicPr>
          <p:cNvPr id="1026" name="Picture 2" descr="https://upload.wikimedia.org/wikipedia/commons/thumb/f/f1/Diff%C3%A9rents_aspects_de_l%E2%80%99Internet_des_objets.svg/1920px-Diff%C3%A9rents_aspects_de_l%E2%80%99Internet_des_objets.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3429000"/>
            <a:ext cx="5424537" cy="1842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699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65DEC8-2A88-1281-A027-B2E1641AE9BD}"/>
              </a:ext>
            </a:extLst>
          </p:cNvPr>
          <p:cNvSpPr>
            <a:spLocks noGrp="1"/>
          </p:cNvSpPr>
          <p:nvPr>
            <p:ph type="title"/>
          </p:nvPr>
        </p:nvSpPr>
        <p:spPr/>
        <p:txBody>
          <a:bodyPr/>
          <a:lstStyle/>
          <a:p>
            <a:r>
              <a:rPr lang="fr-FR" dirty="0"/>
              <a:t>Evolution des communications</a:t>
            </a:r>
          </a:p>
        </p:txBody>
      </p:sp>
      <p:sp>
        <p:nvSpPr>
          <p:cNvPr id="3" name="Espace réservé du contenu 2">
            <a:extLst>
              <a:ext uri="{FF2B5EF4-FFF2-40B4-BE49-F238E27FC236}">
                <a16:creationId xmlns:a16="http://schemas.microsoft.com/office/drawing/2014/main" id="{9417F3A3-3653-B0AE-7016-DC3B2E148143}"/>
              </a:ext>
            </a:extLst>
          </p:cNvPr>
          <p:cNvSpPr>
            <a:spLocks noGrp="1"/>
          </p:cNvSpPr>
          <p:nvPr>
            <p:ph idx="1"/>
          </p:nvPr>
        </p:nvSpPr>
        <p:spPr/>
        <p:txBody>
          <a:bodyPr/>
          <a:lstStyle/>
          <a:p>
            <a:r>
              <a:rPr lang="fr-FR" dirty="0"/>
              <a:t>Télécommunication analogique</a:t>
            </a:r>
          </a:p>
          <a:p>
            <a:r>
              <a:rPr lang="fr-FR" dirty="0"/>
              <a:t>Télécommunication numérique</a:t>
            </a:r>
          </a:p>
          <a:p>
            <a:pPr lvl="1"/>
            <a:r>
              <a:rPr lang="fr-FR" dirty="0"/>
              <a:t>Dés 1980</a:t>
            </a:r>
          </a:p>
          <a:p>
            <a:r>
              <a:rPr lang="fr-FR" dirty="0"/>
              <a:t>Internet</a:t>
            </a:r>
          </a:p>
          <a:p>
            <a:pPr lvl="1"/>
            <a:r>
              <a:rPr lang="fr-FR" dirty="0"/>
              <a:t>HTTP 1989</a:t>
            </a:r>
          </a:p>
          <a:p>
            <a:r>
              <a:rPr lang="fr-FR" dirty="0"/>
              <a:t>Web 2.0</a:t>
            </a:r>
          </a:p>
          <a:p>
            <a:pPr lvl="1"/>
            <a:r>
              <a:rPr lang="fr-FR" dirty="0"/>
              <a:t>HTML 5 2000</a:t>
            </a:r>
          </a:p>
          <a:p>
            <a:r>
              <a:rPr lang="fr-FR" dirty="0"/>
              <a:t>Les communications sans fil</a:t>
            </a:r>
          </a:p>
          <a:p>
            <a:pPr lvl="1"/>
            <a:r>
              <a:rPr lang="fr-FR" dirty="0"/>
              <a:t>Wifi, Bluetooth, …</a:t>
            </a:r>
          </a:p>
          <a:p>
            <a:endParaRPr lang="fr-FR" dirty="0"/>
          </a:p>
        </p:txBody>
      </p:sp>
    </p:spTree>
    <p:extLst>
      <p:ext uri="{BB962C8B-B14F-4D97-AF65-F5344CB8AC3E}">
        <p14:creationId xmlns:p14="http://schemas.microsoft.com/office/powerpoint/2010/main" val="519927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D3A70EC-C363-E3D5-9980-845FF5EDB4A0}"/>
              </a:ext>
            </a:extLst>
          </p:cNvPr>
          <p:cNvSpPr>
            <a:spLocks noGrp="1"/>
          </p:cNvSpPr>
          <p:nvPr>
            <p:ph idx="1"/>
          </p:nvPr>
        </p:nvSpPr>
        <p:spPr/>
        <p:txBody>
          <a:bodyPr/>
          <a:lstStyle/>
          <a:p>
            <a:endParaRPr lang="fr-FR"/>
          </a:p>
        </p:txBody>
      </p:sp>
      <p:pic>
        <p:nvPicPr>
          <p:cNvPr id="1026" name="Picture 2" descr="undefined">
            <a:extLst>
              <a:ext uri="{FF2B5EF4-FFF2-40B4-BE49-F238E27FC236}">
                <a16:creationId xmlns:a16="http://schemas.microsoft.com/office/drawing/2014/main" id="{4731AF92-61E5-3AB6-76CF-395CDB6EC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38175"/>
            <a:ext cx="9144000" cy="5580063"/>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a:extLst>
              <a:ext uri="{FF2B5EF4-FFF2-40B4-BE49-F238E27FC236}">
                <a16:creationId xmlns:a16="http://schemas.microsoft.com/office/drawing/2014/main" id="{0D7324A7-17FB-3077-1AB1-BC28D906973C}"/>
              </a:ext>
            </a:extLst>
          </p:cNvPr>
          <p:cNvSpPr>
            <a:spLocks noGrp="1"/>
          </p:cNvSpPr>
          <p:nvPr>
            <p:ph type="title"/>
          </p:nvPr>
        </p:nvSpPr>
        <p:spPr/>
        <p:txBody>
          <a:bodyPr/>
          <a:lstStyle/>
          <a:p>
            <a:endParaRPr lang="fr-FR"/>
          </a:p>
        </p:txBody>
      </p:sp>
    </p:spTree>
    <p:extLst>
      <p:ext uri="{BB962C8B-B14F-4D97-AF65-F5344CB8AC3E}">
        <p14:creationId xmlns:p14="http://schemas.microsoft.com/office/powerpoint/2010/main" val="1347234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F7D9BA-D24E-48CF-AABC-2AA102FE5564}"/>
              </a:ext>
            </a:extLst>
          </p:cNvPr>
          <p:cNvSpPr>
            <a:spLocks noGrp="1"/>
          </p:cNvSpPr>
          <p:nvPr>
            <p:ph type="title"/>
          </p:nvPr>
        </p:nvSpPr>
        <p:spPr/>
        <p:txBody>
          <a:bodyPr/>
          <a:lstStyle/>
          <a:p>
            <a:r>
              <a:rPr lang="fr-FR" dirty="0"/>
              <a:t>Web 3.0</a:t>
            </a:r>
          </a:p>
        </p:txBody>
      </p:sp>
      <p:sp>
        <p:nvSpPr>
          <p:cNvPr id="3" name="Espace réservé du contenu 2">
            <a:extLst>
              <a:ext uri="{FF2B5EF4-FFF2-40B4-BE49-F238E27FC236}">
                <a16:creationId xmlns:a16="http://schemas.microsoft.com/office/drawing/2014/main" id="{37C26D99-AA3C-9DCC-D718-A719198A70B3}"/>
              </a:ext>
            </a:extLst>
          </p:cNvPr>
          <p:cNvSpPr>
            <a:spLocks noGrp="1"/>
          </p:cNvSpPr>
          <p:nvPr>
            <p:ph idx="1"/>
          </p:nvPr>
        </p:nvSpPr>
        <p:spPr/>
        <p:txBody>
          <a:bodyPr/>
          <a:lstStyle/>
          <a:p>
            <a:r>
              <a:rPr lang="fr-FR" dirty="0"/>
              <a:t>Internet décentralisé et intelligent</a:t>
            </a:r>
          </a:p>
          <a:p>
            <a:pPr lvl="1"/>
            <a:r>
              <a:rPr lang="fr-FR" dirty="0"/>
              <a:t>Blockchain</a:t>
            </a:r>
          </a:p>
          <a:p>
            <a:pPr lvl="1"/>
            <a:r>
              <a:rPr lang="fr-FR" dirty="0"/>
              <a:t>IA</a:t>
            </a:r>
          </a:p>
          <a:p>
            <a:pPr lvl="1"/>
            <a:r>
              <a:rPr lang="fr-FR" dirty="0"/>
              <a:t>métavers</a:t>
            </a:r>
          </a:p>
          <a:p>
            <a:pPr lvl="1"/>
            <a:r>
              <a:rPr lang="fr-FR" dirty="0"/>
              <a:t>données sémantiques</a:t>
            </a:r>
          </a:p>
          <a:p>
            <a:r>
              <a:rPr lang="fr-FR" dirty="0"/>
              <a:t>Plus de transparence, personnalisation avancée, contrôle accru des utilisateurs sur leurs données</a:t>
            </a:r>
          </a:p>
          <a:p>
            <a:r>
              <a:rPr lang="fr-FR" dirty="0"/>
              <a:t>Il vise à dépasser les limites du Web 2.0 (centralisé et dominé par les grandes plateformes) pour offrir un écosystème plus intelligent, sécurisé et autonome</a:t>
            </a:r>
          </a:p>
        </p:txBody>
      </p:sp>
    </p:spTree>
    <p:extLst>
      <p:ext uri="{BB962C8B-B14F-4D97-AF65-F5344CB8AC3E}">
        <p14:creationId xmlns:p14="http://schemas.microsoft.com/office/powerpoint/2010/main" val="13667885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E9499A-4F3F-AF1C-871F-AC9BA0CE4589}"/>
              </a:ext>
            </a:extLst>
          </p:cNvPr>
          <p:cNvSpPr>
            <a:spLocks noGrp="1"/>
          </p:cNvSpPr>
          <p:nvPr>
            <p:ph type="title"/>
          </p:nvPr>
        </p:nvSpPr>
        <p:spPr/>
        <p:txBody>
          <a:bodyPr/>
          <a:lstStyle/>
          <a:p>
            <a:r>
              <a:rPr lang="fr-FR" dirty="0"/>
              <a:t>Concepts</a:t>
            </a:r>
          </a:p>
        </p:txBody>
      </p:sp>
      <p:sp>
        <p:nvSpPr>
          <p:cNvPr id="3" name="Espace réservé du contenu 2">
            <a:extLst>
              <a:ext uri="{FF2B5EF4-FFF2-40B4-BE49-F238E27FC236}">
                <a16:creationId xmlns:a16="http://schemas.microsoft.com/office/drawing/2014/main" id="{9B4E717B-FC73-A151-A806-045684D22423}"/>
              </a:ext>
            </a:extLst>
          </p:cNvPr>
          <p:cNvSpPr>
            <a:spLocks noGrp="1"/>
          </p:cNvSpPr>
          <p:nvPr>
            <p:ph idx="1"/>
          </p:nvPr>
        </p:nvSpPr>
        <p:spPr/>
        <p:txBody>
          <a:bodyPr/>
          <a:lstStyle/>
          <a:p>
            <a:r>
              <a:rPr lang="fr-FR" dirty="0"/>
              <a:t>L’IoT désigne un réseau d’objets physiques connectés à Internet, capables de collecter, transmettre et parfois analyser des données sans intervention humaine</a:t>
            </a:r>
          </a:p>
          <a:p>
            <a:r>
              <a:rPr lang="fr-FR" dirty="0"/>
              <a:t>Ces objets peuvent être des capteurs, des actionneurs, des appareils domestiques, des véhicules ou des équipements industriels</a:t>
            </a:r>
          </a:p>
          <a:p>
            <a:r>
              <a:rPr lang="fr-FR" dirty="0"/>
              <a:t>L’objectif est de connecter le monde physique au numérique pour créer des services intelligents et automatisés.</a:t>
            </a:r>
          </a:p>
        </p:txBody>
      </p:sp>
    </p:spTree>
    <p:extLst>
      <p:ext uri="{BB962C8B-B14F-4D97-AF65-F5344CB8AC3E}">
        <p14:creationId xmlns:p14="http://schemas.microsoft.com/office/powerpoint/2010/main" val="2833555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C00129-2F0C-EB5A-B8ED-C30D6A5341E5}"/>
              </a:ext>
            </a:extLst>
          </p:cNvPr>
          <p:cNvSpPr>
            <a:spLocks noGrp="1"/>
          </p:cNvSpPr>
          <p:nvPr>
            <p:ph type="title"/>
          </p:nvPr>
        </p:nvSpPr>
        <p:spPr/>
        <p:txBody>
          <a:bodyPr/>
          <a:lstStyle/>
          <a:p>
            <a:r>
              <a:rPr lang="fr-FR" dirty="0"/>
              <a:t>Composants essentiels</a:t>
            </a:r>
          </a:p>
        </p:txBody>
      </p:sp>
      <p:sp>
        <p:nvSpPr>
          <p:cNvPr id="3" name="Espace réservé du contenu 2">
            <a:extLst>
              <a:ext uri="{FF2B5EF4-FFF2-40B4-BE49-F238E27FC236}">
                <a16:creationId xmlns:a16="http://schemas.microsoft.com/office/drawing/2014/main" id="{74C8CE96-7EFD-A7AC-B8B4-D22C3E9BF49E}"/>
              </a:ext>
            </a:extLst>
          </p:cNvPr>
          <p:cNvSpPr>
            <a:spLocks noGrp="1"/>
          </p:cNvSpPr>
          <p:nvPr>
            <p:ph idx="1"/>
          </p:nvPr>
        </p:nvSpPr>
        <p:spPr/>
        <p:txBody>
          <a:bodyPr/>
          <a:lstStyle/>
          <a:p>
            <a:r>
              <a:rPr lang="fr-FR" dirty="0"/>
              <a:t>Capteurs </a:t>
            </a:r>
          </a:p>
          <a:p>
            <a:r>
              <a:rPr lang="fr-FR" dirty="0"/>
              <a:t>Actionneurs</a:t>
            </a:r>
          </a:p>
          <a:p>
            <a:r>
              <a:rPr lang="fr-FR" dirty="0"/>
              <a:t>Microcontrôleurs et systèmes embarqués</a:t>
            </a:r>
          </a:p>
          <a:p>
            <a:r>
              <a:rPr lang="fr-FR" dirty="0"/>
              <a:t>Passerelles (</a:t>
            </a:r>
            <a:r>
              <a:rPr lang="fr-FR" dirty="0" err="1"/>
              <a:t>Gateways</a:t>
            </a:r>
            <a:r>
              <a:rPr lang="fr-FR" dirty="0"/>
              <a:t>)</a:t>
            </a:r>
          </a:p>
          <a:p>
            <a:r>
              <a:rPr lang="fr-FR" dirty="0"/>
              <a:t>Plateformes IoT (Cloud ou Edge)</a:t>
            </a:r>
          </a:p>
        </p:txBody>
      </p:sp>
    </p:spTree>
    <p:extLst>
      <p:ext uri="{BB962C8B-B14F-4D97-AF65-F5344CB8AC3E}">
        <p14:creationId xmlns:p14="http://schemas.microsoft.com/office/powerpoint/2010/main" val="3133684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CF6FF-2E1B-9FAA-C5F7-7465FD6ED6A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4223D4D-593E-76F8-DC23-677D18C8BFEB}"/>
              </a:ext>
            </a:extLst>
          </p:cNvPr>
          <p:cNvSpPr>
            <a:spLocks noGrp="1"/>
          </p:cNvSpPr>
          <p:nvPr>
            <p:ph type="title"/>
          </p:nvPr>
        </p:nvSpPr>
        <p:spPr/>
        <p:txBody>
          <a:bodyPr/>
          <a:lstStyle/>
          <a:p>
            <a:r>
              <a:rPr lang="fr-FR" dirty="0"/>
              <a:t>Capteurs</a:t>
            </a:r>
          </a:p>
        </p:txBody>
      </p:sp>
      <p:sp>
        <p:nvSpPr>
          <p:cNvPr id="3" name="Espace réservé du contenu 2">
            <a:extLst>
              <a:ext uri="{FF2B5EF4-FFF2-40B4-BE49-F238E27FC236}">
                <a16:creationId xmlns:a16="http://schemas.microsoft.com/office/drawing/2014/main" id="{D9EA043E-44A2-82E4-7809-7B403DABA60C}"/>
              </a:ext>
            </a:extLst>
          </p:cNvPr>
          <p:cNvSpPr>
            <a:spLocks noGrp="1"/>
          </p:cNvSpPr>
          <p:nvPr>
            <p:ph idx="1"/>
          </p:nvPr>
        </p:nvSpPr>
        <p:spPr/>
        <p:txBody>
          <a:bodyPr/>
          <a:lstStyle/>
          <a:p>
            <a:r>
              <a:rPr lang="fr-FR" dirty="0"/>
              <a:t>Mesurent des variables (température, pression, mouvement, lumière, etc.) et convertissent ces données en signaux numériques</a:t>
            </a:r>
          </a:p>
          <a:p>
            <a:endParaRPr lang="fr-FR" dirty="0"/>
          </a:p>
        </p:txBody>
      </p:sp>
      <p:pic>
        <p:nvPicPr>
          <p:cNvPr id="4" name="Image 3">
            <a:extLst>
              <a:ext uri="{FF2B5EF4-FFF2-40B4-BE49-F238E27FC236}">
                <a16:creationId xmlns:a16="http://schemas.microsoft.com/office/drawing/2014/main" id="{7E292B86-9AC5-051B-0569-E5E23970C0CC}"/>
              </a:ext>
            </a:extLst>
          </p:cNvPr>
          <p:cNvPicPr>
            <a:picLocks noChangeAspect="1"/>
          </p:cNvPicPr>
          <p:nvPr/>
        </p:nvPicPr>
        <p:blipFill>
          <a:blip r:embed="rId2"/>
          <a:stretch>
            <a:fillRect/>
          </a:stretch>
        </p:blipFill>
        <p:spPr>
          <a:xfrm>
            <a:off x="2051720" y="2720893"/>
            <a:ext cx="4968552" cy="4123898"/>
          </a:xfrm>
          <a:prstGeom prst="rect">
            <a:avLst/>
          </a:prstGeom>
        </p:spPr>
      </p:pic>
    </p:spTree>
    <p:extLst>
      <p:ext uri="{BB962C8B-B14F-4D97-AF65-F5344CB8AC3E}">
        <p14:creationId xmlns:p14="http://schemas.microsoft.com/office/powerpoint/2010/main" val="37152201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1F2A4E-74AA-BCFE-3429-21FABACD68A8}"/>
              </a:ext>
            </a:extLst>
          </p:cNvPr>
          <p:cNvSpPr>
            <a:spLocks noGrp="1"/>
          </p:cNvSpPr>
          <p:nvPr>
            <p:ph type="title"/>
          </p:nvPr>
        </p:nvSpPr>
        <p:spPr/>
        <p:txBody>
          <a:bodyPr/>
          <a:lstStyle/>
          <a:p>
            <a:r>
              <a:rPr lang="fr-FR" dirty="0"/>
              <a:t>Actionneurs (</a:t>
            </a:r>
            <a:r>
              <a:rPr lang="fr-FR" dirty="0" err="1"/>
              <a:t>Actuator</a:t>
            </a:r>
            <a:r>
              <a:rPr lang="fr-FR" dirty="0"/>
              <a:t>)</a:t>
            </a:r>
          </a:p>
        </p:txBody>
      </p:sp>
      <p:sp>
        <p:nvSpPr>
          <p:cNvPr id="3" name="Espace réservé du contenu 2">
            <a:extLst>
              <a:ext uri="{FF2B5EF4-FFF2-40B4-BE49-F238E27FC236}">
                <a16:creationId xmlns:a16="http://schemas.microsoft.com/office/drawing/2014/main" id="{5EB6033B-1864-B249-BCF3-A434958500F4}"/>
              </a:ext>
            </a:extLst>
          </p:cNvPr>
          <p:cNvSpPr>
            <a:spLocks noGrp="1"/>
          </p:cNvSpPr>
          <p:nvPr>
            <p:ph idx="1"/>
          </p:nvPr>
        </p:nvSpPr>
        <p:spPr/>
        <p:txBody>
          <a:bodyPr/>
          <a:lstStyle/>
          <a:p>
            <a:r>
              <a:rPr lang="fr-FR" dirty="0"/>
              <a:t>Réalisent des actions physiques (ouvrir une vanne, activer un moteur) en réponse à des instructions</a:t>
            </a:r>
          </a:p>
        </p:txBody>
      </p:sp>
    </p:spTree>
    <p:extLst>
      <p:ext uri="{BB962C8B-B14F-4D97-AF65-F5344CB8AC3E}">
        <p14:creationId xmlns:p14="http://schemas.microsoft.com/office/powerpoint/2010/main" val="20829552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1FA3E5-A692-10E5-132B-B3CD76F9AF9A}"/>
              </a:ext>
            </a:extLst>
          </p:cNvPr>
          <p:cNvSpPr>
            <a:spLocks noGrp="1"/>
          </p:cNvSpPr>
          <p:nvPr>
            <p:ph type="title"/>
          </p:nvPr>
        </p:nvSpPr>
        <p:spPr/>
        <p:txBody>
          <a:bodyPr/>
          <a:lstStyle/>
          <a:p>
            <a:r>
              <a:rPr lang="fr-FR" dirty="0"/>
              <a:t>Microcontrôleurs</a:t>
            </a:r>
          </a:p>
        </p:txBody>
      </p:sp>
      <p:sp>
        <p:nvSpPr>
          <p:cNvPr id="3" name="Espace réservé du contenu 2">
            <a:extLst>
              <a:ext uri="{FF2B5EF4-FFF2-40B4-BE49-F238E27FC236}">
                <a16:creationId xmlns:a16="http://schemas.microsoft.com/office/drawing/2014/main" id="{AB1B2D32-E1E5-99E9-F705-0159CB8E6C49}"/>
              </a:ext>
            </a:extLst>
          </p:cNvPr>
          <p:cNvSpPr>
            <a:spLocks noGrp="1"/>
          </p:cNvSpPr>
          <p:nvPr>
            <p:ph idx="1"/>
          </p:nvPr>
        </p:nvSpPr>
        <p:spPr/>
        <p:txBody>
          <a:bodyPr/>
          <a:lstStyle/>
          <a:p>
            <a:r>
              <a:rPr lang="fr-FR" dirty="0"/>
              <a:t>C'est l'intelligence de l'IoT</a:t>
            </a:r>
          </a:p>
        </p:txBody>
      </p:sp>
      <p:pic>
        <p:nvPicPr>
          <p:cNvPr id="5" name="Image 4">
            <a:extLst>
              <a:ext uri="{FF2B5EF4-FFF2-40B4-BE49-F238E27FC236}">
                <a16:creationId xmlns:a16="http://schemas.microsoft.com/office/drawing/2014/main" id="{A94AD9ED-A6F3-2C3F-57CD-0614E802A4D3}"/>
              </a:ext>
            </a:extLst>
          </p:cNvPr>
          <p:cNvPicPr>
            <a:picLocks noChangeAspect="1"/>
          </p:cNvPicPr>
          <p:nvPr/>
        </p:nvPicPr>
        <p:blipFill>
          <a:blip r:embed="rId2"/>
          <a:stretch>
            <a:fillRect/>
          </a:stretch>
        </p:blipFill>
        <p:spPr>
          <a:xfrm>
            <a:off x="2411760" y="2708920"/>
            <a:ext cx="3877216" cy="2581635"/>
          </a:xfrm>
          <a:prstGeom prst="rect">
            <a:avLst/>
          </a:prstGeom>
        </p:spPr>
      </p:pic>
    </p:spTree>
    <p:extLst>
      <p:ext uri="{BB962C8B-B14F-4D97-AF65-F5344CB8AC3E}">
        <p14:creationId xmlns:p14="http://schemas.microsoft.com/office/powerpoint/2010/main" val="2971554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5D591E-B7A6-7904-30D5-2D2A83D3C2AE}"/>
              </a:ext>
            </a:extLst>
          </p:cNvPr>
          <p:cNvSpPr>
            <a:spLocks noGrp="1"/>
          </p:cNvSpPr>
          <p:nvPr>
            <p:ph type="title"/>
          </p:nvPr>
        </p:nvSpPr>
        <p:spPr/>
        <p:txBody>
          <a:bodyPr/>
          <a:lstStyle/>
          <a:p>
            <a:r>
              <a:rPr lang="fr-FR" dirty="0"/>
              <a:t>Passerelles (</a:t>
            </a:r>
            <a:r>
              <a:rPr lang="fr-FR" dirty="0" err="1"/>
              <a:t>Gateways</a:t>
            </a:r>
            <a:r>
              <a:rPr lang="fr-FR" dirty="0"/>
              <a:t>) </a:t>
            </a:r>
          </a:p>
        </p:txBody>
      </p:sp>
      <p:sp>
        <p:nvSpPr>
          <p:cNvPr id="3" name="Espace réservé du contenu 2">
            <a:extLst>
              <a:ext uri="{FF2B5EF4-FFF2-40B4-BE49-F238E27FC236}">
                <a16:creationId xmlns:a16="http://schemas.microsoft.com/office/drawing/2014/main" id="{58FBC071-D170-06A2-ABF7-5CD357A7E158}"/>
              </a:ext>
            </a:extLst>
          </p:cNvPr>
          <p:cNvSpPr>
            <a:spLocks noGrp="1"/>
          </p:cNvSpPr>
          <p:nvPr>
            <p:ph idx="1"/>
          </p:nvPr>
        </p:nvSpPr>
        <p:spPr/>
        <p:txBody>
          <a:bodyPr/>
          <a:lstStyle/>
          <a:p>
            <a:r>
              <a:rPr lang="fr-FR" dirty="0"/>
              <a:t>Relient les objets au réseau Internet et assurent la conversion des protocoles.</a:t>
            </a:r>
          </a:p>
        </p:txBody>
      </p:sp>
    </p:spTree>
    <p:extLst>
      <p:ext uri="{BB962C8B-B14F-4D97-AF65-F5344CB8AC3E}">
        <p14:creationId xmlns:p14="http://schemas.microsoft.com/office/powerpoint/2010/main" val="11802631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E7CB98-35F8-E585-20E1-C3EDA5323860}"/>
              </a:ext>
            </a:extLst>
          </p:cNvPr>
          <p:cNvSpPr>
            <a:spLocks noGrp="1"/>
          </p:cNvSpPr>
          <p:nvPr>
            <p:ph type="title"/>
          </p:nvPr>
        </p:nvSpPr>
        <p:spPr/>
        <p:txBody>
          <a:bodyPr/>
          <a:lstStyle/>
          <a:p>
            <a:r>
              <a:rPr lang="fr-FR" dirty="0"/>
              <a:t>Plateformes IoT</a:t>
            </a:r>
          </a:p>
        </p:txBody>
      </p:sp>
      <p:sp>
        <p:nvSpPr>
          <p:cNvPr id="3" name="Espace réservé du contenu 2">
            <a:extLst>
              <a:ext uri="{FF2B5EF4-FFF2-40B4-BE49-F238E27FC236}">
                <a16:creationId xmlns:a16="http://schemas.microsoft.com/office/drawing/2014/main" id="{1A45B96D-07D5-C54D-2A2B-6BAE2A6706E2}"/>
              </a:ext>
            </a:extLst>
          </p:cNvPr>
          <p:cNvSpPr>
            <a:spLocks noGrp="1"/>
          </p:cNvSpPr>
          <p:nvPr>
            <p:ph idx="1"/>
          </p:nvPr>
        </p:nvSpPr>
        <p:spPr/>
        <p:txBody>
          <a:bodyPr/>
          <a:lstStyle/>
          <a:p>
            <a:r>
              <a:rPr lang="fr-FR" dirty="0"/>
              <a:t>Stockent, analysent et exploitent les données pour générer des insights et automatiser des processus.</a:t>
            </a:r>
          </a:p>
        </p:txBody>
      </p:sp>
    </p:spTree>
    <p:extLst>
      <p:ext uri="{BB962C8B-B14F-4D97-AF65-F5344CB8AC3E}">
        <p14:creationId xmlns:p14="http://schemas.microsoft.com/office/powerpoint/2010/main" val="38965651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45BB63-91A6-7F90-3942-5952235C692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0436860-D79B-448C-D37C-73AB9624652E}"/>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3965A387-7D7A-3480-EDAA-1C569267C2C4}"/>
              </a:ext>
            </a:extLst>
          </p:cNvPr>
          <p:cNvPicPr>
            <a:picLocks noChangeAspect="1"/>
          </p:cNvPicPr>
          <p:nvPr/>
        </p:nvPicPr>
        <p:blipFill>
          <a:blip r:embed="rId2"/>
          <a:stretch>
            <a:fillRect/>
          </a:stretch>
        </p:blipFill>
        <p:spPr>
          <a:xfrm>
            <a:off x="0" y="952823"/>
            <a:ext cx="9144000" cy="4952353"/>
          </a:xfrm>
          <a:prstGeom prst="rect">
            <a:avLst/>
          </a:prstGeom>
        </p:spPr>
      </p:pic>
    </p:spTree>
    <p:extLst>
      <p:ext uri="{BB962C8B-B14F-4D97-AF65-F5344CB8AC3E}">
        <p14:creationId xmlns:p14="http://schemas.microsoft.com/office/powerpoint/2010/main" val="1390307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9AD7AE-DA03-6C64-E635-62976C856097}"/>
              </a:ext>
            </a:extLst>
          </p:cNvPr>
          <p:cNvSpPr>
            <a:spLocks noGrp="1"/>
          </p:cNvSpPr>
          <p:nvPr>
            <p:ph type="title"/>
          </p:nvPr>
        </p:nvSpPr>
        <p:spPr/>
        <p:txBody>
          <a:bodyPr/>
          <a:lstStyle/>
          <a:p>
            <a:r>
              <a:rPr lang="fr-FR" dirty="0"/>
              <a:t>Micro-processeur</a:t>
            </a:r>
          </a:p>
        </p:txBody>
      </p:sp>
      <p:sp>
        <p:nvSpPr>
          <p:cNvPr id="3" name="Espace réservé du contenu 2">
            <a:extLst>
              <a:ext uri="{FF2B5EF4-FFF2-40B4-BE49-F238E27FC236}">
                <a16:creationId xmlns:a16="http://schemas.microsoft.com/office/drawing/2014/main" id="{1F09487D-81EB-B2BD-39AC-78CC295FABE3}"/>
              </a:ext>
            </a:extLst>
          </p:cNvPr>
          <p:cNvSpPr>
            <a:spLocks noGrp="1"/>
          </p:cNvSpPr>
          <p:nvPr>
            <p:ph idx="1"/>
          </p:nvPr>
        </p:nvSpPr>
        <p:spPr>
          <a:xfrm>
            <a:off x="179513" y="1412776"/>
            <a:ext cx="6048672" cy="5040560"/>
          </a:xfrm>
        </p:spPr>
        <p:txBody>
          <a:bodyPr/>
          <a:lstStyle/>
          <a:p>
            <a:r>
              <a:rPr lang="fr-FR" dirty="0"/>
              <a:t>Le CPU a été inventé en 1971 par Intel</a:t>
            </a:r>
          </a:p>
          <a:p>
            <a:r>
              <a:rPr lang="fr-FR" dirty="0" err="1"/>
              <a:t>Marcian</a:t>
            </a:r>
            <a:r>
              <a:rPr lang="fr-FR" dirty="0"/>
              <a:t> Hoff</a:t>
            </a:r>
          </a:p>
          <a:p>
            <a:r>
              <a:rPr lang="fr-FR" dirty="0" err="1"/>
              <a:t>Frederico</a:t>
            </a:r>
            <a:r>
              <a:rPr lang="fr-FR" dirty="0"/>
              <a:t> Chavin</a:t>
            </a:r>
          </a:p>
          <a:p>
            <a:pPr lvl="1"/>
            <a:r>
              <a:rPr lang="fr-FR" dirty="0"/>
              <a:t>Chef de projet Intel 4004</a:t>
            </a:r>
          </a:p>
          <a:p>
            <a:pPr lvl="1"/>
            <a:r>
              <a:rPr lang="fr-FR" dirty="0"/>
              <a:t>Co-Inventeur du 4004 8008 8080</a:t>
            </a:r>
          </a:p>
          <a:p>
            <a:pPr lvl="1"/>
            <a:r>
              <a:rPr lang="fr-FR" dirty="0"/>
              <a:t>Inventeur du Z80</a:t>
            </a:r>
          </a:p>
          <a:p>
            <a:pPr lvl="1"/>
            <a:r>
              <a:rPr lang="fr-FR" dirty="0"/>
              <a:t>Inventeur du Touchpad</a:t>
            </a:r>
          </a:p>
          <a:p>
            <a:pPr lvl="1"/>
            <a:r>
              <a:rPr lang="fr-FR" dirty="0"/>
              <a:t>A l'origine de ST</a:t>
            </a:r>
          </a:p>
          <a:p>
            <a:r>
              <a:rPr lang="fr-FR" dirty="0"/>
              <a:t>A permis de créer les micro-ordinateurs</a:t>
            </a:r>
          </a:p>
          <a:p>
            <a:endParaRPr lang="fr-FR" dirty="0"/>
          </a:p>
          <a:p>
            <a:pPr lvl="2"/>
            <a:endParaRPr lang="fr-FR" dirty="0"/>
          </a:p>
        </p:txBody>
      </p:sp>
      <p:pic>
        <p:nvPicPr>
          <p:cNvPr id="2050" name="Picture 2">
            <a:extLst>
              <a:ext uri="{FF2B5EF4-FFF2-40B4-BE49-F238E27FC236}">
                <a16:creationId xmlns:a16="http://schemas.microsoft.com/office/drawing/2014/main" id="{2B384678-871C-65F2-ACE2-68AB3CF208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5590" y="628120"/>
            <a:ext cx="1881572" cy="2622798"/>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2828C5FD-DEC0-C88D-C783-F1C554CBC139}"/>
              </a:ext>
            </a:extLst>
          </p:cNvPr>
          <p:cNvPicPr>
            <a:picLocks noChangeAspect="1"/>
          </p:cNvPicPr>
          <p:nvPr/>
        </p:nvPicPr>
        <p:blipFill>
          <a:blip r:embed="rId3"/>
          <a:stretch>
            <a:fillRect/>
          </a:stretch>
        </p:blipFill>
        <p:spPr>
          <a:xfrm>
            <a:off x="6277421" y="3423421"/>
            <a:ext cx="2619741" cy="2791215"/>
          </a:xfrm>
          <a:prstGeom prst="rect">
            <a:avLst/>
          </a:prstGeom>
        </p:spPr>
      </p:pic>
    </p:spTree>
    <p:extLst>
      <p:ext uri="{BB962C8B-B14F-4D97-AF65-F5344CB8AC3E}">
        <p14:creationId xmlns:p14="http://schemas.microsoft.com/office/powerpoint/2010/main" val="37930876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94D0A2-7C63-7D23-99BE-B3FA1B3EAD6E}"/>
              </a:ext>
            </a:extLst>
          </p:cNvPr>
          <p:cNvSpPr>
            <a:spLocks noGrp="1"/>
          </p:cNvSpPr>
          <p:nvPr>
            <p:ph type="title"/>
          </p:nvPr>
        </p:nvSpPr>
        <p:spPr/>
        <p:txBody>
          <a:bodyPr/>
          <a:lstStyle/>
          <a:p>
            <a:r>
              <a:rPr lang="fr-FR" dirty="0"/>
              <a:t>Intel</a:t>
            </a:r>
          </a:p>
        </p:txBody>
      </p:sp>
      <p:sp>
        <p:nvSpPr>
          <p:cNvPr id="3" name="Espace réservé du contenu 2">
            <a:extLst>
              <a:ext uri="{FF2B5EF4-FFF2-40B4-BE49-F238E27FC236}">
                <a16:creationId xmlns:a16="http://schemas.microsoft.com/office/drawing/2014/main" id="{6DA9BB48-6BBD-E1CD-FECA-82689A271AF8}"/>
              </a:ext>
            </a:extLst>
          </p:cNvPr>
          <p:cNvSpPr>
            <a:spLocks noGrp="1"/>
          </p:cNvSpPr>
          <p:nvPr>
            <p:ph idx="1"/>
          </p:nvPr>
        </p:nvSpPr>
        <p:spPr/>
        <p:txBody>
          <a:bodyPr/>
          <a:lstStyle/>
          <a:p>
            <a:r>
              <a:rPr lang="fr-FR" dirty="0"/>
              <a:t>Intel 4004</a:t>
            </a:r>
          </a:p>
          <a:p>
            <a:pPr lvl="1"/>
            <a:r>
              <a:rPr lang="fr-FR" dirty="0"/>
              <a:t>1971</a:t>
            </a:r>
          </a:p>
          <a:p>
            <a:pPr lvl="1"/>
            <a:r>
              <a:rPr lang="fr-FR" dirty="0"/>
              <a:t>4 bits</a:t>
            </a:r>
          </a:p>
          <a:p>
            <a:pPr lvl="1"/>
            <a:r>
              <a:rPr lang="fr-FR" dirty="0"/>
              <a:t>Prototype</a:t>
            </a:r>
          </a:p>
          <a:p>
            <a:r>
              <a:rPr lang="fr-FR" dirty="0"/>
              <a:t>Intel 8008</a:t>
            </a:r>
          </a:p>
          <a:p>
            <a:pPr lvl="1"/>
            <a:r>
              <a:rPr lang="fr-FR" dirty="0"/>
              <a:t>1972</a:t>
            </a:r>
          </a:p>
          <a:p>
            <a:pPr lvl="1"/>
            <a:r>
              <a:rPr lang="fr-FR" dirty="0"/>
              <a:t>8 bits</a:t>
            </a:r>
          </a:p>
          <a:p>
            <a:r>
              <a:rPr lang="fr-FR" dirty="0"/>
              <a:t>Puis</a:t>
            </a:r>
          </a:p>
          <a:p>
            <a:pPr lvl="1"/>
            <a:r>
              <a:rPr lang="fr-FR" dirty="0"/>
              <a:t>8080</a:t>
            </a:r>
          </a:p>
          <a:p>
            <a:pPr lvl="1"/>
            <a:r>
              <a:rPr lang="fr-FR" dirty="0"/>
              <a:t>8086 (x86)</a:t>
            </a:r>
          </a:p>
          <a:p>
            <a:pPr marL="0" indent="0">
              <a:buNone/>
            </a:pPr>
            <a:endParaRPr lang="fr-FR" dirty="0"/>
          </a:p>
        </p:txBody>
      </p:sp>
      <p:pic>
        <p:nvPicPr>
          <p:cNvPr id="5" name="Image 4">
            <a:extLst>
              <a:ext uri="{FF2B5EF4-FFF2-40B4-BE49-F238E27FC236}">
                <a16:creationId xmlns:a16="http://schemas.microsoft.com/office/drawing/2014/main" id="{D2B8DED9-4876-7508-D976-3567BB641127}"/>
              </a:ext>
            </a:extLst>
          </p:cNvPr>
          <p:cNvPicPr>
            <a:picLocks noChangeAspect="1"/>
          </p:cNvPicPr>
          <p:nvPr/>
        </p:nvPicPr>
        <p:blipFill>
          <a:blip r:embed="rId2"/>
          <a:stretch>
            <a:fillRect/>
          </a:stretch>
        </p:blipFill>
        <p:spPr>
          <a:xfrm>
            <a:off x="4860032" y="3579325"/>
            <a:ext cx="2133898" cy="1495634"/>
          </a:xfrm>
          <a:prstGeom prst="rect">
            <a:avLst/>
          </a:prstGeom>
        </p:spPr>
      </p:pic>
      <p:pic>
        <p:nvPicPr>
          <p:cNvPr id="1028" name="Picture 4">
            <a:extLst>
              <a:ext uri="{FF2B5EF4-FFF2-40B4-BE49-F238E27FC236}">
                <a16:creationId xmlns:a16="http://schemas.microsoft.com/office/drawing/2014/main" id="{CFA80CB7-6851-62C2-D72F-E8B4A281D9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6356" y="1653204"/>
            <a:ext cx="2381250"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8977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nano-ordinateurs</a:t>
            </a:r>
          </a:p>
        </p:txBody>
      </p:sp>
      <p:sp>
        <p:nvSpPr>
          <p:cNvPr id="3" name="Espace réservé du contenu 2"/>
          <p:cNvSpPr>
            <a:spLocks noGrp="1"/>
          </p:cNvSpPr>
          <p:nvPr>
            <p:ph idx="1"/>
          </p:nvPr>
        </p:nvSpPr>
        <p:spPr/>
        <p:txBody>
          <a:bodyPr/>
          <a:lstStyle/>
          <a:p>
            <a:r>
              <a:rPr lang="fr-FR" dirty="0"/>
              <a:t>Ordinateur de la taille d'une carte de crédit</a:t>
            </a:r>
          </a:p>
          <a:p>
            <a:r>
              <a:rPr lang="fr-FR" dirty="0"/>
              <a:t>Faible coût</a:t>
            </a:r>
          </a:p>
          <a:p>
            <a:r>
              <a:rPr lang="fr-FR" dirty="0"/>
              <a:t>Encourage la réutilisation des connectiques</a:t>
            </a:r>
          </a:p>
        </p:txBody>
      </p:sp>
      <p:pic>
        <p:nvPicPr>
          <p:cNvPr id="2054" name="Picture 6" descr="Résultat de recherche d'images pour &quot;raspberry pi&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86273" y="2934443"/>
            <a:ext cx="4752528" cy="3518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236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Raspberry</a:t>
            </a:r>
            <a:r>
              <a:rPr lang="fr-FR" dirty="0"/>
              <a:t> Pi</a:t>
            </a:r>
          </a:p>
        </p:txBody>
      </p:sp>
      <p:sp>
        <p:nvSpPr>
          <p:cNvPr id="3" name="Espace réservé du contenu 2"/>
          <p:cNvSpPr>
            <a:spLocks noGrp="1"/>
          </p:cNvSpPr>
          <p:nvPr>
            <p:ph idx="1"/>
          </p:nvPr>
        </p:nvSpPr>
        <p:spPr/>
        <p:txBody>
          <a:bodyPr/>
          <a:lstStyle/>
          <a:p>
            <a:r>
              <a:rPr lang="fr-FR" dirty="0" err="1"/>
              <a:t>Raspberry</a:t>
            </a:r>
            <a:r>
              <a:rPr lang="fr-FR" dirty="0"/>
              <a:t> Pi</a:t>
            </a:r>
          </a:p>
          <a:p>
            <a:pPr lvl="1"/>
            <a:r>
              <a:rPr lang="fr-FR" dirty="0"/>
              <a:t>raspberrypi.org</a:t>
            </a:r>
          </a:p>
          <a:p>
            <a:pPr lvl="1"/>
            <a:r>
              <a:rPr lang="fr-FR" dirty="0"/>
              <a:t>c'est un nano-ordinateur </a:t>
            </a:r>
            <a:r>
              <a:rPr lang="fr-FR" dirty="0" err="1"/>
              <a:t>monocarte</a:t>
            </a:r>
            <a:r>
              <a:rPr lang="fr-FR" dirty="0"/>
              <a:t> à processeur ARM conçu par des professeurs du département informatique de l'université de Cambridge dans le cadre de la fondation </a:t>
            </a:r>
            <a:r>
              <a:rPr lang="fr-FR" dirty="0" err="1"/>
              <a:t>Raspberry</a:t>
            </a:r>
            <a:r>
              <a:rPr lang="fr-FR" dirty="0"/>
              <a:t> Pi</a:t>
            </a:r>
          </a:p>
          <a:p>
            <a:pPr lvl="1"/>
            <a:r>
              <a:rPr lang="fr-FR" dirty="0"/>
              <a:t>Libre</a:t>
            </a:r>
          </a:p>
          <a:p>
            <a:pPr lvl="1"/>
            <a:r>
              <a:rPr lang="fr-FR" dirty="0" err="1"/>
              <a:t>Raspberry</a:t>
            </a:r>
            <a:r>
              <a:rPr lang="fr-FR" dirty="0"/>
              <a:t> Pi 1 : 2013</a:t>
            </a:r>
          </a:p>
        </p:txBody>
      </p:sp>
      <p:pic>
        <p:nvPicPr>
          <p:cNvPr id="3078" name="Picture 6" descr="Fichier:Raspberry Pi logo.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3861048"/>
            <a:ext cx="1973186" cy="2493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594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Raspberry</a:t>
            </a:r>
            <a:r>
              <a:rPr lang="fr-FR" dirty="0"/>
              <a:t> Pi 4B</a:t>
            </a:r>
          </a:p>
        </p:txBody>
      </p:sp>
      <p:sp>
        <p:nvSpPr>
          <p:cNvPr id="3" name="Espace réservé du contenu 2"/>
          <p:cNvSpPr>
            <a:spLocks noGrp="1"/>
          </p:cNvSpPr>
          <p:nvPr>
            <p:ph idx="1"/>
          </p:nvPr>
        </p:nvSpPr>
        <p:spPr/>
        <p:txBody>
          <a:bodyPr/>
          <a:lstStyle/>
          <a:p>
            <a:r>
              <a:rPr lang="fr-FR" dirty="0"/>
              <a:t>4 Cœurs </a:t>
            </a:r>
            <a:r>
              <a:rPr lang="fr-FR" dirty="0" err="1"/>
              <a:t>Broadcomm</a:t>
            </a:r>
            <a:endParaRPr lang="fr-FR" dirty="0"/>
          </a:p>
          <a:p>
            <a:r>
              <a:rPr lang="fr-FR" dirty="0"/>
              <a:t>2019</a:t>
            </a:r>
          </a:p>
          <a:p>
            <a:r>
              <a:rPr lang="fr-FR" dirty="0"/>
              <a:t>4 * 1.5 GHz</a:t>
            </a:r>
          </a:p>
          <a:p>
            <a:r>
              <a:rPr lang="fr-FR" dirty="0"/>
              <a:t>RAM : 1 à 4 Go</a:t>
            </a:r>
          </a:p>
          <a:p>
            <a:r>
              <a:rPr lang="fr-FR" dirty="0"/>
              <a:t>4 USB 2 et 3</a:t>
            </a:r>
          </a:p>
          <a:p>
            <a:r>
              <a:rPr lang="fr-FR" dirty="0"/>
              <a:t>2 Micro HDMI</a:t>
            </a:r>
          </a:p>
          <a:p>
            <a:r>
              <a:rPr lang="fr-FR" dirty="0"/>
              <a:t>Ethernet 1 Gbit/s</a:t>
            </a:r>
          </a:p>
          <a:p>
            <a:r>
              <a:rPr lang="fr-FR" dirty="0"/>
              <a:t>Bluetooth 5</a:t>
            </a:r>
          </a:p>
          <a:p>
            <a:r>
              <a:rPr lang="fr-FR" dirty="0"/>
              <a:t>Wifi 802.11 </a:t>
            </a:r>
            <a:r>
              <a:rPr lang="fr-FR" dirty="0" err="1"/>
              <a:t>ac</a:t>
            </a:r>
            <a:endParaRPr lang="fr-FR" dirty="0"/>
          </a:p>
        </p:txBody>
      </p:sp>
      <p:pic>
        <p:nvPicPr>
          <p:cNvPr id="2054" name="Picture 6" descr="Résultat de recherche d'images pour &quot;raspberry pi&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91472" y="2780928"/>
            <a:ext cx="4752528" cy="3518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4989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112606-B477-164B-87EA-8620BC84E69B}"/>
              </a:ext>
            </a:extLst>
          </p:cNvPr>
          <p:cNvSpPr>
            <a:spLocks noGrp="1"/>
          </p:cNvSpPr>
          <p:nvPr>
            <p:ph type="title"/>
          </p:nvPr>
        </p:nvSpPr>
        <p:spPr/>
        <p:txBody>
          <a:bodyPr/>
          <a:lstStyle/>
          <a:p>
            <a:r>
              <a:rPr lang="fr-FR" dirty="0" err="1"/>
              <a:t>Oldies</a:t>
            </a:r>
            <a:endParaRPr lang="fr-FR" dirty="0"/>
          </a:p>
        </p:txBody>
      </p:sp>
      <p:sp>
        <p:nvSpPr>
          <p:cNvPr id="3" name="Espace réservé du contenu 2">
            <a:extLst>
              <a:ext uri="{FF2B5EF4-FFF2-40B4-BE49-F238E27FC236}">
                <a16:creationId xmlns:a16="http://schemas.microsoft.com/office/drawing/2014/main" id="{2BFEF20E-6C39-395C-2CB2-A235C40B7ACC}"/>
              </a:ext>
            </a:extLst>
          </p:cNvPr>
          <p:cNvSpPr>
            <a:spLocks noGrp="1"/>
          </p:cNvSpPr>
          <p:nvPr>
            <p:ph idx="1"/>
          </p:nvPr>
        </p:nvSpPr>
        <p:spPr/>
        <p:txBody>
          <a:bodyPr/>
          <a:lstStyle/>
          <a:p>
            <a:r>
              <a:rPr lang="fr-FR" dirty="0"/>
              <a:t>Les ancêtres des </a:t>
            </a:r>
            <a:r>
              <a:rPr lang="fr-FR" dirty="0" err="1"/>
              <a:t>micro-contrôleurs</a:t>
            </a:r>
            <a:r>
              <a:rPr lang="fr-FR" dirty="0"/>
              <a:t> sont les CPU des années 80 et 90</a:t>
            </a:r>
          </a:p>
          <a:p>
            <a:r>
              <a:rPr lang="fr-FR" dirty="0"/>
              <a:t>Faible consommation électrique</a:t>
            </a:r>
          </a:p>
          <a:p>
            <a:r>
              <a:rPr lang="fr-FR" dirty="0"/>
              <a:t>Programmation uniquement en Assembleur</a:t>
            </a:r>
          </a:p>
          <a:p>
            <a:r>
              <a:rPr lang="fr-FR" dirty="0" err="1"/>
              <a:t>Zilog</a:t>
            </a:r>
            <a:r>
              <a:rPr lang="fr-FR" dirty="0"/>
              <a:t> Z80</a:t>
            </a:r>
          </a:p>
          <a:p>
            <a:r>
              <a:rPr lang="fr-FR" dirty="0"/>
              <a:t>MOS 6502</a:t>
            </a:r>
          </a:p>
          <a:p>
            <a:r>
              <a:rPr lang="fr-FR" dirty="0"/>
              <a:t>Motorola 68000</a:t>
            </a:r>
          </a:p>
          <a:p>
            <a:endParaRPr lang="fr-FR" dirty="0"/>
          </a:p>
        </p:txBody>
      </p:sp>
      <p:pic>
        <p:nvPicPr>
          <p:cNvPr id="5" name="Image 4">
            <a:extLst>
              <a:ext uri="{FF2B5EF4-FFF2-40B4-BE49-F238E27FC236}">
                <a16:creationId xmlns:a16="http://schemas.microsoft.com/office/drawing/2014/main" id="{55398EC3-D153-BEA4-D3CD-9737B5090918}"/>
              </a:ext>
            </a:extLst>
          </p:cNvPr>
          <p:cNvPicPr>
            <a:picLocks noChangeAspect="1"/>
          </p:cNvPicPr>
          <p:nvPr/>
        </p:nvPicPr>
        <p:blipFill>
          <a:blip r:embed="rId2"/>
          <a:stretch>
            <a:fillRect/>
          </a:stretch>
        </p:blipFill>
        <p:spPr>
          <a:xfrm>
            <a:off x="4355976" y="3429000"/>
            <a:ext cx="2348240" cy="1805240"/>
          </a:xfrm>
          <a:prstGeom prst="rect">
            <a:avLst/>
          </a:prstGeom>
        </p:spPr>
      </p:pic>
      <p:pic>
        <p:nvPicPr>
          <p:cNvPr id="7" name="Image 6">
            <a:extLst>
              <a:ext uri="{FF2B5EF4-FFF2-40B4-BE49-F238E27FC236}">
                <a16:creationId xmlns:a16="http://schemas.microsoft.com/office/drawing/2014/main" id="{D9B49813-FA41-F6E1-438B-19CE63B032C8}"/>
              </a:ext>
            </a:extLst>
          </p:cNvPr>
          <p:cNvPicPr>
            <a:picLocks noChangeAspect="1"/>
          </p:cNvPicPr>
          <p:nvPr/>
        </p:nvPicPr>
        <p:blipFill>
          <a:blip r:embed="rId3"/>
          <a:stretch>
            <a:fillRect/>
          </a:stretch>
        </p:blipFill>
        <p:spPr>
          <a:xfrm>
            <a:off x="0" y="-56369"/>
            <a:ext cx="3613842" cy="1282156"/>
          </a:xfrm>
          <a:prstGeom prst="rect">
            <a:avLst/>
          </a:prstGeom>
        </p:spPr>
      </p:pic>
      <p:pic>
        <p:nvPicPr>
          <p:cNvPr id="3074" name="Picture 2" descr="Motorola 68000 - TekWiki">
            <a:extLst>
              <a:ext uri="{FF2B5EF4-FFF2-40B4-BE49-F238E27FC236}">
                <a16:creationId xmlns:a16="http://schemas.microsoft.com/office/drawing/2014/main" id="{F2BAD94A-61FF-FEB4-B9A8-C4E7FF968C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511" y="4904010"/>
            <a:ext cx="3410466" cy="1549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78660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Micro-contrôleur</a:t>
            </a:r>
            <a:endParaRPr lang="fr-FR" dirty="0"/>
          </a:p>
        </p:txBody>
      </p:sp>
      <p:sp>
        <p:nvSpPr>
          <p:cNvPr id="3" name="Espace réservé du contenu 2"/>
          <p:cNvSpPr>
            <a:spLocks noGrp="1"/>
          </p:cNvSpPr>
          <p:nvPr>
            <p:ph idx="1"/>
          </p:nvPr>
        </p:nvSpPr>
        <p:spPr/>
        <p:txBody>
          <a:bodyPr/>
          <a:lstStyle/>
          <a:p>
            <a:r>
              <a:rPr lang="fr-FR" dirty="0"/>
              <a:t>Un </a:t>
            </a:r>
            <a:r>
              <a:rPr lang="fr-FR" dirty="0" err="1"/>
              <a:t>Micro-contrôleur</a:t>
            </a:r>
            <a:r>
              <a:rPr lang="fr-FR" dirty="0"/>
              <a:t> est un circuit intégré qui rassemble les éléments essentiels d'un ordinateur : processeur, mémoires et interfaces d'entrées-sorties</a:t>
            </a:r>
          </a:p>
          <a:p>
            <a:pPr lvl="1"/>
            <a:r>
              <a:rPr lang="fr-FR" dirty="0"/>
              <a:t>Les microcontrôleurs se caractérisent par un plus haut degré d'intégration, une plus faible consommation électrique, une vitesse de fonctionnement plus et un coût réduit par rapport aux microprocesseurs</a:t>
            </a:r>
          </a:p>
          <a:p>
            <a:pPr lvl="1"/>
            <a:r>
              <a:rPr lang="fr-FR" dirty="0"/>
              <a:t>Pas de date de création officielle</a:t>
            </a:r>
          </a:p>
          <a:p>
            <a:pPr lvl="1"/>
            <a:r>
              <a:rPr lang="fr-FR" dirty="0"/>
              <a:t>Le Intel 4004 est un microcontrôleur !</a:t>
            </a:r>
          </a:p>
        </p:txBody>
      </p:sp>
      <p:pic>
        <p:nvPicPr>
          <p:cNvPr id="4098" name="Picture 2" descr="https://upload.wikimedia.org/wikipedia/commons/thumb/b/b9/CD-CX10RFW_quadrotor_board_3.jpg/1024px-CD-CX10RFW_quadrotor_board_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0040" y="4774858"/>
            <a:ext cx="2983960" cy="1678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6711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C7EADD-FA36-EC04-4178-419FFCFACF05}"/>
              </a:ext>
            </a:extLst>
          </p:cNvPr>
          <p:cNvSpPr>
            <a:spLocks noGrp="1"/>
          </p:cNvSpPr>
          <p:nvPr>
            <p:ph type="title"/>
          </p:nvPr>
        </p:nvSpPr>
        <p:spPr/>
        <p:txBody>
          <a:bodyPr/>
          <a:lstStyle/>
          <a:p>
            <a:r>
              <a:rPr lang="fr-FR" dirty="0" err="1"/>
              <a:t>SoC</a:t>
            </a:r>
            <a:endParaRPr lang="fr-FR" dirty="0"/>
          </a:p>
        </p:txBody>
      </p:sp>
      <p:sp>
        <p:nvSpPr>
          <p:cNvPr id="3" name="Espace réservé du contenu 2">
            <a:extLst>
              <a:ext uri="{FF2B5EF4-FFF2-40B4-BE49-F238E27FC236}">
                <a16:creationId xmlns:a16="http://schemas.microsoft.com/office/drawing/2014/main" id="{5633F03D-0DC8-386C-F7E1-3176B5F3490B}"/>
              </a:ext>
            </a:extLst>
          </p:cNvPr>
          <p:cNvSpPr>
            <a:spLocks noGrp="1"/>
          </p:cNvSpPr>
          <p:nvPr>
            <p:ph idx="1"/>
          </p:nvPr>
        </p:nvSpPr>
        <p:spPr/>
        <p:txBody>
          <a:bodyPr/>
          <a:lstStyle/>
          <a:p>
            <a:r>
              <a:rPr lang="fr-FR" dirty="0"/>
              <a:t>System on a Chip</a:t>
            </a:r>
          </a:p>
          <a:p>
            <a:pPr lvl="1"/>
            <a:r>
              <a:rPr lang="fr-FR" dirty="0"/>
              <a:t>All in one</a:t>
            </a:r>
          </a:p>
          <a:p>
            <a:pPr lvl="1"/>
            <a:r>
              <a:rPr lang="fr-FR" dirty="0"/>
              <a:t>Avant                                            Maintenant</a:t>
            </a:r>
          </a:p>
        </p:txBody>
      </p:sp>
      <p:pic>
        <p:nvPicPr>
          <p:cNvPr id="7" name="Image 6">
            <a:extLst>
              <a:ext uri="{FF2B5EF4-FFF2-40B4-BE49-F238E27FC236}">
                <a16:creationId xmlns:a16="http://schemas.microsoft.com/office/drawing/2014/main" id="{2AFD1D4F-59CA-2FEF-647A-6A03B7C47489}"/>
              </a:ext>
            </a:extLst>
          </p:cNvPr>
          <p:cNvPicPr>
            <a:picLocks noChangeAspect="1"/>
          </p:cNvPicPr>
          <p:nvPr/>
        </p:nvPicPr>
        <p:blipFill>
          <a:blip r:embed="rId2"/>
          <a:stretch>
            <a:fillRect/>
          </a:stretch>
        </p:blipFill>
        <p:spPr>
          <a:xfrm>
            <a:off x="4139952" y="3204765"/>
            <a:ext cx="4473175" cy="2494784"/>
          </a:xfrm>
          <a:prstGeom prst="rect">
            <a:avLst/>
          </a:prstGeom>
        </p:spPr>
      </p:pic>
      <p:pic>
        <p:nvPicPr>
          <p:cNvPr id="9" name="Image 8">
            <a:extLst>
              <a:ext uri="{FF2B5EF4-FFF2-40B4-BE49-F238E27FC236}">
                <a16:creationId xmlns:a16="http://schemas.microsoft.com/office/drawing/2014/main" id="{D6D983D5-33A9-E8FB-6D61-1F38D342954A}"/>
              </a:ext>
            </a:extLst>
          </p:cNvPr>
          <p:cNvPicPr>
            <a:picLocks noChangeAspect="1"/>
          </p:cNvPicPr>
          <p:nvPr/>
        </p:nvPicPr>
        <p:blipFill>
          <a:blip r:embed="rId3"/>
          <a:stretch>
            <a:fillRect/>
          </a:stretch>
        </p:blipFill>
        <p:spPr>
          <a:xfrm>
            <a:off x="198437" y="3212976"/>
            <a:ext cx="3267980" cy="2048161"/>
          </a:xfrm>
          <a:prstGeom prst="rect">
            <a:avLst/>
          </a:prstGeom>
        </p:spPr>
      </p:pic>
    </p:spTree>
    <p:extLst>
      <p:ext uri="{BB962C8B-B14F-4D97-AF65-F5344CB8AC3E}">
        <p14:creationId xmlns:p14="http://schemas.microsoft.com/office/powerpoint/2010/main" val="12667793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1B3403-ED58-E004-1F58-A6A585ECD5E3}"/>
              </a:ext>
            </a:extLst>
          </p:cNvPr>
          <p:cNvSpPr>
            <a:spLocks noGrp="1"/>
          </p:cNvSpPr>
          <p:nvPr>
            <p:ph type="title"/>
          </p:nvPr>
        </p:nvSpPr>
        <p:spPr/>
        <p:txBody>
          <a:bodyPr/>
          <a:lstStyle/>
          <a:p>
            <a:r>
              <a:rPr lang="fr-FR" dirty="0" err="1"/>
              <a:t>Eeprom</a:t>
            </a:r>
            <a:endParaRPr lang="fr-FR" dirty="0"/>
          </a:p>
        </p:txBody>
      </p:sp>
      <p:sp>
        <p:nvSpPr>
          <p:cNvPr id="3" name="Espace réservé du contenu 2">
            <a:extLst>
              <a:ext uri="{FF2B5EF4-FFF2-40B4-BE49-F238E27FC236}">
                <a16:creationId xmlns:a16="http://schemas.microsoft.com/office/drawing/2014/main" id="{CAD6D573-B844-652E-1EFC-CE95C1F1F89D}"/>
              </a:ext>
            </a:extLst>
          </p:cNvPr>
          <p:cNvSpPr>
            <a:spLocks noGrp="1"/>
          </p:cNvSpPr>
          <p:nvPr>
            <p:ph idx="1"/>
          </p:nvPr>
        </p:nvSpPr>
        <p:spPr/>
        <p:txBody>
          <a:bodyPr/>
          <a:lstStyle/>
          <a:p>
            <a:r>
              <a:rPr lang="fr-FR" dirty="0"/>
              <a:t>Puce qui stocke du code</a:t>
            </a:r>
          </a:p>
          <a:p>
            <a:pPr lvl="1"/>
            <a:r>
              <a:rPr lang="fr-FR" dirty="0"/>
              <a:t>Processus de Flashage</a:t>
            </a:r>
          </a:p>
          <a:p>
            <a:r>
              <a:rPr lang="fr-FR" dirty="0"/>
              <a:t>Les </a:t>
            </a:r>
            <a:r>
              <a:rPr lang="fr-FR" dirty="0" err="1"/>
              <a:t>SoC</a:t>
            </a:r>
            <a:r>
              <a:rPr lang="fr-FR" dirty="0"/>
              <a:t> se programment par une </a:t>
            </a:r>
            <a:r>
              <a:rPr lang="fr-FR" dirty="0" err="1"/>
              <a:t>Eeprom</a:t>
            </a:r>
            <a:endParaRPr lang="fr-FR" dirty="0"/>
          </a:p>
          <a:p>
            <a:pPr lvl="1"/>
            <a:r>
              <a:rPr lang="fr-FR" dirty="0"/>
              <a:t>Flash par ISP</a:t>
            </a:r>
          </a:p>
          <a:p>
            <a:pPr lvl="1"/>
            <a:r>
              <a:rPr lang="fr-FR" dirty="0"/>
              <a:t>Protocole de flashage par USB</a:t>
            </a:r>
          </a:p>
          <a:p>
            <a:r>
              <a:rPr lang="fr-FR" dirty="0"/>
              <a:t>C'est le stockage permanent du </a:t>
            </a:r>
            <a:r>
              <a:rPr lang="fr-FR" dirty="0" err="1"/>
              <a:t>micro-contrôleur</a:t>
            </a:r>
            <a:endParaRPr lang="fr-FR" dirty="0"/>
          </a:p>
          <a:p>
            <a:r>
              <a:rPr lang="fr-FR" dirty="0"/>
              <a:t>Ce programme en C++</a:t>
            </a:r>
          </a:p>
          <a:p>
            <a:pPr lvl="1"/>
            <a:r>
              <a:rPr lang="fr-FR" dirty="0"/>
              <a:t>Puis en </a:t>
            </a:r>
            <a:r>
              <a:rPr lang="fr-FR" dirty="0" err="1"/>
              <a:t>MicroPython</a:t>
            </a:r>
            <a:endParaRPr lang="fr-FR" dirty="0"/>
          </a:p>
        </p:txBody>
      </p:sp>
    </p:spTree>
    <p:extLst>
      <p:ext uri="{BB962C8B-B14F-4D97-AF65-F5344CB8AC3E}">
        <p14:creationId xmlns:p14="http://schemas.microsoft.com/office/powerpoint/2010/main" val="30307309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204081-0738-FD9A-8BE4-05B5D24AF95C}"/>
              </a:ext>
            </a:extLst>
          </p:cNvPr>
          <p:cNvSpPr>
            <a:spLocks noGrp="1"/>
          </p:cNvSpPr>
          <p:nvPr>
            <p:ph type="title"/>
          </p:nvPr>
        </p:nvSpPr>
        <p:spPr/>
        <p:txBody>
          <a:bodyPr/>
          <a:lstStyle/>
          <a:p>
            <a:r>
              <a:rPr lang="fr-FR" dirty="0"/>
              <a:t>Objectif</a:t>
            </a:r>
          </a:p>
        </p:txBody>
      </p:sp>
      <p:sp>
        <p:nvSpPr>
          <p:cNvPr id="3" name="Espace réservé du contenu 2">
            <a:extLst>
              <a:ext uri="{FF2B5EF4-FFF2-40B4-BE49-F238E27FC236}">
                <a16:creationId xmlns:a16="http://schemas.microsoft.com/office/drawing/2014/main" id="{37806DAA-4F50-BB0F-4DB4-196DD2C341E1}"/>
              </a:ext>
            </a:extLst>
          </p:cNvPr>
          <p:cNvSpPr>
            <a:spLocks noGrp="1"/>
          </p:cNvSpPr>
          <p:nvPr>
            <p:ph idx="1"/>
          </p:nvPr>
        </p:nvSpPr>
        <p:spPr/>
        <p:txBody>
          <a:bodyPr/>
          <a:lstStyle/>
          <a:p>
            <a:r>
              <a:rPr lang="fr-FR" dirty="0"/>
              <a:t>L'embarqué</a:t>
            </a:r>
          </a:p>
          <a:p>
            <a:r>
              <a:rPr lang="fr-FR" dirty="0"/>
              <a:t>La faible consommation électrique</a:t>
            </a:r>
          </a:p>
          <a:p>
            <a:r>
              <a:rPr lang="fr-FR" dirty="0"/>
              <a:t>Le tout en 1</a:t>
            </a:r>
          </a:p>
          <a:p>
            <a:r>
              <a:rPr lang="fr-FR" dirty="0"/>
              <a:t>Le cout très faible</a:t>
            </a:r>
          </a:p>
        </p:txBody>
      </p:sp>
      <p:pic>
        <p:nvPicPr>
          <p:cNvPr id="1026" name="Picture 2">
            <a:extLst>
              <a:ext uri="{FF2B5EF4-FFF2-40B4-BE49-F238E27FC236}">
                <a16:creationId xmlns:a16="http://schemas.microsoft.com/office/drawing/2014/main" id="{3D39C61C-EA38-2A00-4004-504491407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573016"/>
            <a:ext cx="5200650"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5339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F2C7B4-4678-5CDA-8738-40F365C6E914}"/>
              </a:ext>
            </a:extLst>
          </p:cNvPr>
          <p:cNvSpPr>
            <a:spLocks noGrp="1"/>
          </p:cNvSpPr>
          <p:nvPr>
            <p:ph type="title"/>
          </p:nvPr>
        </p:nvSpPr>
        <p:spPr/>
        <p:txBody>
          <a:bodyPr/>
          <a:lstStyle/>
          <a:p>
            <a:r>
              <a:rPr lang="fr-FR" dirty="0"/>
              <a:t>La famille des </a:t>
            </a:r>
            <a:r>
              <a:rPr lang="fr-FR" dirty="0" err="1"/>
              <a:t>micro-contrôleurs</a:t>
            </a:r>
            <a:endParaRPr lang="fr-FR" dirty="0"/>
          </a:p>
        </p:txBody>
      </p:sp>
      <p:sp>
        <p:nvSpPr>
          <p:cNvPr id="3" name="Espace réservé du contenu 2">
            <a:extLst>
              <a:ext uri="{FF2B5EF4-FFF2-40B4-BE49-F238E27FC236}">
                <a16:creationId xmlns:a16="http://schemas.microsoft.com/office/drawing/2014/main" id="{7FB85AC3-2B0A-7E9C-419B-2453317D08CA}"/>
              </a:ext>
            </a:extLst>
          </p:cNvPr>
          <p:cNvSpPr>
            <a:spLocks noGrp="1"/>
          </p:cNvSpPr>
          <p:nvPr>
            <p:ph idx="1"/>
          </p:nvPr>
        </p:nvSpPr>
        <p:spPr/>
        <p:txBody>
          <a:bodyPr/>
          <a:lstStyle/>
          <a:p>
            <a:r>
              <a:rPr lang="fr-FR" sz="2000" dirty="0" err="1"/>
              <a:t>Atmel</a:t>
            </a:r>
            <a:r>
              <a:rPr lang="fr-FR" sz="2000" dirty="0"/>
              <a:t> AT91 et AVR (Arduino)</a:t>
            </a:r>
          </a:p>
          <a:p>
            <a:r>
              <a:rPr lang="fr-FR" sz="2000" dirty="0"/>
              <a:t>ARM Cortex-M et ARM Cortex-R (Téléphonie)</a:t>
            </a:r>
          </a:p>
          <a:p>
            <a:r>
              <a:rPr lang="fr-FR" sz="2000" dirty="0"/>
              <a:t>C167 de Siemens/</a:t>
            </a:r>
            <a:r>
              <a:rPr lang="fr-FR" sz="2000" dirty="0" err="1"/>
              <a:t>Infineon</a:t>
            </a:r>
            <a:endParaRPr lang="fr-FR" sz="2000" dirty="0"/>
          </a:p>
          <a:p>
            <a:r>
              <a:rPr lang="fr-FR" sz="2000" dirty="0" err="1"/>
              <a:t>Infineon</a:t>
            </a:r>
            <a:r>
              <a:rPr lang="fr-FR" sz="2000" dirty="0"/>
              <a:t> AURIX, </a:t>
            </a:r>
            <a:r>
              <a:rPr lang="fr-FR" sz="2000" dirty="0" err="1"/>
              <a:t>TriCore</a:t>
            </a:r>
            <a:r>
              <a:rPr lang="fr-FR" sz="2000" dirty="0"/>
              <a:t>, XMC, XC2000</a:t>
            </a:r>
          </a:p>
          <a:p>
            <a:r>
              <a:rPr lang="fr-FR" sz="2000" dirty="0"/>
              <a:t>Hitachi H8</a:t>
            </a:r>
          </a:p>
          <a:p>
            <a:r>
              <a:rPr lang="fr-FR" sz="2000" dirty="0"/>
              <a:t>Intel 8051 &amp; 8085, héritier des 8088 et 8086</a:t>
            </a:r>
          </a:p>
          <a:p>
            <a:r>
              <a:rPr lang="fr-FR" sz="2000" dirty="0"/>
              <a:t>le </a:t>
            </a:r>
            <a:r>
              <a:rPr lang="fr-FR" sz="2000" dirty="0" err="1"/>
              <a:t>Freescale</a:t>
            </a:r>
            <a:r>
              <a:rPr lang="fr-FR" sz="2000" dirty="0"/>
              <a:t> 68HC11, 68HC08, 68HC12, </a:t>
            </a:r>
            <a:r>
              <a:rPr lang="fr-FR" sz="2000" dirty="0" err="1"/>
              <a:t>Qorivva</a:t>
            </a:r>
            <a:r>
              <a:rPr lang="fr-FR" sz="2000" dirty="0"/>
              <a:t> MPC5XXX</a:t>
            </a:r>
          </a:p>
          <a:p>
            <a:r>
              <a:rPr lang="fr-FR" sz="2000" dirty="0"/>
              <a:t>PIC et </a:t>
            </a:r>
            <a:r>
              <a:rPr lang="fr-FR" sz="2000" dirty="0" err="1"/>
              <a:t>dsPIC</a:t>
            </a:r>
            <a:r>
              <a:rPr lang="fr-FR" sz="2000" dirty="0"/>
              <a:t> de </a:t>
            </a:r>
            <a:r>
              <a:rPr lang="fr-FR" sz="2000" dirty="0" err="1"/>
              <a:t>Microchip</a:t>
            </a:r>
            <a:endParaRPr lang="fr-FR" sz="2000" dirty="0"/>
          </a:p>
          <a:p>
            <a:r>
              <a:rPr lang="fr-FR" sz="2000" dirty="0" err="1"/>
              <a:t>ADuC</a:t>
            </a:r>
            <a:r>
              <a:rPr lang="fr-FR" sz="2000" dirty="0"/>
              <a:t> d'</a:t>
            </a:r>
            <a:r>
              <a:rPr lang="fr-FR" sz="2000" dirty="0" err="1"/>
              <a:t>Analog</a:t>
            </a:r>
            <a:r>
              <a:rPr lang="fr-FR" sz="2000" dirty="0"/>
              <a:t> </a:t>
            </a:r>
            <a:r>
              <a:rPr lang="fr-FR" sz="2000" dirty="0" err="1"/>
              <a:t>Devices</a:t>
            </a:r>
            <a:endParaRPr lang="fr-FR" sz="2000" dirty="0"/>
          </a:p>
          <a:p>
            <a:r>
              <a:rPr lang="fr-FR" sz="2000" dirty="0"/>
              <a:t>MSP430 de Texas Instruments</a:t>
            </a:r>
          </a:p>
          <a:p>
            <a:r>
              <a:rPr lang="fr-FR" sz="2000" dirty="0" err="1"/>
              <a:t>Zilog</a:t>
            </a:r>
            <a:r>
              <a:rPr lang="fr-FR" sz="2000" dirty="0"/>
              <a:t> Z80 et 8080</a:t>
            </a:r>
          </a:p>
          <a:p>
            <a:r>
              <a:rPr lang="fr-FR" sz="2000" dirty="0" err="1"/>
              <a:t>PSoC</a:t>
            </a:r>
            <a:r>
              <a:rPr lang="fr-FR" sz="2000" dirty="0"/>
              <a:t> de </a:t>
            </a:r>
            <a:r>
              <a:rPr lang="fr-FR" sz="2000" dirty="0" err="1"/>
              <a:t>Cypress</a:t>
            </a:r>
            <a:r>
              <a:rPr lang="fr-FR" sz="2000" dirty="0"/>
              <a:t> </a:t>
            </a:r>
            <a:r>
              <a:rPr lang="fr-FR" sz="2000" dirty="0" err="1"/>
              <a:t>Semiconductor</a:t>
            </a:r>
            <a:endParaRPr lang="fr-FR" sz="2000" dirty="0"/>
          </a:p>
          <a:p>
            <a:r>
              <a:rPr lang="fr-FR" sz="2000" dirty="0"/>
              <a:t>V800 et K0 de NEC</a:t>
            </a:r>
          </a:p>
        </p:txBody>
      </p:sp>
    </p:spTree>
    <p:extLst>
      <p:ext uri="{BB962C8B-B14F-4D97-AF65-F5344CB8AC3E}">
        <p14:creationId xmlns:p14="http://schemas.microsoft.com/office/powerpoint/2010/main" val="1660956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32FF3B-478A-30E9-207B-DA36487A9D8E}"/>
              </a:ext>
            </a:extLst>
          </p:cNvPr>
          <p:cNvSpPr>
            <a:spLocks noGrp="1"/>
          </p:cNvSpPr>
          <p:nvPr>
            <p:ph type="title"/>
          </p:nvPr>
        </p:nvSpPr>
        <p:spPr/>
        <p:txBody>
          <a:bodyPr/>
          <a:lstStyle/>
          <a:p>
            <a:r>
              <a:rPr lang="fr-FR" dirty="0"/>
              <a:t>ST </a:t>
            </a:r>
            <a:r>
              <a:rPr lang="fr-FR" dirty="0" err="1"/>
              <a:t>Microelectronics</a:t>
            </a:r>
            <a:endParaRPr lang="fr-FR" dirty="0"/>
          </a:p>
        </p:txBody>
      </p:sp>
      <p:sp>
        <p:nvSpPr>
          <p:cNvPr id="3" name="Espace réservé du contenu 2">
            <a:extLst>
              <a:ext uri="{FF2B5EF4-FFF2-40B4-BE49-F238E27FC236}">
                <a16:creationId xmlns:a16="http://schemas.microsoft.com/office/drawing/2014/main" id="{850CFCA0-2DAC-B3CB-C550-53395C9BCF9E}"/>
              </a:ext>
            </a:extLst>
          </p:cNvPr>
          <p:cNvSpPr>
            <a:spLocks noGrp="1"/>
          </p:cNvSpPr>
          <p:nvPr>
            <p:ph idx="1"/>
          </p:nvPr>
        </p:nvSpPr>
        <p:spPr/>
        <p:txBody>
          <a:bodyPr/>
          <a:lstStyle/>
          <a:p>
            <a:r>
              <a:rPr lang="fr-FR" sz="2800" dirty="0"/>
              <a:t>la famille des ST6, ST7, ST8, ST10, STR7, STR9</a:t>
            </a:r>
          </a:p>
          <a:p>
            <a:r>
              <a:rPr lang="fr-FR" dirty="0"/>
              <a:t>Les STM8 et STM32</a:t>
            </a:r>
          </a:p>
        </p:txBody>
      </p:sp>
      <p:pic>
        <p:nvPicPr>
          <p:cNvPr id="5" name="Image 4">
            <a:extLst>
              <a:ext uri="{FF2B5EF4-FFF2-40B4-BE49-F238E27FC236}">
                <a16:creationId xmlns:a16="http://schemas.microsoft.com/office/drawing/2014/main" id="{B85AD4EE-9692-79BD-03C7-8F4034B5421B}"/>
              </a:ext>
            </a:extLst>
          </p:cNvPr>
          <p:cNvPicPr>
            <a:picLocks noChangeAspect="1"/>
          </p:cNvPicPr>
          <p:nvPr/>
        </p:nvPicPr>
        <p:blipFill>
          <a:blip r:embed="rId2"/>
          <a:stretch>
            <a:fillRect/>
          </a:stretch>
        </p:blipFill>
        <p:spPr>
          <a:xfrm>
            <a:off x="1937970" y="2564904"/>
            <a:ext cx="5268060" cy="3591426"/>
          </a:xfrm>
          <a:prstGeom prst="rect">
            <a:avLst/>
          </a:prstGeom>
        </p:spPr>
      </p:pic>
    </p:spTree>
    <p:extLst>
      <p:ext uri="{BB962C8B-B14F-4D97-AF65-F5344CB8AC3E}">
        <p14:creationId xmlns:p14="http://schemas.microsoft.com/office/powerpoint/2010/main" val="14135043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STM32</a:t>
            </a:r>
          </a:p>
        </p:txBody>
      </p:sp>
      <p:sp>
        <p:nvSpPr>
          <p:cNvPr id="3" name="Espace réservé du contenu 2"/>
          <p:cNvSpPr>
            <a:spLocks noGrp="1"/>
          </p:cNvSpPr>
          <p:nvPr>
            <p:ph idx="1"/>
          </p:nvPr>
        </p:nvSpPr>
        <p:spPr/>
        <p:txBody>
          <a:bodyPr/>
          <a:lstStyle/>
          <a:p>
            <a:r>
              <a:rPr lang="fr-FR" dirty="0" err="1"/>
              <a:t>Micro-contrôleur</a:t>
            </a:r>
            <a:endParaRPr lang="fr-FR" dirty="0"/>
          </a:p>
          <a:p>
            <a:r>
              <a:rPr lang="fr-FR" dirty="0"/>
              <a:t>ST </a:t>
            </a:r>
            <a:r>
              <a:rPr lang="fr-FR" dirty="0" err="1"/>
              <a:t>Microelectronics</a:t>
            </a:r>
            <a:endParaRPr lang="fr-FR" dirty="0"/>
          </a:p>
          <a:p>
            <a:r>
              <a:rPr lang="fr-FR" dirty="0"/>
              <a:t>2007</a:t>
            </a:r>
          </a:p>
          <a:p>
            <a:r>
              <a:rPr lang="fr-FR" dirty="0"/>
              <a:t>Compatible </a:t>
            </a:r>
            <a:r>
              <a:rPr lang="fr-FR" dirty="0" err="1"/>
              <a:t>MicroPython</a:t>
            </a:r>
            <a:endParaRPr lang="fr-FR" dirty="0"/>
          </a:p>
          <a:p>
            <a:r>
              <a:rPr lang="fr-FR" dirty="0"/>
              <a:t>32 bits</a:t>
            </a:r>
          </a:p>
          <a:p>
            <a:r>
              <a:rPr lang="fr-FR" dirty="0"/>
              <a:t>72 Mhz</a:t>
            </a:r>
          </a:p>
        </p:txBody>
      </p:sp>
      <p:pic>
        <p:nvPicPr>
          <p:cNvPr id="5" name="Picture 2" descr="https://upload.wikimedia.org/wikipedia/commons/thumb/b/b9/CD-CX10RFW_quadrotor_board_3.jpg/1024px-CD-CX10RFW_quadrotor_board_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4077072"/>
            <a:ext cx="3588699" cy="2018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2422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ATMel</a:t>
            </a:r>
            <a:endParaRPr lang="fr-FR" dirty="0"/>
          </a:p>
        </p:txBody>
      </p:sp>
      <p:sp>
        <p:nvSpPr>
          <p:cNvPr id="3" name="Espace réservé du contenu 2"/>
          <p:cNvSpPr>
            <a:spLocks noGrp="1"/>
          </p:cNvSpPr>
          <p:nvPr>
            <p:ph idx="1"/>
          </p:nvPr>
        </p:nvSpPr>
        <p:spPr/>
        <p:txBody>
          <a:bodyPr/>
          <a:lstStyle/>
          <a:p>
            <a:r>
              <a:rPr lang="fr-FR" dirty="0"/>
              <a:t>ATM</a:t>
            </a:r>
          </a:p>
          <a:p>
            <a:r>
              <a:rPr lang="fr-FR" dirty="0" err="1"/>
              <a:t>Micro-contrôleur</a:t>
            </a:r>
            <a:endParaRPr lang="fr-FR" dirty="0"/>
          </a:p>
          <a:p>
            <a:r>
              <a:rPr lang="fr-FR" dirty="0"/>
              <a:t>8 bits</a:t>
            </a:r>
          </a:p>
          <a:p>
            <a:r>
              <a:rPr lang="fr-FR" dirty="0"/>
              <a:t>20 Mhz</a:t>
            </a:r>
          </a:p>
          <a:p>
            <a:r>
              <a:rPr lang="fr-FR" dirty="0"/>
              <a:t>Très léger</a:t>
            </a:r>
          </a:p>
        </p:txBody>
      </p:sp>
      <p:pic>
        <p:nvPicPr>
          <p:cNvPr id="8196" name="Picture 4" descr="https://upload.wikimedia.org/wikipedia/commons/thumb/b/ba/ICIC-TQ32-X-K328-01_%2816421989932%29.jpg/1024px-ICIC-TQ32-X-K328-01_%2816421989932%2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996952"/>
            <a:ext cx="4704457" cy="3137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3444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77A7EB-D364-BB94-5429-69B633F3C273}"/>
              </a:ext>
            </a:extLst>
          </p:cNvPr>
          <p:cNvSpPr>
            <a:spLocks noGrp="1"/>
          </p:cNvSpPr>
          <p:nvPr>
            <p:ph type="title"/>
          </p:nvPr>
        </p:nvSpPr>
        <p:spPr/>
        <p:txBody>
          <a:bodyPr/>
          <a:lstStyle/>
          <a:p>
            <a:r>
              <a:rPr lang="fr-FR" dirty="0"/>
              <a:t>ESP32</a:t>
            </a:r>
          </a:p>
        </p:txBody>
      </p:sp>
      <p:sp>
        <p:nvSpPr>
          <p:cNvPr id="3" name="Espace réservé du contenu 2">
            <a:extLst>
              <a:ext uri="{FF2B5EF4-FFF2-40B4-BE49-F238E27FC236}">
                <a16:creationId xmlns:a16="http://schemas.microsoft.com/office/drawing/2014/main" id="{55EA646E-F902-8624-EF9C-6345C76560B7}"/>
              </a:ext>
            </a:extLst>
          </p:cNvPr>
          <p:cNvSpPr>
            <a:spLocks noGrp="1"/>
          </p:cNvSpPr>
          <p:nvPr>
            <p:ph idx="1"/>
          </p:nvPr>
        </p:nvSpPr>
        <p:spPr/>
        <p:txBody>
          <a:bodyPr/>
          <a:lstStyle/>
          <a:p>
            <a:r>
              <a:rPr lang="fr-FR" dirty="0" err="1"/>
              <a:t>Micro-contrôleur</a:t>
            </a:r>
            <a:endParaRPr lang="fr-FR" dirty="0"/>
          </a:p>
          <a:p>
            <a:r>
              <a:rPr lang="fr-FR" dirty="0"/>
              <a:t>Compatible </a:t>
            </a:r>
            <a:r>
              <a:rPr lang="fr-FR" dirty="0" err="1"/>
              <a:t>MicroPython</a:t>
            </a:r>
            <a:endParaRPr lang="fr-FR" dirty="0"/>
          </a:p>
          <a:p>
            <a:r>
              <a:rPr lang="fr-FR" dirty="0"/>
              <a:t>32 bits</a:t>
            </a:r>
          </a:p>
          <a:p>
            <a:r>
              <a:rPr lang="fr-FR" dirty="0"/>
              <a:t>Wifi + Bluetooth</a:t>
            </a:r>
          </a:p>
          <a:p>
            <a:pPr lvl="1"/>
            <a:r>
              <a:rPr lang="fr-FR" dirty="0"/>
              <a:t>Evolution de l'ESP8266 (sans BT)</a:t>
            </a:r>
          </a:p>
          <a:p>
            <a:endParaRPr lang="fr-FR" dirty="0"/>
          </a:p>
        </p:txBody>
      </p:sp>
      <p:pic>
        <p:nvPicPr>
          <p:cNvPr id="6" name="Image 5">
            <a:extLst>
              <a:ext uri="{FF2B5EF4-FFF2-40B4-BE49-F238E27FC236}">
                <a16:creationId xmlns:a16="http://schemas.microsoft.com/office/drawing/2014/main" id="{9373C721-8612-22A5-CD13-39AAD047A810}"/>
              </a:ext>
            </a:extLst>
          </p:cNvPr>
          <p:cNvPicPr>
            <a:picLocks noChangeAspect="1"/>
          </p:cNvPicPr>
          <p:nvPr/>
        </p:nvPicPr>
        <p:blipFill>
          <a:blip r:embed="rId2"/>
          <a:stretch>
            <a:fillRect/>
          </a:stretch>
        </p:blipFill>
        <p:spPr>
          <a:xfrm>
            <a:off x="6228184" y="3284984"/>
            <a:ext cx="2038635" cy="2800741"/>
          </a:xfrm>
          <a:prstGeom prst="rect">
            <a:avLst/>
          </a:prstGeom>
        </p:spPr>
      </p:pic>
    </p:spTree>
    <p:extLst>
      <p:ext uri="{BB962C8B-B14F-4D97-AF65-F5344CB8AC3E}">
        <p14:creationId xmlns:p14="http://schemas.microsoft.com/office/powerpoint/2010/main" val="25375590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F11685-6F24-A362-5F12-FE97A9E48E2A}"/>
              </a:ext>
            </a:extLst>
          </p:cNvPr>
          <p:cNvSpPr>
            <a:spLocks noGrp="1"/>
          </p:cNvSpPr>
          <p:nvPr>
            <p:ph type="title"/>
          </p:nvPr>
        </p:nvSpPr>
        <p:spPr/>
        <p:txBody>
          <a:bodyPr/>
          <a:lstStyle/>
          <a:p>
            <a:r>
              <a:rPr lang="fr-FR" dirty="0"/>
              <a:t>RP 2040</a:t>
            </a:r>
          </a:p>
        </p:txBody>
      </p:sp>
      <p:sp>
        <p:nvSpPr>
          <p:cNvPr id="3" name="Espace réservé du contenu 2">
            <a:extLst>
              <a:ext uri="{FF2B5EF4-FFF2-40B4-BE49-F238E27FC236}">
                <a16:creationId xmlns:a16="http://schemas.microsoft.com/office/drawing/2014/main" id="{84364AF8-7900-5D5C-CEC0-EED532C051DE}"/>
              </a:ext>
            </a:extLst>
          </p:cNvPr>
          <p:cNvSpPr>
            <a:spLocks noGrp="1"/>
          </p:cNvSpPr>
          <p:nvPr>
            <p:ph idx="1"/>
          </p:nvPr>
        </p:nvSpPr>
        <p:spPr>
          <a:xfrm>
            <a:off x="179513" y="1412776"/>
            <a:ext cx="4896544" cy="5040560"/>
          </a:xfrm>
        </p:spPr>
        <p:txBody>
          <a:bodyPr/>
          <a:lstStyle/>
          <a:p>
            <a:r>
              <a:rPr lang="fr-FR" dirty="0"/>
              <a:t>Technologie ARM</a:t>
            </a:r>
          </a:p>
          <a:p>
            <a:r>
              <a:rPr lang="fr-FR" dirty="0"/>
              <a:t>32 bits</a:t>
            </a:r>
          </a:p>
          <a:p>
            <a:r>
              <a:rPr lang="fr-FR" dirty="0"/>
              <a:t>Utilisé par RPI</a:t>
            </a:r>
          </a:p>
          <a:p>
            <a:r>
              <a:rPr lang="fr-FR" dirty="0"/>
              <a:t>La fondation Raspberry la seule à savoir faire à la fois un </a:t>
            </a:r>
            <a:r>
              <a:rPr lang="fr-FR" dirty="0" err="1"/>
              <a:t>SoC</a:t>
            </a:r>
            <a:r>
              <a:rPr lang="fr-FR" dirty="0"/>
              <a:t> et une </a:t>
            </a:r>
            <a:r>
              <a:rPr lang="fr-FR" dirty="0" err="1"/>
              <a:t>board</a:t>
            </a:r>
            <a:endParaRPr lang="fr-FR" dirty="0"/>
          </a:p>
        </p:txBody>
      </p:sp>
      <p:pic>
        <p:nvPicPr>
          <p:cNvPr id="2050" name="Picture 2">
            <a:extLst>
              <a:ext uri="{FF2B5EF4-FFF2-40B4-BE49-F238E27FC236}">
                <a16:creationId xmlns:a16="http://schemas.microsoft.com/office/drawing/2014/main" id="{A7CC06D7-3BB8-5747-B3C0-5B0AEBA06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2606" y="2132856"/>
            <a:ext cx="3869589" cy="3312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4288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F0B829-5CAE-FD92-2D3F-9705953C873B}"/>
              </a:ext>
            </a:extLst>
          </p:cNvPr>
          <p:cNvSpPr>
            <a:spLocks noGrp="1"/>
          </p:cNvSpPr>
          <p:nvPr>
            <p:ph type="title"/>
          </p:nvPr>
        </p:nvSpPr>
        <p:spPr/>
        <p:txBody>
          <a:bodyPr/>
          <a:lstStyle/>
          <a:p>
            <a:r>
              <a:rPr lang="fr-FR" dirty="0"/>
              <a:t>Les </a:t>
            </a:r>
            <a:r>
              <a:rPr lang="fr-FR" dirty="0" err="1"/>
              <a:t>Boards</a:t>
            </a:r>
            <a:endParaRPr lang="fr-FR" dirty="0"/>
          </a:p>
        </p:txBody>
      </p:sp>
      <p:sp>
        <p:nvSpPr>
          <p:cNvPr id="3" name="Espace réservé du contenu 2">
            <a:extLst>
              <a:ext uri="{FF2B5EF4-FFF2-40B4-BE49-F238E27FC236}">
                <a16:creationId xmlns:a16="http://schemas.microsoft.com/office/drawing/2014/main" id="{14B732A9-7476-A1B4-FAD8-8BF42DFE4691}"/>
              </a:ext>
            </a:extLst>
          </p:cNvPr>
          <p:cNvSpPr>
            <a:spLocks noGrp="1"/>
          </p:cNvSpPr>
          <p:nvPr>
            <p:ph idx="1"/>
          </p:nvPr>
        </p:nvSpPr>
        <p:spPr/>
        <p:txBody>
          <a:bodyPr/>
          <a:lstStyle/>
          <a:p>
            <a:r>
              <a:rPr lang="fr-FR" dirty="0"/>
              <a:t>Afin d'utiliser un </a:t>
            </a:r>
            <a:r>
              <a:rPr lang="fr-FR" dirty="0" err="1"/>
              <a:t>SoC</a:t>
            </a:r>
            <a:r>
              <a:rPr lang="fr-FR" dirty="0"/>
              <a:t> il faut une carte mère (PCB) appelée </a:t>
            </a:r>
            <a:r>
              <a:rPr lang="fr-FR" dirty="0" err="1"/>
              <a:t>Board</a:t>
            </a:r>
            <a:endParaRPr lang="fr-FR" dirty="0"/>
          </a:p>
          <a:p>
            <a:r>
              <a:rPr lang="fr-FR" dirty="0"/>
              <a:t>STM à été l'inventeur du principe avec la </a:t>
            </a:r>
            <a:r>
              <a:rPr lang="fr-FR" dirty="0" err="1"/>
              <a:t>Nucleo</a:t>
            </a:r>
            <a:endParaRPr lang="fr-FR" dirty="0"/>
          </a:p>
          <a:p>
            <a:pPr lvl="1"/>
            <a:r>
              <a:rPr lang="fr-FR" dirty="0"/>
              <a:t>Propriétaire</a:t>
            </a:r>
          </a:p>
          <a:p>
            <a:r>
              <a:rPr lang="fr-FR" dirty="0"/>
              <a:t>Arduino a été le premier à le faire en libre</a:t>
            </a:r>
          </a:p>
        </p:txBody>
      </p:sp>
    </p:spTree>
    <p:extLst>
      <p:ext uri="{BB962C8B-B14F-4D97-AF65-F5344CB8AC3E}">
        <p14:creationId xmlns:p14="http://schemas.microsoft.com/office/powerpoint/2010/main" val="4016892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Arduino</a:t>
            </a:r>
            <a:endParaRPr lang="fr-FR" dirty="0"/>
          </a:p>
        </p:txBody>
      </p:sp>
      <p:sp>
        <p:nvSpPr>
          <p:cNvPr id="3" name="Espace réservé du contenu 2"/>
          <p:cNvSpPr>
            <a:spLocks noGrp="1"/>
          </p:cNvSpPr>
          <p:nvPr>
            <p:ph idx="1"/>
          </p:nvPr>
        </p:nvSpPr>
        <p:spPr/>
        <p:txBody>
          <a:bodyPr/>
          <a:lstStyle/>
          <a:p>
            <a:r>
              <a:rPr lang="fr-FR" dirty="0"/>
              <a:t>Arduino est un projet libre de </a:t>
            </a:r>
            <a:r>
              <a:rPr lang="fr-FR" dirty="0" err="1"/>
              <a:t>micro-contrôleur</a:t>
            </a:r>
            <a:r>
              <a:rPr lang="fr-FR" dirty="0"/>
              <a:t> avec </a:t>
            </a:r>
            <a:r>
              <a:rPr lang="fr-FR" dirty="0" err="1"/>
              <a:t>board</a:t>
            </a:r>
            <a:endParaRPr lang="fr-FR" dirty="0"/>
          </a:p>
          <a:p>
            <a:pPr lvl="1"/>
            <a:r>
              <a:rPr lang="fr-FR" dirty="0"/>
              <a:t>Hardware</a:t>
            </a:r>
          </a:p>
          <a:p>
            <a:pPr lvl="1"/>
            <a:r>
              <a:rPr lang="fr-FR" dirty="0" err="1"/>
              <a:t>Sofware</a:t>
            </a:r>
            <a:endParaRPr lang="fr-FR" dirty="0"/>
          </a:p>
          <a:p>
            <a:pPr lvl="1"/>
            <a:r>
              <a:rPr lang="fr-FR" dirty="0"/>
              <a:t>Pas d'OS</a:t>
            </a:r>
          </a:p>
          <a:p>
            <a:r>
              <a:rPr lang="fr-FR" dirty="0"/>
              <a:t>Arduino.cc</a:t>
            </a:r>
          </a:p>
          <a:p>
            <a:r>
              <a:rPr lang="fr-FR" dirty="0"/>
              <a:t>Basé sur ATM</a:t>
            </a:r>
          </a:p>
        </p:txBody>
      </p:sp>
      <p:pic>
        <p:nvPicPr>
          <p:cNvPr id="4" name="Image 3"/>
          <p:cNvPicPr>
            <a:picLocks noChangeAspect="1"/>
          </p:cNvPicPr>
          <p:nvPr/>
        </p:nvPicPr>
        <p:blipFill>
          <a:blip r:embed="rId2"/>
          <a:stretch>
            <a:fillRect/>
          </a:stretch>
        </p:blipFill>
        <p:spPr>
          <a:xfrm>
            <a:off x="4211960" y="135970"/>
            <a:ext cx="1728192" cy="1305469"/>
          </a:xfrm>
          <a:prstGeom prst="rect">
            <a:avLst/>
          </a:prstGeom>
        </p:spPr>
      </p:pic>
    </p:spTree>
    <p:extLst>
      <p:ext uri="{BB962C8B-B14F-4D97-AF65-F5344CB8AC3E}">
        <p14:creationId xmlns:p14="http://schemas.microsoft.com/office/powerpoint/2010/main" val="23977870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Arduino</a:t>
            </a:r>
            <a:r>
              <a:rPr lang="fr-FR" dirty="0"/>
              <a:t> UNO</a:t>
            </a:r>
          </a:p>
        </p:txBody>
      </p:sp>
      <p:sp>
        <p:nvSpPr>
          <p:cNvPr id="3" name="Espace réservé du contenu 2"/>
          <p:cNvSpPr>
            <a:spLocks noGrp="1"/>
          </p:cNvSpPr>
          <p:nvPr>
            <p:ph idx="1"/>
          </p:nvPr>
        </p:nvSpPr>
        <p:spPr/>
        <p:txBody>
          <a:bodyPr/>
          <a:lstStyle/>
          <a:p>
            <a:r>
              <a:rPr lang="fr-FR" dirty="0" err="1"/>
              <a:t>Arduino</a:t>
            </a:r>
            <a:r>
              <a:rPr lang="fr-FR" dirty="0"/>
              <a:t> </a:t>
            </a:r>
            <a:r>
              <a:rPr lang="fr-FR" dirty="0" err="1"/>
              <a:t>Uno</a:t>
            </a:r>
            <a:r>
              <a:rPr lang="fr-FR" dirty="0"/>
              <a:t> est le produit phare d'</a:t>
            </a:r>
            <a:r>
              <a:rPr lang="fr-FR" dirty="0" err="1"/>
              <a:t>Arduino</a:t>
            </a:r>
            <a:endParaRPr lang="fr-FR" dirty="0"/>
          </a:p>
          <a:p>
            <a:r>
              <a:rPr lang="fr-FR" dirty="0"/>
              <a:t>Contrôleur ATmega328P</a:t>
            </a:r>
          </a:p>
          <a:p>
            <a:r>
              <a:rPr lang="fr-FR" dirty="0"/>
              <a:t>Flash : 32Ko</a:t>
            </a:r>
          </a:p>
          <a:p>
            <a:r>
              <a:rPr lang="fr-FR" dirty="0"/>
              <a:t>SRRAM : 2Ko</a:t>
            </a:r>
          </a:p>
          <a:p>
            <a:r>
              <a:rPr lang="fr-FR" dirty="0"/>
              <a:t>20 MHz en 8 bits</a:t>
            </a:r>
          </a:p>
          <a:p>
            <a:endParaRPr lang="fr-FR" dirty="0"/>
          </a:p>
        </p:txBody>
      </p:sp>
      <p:pic>
        <p:nvPicPr>
          <p:cNvPr id="4" name="Picture 2" descr="Arduino Bo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4293096"/>
            <a:ext cx="2419350" cy="172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345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STM32 </a:t>
            </a:r>
            <a:r>
              <a:rPr lang="fr-FR" dirty="0" err="1"/>
              <a:t>Nucleo</a:t>
            </a:r>
            <a:endParaRPr lang="fr-FR" dirty="0"/>
          </a:p>
        </p:txBody>
      </p:sp>
      <p:sp>
        <p:nvSpPr>
          <p:cNvPr id="3" name="Espace réservé du contenu 2"/>
          <p:cNvSpPr>
            <a:spLocks noGrp="1"/>
          </p:cNvSpPr>
          <p:nvPr>
            <p:ph idx="1"/>
          </p:nvPr>
        </p:nvSpPr>
        <p:spPr/>
        <p:txBody>
          <a:bodyPr/>
          <a:lstStyle/>
          <a:p>
            <a:r>
              <a:rPr lang="fr-FR" dirty="0"/>
              <a:t>Contrôleur STM32</a:t>
            </a:r>
          </a:p>
          <a:p>
            <a:r>
              <a:rPr lang="fr-FR" dirty="0"/>
              <a:t>72MHz en 32 bits</a:t>
            </a:r>
          </a:p>
          <a:p>
            <a:endParaRPr lang="fr-FR" dirty="0"/>
          </a:p>
        </p:txBody>
      </p:sp>
      <p:pic>
        <p:nvPicPr>
          <p:cNvPr id="5" name="Image 4"/>
          <p:cNvPicPr>
            <a:picLocks noChangeAspect="1"/>
          </p:cNvPicPr>
          <p:nvPr/>
        </p:nvPicPr>
        <p:blipFill>
          <a:blip r:embed="rId2"/>
          <a:stretch>
            <a:fillRect/>
          </a:stretch>
        </p:blipFill>
        <p:spPr>
          <a:xfrm>
            <a:off x="4716016" y="2348880"/>
            <a:ext cx="3933825" cy="2952750"/>
          </a:xfrm>
          <a:prstGeom prst="rect">
            <a:avLst/>
          </a:prstGeom>
        </p:spPr>
      </p:pic>
    </p:spTree>
    <p:extLst>
      <p:ext uri="{BB962C8B-B14F-4D97-AF65-F5344CB8AC3E}">
        <p14:creationId xmlns:p14="http://schemas.microsoft.com/office/powerpoint/2010/main" val="17207821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955F89-1FD9-F824-D485-2E9573B5C7A7}"/>
              </a:ext>
            </a:extLst>
          </p:cNvPr>
          <p:cNvSpPr>
            <a:spLocks noGrp="1"/>
          </p:cNvSpPr>
          <p:nvPr>
            <p:ph type="title"/>
          </p:nvPr>
        </p:nvSpPr>
        <p:spPr/>
        <p:txBody>
          <a:bodyPr/>
          <a:lstStyle/>
          <a:p>
            <a:r>
              <a:rPr lang="fr-FR" dirty="0" err="1"/>
              <a:t>PyBoard</a:t>
            </a:r>
            <a:endParaRPr lang="fr-FR" dirty="0"/>
          </a:p>
        </p:txBody>
      </p:sp>
      <p:sp>
        <p:nvSpPr>
          <p:cNvPr id="3" name="Espace réservé du contenu 2">
            <a:extLst>
              <a:ext uri="{FF2B5EF4-FFF2-40B4-BE49-F238E27FC236}">
                <a16:creationId xmlns:a16="http://schemas.microsoft.com/office/drawing/2014/main" id="{D3C4988E-1BAE-7F9B-151B-CC68F9948A3E}"/>
              </a:ext>
            </a:extLst>
          </p:cNvPr>
          <p:cNvSpPr>
            <a:spLocks noGrp="1"/>
          </p:cNvSpPr>
          <p:nvPr>
            <p:ph idx="1"/>
          </p:nvPr>
        </p:nvSpPr>
        <p:spPr/>
        <p:txBody>
          <a:bodyPr/>
          <a:lstStyle/>
          <a:p>
            <a:r>
              <a:rPr lang="fr-FR" dirty="0"/>
              <a:t>STM32</a:t>
            </a:r>
          </a:p>
          <a:p>
            <a:r>
              <a:rPr lang="fr-FR" dirty="0"/>
              <a:t>Tout intégré</a:t>
            </a:r>
          </a:p>
          <a:p>
            <a:r>
              <a:rPr lang="fr-FR" dirty="0"/>
              <a:t>Carte d'apprentissage</a:t>
            </a:r>
          </a:p>
          <a:p>
            <a:endParaRPr lang="fr-FR" dirty="0"/>
          </a:p>
        </p:txBody>
      </p:sp>
      <p:pic>
        <p:nvPicPr>
          <p:cNvPr id="5" name="Image 4">
            <a:extLst>
              <a:ext uri="{FF2B5EF4-FFF2-40B4-BE49-F238E27FC236}">
                <a16:creationId xmlns:a16="http://schemas.microsoft.com/office/drawing/2014/main" id="{147C0C66-6DB9-F539-B2BB-203FCAE58841}"/>
              </a:ext>
            </a:extLst>
          </p:cNvPr>
          <p:cNvPicPr>
            <a:picLocks noChangeAspect="1"/>
          </p:cNvPicPr>
          <p:nvPr/>
        </p:nvPicPr>
        <p:blipFill>
          <a:blip r:embed="rId2"/>
          <a:stretch>
            <a:fillRect/>
          </a:stretch>
        </p:blipFill>
        <p:spPr>
          <a:xfrm>
            <a:off x="2771800" y="3068960"/>
            <a:ext cx="4096322" cy="3010320"/>
          </a:xfrm>
          <a:prstGeom prst="rect">
            <a:avLst/>
          </a:prstGeom>
        </p:spPr>
      </p:pic>
    </p:spTree>
    <p:extLst>
      <p:ext uri="{BB962C8B-B14F-4D97-AF65-F5344CB8AC3E}">
        <p14:creationId xmlns:p14="http://schemas.microsoft.com/office/powerpoint/2010/main" val="28240606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AD25C8-063A-4AB3-7D2D-7D2A85D853C3}"/>
              </a:ext>
            </a:extLst>
          </p:cNvPr>
          <p:cNvSpPr>
            <a:spLocks noGrp="1"/>
          </p:cNvSpPr>
          <p:nvPr>
            <p:ph type="title"/>
          </p:nvPr>
        </p:nvSpPr>
        <p:spPr/>
        <p:txBody>
          <a:bodyPr/>
          <a:lstStyle/>
          <a:p>
            <a:r>
              <a:rPr lang="fr-FR" dirty="0" err="1"/>
              <a:t>Raspbery</a:t>
            </a:r>
            <a:r>
              <a:rPr lang="fr-FR" dirty="0"/>
              <a:t> Pi Pico</a:t>
            </a:r>
          </a:p>
        </p:txBody>
      </p:sp>
      <p:sp>
        <p:nvSpPr>
          <p:cNvPr id="3" name="Espace réservé du contenu 2">
            <a:extLst>
              <a:ext uri="{FF2B5EF4-FFF2-40B4-BE49-F238E27FC236}">
                <a16:creationId xmlns:a16="http://schemas.microsoft.com/office/drawing/2014/main" id="{90C06EB8-E28D-C8AD-C823-4E5D2C2D581B}"/>
              </a:ext>
            </a:extLst>
          </p:cNvPr>
          <p:cNvSpPr>
            <a:spLocks noGrp="1"/>
          </p:cNvSpPr>
          <p:nvPr>
            <p:ph idx="1"/>
          </p:nvPr>
        </p:nvSpPr>
        <p:spPr/>
        <p:txBody>
          <a:bodyPr/>
          <a:lstStyle/>
          <a:p>
            <a:r>
              <a:rPr lang="fr-FR" dirty="0"/>
              <a:t>ARM RP2040</a:t>
            </a:r>
          </a:p>
          <a:p>
            <a:r>
              <a:rPr lang="fr-FR" dirty="0"/>
              <a:t>Double cœur</a:t>
            </a:r>
          </a:p>
          <a:p>
            <a:r>
              <a:rPr lang="fr-FR" dirty="0"/>
              <a:t>133 MHz en 32 bits</a:t>
            </a:r>
          </a:p>
          <a:p>
            <a:r>
              <a:rPr lang="fr-FR" dirty="0"/>
              <a:t>2Mo RAM</a:t>
            </a:r>
          </a:p>
          <a:p>
            <a:r>
              <a:rPr lang="fr-FR" dirty="0"/>
              <a:t>264Mo SRAM</a:t>
            </a:r>
          </a:p>
          <a:p>
            <a:r>
              <a:rPr lang="fr-FR" dirty="0"/>
              <a:t>Présence d'un GPIO</a:t>
            </a:r>
          </a:p>
          <a:p>
            <a:r>
              <a:rPr lang="fr-FR" dirty="0"/>
              <a:t>Compatible </a:t>
            </a:r>
            <a:r>
              <a:rPr lang="fr-FR" dirty="0" err="1"/>
              <a:t>Micropython</a:t>
            </a:r>
            <a:endParaRPr lang="fr-FR" dirty="0"/>
          </a:p>
        </p:txBody>
      </p:sp>
      <p:pic>
        <p:nvPicPr>
          <p:cNvPr id="5" name="Image 4">
            <a:extLst>
              <a:ext uri="{FF2B5EF4-FFF2-40B4-BE49-F238E27FC236}">
                <a16:creationId xmlns:a16="http://schemas.microsoft.com/office/drawing/2014/main" id="{5830919C-8D18-4937-D68F-84665287E8D0}"/>
              </a:ext>
            </a:extLst>
          </p:cNvPr>
          <p:cNvPicPr>
            <a:picLocks noChangeAspect="1"/>
          </p:cNvPicPr>
          <p:nvPr/>
        </p:nvPicPr>
        <p:blipFill>
          <a:blip r:embed="rId2"/>
          <a:stretch>
            <a:fillRect/>
          </a:stretch>
        </p:blipFill>
        <p:spPr>
          <a:xfrm>
            <a:off x="4932040" y="2294527"/>
            <a:ext cx="3400900" cy="1638529"/>
          </a:xfrm>
          <a:prstGeom prst="rect">
            <a:avLst/>
          </a:prstGeom>
        </p:spPr>
      </p:pic>
    </p:spTree>
    <p:extLst>
      <p:ext uri="{BB962C8B-B14F-4D97-AF65-F5344CB8AC3E}">
        <p14:creationId xmlns:p14="http://schemas.microsoft.com/office/powerpoint/2010/main" val="28585075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323423-2EE3-85B0-9916-1A44C06ECBDB}"/>
              </a:ext>
            </a:extLst>
          </p:cNvPr>
          <p:cNvSpPr>
            <a:spLocks noGrp="1"/>
          </p:cNvSpPr>
          <p:nvPr>
            <p:ph type="title"/>
          </p:nvPr>
        </p:nvSpPr>
        <p:spPr/>
        <p:txBody>
          <a:bodyPr/>
          <a:lstStyle/>
          <a:p>
            <a:r>
              <a:rPr lang="fr-FR" dirty="0"/>
              <a:t>ESP32</a:t>
            </a:r>
          </a:p>
        </p:txBody>
      </p:sp>
      <p:sp>
        <p:nvSpPr>
          <p:cNvPr id="3" name="Espace réservé du contenu 2">
            <a:extLst>
              <a:ext uri="{FF2B5EF4-FFF2-40B4-BE49-F238E27FC236}">
                <a16:creationId xmlns:a16="http://schemas.microsoft.com/office/drawing/2014/main" id="{FD5CE7E3-C88E-FC93-2A3C-035EE278464E}"/>
              </a:ext>
            </a:extLst>
          </p:cNvPr>
          <p:cNvSpPr>
            <a:spLocks noGrp="1"/>
          </p:cNvSpPr>
          <p:nvPr>
            <p:ph idx="1"/>
          </p:nvPr>
        </p:nvSpPr>
        <p:spPr/>
        <p:txBody>
          <a:bodyPr/>
          <a:lstStyle/>
          <a:p>
            <a:r>
              <a:rPr lang="fr-FR" dirty="0" err="1"/>
              <a:t>Xtensa</a:t>
            </a:r>
            <a:r>
              <a:rPr lang="fr-FR" dirty="0"/>
              <a:t> 240MHz double cœurs</a:t>
            </a:r>
          </a:p>
          <a:p>
            <a:r>
              <a:rPr lang="fr-FR" dirty="0"/>
              <a:t>120Ko RAM</a:t>
            </a:r>
          </a:p>
          <a:p>
            <a:r>
              <a:rPr lang="fr-FR" dirty="0"/>
              <a:t>4Mo </a:t>
            </a:r>
            <a:r>
              <a:rPr lang="fr-FR"/>
              <a:t>SRAM facultatif</a:t>
            </a:r>
            <a:endParaRPr lang="fr-FR" dirty="0"/>
          </a:p>
          <a:p>
            <a:r>
              <a:rPr lang="fr-FR" dirty="0"/>
              <a:t>Wifi</a:t>
            </a:r>
          </a:p>
          <a:p>
            <a:r>
              <a:rPr lang="fr-FR" dirty="0"/>
              <a:t>Bluetooth LE</a:t>
            </a:r>
          </a:p>
          <a:p>
            <a:endParaRPr lang="fr-FR" dirty="0"/>
          </a:p>
        </p:txBody>
      </p:sp>
      <p:pic>
        <p:nvPicPr>
          <p:cNvPr id="5" name="Image 4">
            <a:extLst>
              <a:ext uri="{FF2B5EF4-FFF2-40B4-BE49-F238E27FC236}">
                <a16:creationId xmlns:a16="http://schemas.microsoft.com/office/drawing/2014/main" id="{3E8BCC00-7AF4-F12E-F54A-B720E762668D}"/>
              </a:ext>
            </a:extLst>
          </p:cNvPr>
          <p:cNvPicPr>
            <a:picLocks noChangeAspect="1"/>
          </p:cNvPicPr>
          <p:nvPr/>
        </p:nvPicPr>
        <p:blipFill>
          <a:blip r:embed="rId2"/>
          <a:stretch>
            <a:fillRect/>
          </a:stretch>
        </p:blipFill>
        <p:spPr>
          <a:xfrm>
            <a:off x="6300192" y="1844824"/>
            <a:ext cx="2305372" cy="3829584"/>
          </a:xfrm>
          <a:prstGeom prst="rect">
            <a:avLst/>
          </a:prstGeom>
        </p:spPr>
      </p:pic>
    </p:spTree>
    <p:extLst>
      <p:ext uri="{BB962C8B-B14F-4D97-AF65-F5344CB8AC3E}">
        <p14:creationId xmlns:p14="http://schemas.microsoft.com/office/powerpoint/2010/main" val="6264633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507FCF-0D37-8CB5-0827-8ADC9CC886B4}"/>
              </a:ext>
            </a:extLst>
          </p:cNvPr>
          <p:cNvSpPr>
            <a:spLocks noGrp="1"/>
          </p:cNvSpPr>
          <p:nvPr>
            <p:ph type="title"/>
          </p:nvPr>
        </p:nvSpPr>
        <p:spPr/>
        <p:txBody>
          <a:bodyPr/>
          <a:lstStyle/>
          <a:p>
            <a:r>
              <a:rPr lang="fr-FR" dirty="0"/>
              <a:t>Arduino Nano</a:t>
            </a:r>
          </a:p>
        </p:txBody>
      </p:sp>
      <p:sp>
        <p:nvSpPr>
          <p:cNvPr id="3" name="Espace réservé du contenu 2">
            <a:extLst>
              <a:ext uri="{FF2B5EF4-FFF2-40B4-BE49-F238E27FC236}">
                <a16:creationId xmlns:a16="http://schemas.microsoft.com/office/drawing/2014/main" id="{E230950C-6F61-9480-CA83-256A82A4099B}"/>
              </a:ext>
            </a:extLst>
          </p:cNvPr>
          <p:cNvSpPr>
            <a:spLocks noGrp="1"/>
          </p:cNvSpPr>
          <p:nvPr>
            <p:ph idx="1"/>
          </p:nvPr>
        </p:nvSpPr>
        <p:spPr/>
        <p:txBody>
          <a:bodyPr/>
          <a:lstStyle/>
          <a:p>
            <a:r>
              <a:rPr lang="fr-FR" dirty="0"/>
              <a:t>ESP 32</a:t>
            </a:r>
          </a:p>
        </p:txBody>
      </p:sp>
      <p:pic>
        <p:nvPicPr>
          <p:cNvPr id="5" name="Image 4">
            <a:extLst>
              <a:ext uri="{FF2B5EF4-FFF2-40B4-BE49-F238E27FC236}">
                <a16:creationId xmlns:a16="http://schemas.microsoft.com/office/drawing/2014/main" id="{EE2A2051-476A-0707-AC5C-DDDEFFE0776D}"/>
              </a:ext>
            </a:extLst>
          </p:cNvPr>
          <p:cNvPicPr>
            <a:picLocks noChangeAspect="1"/>
          </p:cNvPicPr>
          <p:nvPr/>
        </p:nvPicPr>
        <p:blipFill>
          <a:blip r:embed="rId2"/>
          <a:stretch>
            <a:fillRect/>
          </a:stretch>
        </p:blipFill>
        <p:spPr>
          <a:xfrm>
            <a:off x="3182396" y="2348880"/>
            <a:ext cx="4619029" cy="3590308"/>
          </a:xfrm>
          <a:prstGeom prst="rect">
            <a:avLst/>
          </a:prstGeom>
        </p:spPr>
      </p:pic>
    </p:spTree>
    <p:extLst>
      <p:ext uri="{BB962C8B-B14F-4D97-AF65-F5344CB8AC3E}">
        <p14:creationId xmlns:p14="http://schemas.microsoft.com/office/powerpoint/2010/main" val="37684663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F2CEE6-0862-95AA-EEE3-F5B51D72E2D5}"/>
              </a:ext>
            </a:extLst>
          </p:cNvPr>
          <p:cNvSpPr>
            <a:spLocks noGrp="1"/>
          </p:cNvSpPr>
          <p:nvPr>
            <p:ph type="title"/>
          </p:nvPr>
        </p:nvSpPr>
        <p:spPr/>
        <p:txBody>
          <a:bodyPr/>
          <a:lstStyle/>
          <a:p>
            <a:r>
              <a:rPr lang="fr-FR" dirty="0"/>
              <a:t>De nombreux autres Arduino</a:t>
            </a:r>
          </a:p>
        </p:txBody>
      </p:sp>
      <p:sp>
        <p:nvSpPr>
          <p:cNvPr id="3" name="Espace réservé du contenu 2">
            <a:extLst>
              <a:ext uri="{FF2B5EF4-FFF2-40B4-BE49-F238E27FC236}">
                <a16:creationId xmlns:a16="http://schemas.microsoft.com/office/drawing/2014/main" id="{D3326C9E-45E4-2328-D46B-21720299F3DE}"/>
              </a:ext>
            </a:extLst>
          </p:cNvPr>
          <p:cNvSpPr>
            <a:spLocks noGrp="1"/>
          </p:cNvSpPr>
          <p:nvPr>
            <p:ph idx="1"/>
          </p:nvPr>
        </p:nvSpPr>
        <p:spPr/>
        <p:txBody>
          <a:bodyPr/>
          <a:lstStyle/>
          <a:p>
            <a:endParaRPr lang="fr-FR"/>
          </a:p>
        </p:txBody>
      </p:sp>
      <p:pic>
        <p:nvPicPr>
          <p:cNvPr id="1026" name="Picture 2" descr="Image non disponible">
            <a:extLst>
              <a:ext uri="{FF2B5EF4-FFF2-40B4-BE49-F238E27FC236}">
                <a16:creationId xmlns:a16="http://schemas.microsoft.com/office/drawing/2014/main" id="{78E29E67-96BC-ACA8-D72A-30581987B0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73163"/>
            <a:ext cx="9144000" cy="4510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6737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F00E86-1F97-D352-AB0B-4868F55BFD2F}"/>
              </a:ext>
            </a:extLst>
          </p:cNvPr>
          <p:cNvSpPr>
            <a:spLocks noGrp="1"/>
          </p:cNvSpPr>
          <p:nvPr>
            <p:ph type="title"/>
          </p:nvPr>
        </p:nvSpPr>
        <p:spPr/>
        <p:txBody>
          <a:bodyPr/>
          <a:lstStyle/>
          <a:p>
            <a:r>
              <a:rPr lang="fr-FR" dirty="0"/>
              <a:t>La jungle des sigles</a:t>
            </a:r>
          </a:p>
        </p:txBody>
      </p:sp>
      <p:sp>
        <p:nvSpPr>
          <p:cNvPr id="3" name="Espace réservé du contenu 2">
            <a:extLst>
              <a:ext uri="{FF2B5EF4-FFF2-40B4-BE49-F238E27FC236}">
                <a16:creationId xmlns:a16="http://schemas.microsoft.com/office/drawing/2014/main" id="{B1EA35BA-7306-4F6E-4402-4C22511A9142}"/>
              </a:ext>
            </a:extLst>
          </p:cNvPr>
          <p:cNvSpPr>
            <a:spLocks noGrp="1"/>
          </p:cNvSpPr>
          <p:nvPr>
            <p:ph idx="1"/>
          </p:nvPr>
        </p:nvSpPr>
        <p:spPr/>
        <p:txBody>
          <a:bodyPr/>
          <a:lstStyle/>
          <a:p>
            <a:r>
              <a:rPr lang="fr-FR" sz="2400" dirty="0"/>
              <a:t>M2M</a:t>
            </a:r>
          </a:p>
          <a:p>
            <a:pPr lvl="1"/>
            <a:r>
              <a:rPr lang="fr-FR" sz="2000" dirty="0"/>
              <a:t>Machine to Machine</a:t>
            </a:r>
          </a:p>
          <a:p>
            <a:pPr lvl="1"/>
            <a:r>
              <a:rPr lang="fr-FR" sz="2000" dirty="0"/>
              <a:t>Communication directe entre machines sans intervention humaine</a:t>
            </a:r>
          </a:p>
          <a:p>
            <a:r>
              <a:rPr lang="fr-FR" sz="2400" dirty="0"/>
              <a:t>M2P</a:t>
            </a:r>
          </a:p>
          <a:p>
            <a:pPr lvl="1"/>
            <a:r>
              <a:rPr lang="fr-FR" sz="2000" dirty="0"/>
              <a:t>Machine to Person</a:t>
            </a:r>
          </a:p>
          <a:p>
            <a:pPr lvl="1"/>
            <a:r>
              <a:rPr lang="fr-FR" sz="2000" dirty="0"/>
              <a:t>Interaction entre une machine et un utilisateur humain</a:t>
            </a:r>
          </a:p>
          <a:p>
            <a:r>
              <a:rPr lang="fr-FR" sz="2400" dirty="0"/>
              <a:t>P2P</a:t>
            </a:r>
          </a:p>
          <a:p>
            <a:pPr lvl="1"/>
            <a:r>
              <a:rPr lang="fr-FR" sz="2000" dirty="0"/>
              <a:t>Peer to Peer</a:t>
            </a:r>
          </a:p>
          <a:p>
            <a:pPr lvl="1"/>
            <a:r>
              <a:rPr lang="fr-FR" sz="2000" dirty="0"/>
              <a:t>Communication directe entre deux entités (personnes ou systèmes) sans serveur central</a:t>
            </a:r>
          </a:p>
          <a:p>
            <a:r>
              <a:rPr lang="fr-FR" sz="2400" dirty="0"/>
              <a:t>V2V</a:t>
            </a:r>
          </a:p>
          <a:p>
            <a:pPr lvl="1"/>
            <a:r>
              <a:rPr lang="fr-FR" sz="2000" dirty="0" err="1"/>
              <a:t>Vehicle</a:t>
            </a:r>
            <a:r>
              <a:rPr lang="fr-FR" sz="2000" dirty="0"/>
              <a:t> to </a:t>
            </a:r>
            <a:r>
              <a:rPr lang="fr-FR" sz="2000" dirty="0" err="1"/>
              <a:t>Vehicle</a:t>
            </a:r>
            <a:endParaRPr lang="fr-FR" sz="2000" dirty="0"/>
          </a:p>
          <a:p>
            <a:pPr lvl="1"/>
            <a:r>
              <a:rPr lang="fr-FR" sz="2000" dirty="0"/>
              <a:t>Communication entre véhicules pour échanger des informations</a:t>
            </a:r>
          </a:p>
        </p:txBody>
      </p:sp>
    </p:spTree>
    <p:extLst>
      <p:ext uri="{BB962C8B-B14F-4D97-AF65-F5344CB8AC3E}">
        <p14:creationId xmlns:p14="http://schemas.microsoft.com/office/powerpoint/2010/main" val="27491988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5A7A52-A62F-78E0-BDE4-2627FFC89D03}"/>
              </a:ext>
            </a:extLst>
          </p:cNvPr>
          <p:cNvSpPr>
            <a:spLocks noGrp="1"/>
          </p:cNvSpPr>
          <p:nvPr>
            <p:ph type="title"/>
          </p:nvPr>
        </p:nvSpPr>
        <p:spPr/>
        <p:txBody>
          <a:bodyPr/>
          <a:lstStyle/>
          <a:p>
            <a:r>
              <a:rPr lang="fr-FR" dirty="0"/>
              <a:t>Architecture et couches</a:t>
            </a:r>
          </a:p>
        </p:txBody>
      </p:sp>
      <p:sp>
        <p:nvSpPr>
          <p:cNvPr id="3" name="Espace réservé du contenu 2">
            <a:extLst>
              <a:ext uri="{FF2B5EF4-FFF2-40B4-BE49-F238E27FC236}">
                <a16:creationId xmlns:a16="http://schemas.microsoft.com/office/drawing/2014/main" id="{6AC47ED0-7527-E465-123B-72C51292C02D}"/>
              </a:ext>
            </a:extLst>
          </p:cNvPr>
          <p:cNvSpPr>
            <a:spLocks noGrp="1"/>
          </p:cNvSpPr>
          <p:nvPr>
            <p:ph idx="1"/>
          </p:nvPr>
        </p:nvSpPr>
        <p:spPr/>
        <p:txBody>
          <a:bodyPr/>
          <a:lstStyle/>
          <a:p>
            <a:r>
              <a:rPr lang="fr-FR" dirty="0"/>
              <a:t>Une architecture IoT typique comporte 4 à 6 couches</a:t>
            </a:r>
          </a:p>
          <a:p>
            <a:pPr lvl="1"/>
            <a:r>
              <a:rPr lang="fr-FR" dirty="0"/>
              <a:t>Couche de perception : Capteurs et actionneurs pour la collecte des données</a:t>
            </a:r>
          </a:p>
          <a:p>
            <a:pPr lvl="1"/>
            <a:r>
              <a:rPr lang="fr-FR" dirty="0"/>
              <a:t>Couche réseau : Technologies de connectivité (Wi-Fi, Bluetooth, </a:t>
            </a:r>
            <a:r>
              <a:rPr lang="fr-FR" dirty="0" err="1"/>
              <a:t>ZigBee</a:t>
            </a:r>
            <a:r>
              <a:rPr lang="fr-FR" dirty="0"/>
              <a:t>, </a:t>
            </a:r>
            <a:r>
              <a:rPr lang="fr-FR" dirty="0" err="1"/>
              <a:t>LoRaWAN</a:t>
            </a:r>
            <a:r>
              <a:rPr lang="fr-FR" dirty="0"/>
              <a:t>, Sigfox, LTE)</a:t>
            </a:r>
          </a:p>
          <a:p>
            <a:pPr lvl="1"/>
            <a:r>
              <a:rPr lang="fr-FR" dirty="0"/>
              <a:t>Couche traitement : Analyse et stockage des données (cloud, </a:t>
            </a:r>
            <a:r>
              <a:rPr lang="fr-FR" dirty="0" err="1"/>
              <a:t>edge</a:t>
            </a:r>
            <a:r>
              <a:rPr lang="fr-FR" dirty="0"/>
              <a:t> </a:t>
            </a:r>
            <a:r>
              <a:rPr lang="fr-FR" dirty="0" err="1"/>
              <a:t>computing</a:t>
            </a:r>
            <a:r>
              <a:rPr lang="fr-FR" dirty="0"/>
              <a:t>)</a:t>
            </a:r>
          </a:p>
          <a:p>
            <a:pPr lvl="1"/>
            <a:r>
              <a:rPr lang="fr-FR" dirty="0"/>
              <a:t>Couche application : Interfaces pour l’utilisateur (applications mobiles, </a:t>
            </a:r>
            <a:r>
              <a:rPr lang="fr-FR" dirty="0" err="1"/>
              <a:t>dashboards</a:t>
            </a:r>
            <a:r>
              <a:rPr lang="fr-FR" dirty="0"/>
              <a:t>)</a:t>
            </a:r>
          </a:p>
          <a:p>
            <a:pPr lvl="1"/>
            <a:r>
              <a:rPr lang="fr-FR" dirty="0"/>
              <a:t>Certaines architectures ajoutent des couches de sécurité et de gestion des données.</a:t>
            </a:r>
          </a:p>
        </p:txBody>
      </p:sp>
    </p:spTree>
    <p:extLst>
      <p:ext uri="{BB962C8B-B14F-4D97-AF65-F5344CB8AC3E}">
        <p14:creationId xmlns:p14="http://schemas.microsoft.com/office/powerpoint/2010/main" val="8145369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3EFF34-FD0A-8F16-D07B-337A4FD84077}"/>
              </a:ext>
            </a:extLst>
          </p:cNvPr>
          <p:cNvSpPr>
            <a:spLocks noGrp="1"/>
          </p:cNvSpPr>
          <p:nvPr>
            <p:ph type="title"/>
          </p:nvPr>
        </p:nvSpPr>
        <p:spPr/>
        <p:txBody>
          <a:bodyPr/>
          <a:lstStyle/>
          <a:p>
            <a:r>
              <a:rPr lang="fr-FR" dirty="0"/>
              <a:t>Architecture</a:t>
            </a:r>
          </a:p>
        </p:txBody>
      </p:sp>
      <p:sp>
        <p:nvSpPr>
          <p:cNvPr id="3" name="Espace réservé du contenu 2">
            <a:extLst>
              <a:ext uri="{FF2B5EF4-FFF2-40B4-BE49-F238E27FC236}">
                <a16:creationId xmlns:a16="http://schemas.microsoft.com/office/drawing/2014/main" id="{81480D7C-E0DB-05C9-5082-ACA2F9423237}"/>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C24A30C6-8F30-0849-F38A-81CCA4E5657D}"/>
              </a:ext>
            </a:extLst>
          </p:cNvPr>
          <p:cNvPicPr>
            <a:picLocks noChangeAspect="1"/>
          </p:cNvPicPr>
          <p:nvPr/>
        </p:nvPicPr>
        <p:blipFill>
          <a:blip r:embed="rId2"/>
          <a:stretch>
            <a:fillRect/>
          </a:stretch>
        </p:blipFill>
        <p:spPr>
          <a:xfrm>
            <a:off x="647636" y="908720"/>
            <a:ext cx="7761478" cy="6465372"/>
          </a:xfrm>
          <a:prstGeom prst="rect">
            <a:avLst/>
          </a:prstGeom>
        </p:spPr>
      </p:pic>
    </p:spTree>
    <p:extLst>
      <p:ext uri="{BB962C8B-B14F-4D97-AF65-F5344CB8AC3E}">
        <p14:creationId xmlns:p14="http://schemas.microsoft.com/office/powerpoint/2010/main" val="1764935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DF548B-FA00-9A63-51E3-EE810C1B9F22}"/>
              </a:ext>
            </a:extLst>
          </p:cNvPr>
          <p:cNvSpPr>
            <a:spLocks noGrp="1"/>
          </p:cNvSpPr>
          <p:nvPr>
            <p:ph type="title"/>
          </p:nvPr>
        </p:nvSpPr>
        <p:spPr/>
        <p:txBody>
          <a:bodyPr/>
          <a:lstStyle/>
          <a:p>
            <a:r>
              <a:rPr lang="fr-FR" dirty="0"/>
              <a:t>Protocoles et standards</a:t>
            </a:r>
          </a:p>
        </p:txBody>
      </p:sp>
      <p:sp>
        <p:nvSpPr>
          <p:cNvPr id="3" name="Espace réservé du contenu 2">
            <a:extLst>
              <a:ext uri="{FF2B5EF4-FFF2-40B4-BE49-F238E27FC236}">
                <a16:creationId xmlns:a16="http://schemas.microsoft.com/office/drawing/2014/main" id="{865BD6CA-3B11-6453-3560-753C42A72C58}"/>
              </a:ext>
            </a:extLst>
          </p:cNvPr>
          <p:cNvSpPr>
            <a:spLocks noGrp="1"/>
          </p:cNvSpPr>
          <p:nvPr>
            <p:ph idx="1"/>
          </p:nvPr>
        </p:nvSpPr>
        <p:spPr/>
        <p:txBody>
          <a:bodyPr/>
          <a:lstStyle/>
          <a:p>
            <a:r>
              <a:rPr lang="fr-FR" dirty="0"/>
              <a:t>MQTT, </a:t>
            </a:r>
            <a:r>
              <a:rPr lang="fr-FR" dirty="0" err="1"/>
              <a:t>CoAP</a:t>
            </a:r>
            <a:r>
              <a:rPr lang="fr-FR" dirty="0"/>
              <a:t>, AMQP</a:t>
            </a:r>
          </a:p>
          <a:p>
            <a:pPr lvl="1"/>
            <a:r>
              <a:rPr lang="fr-FR" dirty="0"/>
              <a:t>Protocoles légers pour la communication IoT</a:t>
            </a:r>
          </a:p>
          <a:p>
            <a:r>
              <a:rPr lang="fr-FR" dirty="0"/>
              <a:t>RFID, NFC, BLE</a:t>
            </a:r>
          </a:p>
          <a:p>
            <a:pPr lvl="1"/>
            <a:r>
              <a:rPr lang="fr-FR" dirty="0"/>
              <a:t>Technologies pour l’identification et la connectivité courte portée</a:t>
            </a:r>
          </a:p>
          <a:p>
            <a:r>
              <a:rPr lang="fr-FR" dirty="0"/>
              <a:t>LoRa, Sigfox</a:t>
            </a:r>
          </a:p>
          <a:p>
            <a:pPr lvl="1"/>
            <a:r>
              <a:rPr lang="fr-FR" dirty="0"/>
              <a:t>Réseaux longue portée à faible consommation pour les objets distants</a:t>
            </a:r>
          </a:p>
        </p:txBody>
      </p:sp>
    </p:spTree>
    <p:extLst>
      <p:ext uri="{BB962C8B-B14F-4D97-AF65-F5344CB8AC3E}">
        <p14:creationId xmlns:p14="http://schemas.microsoft.com/office/powerpoint/2010/main" val="23848103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Communications</a:t>
            </a:r>
          </a:p>
        </p:txBody>
      </p:sp>
      <p:sp>
        <p:nvSpPr>
          <p:cNvPr id="3" name="Espace réservé du contenu 2"/>
          <p:cNvSpPr>
            <a:spLocks noGrp="1"/>
          </p:cNvSpPr>
          <p:nvPr>
            <p:ph idx="1"/>
          </p:nvPr>
        </p:nvSpPr>
        <p:spPr/>
        <p:txBody>
          <a:bodyPr/>
          <a:lstStyle/>
          <a:p>
            <a:r>
              <a:rPr lang="fr-FR" dirty="0"/>
              <a:t>Filaires</a:t>
            </a:r>
          </a:p>
          <a:p>
            <a:pPr lvl="1"/>
            <a:r>
              <a:rPr lang="fr-FR" dirty="0"/>
              <a:t>USB, Série, RS232, Ethernet …</a:t>
            </a:r>
          </a:p>
          <a:p>
            <a:r>
              <a:rPr lang="fr-FR" dirty="0"/>
              <a:t>Sans fils</a:t>
            </a:r>
          </a:p>
          <a:p>
            <a:pPr lvl="1"/>
            <a:r>
              <a:rPr lang="fr-FR" dirty="0"/>
              <a:t>Wifi, Bluetooth, Infrarouge, 433MHz</a:t>
            </a:r>
          </a:p>
          <a:p>
            <a:r>
              <a:rPr lang="fr-FR" dirty="0"/>
              <a:t>Energie faible</a:t>
            </a:r>
          </a:p>
          <a:p>
            <a:pPr lvl="1"/>
            <a:r>
              <a:rPr lang="fr-FR" dirty="0"/>
              <a:t>Bluetooth LE, Lora, …</a:t>
            </a:r>
          </a:p>
          <a:p>
            <a:r>
              <a:rPr lang="fr-FR" dirty="0"/>
              <a:t>WAN, LAN, PAN, HAN</a:t>
            </a:r>
          </a:p>
          <a:p>
            <a:pPr lvl="1"/>
            <a:r>
              <a:rPr lang="fr-FR" dirty="0"/>
              <a:t>HAN : </a:t>
            </a:r>
            <a:r>
              <a:rPr lang="fr-FR" dirty="0" err="1"/>
              <a:t>Zigbee</a:t>
            </a:r>
            <a:r>
              <a:rPr lang="fr-FR" dirty="0"/>
              <a:t>, …</a:t>
            </a:r>
          </a:p>
          <a:p>
            <a:r>
              <a:rPr lang="fr-FR" dirty="0"/>
              <a:t>Web</a:t>
            </a:r>
          </a:p>
          <a:p>
            <a:pPr lvl="1"/>
            <a:r>
              <a:rPr lang="fr-FR" dirty="0"/>
              <a:t>HTTP, REST, JSON, …</a:t>
            </a:r>
          </a:p>
        </p:txBody>
      </p:sp>
    </p:spTree>
    <p:extLst>
      <p:ext uri="{BB962C8B-B14F-4D97-AF65-F5344CB8AC3E}">
        <p14:creationId xmlns:p14="http://schemas.microsoft.com/office/powerpoint/2010/main" val="37464565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44E181-65BD-7A6E-844B-1FB37D619F1C}"/>
              </a:ext>
            </a:extLst>
          </p:cNvPr>
          <p:cNvSpPr>
            <a:spLocks noGrp="1"/>
          </p:cNvSpPr>
          <p:nvPr>
            <p:ph type="title"/>
          </p:nvPr>
        </p:nvSpPr>
        <p:spPr/>
        <p:txBody>
          <a:bodyPr/>
          <a:lstStyle/>
          <a:p>
            <a:r>
              <a:rPr lang="fr-FR" dirty="0"/>
              <a:t>Enjeux et défis</a:t>
            </a:r>
          </a:p>
        </p:txBody>
      </p:sp>
      <p:sp>
        <p:nvSpPr>
          <p:cNvPr id="3" name="Espace réservé du contenu 2">
            <a:extLst>
              <a:ext uri="{FF2B5EF4-FFF2-40B4-BE49-F238E27FC236}">
                <a16:creationId xmlns:a16="http://schemas.microsoft.com/office/drawing/2014/main" id="{2F68EEB6-DB10-237D-CE07-A8F33678C0B9}"/>
              </a:ext>
            </a:extLst>
          </p:cNvPr>
          <p:cNvSpPr>
            <a:spLocks noGrp="1"/>
          </p:cNvSpPr>
          <p:nvPr>
            <p:ph idx="1"/>
          </p:nvPr>
        </p:nvSpPr>
        <p:spPr/>
        <p:txBody>
          <a:bodyPr/>
          <a:lstStyle/>
          <a:p>
            <a:r>
              <a:rPr lang="fr-FR" dirty="0"/>
              <a:t>Sécurité et confidentialité</a:t>
            </a:r>
          </a:p>
          <a:p>
            <a:pPr lvl="1"/>
            <a:r>
              <a:rPr lang="fr-FR" dirty="0"/>
              <a:t>Protection contre les cyberattaques et respect des données personnelles</a:t>
            </a:r>
          </a:p>
          <a:p>
            <a:r>
              <a:rPr lang="fr-FR" dirty="0"/>
              <a:t>Interopérabilité</a:t>
            </a:r>
          </a:p>
          <a:p>
            <a:pPr lvl="1"/>
            <a:r>
              <a:rPr lang="fr-FR" dirty="0"/>
              <a:t>Harmonisation des standards pour connecter des dispositifs hétérogènes</a:t>
            </a:r>
          </a:p>
          <a:p>
            <a:r>
              <a:rPr lang="fr-FR" dirty="0"/>
              <a:t>Consommation énergétique </a:t>
            </a:r>
          </a:p>
          <a:p>
            <a:pPr lvl="1"/>
            <a:r>
              <a:rPr lang="fr-FR" dirty="0"/>
              <a:t>Optimisation pour prolonger la durée de vie des capteurs</a:t>
            </a:r>
          </a:p>
          <a:p>
            <a:r>
              <a:rPr lang="fr-FR" dirty="0"/>
              <a:t>Scalabilité</a:t>
            </a:r>
          </a:p>
          <a:p>
            <a:pPr lvl="1"/>
            <a:r>
              <a:rPr lang="fr-FR" dirty="0"/>
              <a:t>Capacité à gérer des milliards d’objets connectés</a:t>
            </a:r>
          </a:p>
        </p:txBody>
      </p:sp>
    </p:spTree>
    <p:extLst>
      <p:ext uri="{BB962C8B-B14F-4D97-AF65-F5344CB8AC3E}">
        <p14:creationId xmlns:p14="http://schemas.microsoft.com/office/powerpoint/2010/main" val="27267902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différentes approches</a:t>
            </a:r>
          </a:p>
        </p:txBody>
      </p:sp>
      <p:sp>
        <p:nvSpPr>
          <p:cNvPr id="3" name="Espace réservé du contenu 2"/>
          <p:cNvSpPr>
            <a:spLocks noGrp="1"/>
          </p:cNvSpPr>
          <p:nvPr>
            <p:ph idx="1"/>
          </p:nvPr>
        </p:nvSpPr>
        <p:spPr/>
        <p:txBody>
          <a:bodyPr/>
          <a:lstStyle/>
          <a:p>
            <a:r>
              <a:rPr lang="fr-FR" dirty="0"/>
              <a:t>Consommation électrique ?</a:t>
            </a:r>
          </a:p>
          <a:p>
            <a:r>
              <a:rPr lang="fr-FR" dirty="0"/>
              <a:t>Budget ?</a:t>
            </a:r>
          </a:p>
          <a:p>
            <a:r>
              <a:rPr lang="fr-FR" dirty="0"/>
              <a:t>Nomade ?</a:t>
            </a:r>
          </a:p>
          <a:p>
            <a:r>
              <a:rPr lang="fr-FR" dirty="0"/>
              <a:t>Embarqué ?</a:t>
            </a:r>
          </a:p>
          <a:p>
            <a:r>
              <a:rPr lang="fr-FR" dirty="0"/>
              <a:t>Communications ?</a:t>
            </a:r>
          </a:p>
          <a:p>
            <a:r>
              <a:rPr lang="fr-FR" dirty="0"/>
              <a:t>Filaire</a:t>
            </a:r>
            <a:r>
              <a:rPr lang="fr-FR"/>
              <a:t>, non-filaire ?</a:t>
            </a:r>
            <a:endParaRPr lang="fr-FR" dirty="0"/>
          </a:p>
          <a:p>
            <a:endParaRPr lang="fr-FR" dirty="0"/>
          </a:p>
        </p:txBody>
      </p:sp>
    </p:spTree>
    <p:extLst>
      <p:ext uri="{BB962C8B-B14F-4D97-AF65-F5344CB8AC3E}">
        <p14:creationId xmlns:p14="http://schemas.microsoft.com/office/powerpoint/2010/main" val="13805039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14B210-2E7F-70FE-0AB4-FF2E2215CDF8}"/>
              </a:ext>
            </a:extLst>
          </p:cNvPr>
          <p:cNvSpPr>
            <a:spLocks noGrp="1"/>
          </p:cNvSpPr>
          <p:nvPr>
            <p:ph type="title"/>
          </p:nvPr>
        </p:nvSpPr>
        <p:spPr/>
        <p:txBody>
          <a:bodyPr/>
          <a:lstStyle/>
          <a:p>
            <a:r>
              <a:rPr lang="fr-FR" dirty="0"/>
              <a:t>Pour résumer</a:t>
            </a:r>
          </a:p>
        </p:txBody>
      </p:sp>
      <p:sp>
        <p:nvSpPr>
          <p:cNvPr id="3" name="Espace réservé du contenu 2">
            <a:extLst>
              <a:ext uri="{FF2B5EF4-FFF2-40B4-BE49-F238E27FC236}">
                <a16:creationId xmlns:a16="http://schemas.microsoft.com/office/drawing/2014/main" id="{A37A7556-44D1-DD75-0409-9A9162C462D5}"/>
              </a:ext>
            </a:extLst>
          </p:cNvPr>
          <p:cNvSpPr>
            <a:spLocks noGrp="1"/>
          </p:cNvSpPr>
          <p:nvPr>
            <p:ph idx="1"/>
          </p:nvPr>
        </p:nvSpPr>
        <p:spPr/>
        <p:txBody>
          <a:bodyPr/>
          <a:lstStyle/>
          <a:p>
            <a:r>
              <a:rPr lang="fr-FR" dirty="0"/>
              <a:t>L’IoT repose sur capteurs + connectivité + traitement + applications, avec des défis majeurs en sécurité, interopérabilité et énergie</a:t>
            </a:r>
          </a:p>
          <a:p>
            <a:r>
              <a:rPr lang="fr-FR" dirty="0"/>
              <a:t>Il transforme des secteurs comme la santé, l’industrie, la domotique et les villes intelligentes.</a:t>
            </a:r>
          </a:p>
        </p:txBody>
      </p:sp>
    </p:spTree>
    <p:extLst>
      <p:ext uri="{BB962C8B-B14F-4D97-AF65-F5344CB8AC3E}">
        <p14:creationId xmlns:p14="http://schemas.microsoft.com/office/powerpoint/2010/main" val="16948932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728C56-AAB1-E5D0-9117-345BE439137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CE3CAB5-3524-670E-91BB-819442DBE729}"/>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E421D0F7-5869-E65C-F0B3-3A37706894AE}"/>
              </a:ext>
            </a:extLst>
          </p:cNvPr>
          <p:cNvPicPr>
            <a:picLocks noChangeAspect="1"/>
          </p:cNvPicPr>
          <p:nvPr/>
        </p:nvPicPr>
        <p:blipFill>
          <a:blip r:embed="rId2"/>
          <a:stretch>
            <a:fillRect/>
          </a:stretch>
        </p:blipFill>
        <p:spPr>
          <a:xfrm>
            <a:off x="-208769" y="0"/>
            <a:ext cx="9561538" cy="6885519"/>
          </a:xfrm>
          <a:prstGeom prst="rect">
            <a:avLst/>
          </a:prstGeom>
        </p:spPr>
      </p:pic>
    </p:spTree>
    <p:extLst>
      <p:ext uri="{BB962C8B-B14F-4D97-AF65-F5344CB8AC3E}">
        <p14:creationId xmlns:p14="http://schemas.microsoft.com/office/powerpoint/2010/main" val="3139760694"/>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3933</TotalTime>
  <Words>2023</Words>
  <Application>Microsoft Office PowerPoint</Application>
  <PresentationFormat>Affichage à l'écran (4:3)</PresentationFormat>
  <Paragraphs>355</Paragraphs>
  <Slides>81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81</vt:i4>
      </vt:variant>
    </vt:vector>
  </HeadingPairs>
  <TitlesOfParts>
    <vt:vector size="85" baseType="lpstr">
      <vt:lpstr>Arial</vt:lpstr>
      <vt:lpstr>Monotype Sorts</vt:lpstr>
      <vt:lpstr>Times New Roman</vt:lpstr>
      <vt:lpstr>cvc</vt:lpstr>
      <vt:lpstr>Présentation PowerPoint</vt:lpstr>
      <vt:lpstr>Présentation PowerPoint</vt:lpstr>
      <vt:lpstr>Présentation PowerPoint</vt:lpstr>
      <vt:lpstr>Data Science</vt:lpstr>
      <vt:lpstr>Data Science</vt:lpstr>
      <vt:lpstr>Difficultés</vt:lpstr>
      <vt:lpstr>Présentation PowerPoint</vt:lpstr>
      <vt:lpstr>L'intelligence artificielle</vt:lpstr>
      <vt:lpstr>Test de Turing</vt:lpstr>
      <vt:lpstr>Copier la nature ou non</vt:lpstr>
      <vt:lpstr>IA - ML - DL</vt:lpstr>
      <vt:lpstr>Machine Learning</vt:lpstr>
      <vt:lpstr>Machine Learning</vt:lpstr>
      <vt:lpstr>Apprentissage supervisé</vt:lpstr>
      <vt:lpstr>Machine Learning vs Programmation</vt:lpstr>
      <vt:lpstr>Apprentissage</vt:lpstr>
      <vt:lpstr>Prédiction</vt:lpstr>
      <vt:lpstr>But</vt:lpstr>
      <vt:lpstr>Exemple</vt:lpstr>
      <vt:lpstr>Graphique</vt:lpstr>
      <vt:lpstr>Régression linéaire</vt:lpstr>
      <vt:lpstr>Classification</vt:lpstr>
      <vt:lpstr>Trouver le bon modèle</vt:lpstr>
      <vt:lpstr>Quartet d’Ascombe</vt:lpstr>
      <vt:lpstr>Apprentissage</vt:lpstr>
      <vt:lpstr>Les langages et Frameworks</vt:lpstr>
      <vt:lpstr>Les Frameworks ML et DL</vt:lpstr>
      <vt:lpstr>Deep Learning</vt:lpstr>
      <vt:lpstr>Neurone</vt:lpstr>
      <vt:lpstr>Neurone</vt:lpstr>
      <vt:lpstr>Les enjeux 1/3</vt:lpstr>
      <vt:lpstr>Les nouvelles sources de données</vt:lpstr>
      <vt:lpstr>Les enjeux 2/3</vt:lpstr>
      <vt:lpstr>Les enjeux 3/3</vt:lpstr>
      <vt:lpstr>²</vt:lpstr>
      <vt:lpstr>IoT</vt:lpstr>
      <vt:lpstr>Evolution des communications</vt:lpstr>
      <vt:lpstr>Présentation PowerPoint</vt:lpstr>
      <vt:lpstr>Web 3.0</vt:lpstr>
      <vt:lpstr>Concepts</vt:lpstr>
      <vt:lpstr>Composants essentiels</vt:lpstr>
      <vt:lpstr>Capteurs</vt:lpstr>
      <vt:lpstr>Actionneurs (Actuator)</vt:lpstr>
      <vt:lpstr>Microcontrôleurs</vt:lpstr>
      <vt:lpstr>Passerelles (Gateways) </vt:lpstr>
      <vt:lpstr>Plateformes IoT</vt:lpstr>
      <vt:lpstr>Présentation PowerPoint</vt:lpstr>
      <vt:lpstr>Micro-processeur</vt:lpstr>
      <vt:lpstr>Intel</vt:lpstr>
      <vt:lpstr>Les nano-ordinateurs</vt:lpstr>
      <vt:lpstr>Raspberry Pi</vt:lpstr>
      <vt:lpstr>Raspberry Pi 4B</vt:lpstr>
      <vt:lpstr>Oldies</vt:lpstr>
      <vt:lpstr>Micro-contrôleur</vt:lpstr>
      <vt:lpstr>SoC</vt:lpstr>
      <vt:lpstr>Eeprom</vt:lpstr>
      <vt:lpstr>Objectif</vt:lpstr>
      <vt:lpstr>La famille des micro-contrôleurs</vt:lpstr>
      <vt:lpstr>ST Microelectronics</vt:lpstr>
      <vt:lpstr>STM32</vt:lpstr>
      <vt:lpstr>ATMel</vt:lpstr>
      <vt:lpstr>ESP32</vt:lpstr>
      <vt:lpstr>RP 2040</vt:lpstr>
      <vt:lpstr>Les Boards</vt:lpstr>
      <vt:lpstr>Arduino</vt:lpstr>
      <vt:lpstr>Arduino UNO</vt:lpstr>
      <vt:lpstr>STM32 Nucleo</vt:lpstr>
      <vt:lpstr>PyBoard</vt:lpstr>
      <vt:lpstr>Raspbery Pi Pico</vt:lpstr>
      <vt:lpstr>ESP32</vt:lpstr>
      <vt:lpstr>Arduino Nano</vt:lpstr>
      <vt:lpstr>De nombreux autres Arduino</vt:lpstr>
      <vt:lpstr>La jungle des sigles</vt:lpstr>
      <vt:lpstr>Architecture et couches</vt:lpstr>
      <vt:lpstr>Architecture</vt:lpstr>
      <vt:lpstr>Protocoles et standards</vt:lpstr>
      <vt:lpstr>Communications</vt:lpstr>
      <vt:lpstr>Enjeux et défis</vt:lpstr>
      <vt:lpstr>Les différentes approches</vt:lpstr>
      <vt:lpstr>Pour résumer</vt:lpstr>
      <vt:lpstr>Présentation PowerPoint</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237</cp:revision>
  <dcterms:created xsi:type="dcterms:W3CDTF">2000-04-10T19:33:12Z</dcterms:created>
  <dcterms:modified xsi:type="dcterms:W3CDTF">2026-03-18T23:01:53Z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