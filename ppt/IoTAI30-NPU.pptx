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5"/>
  </p:notesMasterIdLst>
  <p:handoutMasterIdLst>
    <p:handoutMasterId r:id="rId16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4" r:id="rId8"/>
    <p:sldId id="275" r:id="rId9"/>
    <p:sldId id="276" r:id="rId10"/>
    <p:sldId id="270" r:id="rId11"/>
    <p:sldId id="271" r:id="rId12"/>
    <p:sldId id="272" r:id="rId13"/>
    <p:sldId id="273" r:id="rId1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NPU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151C95-BFF1-4B41-2CAD-9CE29EBB0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848" y="4437112"/>
            <a:ext cx="1882303" cy="19889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A1D30-3532-BD18-D58E-1FFF865E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Multi-</a:t>
            </a:r>
            <a:r>
              <a:rPr lang="fr-FR" dirty="0" err="1"/>
              <a:t>core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B020B0-1864-6882-55C3-CD36FA077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Nativement </a:t>
            </a:r>
            <a:r>
              <a:rPr lang="fr-FR" dirty="0" err="1"/>
              <a:t>ExecuTorch</a:t>
            </a:r>
            <a:r>
              <a:rPr lang="fr-FR" dirty="0"/>
              <a:t> est multi-</a:t>
            </a:r>
            <a:r>
              <a:rPr lang="fr-FR" dirty="0" err="1"/>
              <a:t>core</a:t>
            </a:r>
            <a:r>
              <a:rPr lang="fr-FR" dirty="0"/>
              <a:t> et GPU</a:t>
            </a:r>
          </a:p>
          <a:p>
            <a:r>
              <a:rPr lang="fr-FR" dirty="0"/>
              <a:t>Mais les plateformes </a:t>
            </a:r>
            <a:r>
              <a:rPr lang="fr-FR" dirty="0" err="1"/>
              <a:t>ExecuTorch</a:t>
            </a:r>
            <a:r>
              <a:rPr lang="fr-FR" dirty="0"/>
              <a:t> peuvent être compatibles NPU et DSP</a:t>
            </a:r>
          </a:p>
        </p:txBody>
      </p:sp>
    </p:spTree>
    <p:extLst>
      <p:ext uri="{BB962C8B-B14F-4D97-AF65-F5344CB8AC3E}">
        <p14:creationId xmlns:p14="http://schemas.microsoft.com/office/powerpoint/2010/main" val="238836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2B199A-8DF6-D257-4F1A-DF7667B4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36F32A-0857-EB4A-50C1-A16DAC754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Neural </a:t>
            </a:r>
            <a:r>
              <a:rPr lang="fr-FR" dirty="0" err="1"/>
              <a:t>Processing</a:t>
            </a:r>
            <a:r>
              <a:rPr lang="fr-FR" dirty="0"/>
              <a:t> Unit est un microprocesseur conçu pour accélérer un réseau de neurones</a:t>
            </a:r>
          </a:p>
          <a:p>
            <a:r>
              <a:rPr lang="fr-FR" dirty="0"/>
              <a:t>Il s'agit souvent de conceptions multicœurs et se concentrant :</a:t>
            </a:r>
          </a:p>
          <a:p>
            <a:pPr lvl="1"/>
            <a:r>
              <a:rPr lang="fr-FR" dirty="0"/>
              <a:t>Sur l'arithmétique de faible précision</a:t>
            </a:r>
          </a:p>
          <a:p>
            <a:pPr lvl="1"/>
            <a:r>
              <a:rPr lang="fr-FR" dirty="0"/>
              <a:t>Des nouvelles architectures de flux de données</a:t>
            </a:r>
          </a:p>
          <a:p>
            <a:r>
              <a:rPr lang="fr-FR" dirty="0"/>
              <a:t>Il n'y a pas de définition précise autre que Accélérateur d'IA</a:t>
            </a:r>
          </a:p>
          <a:p>
            <a:pPr lvl="1"/>
            <a:r>
              <a:rPr lang="fr-FR" dirty="0"/>
              <a:t>Il en existe plusieurs types de plusieurs marques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092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7C961-F347-464D-BA8C-EBC7EF78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CB3148-4E7F-EC6D-2590-49558179F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NPU est de conception GPU</a:t>
            </a:r>
          </a:p>
          <a:p>
            <a:pPr lvl="1"/>
            <a:r>
              <a:rPr lang="fr-FR" dirty="0"/>
              <a:t>Les commandes 3D ou Video2d ont été enlevées</a:t>
            </a:r>
          </a:p>
          <a:p>
            <a:r>
              <a:rPr lang="fr-FR" dirty="0"/>
              <a:t>Très souvent dédié aux int8 ou inférieur</a:t>
            </a:r>
          </a:p>
          <a:p>
            <a:pPr lvl="1"/>
            <a:r>
              <a:rPr lang="fr-FR" dirty="0"/>
              <a:t>Des fois fp32 ou fp16</a:t>
            </a:r>
          </a:p>
          <a:p>
            <a:r>
              <a:rPr lang="fr-FR" dirty="0"/>
              <a:t>Orienté flux de données</a:t>
            </a:r>
          </a:p>
          <a:p>
            <a:pPr lvl="1"/>
            <a:r>
              <a:rPr lang="fr-FR" dirty="0"/>
              <a:t>Les données sont en vecteur et non en matrice comme dans les </a:t>
            </a:r>
            <a:r>
              <a:rPr lang="fr-FR" dirty="0" err="1"/>
              <a:t>GPUs</a:t>
            </a:r>
            <a:endParaRPr lang="fr-FR" dirty="0"/>
          </a:p>
          <a:p>
            <a:pPr lvl="1"/>
            <a:r>
              <a:rPr lang="fr-FR" dirty="0"/>
              <a:t>L'inférence est séquentielle et vide les </a:t>
            </a:r>
            <a:r>
              <a:rPr lang="fr-FR" dirty="0" err="1"/>
              <a:t>layers</a:t>
            </a:r>
            <a:r>
              <a:rPr lang="fr-FR" dirty="0"/>
              <a:t> l-2 (l-3 si </a:t>
            </a:r>
            <a:r>
              <a:rPr lang="fr-FR" dirty="0" err="1"/>
              <a:t>ResNet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Tabulation des fonctions trigo en </a:t>
            </a:r>
            <a:r>
              <a:rPr lang="fr-FR" dirty="0" err="1"/>
              <a:t>int</a:t>
            </a:r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073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9C94A9-E3AA-7FC2-C7C2-5E8ED32B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35D9D8-1398-C9DF-7B7B-130D0DC3B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tout premiers NPU étaient des CPU ou FPU</a:t>
            </a:r>
          </a:p>
          <a:p>
            <a:pPr lvl="1"/>
            <a:r>
              <a:rPr lang="fr-FR" dirty="0"/>
              <a:t>16 bits Motorola 68030</a:t>
            </a:r>
          </a:p>
          <a:p>
            <a:pPr lvl="1"/>
            <a:r>
              <a:rPr lang="fr-FR" dirty="0"/>
              <a:t>32 bits FPU Intel</a:t>
            </a:r>
          </a:p>
          <a:p>
            <a:r>
              <a:rPr lang="fr-FR" dirty="0"/>
              <a:t>Les NPU suivants étaient des DSP</a:t>
            </a:r>
          </a:p>
          <a:p>
            <a:r>
              <a:rPr lang="fr-FR" dirty="0"/>
              <a:t>Certains NPU sont des GPU simplifiés</a:t>
            </a:r>
          </a:p>
          <a:p>
            <a:pPr lvl="1"/>
            <a:r>
              <a:rPr lang="fr-FR" dirty="0" err="1"/>
              <a:t>NVidia</a:t>
            </a:r>
            <a:endParaRPr lang="fr-FR" dirty="0"/>
          </a:p>
          <a:p>
            <a:r>
              <a:rPr lang="fr-FR" dirty="0"/>
              <a:t>ASIC</a:t>
            </a:r>
          </a:p>
          <a:p>
            <a:pPr lvl="1"/>
            <a:r>
              <a:rPr lang="fr-FR" dirty="0"/>
              <a:t>Un NPU est aujourd'hui un circuit intégré spécifique à une application dérivé d'un GPU</a:t>
            </a:r>
          </a:p>
        </p:txBody>
      </p:sp>
    </p:spTree>
    <p:extLst>
      <p:ext uri="{BB962C8B-B14F-4D97-AF65-F5344CB8AC3E}">
        <p14:creationId xmlns:p14="http://schemas.microsoft.com/office/powerpoint/2010/main" val="3802658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EF3129-9C8D-900A-C3C8-31B57E0E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Liste des principaux NPU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6D2A0B-2F59-5425-AC5B-BE259281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PC Intel, </a:t>
            </a:r>
            <a:r>
              <a:rPr lang="fr-FR" dirty="0" err="1"/>
              <a:t>Qualcom</a:t>
            </a:r>
            <a:r>
              <a:rPr lang="fr-FR" dirty="0"/>
              <a:t> ARM et AMD intègrent des NPU natifs</a:t>
            </a:r>
          </a:p>
          <a:p>
            <a:r>
              <a:rPr lang="fr-FR" dirty="0"/>
              <a:t>En téléphonie Apple, Google et </a:t>
            </a:r>
            <a:r>
              <a:rPr lang="fr-FR" dirty="0" err="1"/>
              <a:t>Qualcom</a:t>
            </a:r>
            <a:r>
              <a:rPr lang="fr-FR" dirty="0"/>
              <a:t> en intègre également</a:t>
            </a:r>
          </a:p>
          <a:p>
            <a:r>
              <a:rPr lang="fr-FR" dirty="0"/>
              <a:t>En embarqué</a:t>
            </a:r>
          </a:p>
          <a:p>
            <a:pPr lvl="1"/>
            <a:r>
              <a:rPr lang="fr-FR" dirty="0"/>
              <a:t>NXP i.MX : le plus utilisé en industrie</a:t>
            </a:r>
          </a:p>
          <a:p>
            <a:pPr lvl="1"/>
            <a:r>
              <a:rPr lang="fr-FR" dirty="0" err="1"/>
              <a:t>Rockchip</a:t>
            </a:r>
            <a:r>
              <a:rPr lang="fr-FR" dirty="0"/>
              <a:t> RK3588 : IoT</a:t>
            </a:r>
          </a:p>
          <a:p>
            <a:pPr lvl="1"/>
            <a:r>
              <a:rPr lang="fr-FR" dirty="0"/>
              <a:t>Hailo-8 / H8 : vision</a:t>
            </a:r>
          </a:p>
          <a:p>
            <a:pPr lvl="1"/>
            <a:r>
              <a:rPr lang="fr-FR" dirty="0" err="1"/>
              <a:t>MemryX</a:t>
            </a:r>
            <a:endParaRPr lang="fr-FR" dirty="0"/>
          </a:p>
          <a:p>
            <a:pPr lvl="1"/>
            <a:r>
              <a:rPr lang="fr-FR" dirty="0" err="1"/>
              <a:t>DeepX</a:t>
            </a:r>
            <a:endParaRPr lang="fr-FR" dirty="0"/>
          </a:p>
          <a:p>
            <a:pPr lvl="1"/>
            <a:r>
              <a:rPr lang="fr-FR" dirty="0" err="1"/>
              <a:t>NVidia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2214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E4D45-0212-992C-6DB0-14876C5B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20FB51-D010-7147-EBDE-E680FE16B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Data </a:t>
            </a:r>
            <a:r>
              <a:rPr lang="fr-FR" dirty="0" err="1"/>
              <a:t>Processing</a:t>
            </a:r>
            <a:r>
              <a:rPr lang="fr-FR" dirty="0"/>
              <a:t> Unit est un processeur spécialisé qui</a:t>
            </a:r>
          </a:p>
          <a:p>
            <a:pPr lvl="1"/>
            <a:r>
              <a:rPr lang="fr-FR" dirty="0"/>
              <a:t>gère les flux de données</a:t>
            </a:r>
          </a:p>
          <a:p>
            <a:pPr lvl="1"/>
            <a:r>
              <a:rPr lang="fr-FR" dirty="0"/>
              <a:t>accélère les tâches de réseau</a:t>
            </a:r>
          </a:p>
          <a:p>
            <a:pPr lvl="1"/>
            <a:r>
              <a:rPr lang="fr-FR" dirty="0"/>
              <a:t>stockage</a:t>
            </a:r>
          </a:p>
          <a:p>
            <a:pPr lvl="1"/>
            <a:r>
              <a:rPr lang="fr-FR" dirty="0"/>
              <a:t>sécurité</a:t>
            </a:r>
          </a:p>
          <a:p>
            <a:pPr lvl="1"/>
            <a:r>
              <a:rPr lang="fr-FR" dirty="0"/>
              <a:t>soulage le CPU, NPU et GPU</a:t>
            </a:r>
          </a:p>
        </p:txBody>
      </p:sp>
    </p:spTree>
    <p:extLst>
      <p:ext uri="{BB962C8B-B14F-4D97-AF65-F5344CB8AC3E}">
        <p14:creationId xmlns:p14="http://schemas.microsoft.com/office/powerpoint/2010/main" val="37142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BA520-5928-2D2C-8CB4-80C12F23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16E04F-84AB-E8E0-47CB-4F9CA3DFC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 le considère comme le 3ᵉ pilier du calcul</a:t>
            </a:r>
          </a:p>
          <a:p>
            <a:pPr lvl="1"/>
            <a:r>
              <a:rPr lang="fr-FR" dirty="0"/>
              <a:t>CPU → logique générale</a:t>
            </a:r>
          </a:p>
          <a:p>
            <a:pPr lvl="1"/>
            <a:r>
              <a:rPr lang="fr-FR" dirty="0"/>
              <a:t>GPU, NPU → calcul massif (IA)</a:t>
            </a:r>
          </a:p>
          <a:p>
            <a:pPr lvl="1"/>
            <a:r>
              <a:rPr lang="fr-FR" dirty="0"/>
              <a:t>DPU → gestion des données</a:t>
            </a:r>
          </a:p>
        </p:txBody>
      </p:sp>
    </p:spTree>
    <p:extLst>
      <p:ext uri="{BB962C8B-B14F-4D97-AF65-F5344CB8AC3E}">
        <p14:creationId xmlns:p14="http://schemas.microsoft.com/office/powerpoint/2010/main" val="1619316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21C32-8FCC-F423-8D75-6E75D6DB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D9D5CD-46EB-F542-26E9-AFEF12FB1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DPU ne fait pas directement du ML, mais il est critique pour les performances globales</a:t>
            </a:r>
          </a:p>
          <a:p>
            <a:pPr lvl="1"/>
            <a:r>
              <a:rPr lang="fr-FR" dirty="0"/>
              <a:t>transporte les données vers les GPU</a:t>
            </a:r>
          </a:p>
          <a:p>
            <a:pPr lvl="1"/>
            <a:r>
              <a:rPr lang="fr-FR" dirty="0"/>
              <a:t>gère le réseau entre machines</a:t>
            </a:r>
          </a:p>
          <a:p>
            <a:pPr lvl="1"/>
            <a:r>
              <a:rPr lang="fr-FR" dirty="0"/>
              <a:t>chiffre / sécurise les données</a:t>
            </a:r>
          </a:p>
          <a:p>
            <a:pPr lvl="1"/>
            <a:r>
              <a:rPr lang="fr-FR" dirty="0"/>
              <a:t>optimise le stockage</a:t>
            </a:r>
          </a:p>
          <a:p>
            <a:pPr lvl="1"/>
            <a:r>
              <a:rPr lang="fr-FR" dirty="0"/>
              <a:t>les GPU passent 100% de leur temps à calculer au lieu d’attendre les données</a:t>
            </a:r>
          </a:p>
          <a:p>
            <a:pPr lvl="1"/>
            <a:r>
              <a:rPr lang="fr-FR"/>
              <a:t>Très utilisé en FPGA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38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logo de NXP Semiconductors">
            <a:extLst>
              <a:ext uri="{FF2B5EF4-FFF2-40B4-BE49-F238E27FC236}">
                <a16:creationId xmlns:a16="http://schemas.microsoft.com/office/drawing/2014/main" id="{80ECFF97-3A0B-2556-8042-2A0079A1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0"/>
            <a:ext cx="3744416" cy="128909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8E22705-4D72-3474-C7E1-68E9E9B4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6D6A45-BE47-6BB6-CB22-84D2C7B8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NXP est un fabricant de semi-conducteurs, fondé en 2006 sous le nom de Philips</a:t>
            </a:r>
          </a:p>
          <a:p>
            <a:r>
              <a:rPr lang="fr-FR" dirty="0"/>
              <a:t>i.MX est une famille de </a:t>
            </a:r>
            <a:r>
              <a:rPr lang="fr-FR" dirty="0" err="1"/>
              <a:t>SoC</a:t>
            </a:r>
            <a:endParaRPr lang="fr-FR" dirty="0"/>
          </a:p>
          <a:p>
            <a:r>
              <a:rPr lang="pt-BR" dirty="0"/>
              <a:t>i.MX 8 Series : NPU SoC</a:t>
            </a:r>
          </a:p>
          <a:p>
            <a:pPr lvl="1"/>
            <a:r>
              <a:rPr lang="pt-BR" dirty="0"/>
              <a:t>Cortex-A53, Cortex-A72, Cortex-A35 + Cortex-M4</a:t>
            </a:r>
          </a:p>
          <a:p>
            <a:pPr lvl="1"/>
            <a:r>
              <a:rPr lang="pt-BR" dirty="0"/>
              <a:t>Le plus connu est le </a:t>
            </a:r>
            <a:r>
              <a:rPr lang="fr-FR" dirty="0"/>
              <a:t>i.MX 8M Plus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4068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EDEEA-287A-A91B-33C9-8BFADF07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840" y="-5966"/>
            <a:ext cx="7829947" cy="1143000"/>
          </a:xfrm>
        </p:spPr>
        <p:txBody>
          <a:bodyPr/>
          <a:lstStyle/>
          <a:p>
            <a:r>
              <a:rPr lang="fr-FR" dirty="0"/>
              <a:t>NXP i.MX 8M Plus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44DBF14-4894-3829-6C00-03428AE62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-99392"/>
            <a:ext cx="5062116" cy="6944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43519FD-8467-B5A0-B46F-4A20B0079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446" y="1137034"/>
            <a:ext cx="4275135" cy="308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30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364785-F755-D233-9083-E3180F6D1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QEMU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B9BAAC-0EA8-2825-5808-64B73CDC6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Projet permettant de d'émuler un </a:t>
            </a:r>
            <a:r>
              <a:rPr lang="fr-FR" dirty="0" err="1"/>
              <a:t>SoC</a:t>
            </a:r>
            <a:r>
              <a:rPr lang="fr-FR" dirty="0"/>
              <a:t> NXP</a:t>
            </a:r>
          </a:p>
          <a:p>
            <a:r>
              <a:rPr lang="fr-FR" dirty="0"/>
              <a:t>qemu.org</a:t>
            </a:r>
          </a:p>
          <a:p>
            <a:pPr lvl="1"/>
            <a:r>
              <a:rPr lang="fr-FR" dirty="0"/>
              <a:t>Télécharger la version Windows x64</a:t>
            </a:r>
          </a:p>
          <a:p>
            <a:pPr lvl="1"/>
            <a:r>
              <a:rPr lang="fr-FR" dirty="0"/>
              <a:t>qemu-system-aarch64.exe pour émuler un ARM 64 comme i.MX</a:t>
            </a:r>
          </a:p>
          <a:p>
            <a:pPr lvl="1"/>
            <a:r>
              <a:rPr lang="fr-FR" dirty="0"/>
              <a:t>Ne supporte pas les NPU</a:t>
            </a:r>
          </a:p>
          <a:p>
            <a:pPr lvl="1"/>
            <a:r>
              <a:rPr lang="fr-FR" dirty="0"/>
              <a:t>Plus facile à utiliser sur Linux avec </a:t>
            </a:r>
            <a:r>
              <a:rPr lang="fr-FR" dirty="0" err="1"/>
              <a:t>virtfs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8741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660483-8C5D-42C9-1B82-7C2B214E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30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DE831-73C8-84FE-46C2-E26F560A2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QEMU NPX</a:t>
            </a:r>
          </a:p>
        </p:txBody>
      </p:sp>
    </p:spTree>
    <p:extLst>
      <p:ext uri="{BB962C8B-B14F-4D97-AF65-F5344CB8AC3E}">
        <p14:creationId xmlns:p14="http://schemas.microsoft.com/office/powerpoint/2010/main" val="308287641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8608</TotalTime>
  <Words>447</Words>
  <Application>Microsoft Office PowerPoint</Application>
  <PresentationFormat>Affichage à l'écran (4:3)</PresentationFormat>
  <Paragraphs>76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Monotype Sorts</vt:lpstr>
      <vt:lpstr>Times New Roman</vt:lpstr>
      <vt:lpstr>cvc</vt:lpstr>
      <vt:lpstr>Présentation PowerPoint</vt:lpstr>
      <vt:lpstr>Multi-core</vt:lpstr>
      <vt:lpstr>NPU</vt:lpstr>
      <vt:lpstr>NPU</vt:lpstr>
      <vt:lpstr>Historique</vt:lpstr>
      <vt:lpstr>Liste des principaux NPU</vt:lpstr>
      <vt:lpstr>DPU</vt:lpstr>
      <vt:lpstr>DPU</vt:lpstr>
      <vt:lpstr>DPU</vt:lpstr>
      <vt:lpstr>Présentation PowerPoint</vt:lpstr>
      <vt:lpstr>NXP i.MX 8M Plus</vt:lpstr>
      <vt:lpstr>QEMU</vt:lpstr>
      <vt:lpstr>TP 30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363</cp:revision>
  <dcterms:created xsi:type="dcterms:W3CDTF">2000-04-10T19:33:12Z</dcterms:created>
  <dcterms:modified xsi:type="dcterms:W3CDTF">2026-06-17T15:49:58Z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