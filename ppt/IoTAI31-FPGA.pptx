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6"/>
  </p:notesMasterIdLst>
  <p:handoutMasterIdLst>
    <p:handoutMasterId r:id="rId27"/>
  </p:handoutMasterIdLst>
  <p:sldIdLst>
    <p:sldId id="264" r:id="rId2"/>
    <p:sldId id="283" r:id="rId3"/>
    <p:sldId id="269" r:id="rId4"/>
    <p:sldId id="284" r:id="rId5"/>
    <p:sldId id="285" r:id="rId6"/>
    <p:sldId id="277" r:id="rId7"/>
    <p:sldId id="275" r:id="rId8"/>
    <p:sldId id="274" r:id="rId9"/>
    <p:sldId id="276" r:id="rId10"/>
    <p:sldId id="278" r:id="rId11"/>
    <p:sldId id="270" r:id="rId12"/>
    <p:sldId id="273" r:id="rId13"/>
    <p:sldId id="271" r:id="rId14"/>
    <p:sldId id="281" r:id="rId15"/>
    <p:sldId id="279" r:id="rId16"/>
    <p:sldId id="280" r:id="rId17"/>
    <p:sldId id="282" r:id="rId18"/>
    <p:sldId id="272" r:id="rId19"/>
    <p:sldId id="286" r:id="rId20"/>
    <p:sldId id="287" r:id="rId21"/>
    <p:sldId id="265" r:id="rId22"/>
    <p:sldId id="266" r:id="rId23"/>
    <p:sldId id="267" r:id="rId24"/>
    <p:sldId id="268" r:id="rId25"/>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8" d="100"/>
          <a:sy n="78" d="100"/>
        </p:scale>
        <p:origin x="1594"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FPGA</a:t>
            </a:r>
          </a:p>
        </p:txBody>
      </p:sp>
      <p:sp>
        <p:nvSpPr>
          <p:cNvPr id="3" name="ZoneTexte 2"/>
          <p:cNvSpPr txBox="1"/>
          <p:nvPr/>
        </p:nvSpPr>
        <p:spPr>
          <a:xfrm>
            <a:off x="3107495" y="2132856"/>
            <a:ext cx="3211135" cy="646331"/>
          </a:xfrm>
          <a:prstGeom prst="rect">
            <a:avLst/>
          </a:prstGeom>
          <a:noFill/>
        </p:spPr>
        <p:txBody>
          <a:bodyPr wrap="none" rtlCol="0">
            <a:spAutoFit/>
          </a:bodyPr>
          <a:lstStyle/>
          <a:p>
            <a:r>
              <a:rPr lang="fr-FR" sz="3600" dirty="0" err="1"/>
              <a:t>Deep</a:t>
            </a:r>
            <a:r>
              <a:rPr lang="fr-FR" sz="3600" dirty="0"/>
              <a:t>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E90674-A30F-2BBF-823C-4AB24813DD31}"/>
              </a:ext>
            </a:extLst>
          </p:cNvPr>
          <p:cNvSpPr>
            <a:spLocks noGrp="1"/>
          </p:cNvSpPr>
          <p:nvPr>
            <p:ph type="title"/>
          </p:nvPr>
        </p:nvSpPr>
        <p:spPr/>
        <p:txBody>
          <a:bodyPr/>
          <a:lstStyle/>
          <a:p>
            <a:r>
              <a:rPr lang="fr-FR" dirty="0"/>
              <a:t>Pourquoi ?</a:t>
            </a:r>
          </a:p>
        </p:txBody>
      </p:sp>
      <p:sp>
        <p:nvSpPr>
          <p:cNvPr id="3" name="Espace réservé du contenu 2">
            <a:extLst>
              <a:ext uri="{FF2B5EF4-FFF2-40B4-BE49-F238E27FC236}">
                <a16:creationId xmlns:a16="http://schemas.microsoft.com/office/drawing/2014/main" id="{12F2A1DC-52BD-A3B3-A109-54EF4BB4B54F}"/>
              </a:ext>
            </a:extLst>
          </p:cNvPr>
          <p:cNvSpPr>
            <a:spLocks noGrp="1"/>
          </p:cNvSpPr>
          <p:nvPr>
            <p:ph idx="1"/>
          </p:nvPr>
        </p:nvSpPr>
        <p:spPr/>
        <p:txBody>
          <a:bodyPr/>
          <a:lstStyle/>
          <a:p>
            <a:r>
              <a:rPr lang="fr-FR" dirty="0"/>
              <a:t>Les réseaux de neurones et les Random Forest sont des modèles connexionnistes</a:t>
            </a:r>
          </a:p>
          <a:p>
            <a:pPr lvl="1"/>
            <a:r>
              <a:rPr lang="fr-FR" dirty="0"/>
              <a:t>De simples graphes ou arbres</a:t>
            </a:r>
          </a:p>
          <a:p>
            <a:pPr lvl="1"/>
            <a:r>
              <a:rPr lang="fr-FR" dirty="0"/>
              <a:t>Il semble facile de les convertir en schéma logique puis physique</a:t>
            </a:r>
          </a:p>
          <a:p>
            <a:pPr lvl="1"/>
            <a:endParaRPr lang="fr-FR" dirty="0"/>
          </a:p>
        </p:txBody>
      </p:sp>
    </p:spTree>
    <p:extLst>
      <p:ext uri="{BB962C8B-B14F-4D97-AF65-F5344CB8AC3E}">
        <p14:creationId xmlns:p14="http://schemas.microsoft.com/office/powerpoint/2010/main" val="4029350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F4F64B-0E54-AAD5-8E7A-2E9A67313A6F}"/>
              </a:ext>
            </a:extLst>
          </p:cNvPr>
          <p:cNvSpPr>
            <a:spLocks noGrp="1"/>
          </p:cNvSpPr>
          <p:nvPr>
            <p:ph type="title"/>
          </p:nvPr>
        </p:nvSpPr>
        <p:spPr/>
        <p:txBody>
          <a:bodyPr/>
          <a:lstStyle/>
          <a:p>
            <a:r>
              <a:rPr lang="fr-FR" dirty="0"/>
              <a:t>FPGA</a:t>
            </a:r>
          </a:p>
        </p:txBody>
      </p:sp>
      <p:sp>
        <p:nvSpPr>
          <p:cNvPr id="3" name="Espace réservé du contenu 2">
            <a:extLst>
              <a:ext uri="{FF2B5EF4-FFF2-40B4-BE49-F238E27FC236}">
                <a16:creationId xmlns:a16="http://schemas.microsoft.com/office/drawing/2014/main" id="{32665C48-7451-5F2C-A5F9-BE19BF082762}"/>
              </a:ext>
            </a:extLst>
          </p:cNvPr>
          <p:cNvSpPr>
            <a:spLocks noGrp="1"/>
          </p:cNvSpPr>
          <p:nvPr>
            <p:ph idx="1"/>
          </p:nvPr>
        </p:nvSpPr>
        <p:spPr/>
        <p:txBody>
          <a:bodyPr/>
          <a:lstStyle/>
          <a:p>
            <a:r>
              <a:rPr lang="fr-FR" dirty="0"/>
              <a:t>Un PLD (Programmable </a:t>
            </a:r>
            <a:r>
              <a:rPr lang="fr-FR" dirty="0" err="1"/>
              <a:t>Logical</a:t>
            </a:r>
            <a:r>
              <a:rPr lang="fr-FR" dirty="0"/>
              <a:t> </a:t>
            </a:r>
            <a:r>
              <a:rPr lang="fr-FR" dirty="0" err="1"/>
              <a:t>Device</a:t>
            </a:r>
            <a:r>
              <a:rPr lang="fr-FR" dirty="0"/>
              <a:t>) est un circuit logique programmable qui peut être programmé après sa fabrication</a:t>
            </a:r>
          </a:p>
          <a:p>
            <a:r>
              <a:rPr lang="fr-FR" dirty="0"/>
              <a:t>Un Field Programmable </a:t>
            </a:r>
            <a:r>
              <a:rPr lang="fr-FR" dirty="0" err="1"/>
              <a:t>Gate</a:t>
            </a:r>
            <a:r>
              <a:rPr lang="fr-FR" dirty="0"/>
              <a:t> </a:t>
            </a:r>
            <a:r>
              <a:rPr lang="fr-FR" dirty="0" err="1"/>
              <a:t>Array</a:t>
            </a:r>
            <a:r>
              <a:rPr lang="fr-FR" dirty="0"/>
              <a:t> est un PLD qui contient :</a:t>
            </a:r>
          </a:p>
          <a:p>
            <a:pPr lvl="1"/>
            <a:r>
              <a:rPr lang="fr-FR" dirty="0"/>
              <a:t>des portes logiques librement interconnectables entre elles</a:t>
            </a:r>
          </a:p>
          <a:p>
            <a:pPr lvl="1"/>
            <a:r>
              <a:rPr lang="fr-FR" dirty="0"/>
              <a:t>des fonctions élémentaires (bascules flip-flop, LUT, Multiplexeurs, boucles à verrouillage de phase),</a:t>
            </a:r>
          </a:p>
          <a:p>
            <a:pPr lvl="1"/>
            <a:r>
              <a:rPr lang="fr-FR" dirty="0"/>
              <a:t>des fonctions de traitement « précâblées » (DSP, protocoles de communication comme le </a:t>
            </a:r>
            <a:r>
              <a:rPr lang="fr-FR" dirty="0" err="1"/>
              <a:t>PCIe</a:t>
            </a:r>
            <a:r>
              <a:rPr lang="fr-FR" dirty="0"/>
              <a:t>, voire des fonctionnalités de microprocesseurs, de mémoire, etc.),</a:t>
            </a:r>
          </a:p>
        </p:txBody>
      </p:sp>
    </p:spTree>
    <p:extLst>
      <p:ext uri="{BB962C8B-B14F-4D97-AF65-F5344CB8AC3E}">
        <p14:creationId xmlns:p14="http://schemas.microsoft.com/office/powerpoint/2010/main" val="3100984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EAA3AE-EDFB-9F4F-E62E-4639E999F3DA}"/>
              </a:ext>
            </a:extLst>
          </p:cNvPr>
          <p:cNvSpPr>
            <a:spLocks noGrp="1"/>
          </p:cNvSpPr>
          <p:nvPr>
            <p:ph type="title"/>
          </p:nvPr>
        </p:nvSpPr>
        <p:spPr/>
        <p:txBody>
          <a:bodyPr/>
          <a:lstStyle/>
          <a:p>
            <a:r>
              <a:rPr lang="fr-FR" dirty="0"/>
              <a:t>Avantages</a:t>
            </a:r>
          </a:p>
        </p:txBody>
      </p:sp>
      <p:sp>
        <p:nvSpPr>
          <p:cNvPr id="3" name="Espace réservé du contenu 2">
            <a:extLst>
              <a:ext uri="{FF2B5EF4-FFF2-40B4-BE49-F238E27FC236}">
                <a16:creationId xmlns:a16="http://schemas.microsoft.com/office/drawing/2014/main" id="{A6A281F3-D590-913F-F100-52C7AC219375}"/>
              </a:ext>
            </a:extLst>
          </p:cNvPr>
          <p:cNvSpPr>
            <a:spLocks noGrp="1"/>
          </p:cNvSpPr>
          <p:nvPr>
            <p:ph idx="1"/>
          </p:nvPr>
        </p:nvSpPr>
        <p:spPr/>
        <p:txBody>
          <a:bodyPr/>
          <a:lstStyle/>
          <a:p>
            <a:r>
              <a:rPr lang="fr-FR" dirty="0"/>
              <a:t>Un temps de traitement borné, c'est-à-dire une forte prédictibilité du temps de traitement, indépendamment de la programmation effectuée</a:t>
            </a:r>
          </a:p>
          <a:p>
            <a:r>
              <a:rPr lang="fr-FR" dirty="0"/>
              <a:t>Une robustesse de la programmation une fois programmée</a:t>
            </a:r>
          </a:p>
          <a:p>
            <a:r>
              <a:rPr lang="fr-FR" dirty="0"/>
              <a:t>La gestion d'entrées et sorties (I/O) potentiellement très nombreuses</a:t>
            </a:r>
          </a:p>
          <a:p>
            <a:r>
              <a:rPr lang="fr-FR" dirty="0"/>
              <a:t>Une faible consommation</a:t>
            </a:r>
          </a:p>
          <a:p>
            <a:r>
              <a:rPr lang="fr-FR" dirty="0"/>
              <a:t>Une latence faible</a:t>
            </a:r>
          </a:p>
        </p:txBody>
      </p:sp>
    </p:spTree>
    <p:extLst>
      <p:ext uri="{BB962C8B-B14F-4D97-AF65-F5344CB8AC3E}">
        <p14:creationId xmlns:p14="http://schemas.microsoft.com/office/powerpoint/2010/main" val="3747575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ABB2C0-9BE5-12AE-B304-087103E24E83}"/>
              </a:ext>
            </a:extLst>
          </p:cNvPr>
          <p:cNvSpPr>
            <a:spLocks noGrp="1"/>
          </p:cNvSpPr>
          <p:nvPr>
            <p:ph type="title"/>
          </p:nvPr>
        </p:nvSpPr>
        <p:spPr/>
        <p:txBody>
          <a:bodyPr/>
          <a:lstStyle/>
          <a:p>
            <a:r>
              <a:rPr lang="fr-FR" dirty="0"/>
              <a:t>Programmation</a:t>
            </a:r>
          </a:p>
        </p:txBody>
      </p:sp>
      <p:sp>
        <p:nvSpPr>
          <p:cNvPr id="3" name="Espace réservé du contenu 2">
            <a:extLst>
              <a:ext uri="{FF2B5EF4-FFF2-40B4-BE49-F238E27FC236}">
                <a16:creationId xmlns:a16="http://schemas.microsoft.com/office/drawing/2014/main" id="{B6430F7F-FE1F-8C26-5394-52CDACF19427}"/>
              </a:ext>
            </a:extLst>
          </p:cNvPr>
          <p:cNvSpPr>
            <a:spLocks noGrp="1"/>
          </p:cNvSpPr>
          <p:nvPr>
            <p:ph idx="1"/>
          </p:nvPr>
        </p:nvSpPr>
        <p:spPr/>
        <p:txBody>
          <a:bodyPr/>
          <a:lstStyle/>
          <a:p>
            <a:r>
              <a:rPr lang="fr-FR" dirty="0"/>
              <a:t>La programmation des FPGA passe par un compilateur basé sur un langage de programmation de type langage de description matériel</a:t>
            </a:r>
          </a:p>
          <a:p>
            <a:pPr lvl="1"/>
            <a:r>
              <a:rPr lang="fr-FR" dirty="0"/>
              <a:t>VHDL </a:t>
            </a:r>
          </a:p>
          <a:p>
            <a:pPr lvl="1"/>
            <a:r>
              <a:rPr lang="fr-FR" dirty="0"/>
              <a:t>VERILOG</a:t>
            </a:r>
          </a:p>
        </p:txBody>
      </p:sp>
    </p:spTree>
    <p:extLst>
      <p:ext uri="{BB962C8B-B14F-4D97-AF65-F5344CB8AC3E}">
        <p14:creationId xmlns:p14="http://schemas.microsoft.com/office/powerpoint/2010/main" val="3766863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18C554-7DF5-BA42-C124-96B2153ED22F}"/>
              </a:ext>
            </a:extLst>
          </p:cNvPr>
          <p:cNvSpPr>
            <a:spLocks noGrp="1"/>
          </p:cNvSpPr>
          <p:nvPr>
            <p:ph type="title"/>
          </p:nvPr>
        </p:nvSpPr>
        <p:spPr/>
        <p:txBody>
          <a:bodyPr/>
          <a:lstStyle/>
          <a:p>
            <a:r>
              <a:rPr lang="fr-FR" dirty="0" err="1"/>
              <a:t>Interêt</a:t>
            </a:r>
            <a:endParaRPr lang="fr-FR" dirty="0"/>
          </a:p>
        </p:txBody>
      </p:sp>
      <p:sp>
        <p:nvSpPr>
          <p:cNvPr id="3" name="Espace réservé du contenu 2">
            <a:extLst>
              <a:ext uri="{FF2B5EF4-FFF2-40B4-BE49-F238E27FC236}">
                <a16:creationId xmlns:a16="http://schemas.microsoft.com/office/drawing/2014/main" id="{916C560F-42B9-9967-616D-D5A3C811DAF4}"/>
              </a:ext>
            </a:extLst>
          </p:cNvPr>
          <p:cNvSpPr>
            <a:spLocks noGrp="1"/>
          </p:cNvSpPr>
          <p:nvPr>
            <p:ph idx="1"/>
          </p:nvPr>
        </p:nvSpPr>
        <p:spPr/>
        <p:txBody>
          <a:bodyPr/>
          <a:lstStyle/>
          <a:p>
            <a:r>
              <a:rPr lang="fr-FR" dirty="0"/>
              <a:t>Le principal intérêt par rapport aux GPU NPU est que le FPGA n'implémente que le réseau dont il a besoin</a:t>
            </a:r>
          </a:p>
          <a:p>
            <a:pPr lvl="1"/>
            <a:r>
              <a:rPr lang="fr-FR" dirty="0"/>
              <a:t>Bien plus économique en porte logique qu'un GPU</a:t>
            </a:r>
          </a:p>
          <a:p>
            <a:pPr lvl="1"/>
            <a:r>
              <a:rPr lang="fr-FR" dirty="0"/>
              <a:t>Latence et consommation plus faible</a:t>
            </a:r>
          </a:p>
          <a:p>
            <a:pPr lvl="1"/>
            <a:endParaRPr lang="fr-FR" dirty="0"/>
          </a:p>
        </p:txBody>
      </p:sp>
    </p:spTree>
    <p:extLst>
      <p:ext uri="{BB962C8B-B14F-4D97-AF65-F5344CB8AC3E}">
        <p14:creationId xmlns:p14="http://schemas.microsoft.com/office/powerpoint/2010/main" val="3617818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18F9F4-3047-9656-A245-C9696A3CE1AE}"/>
              </a:ext>
            </a:extLst>
          </p:cNvPr>
          <p:cNvSpPr>
            <a:spLocks noGrp="1"/>
          </p:cNvSpPr>
          <p:nvPr>
            <p:ph type="title"/>
          </p:nvPr>
        </p:nvSpPr>
        <p:spPr/>
        <p:txBody>
          <a:bodyPr/>
          <a:lstStyle/>
          <a:p>
            <a:r>
              <a:rPr lang="fr-FR" dirty="0"/>
              <a:t>Langages</a:t>
            </a:r>
          </a:p>
        </p:txBody>
      </p:sp>
      <p:sp>
        <p:nvSpPr>
          <p:cNvPr id="3" name="Espace réservé du contenu 2">
            <a:extLst>
              <a:ext uri="{FF2B5EF4-FFF2-40B4-BE49-F238E27FC236}">
                <a16:creationId xmlns:a16="http://schemas.microsoft.com/office/drawing/2014/main" id="{85B4F3D4-DA23-B20D-8D5D-BDD042945DF5}"/>
              </a:ext>
            </a:extLst>
          </p:cNvPr>
          <p:cNvSpPr>
            <a:spLocks noGrp="1"/>
          </p:cNvSpPr>
          <p:nvPr>
            <p:ph idx="1"/>
          </p:nvPr>
        </p:nvSpPr>
        <p:spPr/>
        <p:txBody>
          <a:bodyPr/>
          <a:lstStyle/>
          <a:p>
            <a:r>
              <a:rPr lang="fr-FR" dirty="0"/>
              <a:t>Il existe plusieurs techniques et langages</a:t>
            </a:r>
          </a:p>
          <a:p>
            <a:pPr lvl="1"/>
            <a:r>
              <a:rPr lang="fr-FR" dirty="0"/>
              <a:t>HLS</a:t>
            </a:r>
          </a:p>
          <a:p>
            <a:pPr lvl="1"/>
            <a:r>
              <a:rPr lang="fr-FR" dirty="0"/>
              <a:t>VHDL</a:t>
            </a:r>
          </a:p>
        </p:txBody>
      </p:sp>
    </p:spTree>
    <p:extLst>
      <p:ext uri="{BB962C8B-B14F-4D97-AF65-F5344CB8AC3E}">
        <p14:creationId xmlns:p14="http://schemas.microsoft.com/office/powerpoint/2010/main" val="58146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461763-5A01-9F44-95CF-AC00C86B8498}"/>
              </a:ext>
            </a:extLst>
          </p:cNvPr>
          <p:cNvSpPr>
            <a:spLocks noGrp="1"/>
          </p:cNvSpPr>
          <p:nvPr>
            <p:ph type="title"/>
          </p:nvPr>
        </p:nvSpPr>
        <p:spPr/>
        <p:txBody>
          <a:bodyPr/>
          <a:lstStyle/>
          <a:p>
            <a:r>
              <a:rPr lang="fr-FR" dirty="0"/>
              <a:t>HLS</a:t>
            </a:r>
          </a:p>
        </p:txBody>
      </p:sp>
      <p:sp>
        <p:nvSpPr>
          <p:cNvPr id="3" name="Espace réservé du contenu 2">
            <a:extLst>
              <a:ext uri="{FF2B5EF4-FFF2-40B4-BE49-F238E27FC236}">
                <a16:creationId xmlns:a16="http://schemas.microsoft.com/office/drawing/2014/main" id="{FA281BCF-072E-33C0-C016-B89F14FB3D41}"/>
              </a:ext>
            </a:extLst>
          </p:cNvPr>
          <p:cNvSpPr>
            <a:spLocks noGrp="1"/>
          </p:cNvSpPr>
          <p:nvPr>
            <p:ph idx="1"/>
          </p:nvPr>
        </p:nvSpPr>
        <p:spPr/>
        <p:txBody>
          <a:bodyPr/>
          <a:lstStyle/>
          <a:p>
            <a:r>
              <a:rPr lang="fr-FR" dirty="0"/>
              <a:t>High-</a:t>
            </a:r>
            <a:r>
              <a:rPr lang="fr-FR" dirty="0" err="1"/>
              <a:t>level</a:t>
            </a:r>
            <a:r>
              <a:rPr lang="fr-FR" dirty="0"/>
              <a:t> </a:t>
            </a:r>
            <a:r>
              <a:rPr lang="fr-FR" dirty="0" err="1"/>
              <a:t>synthesis</a:t>
            </a:r>
            <a:r>
              <a:rPr lang="fr-FR" dirty="0"/>
              <a:t> est un processus de conception automatisé qui prend une spécification comportementale abstraite d’un système numérique et en déduit une structure au niveau registre-transfert (RTL) réalisant le comportement donné</a:t>
            </a:r>
          </a:p>
          <a:p>
            <a:pPr lvl="1"/>
            <a:r>
              <a:rPr lang="fr-FR" dirty="0"/>
              <a:t>L’objectif est de permettre aux concepteurs matériels de concevoir et de vérifier plus efficacement du matériel, en leur offrant un meilleur contrôle sur l’optimisation de l’architecture de leur conception, et en leur permettant de décrire le système à un niveau d’abstraction plus élevé pendant que l’outil se charge de l’implémentation RTL</a:t>
            </a:r>
          </a:p>
          <a:p>
            <a:endParaRPr lang="fr-FR" dirty="0"/>
          </a:p>
        </p:txBody>
      </p:sp>
    </p:spTree>
    <p:extLst>
      <p:ext uri="{BB962C8B-B14F-4D97-AF65-F5344CB8AC3E}">
        <p14:creationId xmlns:p14="http://schemas.microsoft.com/office/powerpoint/2010/main" val="3169083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3D89F3-B314-AAB4-3369-4BCA03DE1E81}"/>
              </a:ext>
            </a:extLst>
          </p:cNvPr>
          <p:cNvSpPr>
            <a:spLocks noGrp="1"/>
          </p:cNvSpPr>
          <p:nvPr>
            <p:ph type="title"/>
          </p:nvPr>
        </p:nvSpPr>
        <p:spPr/>
        <p:txBody>
          <a:bodyPr/>
          <a:lstStyle/>
          <a:p>
            <a:r>
              <a:rPr lang="fr-FR" dirty="0"/>
              <a:t>HLS</a:t>
            </a:r>
          </a:p>
        </p:txBody>
      </p:sp>
      <p:sp>
        <p:nvSpPr>
          <p:cNvPr id="3" name="Espace réservé du contenu 2">
            <a:extLst>
              <a:ext uri="{FF2B5EF4-FFF2-40B4-BE49-F238E27FC236}">
                <a16:creationId xmlns:a16="http://schemas.microsoft.com/office/drawing/2014/main" id="{93AA45BE-9755-AD69-8913-29D5C85C664F}"/>
              </a:ext>
            </a:extLst>
          </p:cNvPr>
          <p:cNvSpPr>
            <a:spLocks noGrp="1"/>
          </p:cNvSpPr>
          <p:nvPr>
            <p:ph idx="1"/>
          </p:nvPr>
        </p:nvSpPr>
        <p:spPr/>
        <p:txBody>
          <a:bodyPr/>
          <a:lstStyle/>
          <a:p>
            <a:r>
              <a:rPr lang="fr-FR" dirty="0"/>
              <a:t>La synthèse commence par une spécification de haut niveau du problème</a:t>
            </a:r>
          </a:p>
          <a:p>
            <a:r>
              <a:rPr lang="fr-FR" dirty="0"/>
              <a:t>Le code est analysé, contraint architecturalement et planifié pour être transformé depuis un modèle au niveau transactionnel (TLM) vers une conception au niveau registre-transfert (RTL) dans un langage de description matériel (HDL), qui est ensuite généralement synthétisé au niveau portes via un outil de synthèse logique.</a:t>
            </a:r>
          </a:p>
        </p:txBody>
      </p:sp>
    </p:spTree>
    <p:extLst>
      <p:ext uri="{BB962C8B-B14F-4D97-AF65-F5344CB8AC3E}">
        <p14:creationId xmlns:p14="http://schemas.microsoft.com/office/powerpoint/2010/main" val="1260671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90C60C-A2CA-F6BD-0F4C-DBC9818D71FC}"/>
              </a:ext>
            </a:extLst>
          </p:cNvPr>
          <p:cNvSpPr>
            <a:spLocks noGrp="1"/>
          </p:cNvSpPr>
          <p:nvPr>
            <p:ph type="title"/>
          </p:nvPr>
        </p:nvSpPr>
        <p:spPr/>
        <p:txBody>
          <a:bodyPr/>
          <a:lstStyle/>
          <a:p>
            <a:r>
              <a:rPr lang="fr-FR" dirty="0"/>
              <a:t>HLC C++</a:t>
            </a:r>
          </a:p>
        </p:txBody>
      </p:sp>
      <p:sp>
        <p:nvSpPr>
          <p:cNvPr id="3" name="Espace réservé du contenu 2">
            <a:extLst>
              <a:ext uri="{FF2B5EF4-FFF2-40B4-BE49-F238E27FC236}">
                <a16:creationId xmlns:a16="http://schemas.microsoft.com/office/drawing/2014/main" id="{1653B0FE-6C2B-5330-C2A0-35089F1A3BC1}"/>
              </a:ext>
            </a:extLst>
          </p:cNvPr>
          <p:cNvSpPr>
            <a:spLocks noGrp="1"/>
          </p:cNvSpPr>
          <p:nvPr>
            <p:ph idx="1"/>
          </p:nvPr>
        </p:nvSpPr>
        <p:spPr/>
        <p:txBody>
          <a:bodyPr/>
          <a:lstStyle/>
          <a:p>
            <a:r>
              <a:rPr lang="fr-FR" dirty="0"/>
              <a:t>Les </a:t>
            </a:r>
            <a:r>
              <a:rPr lang="fr-FR" dirty="0" err="1"/>
              <a:t>frameworks</a:t>
            </a:r>
            <a:r>
              <a:rPr lang="fr-FR" dirty="0"/>
              <a:t> HLS sont souvent basés sur du C++ ou du Python</a:t>
            </a:r>
          </a:p>
          <a:p>
            <a:r>
              <a:rPr lang="fr-FR" dirty="0"/>
              <a:t>Il est donc facile de convertir un modèle </a:t>
            </a:r>
            <a:r>
              <a:rPr lang="fr-FR" dirty="0" err="1"/>
              <a:t>RandomForest</a:t>
            </a:r>
            <a:r>
              <a:rPr lang="fr-FR" dirty="0"/>
              <a:t> .h en HLS</a:t>
            </a:r>
          </a:p>
          <a:p>
            <a:r>
              <a:rPr lang="fr-FR" dirty="0"/>
              <a:t>Des outils comme </a:t>
            </a:r>
            <a:r>
              <a:rPr lang="fr-FR" dirty="0" err="1"/>
              <a:t>Vivado</a:t>
            </a:r>
            <a:r>
              <a:rPr lang="fr-FR" dirty="0"/>
              <a:t> HML ou Vitis HLS vont ensuite convertir le HLS en VHDL ou </a:t>
            </a:r>
            <a:r>
              <a:rPr lang="fr-FR" dirty="0" err="1"/>
              <a:t>Verilog</a:t>
            </a:r>
            <a:endParaRPr lang="fr-FR" dirty="0"/>
          </a:p>
          <a:p>
            <a:endParaRPr lang="fr-FR" dirty="0"/>
          </a:p>
        </p:txBody>
      </p:sp>
      <p:pic>
        <p:nvPicPr>
          <p:cNvPr id="4" name="Image 3" descr="logo2">
            <a:extLst>
              <a:ext uri="{FF2B5EF4-FFF2-40B4-BE49-F238E27FC236}">
                <a16:creationId xmlns:a16="http://schemas.microsoft.com/office/drawing/2014/main" id="{1FC0057C-CC9A-6294-FCA0-ECDEB86A8712}"/>
              </a:ext>
            </a:extLst>
          </p:cNvPr>
          <p:cNvPicPr>
            <a:picLocks noChangeAspect="1"/>
          </p:cNvPicPr>
          <p:nvPr/>
        </p:nvPicPr>
        <p:blipFill>
          <a:blip r:embed="rId2"/>
          <a:stretch>
            <a:fillRect/>
          </a:stretch>
        </p:blipFill>
        <p:spPr>
          <a:xfrm>
            <a:off x="3131840" y="4869160"/>
            <a:ext cx="2091358" cy="987121"/>
          </a:xfrm>
          <a:prstGeom prst="rect">
            <a:avLst/>
          </a:prstGeom>
        </p:spPr>
      </p:pic>
    </p:spTree>
    <p:extLst>
      <p:ext uri="{BB962C8B-B14F-4D97-AF65-F5344CB8AC3E}">
        <p14:creationId xmlns:p14="http://schemas.microsoft.com/office/powerpoint/2010/main" val="601836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D20693-1A54-CC2E-18D7-5573119B7D77}"/>
              </a:ext>
            </a:extLst>
          </p:cNvPr>
          <p:cNvSpPr>
            <a:spLocks noGrp="1"/>
          </p:cNvSpPr>
          <p:nvPr>
            <p:ph type="title"/>
          </p:nvPr>
        </p:nvSpPr>
        <p:spPr/>
        <p:txBody>
          <a:bodyPr/>
          <a:lstStyle/>
          <a:p>
            <a:r>
              <a:rPr lang="fr-FR" dirty="0"/>
              <a:t>HLS4ML</a:t>
            </a:r>
          </a:p>
        </p:txBody>
      </p:sp>
      <p:sp>
        <p:nvSpPr>
          <p:cNvPr id="3" name="Espace réservé du contenu 2">
            <a:extLst>
              <a:ext uri="{FF2B5EF4-FFF2-40B4-BE49-F238E27FC236}">
                <a16:creationId xmlns:a16="http://schemas.microsoft.com/office/drawing/2014/main" id="{02FDB766-071A-53A5-13FA-E71592796571}"/>
              </a:ext>
            </a:extLst>
          </p:cNvPr>
          <p:cNvSpPr>
            <a:spLocks noGrp="1"/>
          </p:cNvSpPr>
          <p:nvPr>
            <p:ph idx="1"/>
          </p:nvPr>
        </p:nvSpPr>
        <p:spPr/>
        <p:txBody>
          <a:bodyPr/>
          <a:lstStyle/>
          <a:p>
            <a:r>
              <a:rPr lang="fr-FR" dirty="0"/>
              <a:t>hls4ml est un package pour l’inférence en ML sur FPGA</a:t>
            </a:r>
          </a:p>
          <a:p>
            <a:r>
              <a:rPr lang="fr-FR" dirty="0"/>
              <a:t>Il créé des </a:t>
            </a:r>
            <a:r>
              <a:rPr lang="fr-FR" dirty="0" err="1"/>
              <a:t>firmwares</a:t>
            </a:r>
            <a:r>
              <a:rPr lang="fr-FR" dirty="0"/>
              <a:t> de modèles de ML en utilisant un langage de synthèse de haut niveau</a:t>
            </a:r>
          </a:p>
          <a:p>
            <a:pPr lvl="1"/>
            <a:r>
              <a:rPr lang="fr-FR" dirty="0"/>
              <a:t>HLS</a:t>
            </a:r>
          </a:p>
          <a:p>
            <a:pPr lvl="1"/>
            <a:r>
              <a:rPr lang="fr-FR" dirty="0"/>
              <a:t>HLS4ML est compatible TF et PT</a:t>
            </a:r>
          </a:p>
          <a:p>
            <a:pPr lvl="1"/>
            <a:r>
              <a:rPr lang="fr-FR" dirty="0"/>
              <a:t>Conversion en HLS configurables</a:t>
            </a:r>
          </a:p>
        </p:txBody>
      </p:sp>
      <p:pic>
        <p:nvPicPr>
          <p:cNvPr id="5" name="Image 4">
            <a:extLst>
              <a:ext uri="{FF2B5EF4-FFF2-40B4-BE49-F238E27FC236}">
                <a16:creationId xmlns:a16="http://schemas.microsoft.com/office/drawing/2014/main" id="{7064C03A-76D3-28FF-3821-6E1EA37EE471}"/>
              </a:ext>
            </a:extLst>
          </p:cNvPr>
          <p:cNvPicPr>
            <a:picLocks noChangeAspect="1"/>
          </p:cNvPicPr>
          <p:nvPr/>
        </p:nvPicPr>
        <p:blipFill>
          <a:blip r:embed="rId2"/>
          <a:stretch>
            <a:fillRect/>
          </a:stretch>
        </p:blipFill>
        <p:spPr>
          <a:xfrm>
            <a:off x="3275856" y="0"/>
            <a:ext cx="2879629" cy="1268802"/>
          </a:xfrm>
          <a:prstGeom prst="rect">
            <a:avLst/>
          </a:prstGeom>
        </p:spPr>
      </p:pic>
    </p:spTree>
    <p:extLst>
      <p:ext uri="{BB962C8B-B14F-4D97-AF65-F5344CB8AC3E}">
        <p14:creationId xmlns:p14="http://schemas.microsoft.com/office/powerpoint/2010/main" val="2618839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F28F4-FA99-EADB-6660-80F56D35F9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A0E6D3-BB18-2CED-FEAF-272B0D8E77C3}"/>
              </a:ext>
            </a:extLst>
          </p:cNvPr>
          <p:cNvSpPr>
            <a:spLocks noGrp="1"/>
          </p:cNvSpPr>
          <p:nvPr>
            <p:ph type="title"/>
          </p:nvPr>
        </p:nvSpPr>
        <p:spPr/>
        <p:txBody>
          <a:bodyPr/>
          <a:lstStyle/>
          <a:p>
            <a:r>
              <a:rPr lang="fr-FR" dirty="0"/>
              <a:t>HLS4ML</a:t>
            </a:r>
          </a:p>
        </p:txBody>
      </p:sp>
      <p:sp>
        <p:nvSpPr>
          <p:cNvPr id="3" name="Espace réservé du contenu 2">
            <a:extLst>
              <a:ext uri="{FF2B5EF4-FFF2-40B4-BE49-F238E27FC236}">
                <a16:creationId xmlns:a16="http://schemas.microsoft.com/office/drawing/2014/main" id="{C7CD6FD9-11FB-F77F-880F-79F8682DE953}"/>
              </a:ext>
            </a:extLst>
          </p:cNvPr>
          <p:cNvSpPr>
            <a:spLocks noGrp="1"/>
          </p:cNvSpPr>
          <p:nvPr>
            <p:ph idx="1"/>
          </p:nvPr>
        </p:nvSpPr>
        <p:spPr/>
        <p:txBody>
          <a:bodyPr/>
          <a:lstStyle/>
          <a:p>
            <a:pPr fontAlgn="t"/>
            <a:r>
              <a:rPr lang="fr-FR" dirty="0"/>
              <a:t>hls4ml est conçu pour une inférence à très faible latence sur FPGA</a:t>
            </a:r>
          </a:p>
          <a:p>
            <a:pPr fontAlgn="t"/>
            <a:r>
              <a:rPr lang="fr-FR" dirty="0"/>
              <a:t>Cas d’usage</a:t>
            </a:r>
          </a:p>
          <a:p>
            <a:pPr lvl="1" fontAlgn="t"/>
            <a:r>
              <a:rPr lang="fr-FR" dirty="0"/>
              <a:t>systèmes de contrôle pour le calcul quantique</a:t>
            </a:r>
          </a:p>
          <a:p>
            <a:pPr lvl="1" fontAlgn="t"/>
            <a:r>
              <a:rPr lang="fr-FR" dirty="0"/>
              <a:t>boucles de rétroaction en fusion nucléaire</a:t>
            </a:r>
          </a:p>
          <a:p>
            <a:pPr lvl="1" fontAlgn="t"/>
            <a:r>
              <a:rPr lang="fr-FR" dirty="0"/>
              <a:t>monitoring environnemental basse consommation sur satellites</a:t>
            </a:r>
          </a:p>
          <a:p>
            <a:pPr lvl="1" fontAlgn="t"/>
            <a:r>
              <a:rPr lang="fr-FR" dirty="0"/>
              <a:t>traitement de signaux biomédicaux (par exemple classification d’arythmies)</a:t>
            </a:r>
          </a:p>
        </p:txBody>
      </p:sp>
      <p:pic>
        <p:nvPicPr>
          <p:cNvPr id="5" name="Image 4">
            <a:extLst>
              <a:ext uri="{FF2B5EF4-FFF2-40B4-BE49-F238E27FC236}">
                <a16:creationId xmlns:a16="http://schemas.microsoft.com/office/drawing/2014/main" id="{685F43EE-18E2-E433-D9BC-3D9BB4BA25CC}"/>
              </a:ext>
            </a:extLst>
          </p:cNvPr>
          <p:cNvPicPr>
            <a:picLocks noChangeAspect="1"/>
          </p:cNvPicPr>
          <p:nvPr/>
        </p:nvPicPr>
        <p:blipFill>
          <a:blip r:embed="rId2"/>
          <a:stretch>
            <a:fillRect/>
          </a:stretch>
        </p:blipFill>
        <p:spPr>
          <a:xfrm>
            <a:off x="3275856" y="0"/>
            <a:ext cx="2879629" cy="1268802"/>
          </a:xfrm>
          <a:prstGeom prst="rect">
            <a:avLst/>
          </a:prstGeom>
        </p:spPr>
      </p:pic>
    </p:spTree>
    <p:extLst>
      <p:ext uri="{BB962C8B-B14F-4D97-AF65-F5344CB8AC3E}">
        <p14:creationId xmlns:p14="http://schemas.microsoft.com/office/powerpoint/2010/main" val="1299732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43866F-03C3-0233-D3C2-EA72B3D1BCA2}"/>
              </a:ext>
            </a:extLst>
          </p:cNvPr>
          <p:cNvSpPr>
            <a:spLocks noGrp="1"/>
          </p:cNvSpPr>
          <p:nvPr>
            <p:ph type="title"/>
          </p:nvPr>
        </p:nvSpPr>
        <p:spPr/>
        <p:txBody>
          <a:bodyPr/>
          <a:lstStyle/>
          <a:p>
            <a:endParaRPr lang="fr-FR" dirty="0"/>
          </a:p>
        </p:txBody>
      </p:sp>
      <p:sp>
        <p:nvSpPr>
          <p:cNvPr id="3" name="Espace réservé du contenu 2">
            <a:extLst>
              <a:ext uri="{FF2B5EF4-FFF2-40B4-BE49-F238E27FC236}">
                <a16:creationId xmlns:a16="http://schemas.microsoft.com/office/drawing/2014/main" id="{E7687291-3602-2D8C-58C6-6EF02413C898}"/>
              </a:ext>
            </a:extLst>
          </p:cNvPr>
          <p:cNvSpPr>
            <a:spLocks noGrp="1"/>
          </p:cNvSpPr>
          <p:nvPr>
            <p:ph idx="1"/>
          </p:nvPr>
        </p:nvSpPr>
        <p:spPr/>
        <p:txBody>
          <a:bodyPr/>
          <a:lstStyle/>
          <a:p>
            <a:r>
              <a:rPr lang="fr-FR" dirty="0"/>
              <a:t>Simple d'utilisation</a:t>
            </a:r>
          </a:p>
        </p:txBody>
      </p:sp>
      <p:pic>
        <p:nvPicPr>
          <p:cNvPr id="5" name="Image 4">
            <a:extLst>
              <a:ext uri="{FF2B5EF4-FFF2-40B4-BE49-F238E27FC236}">
                <a16:creationId xmlns:a16="http://schemas.microsoft.com/office/drawing/2014/main" id="{B1C550BD-D115-88A8-17B8-C9BAA6F8D1E7}"/>
              </a:ext>
            </a:extLst>
          </p:cNvPr>
          <p:cNvPicPr>
            <a:picLocks noChangeAspect="1"/>
          </p:cNvPicPr>
          <p:nvPr/>
        </p:nvPicPr>
        <p:blipFill>
          <a:blip r:embed="rId2"/>
          <a:stretch>
            <a:fillRect/>
          </a:stretch>
        </p:blipFill>
        <p:spPr>
          <a:xfrm>
            <a:off x="3275856" y="0"/>
            <a:ext cx="2879629" cy="1268802"/>
          </a:xfrm>
          <a:prstGeom prst="rect">
            <a:avLst/>
          </a:prstGeom>
        </p:spPr>
      </p:pic>
      <p:pic>
        <p:nvPicPr>
          <p:cNvPr id="7" name="Image 6">
            <a:extLst>
              <a:ext uri="{FF2B5EF4-FFF2-40B4-BE49-F238E27FC236}">
                <a16:creationId xmlns:a16="http://schemas.microsoft.com/office/drawing/2014/main" id="{639E9750-E83C-7142-8E48-1C2F92B59EF8}"/>
              </a:ext>
            </a:extLst>
          </p:cNvPr>
          <p:cNvPicPr>
            <a:picLocks noChangeAspect="1"/>
          </p:cNvPicPr>
          <p:nvPr/>
        </p:nvPicPr>
        <p:blipFill>
          <a:blip r:embed="rId3"/>
          <a:stretch>
            <a:fillRect/>
          </a:stretch>
        </p:blipFill>
        <p:spPr>
          <a:xfrm>
            <a:off x="556245" y="2132856"/>
            <a:ext cx="5488018" cy="2592330"/>
          </a:xfrm>
          <a:prstGeom prst="rect">
            <a:avLst/>
          </a:prstGeom>
        </p:spPr>
      </p:pic>
      <p:pic>
        <p:nvPicPr>
          <p:cNvPr id="9" name="Image 8">
            <a:extLst>
              <a:ext uri="{FF2B5EF4-FFF2-40B4-BE49-F238E27FC236}">
                <a16:creationId xmlns:a16="http://schemas.microsoft.com/office/drawing/2014/main" id="{43AD5C9F-F8AC-DCCE-30B5-8CA07A230016}"/>
              </a:ext>
            </a:extLst>
          </p:cNvPr>
          <p:cNvPicPr>
            <a:picLocks noChangeAspect="1"/>
          </p:cNvPicPr>
          <p:nvPr/>
        </p:nvPicPr>
        <p:blipFill>
          <a:blip r:embed="rId4"/>
          <a:stretch>
            <a:fillRect/>
          </a:stretch>
        </p:blipFill>
        <p:spPr>
          <a:xfrm>
            <a:off x="4508859" y="4869160"/>
            <a:ext cx="4651623" cy="1584176"/>
          </a:xfrm>
          <a:prstGeom prst="rect">
            <a:avLst/>
          </a:prstGeom>
        </p:spPr>
      </p:pic>
    </p:spTree>
    <p:extLst>
      <p:ext uri="{BB962C8B-B14F-4D97-AF65-F5344CB8AC3E}">
        <p14:creationId xmlns:p14="http://schemas.microsoft.com/office/powerpoint/2010/main" val="1188683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C3DEE1-674E-D6C0-48F2-627B9D9BDB06}"/>
              </a:ext>
            </a:extLst>
          </p:cNvPr>
          <p:cNvSpPr>
            <a:spLocks noGrp="1"/>
          </p:cNvSpPr>
          <p:nvPr>
            <p:ph type="title"/>
          </p:nvPr>
        </p:nvSpPr>
        <p:spPr/>
        <p:txBody>
          <a:bodyPr/>
          <a:lstStyle/>
          <a:p>
            <a:r>
              <a:rPr lang="fr-FR" dirty="0" err="1"/>
              <a:t>Quantization</a:t>
            </a:r>
            <a:endParaRPr lang="fr-FR" dirty="0"/>
          </a:p>
        </p:txBody>
      </p:sp>
      <p:sp>
        <p:nvSpPr>
          <p:cNvPr id="3" name="Espace réservé du contenu 2">
            <a:extLst>
              <a:ext uri="{FF2B5EF4-FFF2-40B4-BE49-F238E27FC236}">
                <a16:creationId xmlns:a16="http://schemas.microsoft.com/office/drawing/2014/main" id="{081227E9-2736-55C6-5525-0BF39C30B3D3}"/>
              </a:ext>
            </a:extLst>
          </p:cNvPr>
          <p:cNvSpPr>
            <a:spLocks noGrp="1"/>
          </p:cNvSpPr>
          <p:nvPr>
            <p:ph idx="1"/>
          </p:nvPr>
        </p:nvSpPr>
        <p:spPr/>
        <p:txBody>
          <a:bodyPr/>
          <a:lstStyle/>
          <a:p>
            <a:r>
              <a:rPr lang="fr-FR" dirty="0"/>
              <a:t>Il est possible de </a:t>
            </a:r>
            <a:r>
              <a:rPr lang="fr-FR" dirty="0" err="1"/>
              <a:t>quantiser</a:t>
            </a:r>
            <a:r>
              <a:rPr lang="fr-FR" dirty="0"/>
              <a:t> le modèle</a:t>
            </a:r>
          </a:p>
          <a:p>
            <a:r>
              <a:rPr lang="fr-FR" dirty="0"/>
              <a:t>Par défaut en </a:t>
            </a:r>
            <a:r>
              <a:rPr lang="fr-FR" dirty="0" err="1"/>
              <a:t>fixed</a:t>
            </a:r>
            <a:r>
              <a:rPr lang="fr-FR" dirty="0"/>
              <a:t> 16, 6</a:t>
            </a:r>
          </a:p>
          <a:p>
            <a:endParaRPr lang="fr-FR" dirty="0"/>
          </a:p>
          <a:p>
            <a:endParaRPr lang="fr-FR" dirty="0"/>
          </a:p>
          <a:p>
            <a:endParaRPr lang="fr-FR" dirty="0"/>
          </a:p>
          <a:p>
            <a:endParaRPr lang="fr-FR" dirty="0"/>
          </a:p>
          <a:p>
            <a:r>
              <a:rPr lang="fr-FR" dirty="0"/>
              <a:t>Il est possible de </a:t>
            </a:r>
            <a:r>
              <a:rPr lang="fr-FR" dirty="0" err="1"/>
              <a:t>quantiser</a:t>
            </a:r>
            <a:r>
              <a:rPr lang="fr-FR" dirty="0"/>
              <a:t> par layer</a:t>
            </a:r>
          </a:p>
          <a:p>
            <a:endParaRPr lang="fr-FR" dirty="0"/>
          </a:p>
        </p:txBody>
      </p:sp>
      <p:pic>
        <p:nvPicPr>
          <p:cNvPr id="5" name="Image 4">
            <a:extLst>
              <a:ext uri="{FF2B5EF4-FFF2-40B4-BE49-F238E27FC236}">
                <a16:creationId xmlns:a16="http://schemas.microsoft.com/office/drawing/2014/main" id="{42405446-CF65-0791-E8DD-16DFE9EAAB9F}"/>
              </a:ext>
            </a:extLst>
          </p:cNvPr>
          <p:cNvPicPr>
            <a:picLocks noChangeAspect="1"/>
          </p:cNvPicPr>
          <p:nvPr/>
        </p:nvPicPr>
        <p:blipFill>
          <a:blip r:embed="rId2"/>
          <a:stretch>
            <a:fillRect/>
          </a:stretch>
        </p:blipFill>
        <p:spPr>
          <a:xfrm>
            <a:off x="1074117" y="2666934"/>
            <a:ext cx="6995766" cy="1524132"/>
          </a:xfrm>
          <a:prstGeom prst="rect">
            <a:avLst/>
          </a:prstGeom>
        </p:spPr>
      </p:pic>
    </p:spTree>
    <p:extLst>
      <p:ext uri="{BB962C8B-B14F-4D97-AF65-F5344CB8AC3E}">
        <p14:creationId xmlns:p14="http://schemas.microsoft.com/office/powerpoint/2010/main" val="1358939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84988B-F043-F6AA-FDD1-A24565B54D9F}"/>
              </a:ext>
            </a:extLst>
          </p:cNvPr>
          <p:cNvSpPr>
            <a:spLocks noGrp="1"/>
          </p:cNvSpPr>
          <p:nvPr>
            <p:ph type="title"/>
          </p:nvPr>
        </p:nvSpPr>
        <p:spPr/>
        <p:txBody>
          <a:bodyPr/>
          <a:lstStyle/>
          <a:p>
            <a:r>
              <a:rPr lang="fr-FR" dirty="0"/>
              <a:t>HGQ2</a:t>
            </a:r>
          </a:p>
        </p:txBody>
      </p:sp>
      <p:sp>
        <p:nvSpPr>
          <p:cNvPr id="3" name="Espace réservé du contenu 2">
            <a:extLst>
              <a:ext uri="{FF2B5EF4-FFF2-40B4-BE49-F238E27FC236}">
                <a16:creationId xmlns:a16="http://schemas.microsoft.com/office/drawing/2014/main" id="{CFEF4CC4-461E-40C5-D8E4-27ADB7A79F6B}"/>
              </a:ext>
            </a:extLst>
          </p:cNvPr>
          <p:cNvSpPr>
            <a:spLocks noGrp="1"/>
          </p:cNvSpPr>
          <p:nvPr>
            <p:ph idx="1"/>
          </p:nvPr>
        </p:nvSpPr>
        <p:spPr/>
        <p:txBody>
          <a:bodyPr/>
          <a:lstStyle/>
          <a:p>
            <a:r>
              <a:rPr lang="fr-FR" dirty="0"/>
              <a:t>High </a:t>
            </a:r>
            <a:r>
              <a:rPr lang="fr-FR" dirty="0" err="1"/>
              <a:t>Granularity</a:t>
            </a:r>
            <a:r>
              <a:rPr lang="fr-FR" dirty="0"/>
              <a:t> </a:t>
            </a:r>
            <a:r>
              <a:rPr lang="fr-FR" dirty="0" err="1"/>
              <a:t>Quantization</a:t>
            </a:r>
            <a:r>
              <a:rPr lang="fr-FR" dirty="0"/>
              <a:t> 2 est un </a:t>
            </a:r>
            <a:r>
              <a:rPr lang="fr-FR" dirty="0" err="1"/>
              <a:t>framework</a:t>
            </a:r>
            <a:r>
              <a:rPr lang="fr-FR" dirty="0"/>
              <a:t> d’entraînement sensible à la quantification (</a:t>
            </a:r>
            <a:r>
              <a:rPr lang="fr-FR" dirty="0" err="1"/>
              <a:t>quantization-aware</a:t>
            </a:r>
            <a:r>
              <a:rPr lang="fr-FR" dirty="0"/>
              <a:t> training) basé sur </a:t>
            </a:r>
            <a:r>
              <a:rPr lang="fr-FR" dirty="0" err="1"/>
              <a:t>Keras</a:t>
            </a:r>
            <a:r>
              <a:rPr lang="fr-FR" dirty="0"/>
              <a:t> v3, destiné aux applications de </a:t>
            </a:r>
            <a:r>
              <a:rPr lang="fr-FR" dirty="0" err="1"/>
              <a:t>deep</a:t>
            </a:r>
            <a:r>
              <a:rPr lang="fr-FR" dirty="0"/>
              <a:t> </a:t>
            </a:r>
            <a:r>
              <a:rPr lang="fr-FR" dirty="0" err="1"/>
              <a:t>learning</a:t>
            </a:r>
            <a:r>
              <a:rPr lang="fr-FR" dirty="0"/>
              <a:t> en temps réel sur des dispositifs embarqués tels que les FPGA</a:t>
            </a:r>
          </a:p>
          <a:p>
            <a:r>
              <a:rPr lang="fr-FR" dirty="0"/>
              <a:t>Il fournit un ensemble complet d’outils permettant de créer et d’entraîner des réseaux de neurones quantifiés avec un minimum d’effort</a:t>
            </a:r>
          </a:p>
        </p:txBody>
      </p:sp>
    </p:spTree>
    <p:extLst>
      <p:ext uri="{BB962C8B-B14F-4D97-AF65-F5344CB8AC3E}">
        <p14:creationId xmlns:p14="http://schemas.microsoft.com/office/powerpoint/2010/main" val="1643866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938716-B8B5-89C0-974E-84BCE2571599}"/>
              </a:ext>
            </a:extLst>
          </p:cNvPr>
          <p:cNvSpPr>
            <a:spLocks noGrp="1"/>
          </p:cNvSpPr>
          <p:nvPr>
            <p:ph type="title"/>
          </p:nvPr>
        </p:nvSpPr>
        <p:spPr/>
        <p:txBody>
          <a:bodyPr/>
          <a:lstStyle/>
          <a:p>
            <a:r>
              <a:rPr lang="fr-FR" dirty="0"/>
              <a:t>HGQ2</a:t>
            </a:r>
          </a:p>
        </p:txBody>
      </p:sp>
      <p:sp>
        <p:nvSpPr>
          <p:cNvPr id="3" name="Espace réservé du contenu 2">
            <a:extLst>
              <a:ext uri="{FF2B5EF4-FFF2-40B4-BE49-F238E27FC236}">
                <a16:creationId xmlns:a16="http://schemas.microsoft.com/office/drawing/2014/main" id="{360E1EDC-2D17-3205-9080-E6771184DD69}"/>
              </a:ext>
            </a:extLst>
          </p:cNvPr>
          <p:cNvSpPr>
            <a:spLocks noGrp="1"/>
          </p:cNvSpPr>
          <p:nvPr>
            <p:ph idx="1"/>
          </p:nvPr>
        </p:nvSpPr>
        <p:spPr/>
        <p:txBody>
          <a:bodyPr/>
          <a:lstStyle/>
          <a:p>
            <a:r>
              <a:rPr lang="fr-FR" dirty="0"/>
              <a:t>Nécessite de </a:t>
            </a:r>
            <a:r>
              <a:rPr lang="fr-FR" dirty="0" err="1"/>
              <a:t>réentrainner</a:t>
            </a:r>
            <a:r>
              <a:rPr lang="fr-FR" dirty="0"/>
              <a:t> le modèle</a:t>
            </a:r>
          </a:p>
          <a:p>
            <a:pPr lvl="1"/>
            <a:r>
              <a:rPr lang="fr-FR" dirty="0"/>
              <a:t>Uniquement avec </a:t>
            </a:r>
            <a:r>
              <a:rPr lang="fr-FR" dirty="0" err="1"/>
              <a:t>Keras</a:t>
            </a:r>
            <a:endParaRPr lang="fr-FR" dirty="0"/>
          </a:p>
          <a:p>
            <a:pPr lvl="1"/>
            <a:r>
              <a:rPr lang="fr-FR" dirty="0"/>
              <a:t>Doit être fait dés le début du projet : assez lourd</a:t>
            </a:r>
          </a:p>
          <a:p>
            <a:pPr lvl="1"/>
            <a:r>
              <a:rPr lang="fr-FR" dirty="0"/>
              <a:t>Nouveaux </a:t>
            </a:r>
            <a:r>
              <a:rPr lang="fr-FR" dirty="0" err="1"/>
              <a:t>layers</a:t>
            </a:r>
            <a:r>
              <a:rPr lang="fr-FR" dirty="0"/>
              <a:t> préfixés par Q</a:t>
            </a:r>
          </a:p>
          <a:p>
            <a:pPr lvl="1"/>
            <a:endParaRPr lang="fr-FR" dirty="0"/>
          </a:p>
        </p:txBody>
      </p:sp>
      <p:pic>
        <p:nvPicPr>
          <p:cNvPr id="7" name="Image 6">
            <a:extLst>
              <a:ext uri="{FF2B5EF4-FFF2-40B4-BE49-F238E27FC236}">
                <a16:creationId xmlns:a16="http://schemas.microsoft.com/office/drawing/2014/main" id="{00229EC8-E078-56F1-0AD8-1EA4802460AE}"/>
              </a:ext>
            </a:extLst>
          </p:cNvPr>
          <p:cNvPicPr>
            <a:picLocks noChangeAspect="1"/>
          </p:cNvPicPr>
          <p:nvPr/>
        </p:nvPicPr>
        <p:blipFill>
          <a:blip r:embed="rId2"/>
          <a:stretch>
            <a:fillRect/>
          </a:stretch>
        </p:blipFill>
        <p:spPr>
          <a:xfrm>
            <a:off x="1187624" y="3645024"/>
            <a:ext cx="6896698" cy="2187130"/>
          </a:xfrm>
          <a:prstGeom prst="rect">
            <a:avLst/>
          </a:prstGeom>
        </p:spPr>
      </p:pic>
    </p:spTree>
    <p:extLst>
      <p:ext uri="{BB962C8B-B14F-4D97-AF65-F5344CB8AC3E}">
        <p14:creationId xmlns:p14="http://schemas.microsoft.com/office/powerpoint/2010/main" val="4074759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667B77-0575-89D7-53C7-DC15756C7AF1}"/>
              </a:ext>
            </a:extLst>
          </p:cNvPr>
          <p:cNvSpPr>
            <a:spLocks noGrp="1"/>
          </p:cNvSpPr>
          <p:nvPr>
            <p:ph type="title"/>
          </p:nvPr>
        </p:nvSpPr>
        <p:spPr/>
        <p:txBody>
          <a:bodyPr/>
          <a:lstStyle/>
          <a:p>
            <a:r>
              <a:rPr lang="fr-FR" dirty="0"/>
              <a:t>TP 31</a:t>
            </a:r>
          </a:p>
        </p:txBody>
      </p:sp>
      <p:sp>
        <p:nvSpPr>
          <p:cNvPr id="3" name="Espace réservé du contenu 2">
            <a:extLst>
              <a:ext uri="{FF2B5EF4-FFF2-40B4-BE49-F238E27FC236}">
                <a16:creationId xmlns:a16="http://schemas.microsoft.com/office/drawing/2014/main" id="{8828E4A6-7972-5298-D2FE-83FD1CE35D81}"/>
              </a:ext>
            </a:extLst>
          </p:cNvPr>
          <p:cNvSpPr>
            <a:spLocks noGrp="1"/>
          </p:cNvSpPr>
          <p:nvPr>
            <p:ph idx="1"/>
          </p:nvPr>
        </p:nvSpPr>
        <p:spPr/>
        <p:txBody>
          <a:bodyPr/>
          <a:lstStyle/>
          <a:p>
            <a:r>
              <a:rPr lang="fr-FR" dirty="0"/>
              <a:t>Cancer HLS2ML</a:t>
            </a:r>
          </a:p>
          <a:p>
            <a:r>
              <a:rPr lang="fr-FR" dirty="0"/>
              <a:t>MNIST HLS2ML</a:t>
            </a:r>
          </a:p>
        </p:txBody>
      </p:sp>
    </p:spTree>
    <p:extLst>
      <p:ext uri="{BB962C8B-B14F-4D97-AF65-F5344CB8AC3E}">
        <p14:creationId xmlns:p14="http://schemas.microsoft.com/office/powerpoint/2010/main" val="173931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6BE6C-5590-10D1-8704-255B26CD063D}"/>
              </a:ext>
            </a:extLst>
          </p:cNvPr>
          <p:cNvSpPr>
            <a:spLocks noGrp="1"/>
          </p:cNvSpPr>
          <p:nvPr>
            <p:ph type="title"/>
          </p:nvPr>
        </p:nvSpPr>
        <p:spPr/>
        <p:txBody>
          <a:bodyPr/>
          <a:lstStyle/>
          <a:p>
            <a:r>
              <a:rPr lang="fr-FR" dirty="0"/>
              <a:t>Vitis AI</a:t>
            </a:r>
          </a:p>
        </p:txBody>
      </p:sp>
      <p:sp>
        <p:nvSpPr>
          <p:cNvPr id="3" name="Espace réservé du contenu 2">
            <a:extLst>
              <a:ext uri="{FF2B5EF4-FFF2-40B4-BE49-F238E27FC236}">
                <a16:creationId xmlns:a16="http://schemas.microsoft.com/office/drawing/2014/main" id="{604C8F7B-45D4-89B4-8923-5A154CEA104A}"/>
              </a:ext>
            </a:extLst>
          </p:cNvPr>
          <p:cNvSpPr>
            <a:spLocks noGrp="1"/>
          </p:cNvSpPr>
          <p:nvPr>
            <p:ph idx="1"/>
          </p:nvPr>
        </p:nvSpPr>
        <p:spPr/>
        <p:txBody>
          <a:bodyPr/>
          <a:lstStyle/>
          <a:p>
            <a:r>
              <a:rPr lang="fr-FR" dirty="0"/>
              <a:t>Vitis AI est un IDE qui est utilisé pour accélérer l’inférence de ML sur les plateformes adaptatives d’AMD</a:t>
            </a:r>
          </a:p>
          <a:p>
            <a:r>
              <a:rPr lang="fr-FR" dirty="0"/>
              <a:t>Il est conçu dans une optique de haute efficacité et de facilité d’utilisation, permettant d’exploiter pleinement le potentiel de l’accélération de l’IA sur les </a:t>
            </a:r>
            <a:r>
              <a:rPr lang="fr-FR" dirty="0" err="1"/>
              <a:t>SoC</a:t>
            </a:r>
            <a:r>
              <a:rPr lang="fr-FR" dirty="0"/>
              <a:t> adaptatifs AMD</a:t>
            </a:r>
          </a:p>
        </p:txBody>
      </p:sp>
      <p:pic>
        <p:nvPicPr>
          <p:cNvPr id="5" name="Image 4">
            <a:extLst>
              <a:ext uri="{FF2B5EF4-FFF2-40B4-BE49-F238E27FC236}">
                <a16:creationId xmlns:a16="http://schemas.microsoft.com/office/drawing/2014/main" id="{E07A3F79-6383-A23F-BD01-C81CCEF75935}"/>
              </a:ext>
            </a:extLst>
          </p:cNvPr>
          <p:cNvPicPr>
            <a:picLocks noChangeAspect="1"/>
          </p:cNvPicPr>
          <p:nvPr/>
        </p:nvPicPr>
        <p:blipFill>
          <a:blip r:embed="rId2"/>
          <a:stretch>
            <a:fillRect/>
          </a:stretch>
        </p:blipFill>
        <p:spPr>
          <a:xfrm>
            <a:off x="3635896" y="117264"/>
            <a:ext cx="2644369" cy="1295512"/>
          </a:xfrm>
          <a:prstGeom prst="rect">
            <a:avLst/>
          </a:prstGeom>
        </p:spPr>
      </p:pic>
    </p:spTree>
    <p:extLst>
      <p:ext uri="{BB962C8B-B14F-4D97-AF65-F5344CB8AC3E}">
        <p14:creationId xmlns:p14="http://schemas.microsoft.com/office/powerpoint/2010/main" val="3659036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6A0BD7-841B-A922-8210-66CE6F3B44C8}"/>
              </a:ext>
            </a:extLst>
          </p:cNvPr>
          <p:cNvSpPr>
            <a:spLocks noGrp="1"/>
          </p:cNvSpPr>
          <p:nvPr>
            <p:ph type="title"/>
          </p:nvPr>
        </p:nvSpPr>
        <p:spPr/>
        <p:txBody>
          <a:bodyPr/>
          <a:lstStyle/>
          <a:p>
            <a:r>
              <a:rPr lang="fr-FR" dirty="0"/>
              <a:t>Vitis AI</a:t>
            </a:r>
          </a:p>
        </p:txBody>
      </p:sp>
      <p:sp>
        <p:nvSpPr>
          <p:cNvPr id="3" name="Espace réservé du contenu 2">
            <a:extLst>
              <a:ext uri="{FF2B5EF4-FFF2-40B4-BE49-F238E27FC236}">
                <a16:creationId xmlns:a16="http://schemas.microsoft.com/office/drawing/2014/main" id="{A77C4480-5EC0-1E61-C52B-595889BA8CEC}"/>
              </a:ext>
            </a:extLst>
          </p:cNvPr>
          <p:cNvSpPr>
            <a:spLocks noGrp="1"/>
          </p:cNvSpPr>
          <p:nvPr>
            <p:ph idx="1"/>
          </p:nvPr>
        </p:nvSpPr>
        <p:spPr/>
        <p:txBody>
          <a:bodyPr/>
          <a:lstStyle/>
          <a:p>
            <a:r>
              <a:rPr lang="fr-FR" dirty="0"/>
              <a:t>Supporte TF, PT et ONNX</a:t>
            </a:r>
          </a:p>
        </p:txBody>
      </p:sp>
      <p:pic>
        <p:nvPicPr>
          <p:cNvPr id="5" name="Image 4">
            <a:extLst>
              <a:ext uri="{FF2B5EF4-FFF2-40B4-BE49-F238E27FC236}">
                <a16:creationId xmlns:a16="http://schemas.microsoft.com/office/drawing/2014/main" id="{8D0AA6AF-94FE-EF54-7C6B-8C22C2ADC68C}"/>
              </a:ext>
            </a:extLst>
          </p:cNvPr>
          <p:cNvPicPr>
            <a:picLocks noChangeAspect="1"/>
          </p:cNvPicPr>
          <p:nvPr/>
        </p:nvPicPr>
        <p:blipFill>
          <a:blip r:embed="rId2"/>
          <a:stretch>
            <a:fillRect/>
          </a:stretch>
        </p:blipFill>
        <p:spPr>
          <a:xfrm>
            <a:off x="0" y="2564904"/>
            <a:ext cx="9144000" cy="3324483"/>
          </a:xfrm>
          <a:prstGeom prst="rect">
            <a:avLst/>
          </a:prstGeom>
        </p:spPr>
      </p:pic>
    </p:spTree>
    <p:extLst>
      <p:ext uri="{BB962C8B-B14F-4D97-AF65-F5344CB8AC3E}">
        <p14:creationId xmlns:p14="http://schemas.microsoft.com/office/powerpoint/2010/main" val="3990560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712845-BBC0-3174-E7C7-DF622575A5D3}"/>
              </a:ext>
            </a:extLst>
          </p:cNvPr>
          <p:cNvSpPr>
            <a:spLocks noGrp="1"/>
          </p:cNvSpPr>
          <p:nvPr>
            <p:ph type="title"/>
          </p:nvPr>
        </p:nvSpPr>
        <p:spPr/>
        <p:txBody>
          <a:bodyPr/>
          <a:lstStyle/>
          <a:p>
            <a:r>
              <a:rPr lang="fr-FR" dirty="0"/>
              <a:t>AMD Quark</a:t>
            </a:r>
          </a:p>
        </p:txBody>
      </p:sp>
      <p:sp>
        <p:nvSpPr>
          <p:cNvPr id="3" name="Espace réservé du contenu 2">
            <a:extLst>
              <a:ext uri="{FF2B5EF4-FFF2-40B4-BE49-F238E27FC236}">
                <a16:creationId xmlns:a16="http://schemas.microsoft.com/office/drawing/2014/main" id="{482E94C2-0FCA-33B7-DC3B-DCB6038C466E}"/>
              </a:ext>
            </a:extLst>
          </p:cNvPr>
          <p:cNvSpPr>
            <a:spLocks noGrp="1"/>
          </p:cNvSpPr>
          <p:nvPr>
            <p:ph idx="1"/>
          </p:nvPr>
        </p:nvSpPr>
        <p:spPr/>
        <p:txBody>
          <a:bodyPr/>
          <a:lstStyle/>
          <a:p>
            <a:r>
              <a:rPr lang="fr-FR" dirty="0"/>
              <a:t>AMD Quark est un toolkit complet multi‑plateforme conçu pour simplifier et améliorer la quantification des modèles de DL</a:t>
            </a:r>
          </a:p>
          <a:p>
            <a:r>
              <a:rPr lang="fr-FR" dirty="0"/>
              <a:t>Prenant en charge à la fois les modèles </a:t>
            </a:r>
            <a:r>
              <a:rPr lang="fr-FR" dirty="0" err="1"/>
              <a:t>PyTorch</a:t>
            </a:r>
            <a:r>
              <a:rPr lang="fr-FR" dirty="0"/>
              <a:t> et ONNX, AMD Quark permet aux développeurs d’optimiser leurs modèles pour un déploiement sur un large éventail de cibles matérielles, en obtenant des gains de performance significatifs sans compromettre la précision</a:t>
            </a:r>
          </a:p>
        </p:txBody>
      </p:sp>
    </p:spTree>
    <p:extLst>
      <p:ext uri="{BB962C8B-B14F-4D97-AF65-F5344CB8AC3E}">
        <p14:creationId xmlns:p14="http://schemas.microsoft.com/office/powerpoint/2010/main" val="3783609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7AA94C-25BA-AC27-A44C-F3EE163ABFA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BD6223A-8759-83E0-4A49-426B6123F674}"/>
              </a:ext>
            </a:extLst>
          </p:cNvPr>
          <p:cNvSpPr>
            <a:spLocks noGrp="1"/>
          </p:cNvSpPr>
          <p:nvPr>
            <p:ph idx="1"/>
          </p:nvPr>
        </p:nvSpPr>
        <p:spPr/>
        <p:txBody>
          <a:bodyPr/>
          <a:lstStyle/>
          <a:p>
            <a:r>
              <a:rPr lang="fr-FR" b="1" dirty="0"/>
              <a:t>Stack recommandée : Xilinx Vitis AI + Docker</a:t>
            </a:r>
          </a:p>
          <a:p>
            <a:r>
              <a:rPr lang="fr-FR" dirty="0"/>
              <a:t>.h5 / .</a:t>
            </a:r>
            <a:r>
              <a:rPr lang="fr-FR" dirty="0" err="1"/>
              <a:t>pth</a:t>
            </a:r>
            <a:endParaRPr lang="fr-FR" dirty="0"/>
          </a:p>
          <a:p>
            <a:r>
              <a:rPr lang="fr-FR" dirty="0"/>
              <a:t>    → ONNX</a:t>
            </a:r>
          </a:p>
          <a:p>
            <a:r>
              <a:rPr lang="fr-FR" dirty="0"/>
              <a:t>        → Vitis AI </a:t>
            </a:r>
            <a:r>
              <a:rPr lang="fr-FR" dirty="0" err="1"/>
              <a:t>Quantizer</a:t>
            </a:r>
            <a:r>
              <a:rPr lang="fr-FR" dirty="0"/>
              <a:t> (INT8)</a:t>
            </a:r>
          </a:p>
          <a:p>
            <a:r>
              <a:rPr lang="fr-FR" dirty="0"/>
              <a:t>            → Vitis AI Compiler</a:t>
            </a:r>
          </a:p>
          <a:p>
            <a:r>
              <a:rPr lang="fr-FR" dirty="0"/>
              <a:t>                → Simulation sur </a:t>
            </a:r>
            <a:r>
              <a:rPr lang="fr-FR" dirty="0" err="1"/>
              <a:t>xmodel</a:t>
            </a:r>
            <a:endParaRPr lang="fr-FR" dirty="0"/>
          </a:p>
          <a:p>
            <a:r>
              <a:rPr lang="fr-FR" b="1" dirty="0"/>
              <a:t>Installation sur Windows</a:t>
            </a:r>
          </a:p>
          <a:p>
            <a:endParaRPr lang="fr-FR" dirty="0"/>
          </a:p>
        </p:txBody>
      </p:sp>
    </p:spTree>
    <p:extLst>
      <p:ext uri="{BB962C8B-B14F-4D97-AF65-F5344CB8AC3E}">
        <p14:creationId xmlns:p14="http://schemas.microsoft.com/office/powerpoint/2010/main" val="3412424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BACD3C-F381-DE7D-418A-6256E25D389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9D145C8-41F3-9CDC-CB8E-3439EDD989A6}"/>
              </a:ext>
            </a:extLst>
          </p:cNvPr>
          <p:cNvSpPr>
            <a:spLocks noGrp="1"/>
          </p:cNvSpPr>
          <p:nvPr>
            <p:ph idx="1"/>
          </p:nvPr>
        </p:nvSpPr>
        <p:spPr/>
        <p:txBody>
          <a:bodyPr/>
          <a:lstStyle/>
          <a:p>
            <a:r>
              <a:rPr lang="fr-FR" dirty="0"/>
              <a:t># Installe Docker Desktop</a:t>
            </a:r>
          </a:p>
          <a:p>
            <a:r>
              <a:rPr lang="fr-FR" dirty="0"/>
              <a:t># Puis pull l'image Vitis AI</a:t>
            </a:r>
          </a:p>
          <a:p>
            <a:r>
              <a:rPr lang="fr-FR" dirty="0"/>
              <a:t>docker pull </a:t>
            </a:r>
            <a:r>
              <a:rPr lang="fr-FR" dirty="0" err="1"/>
              <a:t>xilinx</a:t>
            </a:r>
            <a:r>
              <a:rPr lang="fr-FR" dirty="0"/>
              <a:t>/</a:t>
            </a:r>
            <a:r>
              <a:rPr lang="fr-FR" dirty="0" err="1"/>
              <a:t>vitis-ai-cpu:latest</a:t>
            </a:r>
            <a:endParaRPr lang="fr-FR" dirty="0"/>
          </a:p>
          <a:p>
            <a:r>
              <a:rPr lang="fr-FR" dirty="0"/>
              <a:t>docker run -</a:t>
            </a:r>
            <a:r>
              <a:rPr lang="fr-FR" dirty="0" err="1"/>
              <a:t>it</a:t>
            </a:r>
            <a:r>
              <a:rPr lang="fr-FR" dirty="0"/>
              <a:t> </a:t>
            </a:r>
            <a:r>
              <a:rPr lang="fr-FR" dirty="0" err="1"/>
              <a:t>xilinx</a:t>
            </a:r>
            <a:r>
              <a:rPr lang="fr-FR" dirty="0"/>
              <a:t>/</a:t>
            </a:r>
            <a:r>
              <a:rPr lang="fr-FR" dirty="0" err="1"/>
              <a:t>vitis-ai-cpu:latest</a:t>
            </a:r>
            <a:endParaRPr lang="fr-FR" dirty="0"/>
          </a:p>
        </p:txBody>
      </p:sp>
    </p:spTree>
    <p:extLst>
      <p:ext uri="{BB962C8B-B14F-4D97-AF65-F5344CB8AC3E}">
        <p14:creationId xmlns:p14="http://schemas.microsoft.com/office/powerpoint/2010/main" val="568035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7DEE62-367C-3C73-947B-7C78AF0974E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551B990-F0B7-71EE-48E3-C4141D648309}"/>
              </a:ext>
            </a:extLst>
          </p:cNvPr>
          <p:cNvSpPr>
            <a:spLocks noGrp="1"/>
          </p:cNvSpPr>
          <p:nvPr>
            <p:ph idx="1"/>
          </p:nvPr>
        </p:nvSpPr>
        <p:spPr/>
        <p:txBody>
          <a:bodyPr/>
          <a:lstStyle/>
          <a:p>
            <a:r>
              <a:rPr lang="fr-FR" sz="2000" dirty="0"/>
              <a:t># </a:t>
            </a:r>
            <a:r>
              <a:rPr lang="fr-FR" sz="2000" dirty="0" err="1"/>
              <a:t>Quantisation</a:t>
            </a:r>
            <a:r>
              <a:rPr lang="fr-FR" sz="2000" dirty="0"/>
              <a:t> INT8</a:t>
            </a:r>
          </a:p>
          <a:p>
            <a:r>
              <a:rPr lang="fr-FR" sz="2000" dirty="0" err="1"/>
              <a:t>vai_q_onnx</a:t>
            </a:r>
            <a:r>
              <a:rPr lang="fr-FR" sz="2000" dirty="0"/>
              <a:t> </a:t>
            </a:r>
            <a:r>
              <a:rPr lang="fr-FR" sz="2000" dirty="0" err="1"/>
              <a:t>quantize</a:t>
            </a:r>
            <a:r>
              <a:rPr lang="fr-FR" sz="2000" dirty="0"/>
              <a:t> \</a:t>
            </a:r>
          </a:p>
          <a:p>
            <a:r>
              <a:rPr lang="fr-FR" sz="2000" dirty="0"/>
              <a:t>  --</a:t>
            </a:r>
            <a:r>
              <a:rPr lang="fr-FR" sz="2000" dirty="0" err="1"/>
              <a:t>input_model</a:t>
            </a:r>
            <a:r>
              <a:rPr lang="fr-FR" sz="2000" dirty="0"/>
              <a:t> </a:t>
            </a:r>
            <a:r>
              <a:rPr lang="fr-FR" sz="2000" dirty="0" err="1"/>
              <a:t>wdbc.onnx</a:t>
            </a:r>
            <a:r>
              <a:rPr lang="fr-FR" sz="2000" dirty="0"/>
              <a:t> \</a:t>
            </a:r>
          </a:p>
          <a:p>
            <a:r>
              <a:rPr lang="fr-FR" sz="2000" dirty="0"/>
              <a:t>  --</a:t>
            </a:r>
            <a:r>
              <a:rPr lang="fr-FR" sz="2000" dirty="0" err="1"/>
              <a:t>output_model</a:t>
            </a:r>
            <a:r>
              <a:rPr lang="fr-FR" sz="2000" dirty="0"/>
              <a:t> </a:t>
            </a:r>
            <a:r>
              <a:rPr lang="fr-FR" sz="2000" dirty="0" err="1"/>
              <a:t>wdbc_quant.onnx</a:t>
            </a:r>
            <a:r>
              <a:rPr lang="fr-FR" sz="2000" dirty="0"/>
              <a:t> \</a:t>
            </a:r>
          </a:p>
          <a:p>
            <a:r>
              <a:rPr lang="fr-FR" sz="2000" dirty="0"/>
              <a:t>  --</a:t>
            </a:r>
            <a:r>
              <a:rPr lang="fr-FR" sz="2000" dirty="0" err="1"/>
              <a:t>calibration_data_reader</a:t>
            </a:r>
            <a:r>
              <a:rPr lang="fr-FR" sz="2000" dirty="0"/>
              <a:t> calibration.py</a:t>
            </a:r>
          </a:p>
          <a:p>
            <a:endParaRPr lang="fr-FR" sz="2000" dirty="0"/>
          </a:p>
          <a:p>
            <a:r>
              <a:rPr lang="fr-FR" sz="2000" dirty="0"/>
              <a:t># Compilation pour DPU (le NPU des </a:t>
            </a:r>
            <a:r>
              <a:rPr lang="fr-FR" sz="2000" dirty="0" err="1"/>
              <a:t>Zynq</a:t>
            </a:r>
            <a:r>
              <a:rPr lang="fr-FR" sz="2000" dirty="0"/>
              <a:t>)</a:t>
            </a:r>
          </a:p>
          <a:p>
            <a:r>
              <a:rPr lang="fr-FR" sz="2000" dirty="0" err="1"/>
              <a:t>vai_c_onnx</a:t>
            </a:r>
            <a:r>
              <a:rPr lang="fr-FR" sz="2000" dirty="0"/>
              <a:t> \</a:t>
            </a:r>
          </a:p>
          <a:p>
            <a:r>
              <a:rPr lang="fr-FR" sz="2000" dirty="0"/>
              <a:t>  --input </a:t>
            </a:r>
            <a:r>
              <a:rPr lang="fr-FR" sz="2000" dirty="0" err="1"/>
              <a:t>wdbc_quant.onnx</a:t>
            </a:r>
            <a:r>
              <a:rPr lang="fr-FR" sz="2000" dirty="0"/>
              <a:t> \</a:t>
            </a:r>
          </a:p>
          <a:p>
            <a:r>
              <a:rPr lang="fr-FR" sz="2000" dirty="0"/>
              <a:t>  --</a:t>
            </a:r>
            <a:r>
              <a:rPr lang="fr-FR" sz="2000" dirty="0" err="1"/>
              <a:t>arch</a:t>
            </a:r>
            <a:r>
              <a:rPr lang="fr-FR" sz="2000" dirty="0"/>
              <a:t> /</a:t>
            </a:r>
            <a:r>
              <a:rPr lang="fr-FR" sz="2000" dirty="0" err="1"/>
              <a:t>opt</a:t>
            </a:r>
            <a:r>
              <a:rPr lang="fr-FR" sz="2000" dirty="0"/>
              <a:t>/</a:t>
            </a:r>
            <a:r>
              <a:rPr lang="fr-FR" sz="2000" dirty="0" err="1"/>
              <a:t>vitis_ai</a:t>
            </a:r>
            <a:r>
              <a:rPr lang="fr-FR" sz="2000" dirty="0"/>
              <a:t>/compiler/</a:t>
            </a:r>
            <a:r>
              <a:rPr lang="fr-FR" sz="2000" dirty="0" err="1"/>
              <a:t>arch</a:t>
            </a:r>
            <a:r>
              <a:rPr lang="fr-FR" sz="2000" dirty="0"/>
              <a:t>/DPUCZDX8G/ZCU102/</a:t>
            </a:r>
            <a:r>
              <a:rPr lang="fr-FR" sz="2000" dirty="0" err="1"/>
              <a:t>arch.json</a:t>
            </a:r>
            <a:r>
              <a:rPr lang="fr-FR" sz="2000" dirty="0"/>
              <a:t> \</a:t>
            </a:r>
          </a:p>
          <a:p>
            <a:r>
              <a:rPr lang="fr-FR" sz="2000" dirty="0"/>
              <a:t>  --</a:t>
            </a:r>
            <a:r>
              <a:rPr lang="fr-FR" sz="2000" dirty="0" err="1"/>
              <a:t>output_dir</a:t>
            </a:r>
            <a:r>
              <a:rPr lang="fr-FR" sz="2000" dirty="0"/>
              <a:t> . \</a:t>
            </a:r>
          </a:p>
          <a:p>
            <a:r>
              <a:rPr lang="fr-FR" sz="2000" dirty="0"/>
              <a:t>  --</a:t>
            </a:r>
            <a:r>
              <a:rPr lang="fr-FR" sz="2000" dirty="0" err="1"/>
              <a:t>net_name</a:t>
            </a:r>
            <a:r>
              <a:rPr lang="fr-FR" sz="2000" dirty="0"/>
              <a:t> </a:t>
            </a:r>
            <a:r>
              <a:rPr lang="fr-FR" sz="2000" dirty="0" err="1"/>
              <a:t>wdbc</a:t>
            </a:r>
            <a:endParaRPr lang="fr-FR" sz="2000" dirty="0"/>
          </a:p>
        </p:txBody>
      </p:sp>
    </p:spTree>
    <p:extLst>
      <p:ext uri="{BB962C8B-B14F-4D97-AF65-F5344CB8AC3E}">
        <p14:creationId xmlns:p14="http://schemas.microsoft.com/office/powerpoint/2010/main" val="741439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6C9AD1-3BE1-4FFE-54C4-D922DF45D70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CF528D6-C58D-10F7-8DDB-2E57C8BD0524}"/>
              </a:ext>
            </a:extLst>
          </p:cNvPr>
          <p:cNvSpPr>
            <a:spLocks noGrp="1"/>
          </p:cNvSpPr>
          <p:nvPr>
            <p:ph idx="1"/>
          </p:nvPr>
        </p:nvSpPr>
        <p:spPr/>
        <p:txBody>
          <a:bodyPr/>
          <a:lstStyle/>
          <a:p>
            <a:r>
              <a:rPr lang="fr-FR" dirty="0"/>
              <a:t># Vitis AI fournit un simulateur du DPU </a:t>
            </a:r>
            <a:r>
              <a:rPr lang="fr-FR" dirty="0" err="1"/>
              <a:t>xdputil</a:t>
            </a:r>
            <a:r>
              <a:rPr lang="fr-FR" dirty="0"/>
              <a:t> benchmark </a:t>
            </a:r>
            <a:r>
              <a:rPr lang="fr-FR" dirty="0" err="1"/>
              <a:t>wdbc.xmodel</a:t>
            </a:r>
            <a:r>
              <a:rPr lang="fr-FR" dirty="0"/>
              <a:t> -i 1000</a:t>
            </a:r>
          </a:p>
        </p:txBody>
      </p:sp>
    </p:spTree>
    <p:extLst>
      <p:ext uri="{BB962C8B-B14F-4D97-AF65-F5344CB8AC3E}">
        <p14:creationId xmlns:p14="http://schemas.microsoft.com/office/powerpoint/2010/main" val="2079497255"/>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7833</TotalTime>
  <Words>924</Words>
  <Application>Microsoft Office PowerPoint</Application>
  <PresentationFormat>Affichage à l'écran (4:3)</PresentationFormat>
  <Paragraphs>105</Paragraphs>
  <Slides>24</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24</vt:i4>
      </vt:variant>
    </vt:vector>
  </HeadingPairs>
  <TitlesOfParts>
    <vt:vector size="28" baseType="lpstr">
      <vt:lpstr>Arial</vt:lpstr>
      <vt:lpstr>Monotype Sorts</vt:lpstr>
      <vt:lpstr>Times New Roman</vt:lpstr>
      <vt:lpstr>cvc</vt:lpstr>
      <vt:lpstr>Présentation PowerPoint</vt:lpstr>
      <vt:lpstr>Pourquoi ?</vt:lpstr>
      <vt:lpstr>FPGA</vt:lpstr>
      <vt:lpstr>Avantages</vt:lpstr>
      <vt:lpstr>Programmation</vt:lpstr>
      <vt:lpstr>Interêt</vt:lpstr>
      <vt:lpstr>Langages</vt:lpstr>
      <vt:lpstr>HLS</vt:lpstr>
      <vt:lpstr>HLS</vt:lpstr>
      <vt:lpstr>HLC C++</vt:lpstr>
      <vt:lpstr>HLS4ML</vt:lpstr>
      <vt:lpstr>HLS4ML</vt:lpstr>
      <vt:lpstr>Présentation PowerPoint</vt:lpstr>
      <vt:lpstr>Quantization</vt:lpstr>
      <vt:lpstr>HGQ2</vt:lpstr>
      <vt:lpstr>HGQ2</vt:lpstr>
      <vt:lpstr>TP 31</vt:lpstr>
      <vt:lpstr>Vitis AI</vt:lpstr>
      <vt:lpstr>Vitis AI</vt:lpstr>
      <vt:lpstr>AMD Quark</vt:lpstr>
      <vt:lpstr>Présentation PowerPoint</vt:lpstr>
      <vt:lpstr>Présentation PowerPoint</vt:lpstr>
      <vt:lpstr>Présentation PowerPoint</vt:lpstr>
      <vt:lpstr>Présentation PowerPoint</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366</cp:revision>
  <dcterms:created xsi:type="dcterms:W3CDTF">2000-04-10T19:33:12Z</dcterms:created>
  <dcterms:modified xsi:type="dcterms:W3CDTF">2026-06-17T10:54:43Z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