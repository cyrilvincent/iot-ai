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20"/>
  </p:notesMasterIdLst>
  <p:handoutMasterIdLst>
    <p:handoutMasterId r:id="rId21"/>
  </p:handoutMasterIdLst>
  <p:sldIdLst>
    <p:sldId id="264" r:id="rId2"/>
    <p:sldId id="293" r:id="rId3"/>
    <p:sldId id="294" r:id="rId4"/>
    <p:sldId id="266" r:id="rId5"/>
    <p:sldId id="295" r:id="rId6"/>
    <p:sldId id="298" r:id="rId7"/>
    <p:sldId id="296" r:id="rId8"/>
    <p:sldId id="299" r:id="rId9"/>
    <p:sldId id="300" r:id="rId10"/>
    <p:sldId id="297" r:id="rId11"/>
    <p:sldId id="304" r:id="rId12"/>
    <p:sldId id="301" r:id="rId13"/>
    <p:sldId id="302" r:id="rId14"/>
    <p:sldId id="303" r:id="rId15"/>
    <p:sldId id="306" r:id="rId16"/>
    <p:sldId id="307" r:id="rId17"/>
    <p:sldId id="289" r:id="rId18"/>
    <p:sldId id="308" r:id="rId19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34" autoAdjust="0"/>
    <p:restoredTop sz="94590" autoAdjust="0"/>
  </p:normalViewPr>
  <p:slideViewPr>
    <p:cSldViewPr>
      <p:cViewPr varScale="1">
        <p:scale>
          <a:sx n="78" d="100"/>
          <a:sy n="78" d="100"/>
        </p:scale>
        <p:origin x="614" y="29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 dirty="0" err="1"/>
              <a:t>ExecuTorch</a:t>
            </a:r>
            <a:endParaRPr lang="fr-FR" altLang="fr-FR" dirty="0"/>
          </a:p>
        </p:txBody>
      </p:sp>
      <p:sp>
        <p:nvSpPr>
          <p:cNvPr id="3" name="ZoneTexte 2"/>
          <p:cNvSpPr txBox="1"/>
          <p:nvPr/>
        </p:nvSpPr>
        <p:spPr>
          <a:xfrm>
            <a:off x="3107495" y="2132856"/>
            <a:ext cx="32111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 err="1"/>
              <a:t>Deep</a:t>
            </a:r>
            <a:r>
              <a:rPr lang="fr-FR" sz="3600" dirty="0"/>
              <a:t> Learning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49151C95-BFF1-4B41-2CAD-9CE29EBB0C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848" y="4437112"/>
            <a:ext cx="1882303" cy="19889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FBC646-AFF2-69B0-BD15-B8D790C13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ExecuTorch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B3219AB-02E3-541B-CCCB-156421AB40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ExecuTorch</a:t>
            </a:r>
            <a:r>
              <a:rPr lang="fr-FR" dirty="0"/>
              <a:t> est un ensemble d'outils conçus pour aider les développeurs à exécuter leurs modèles sur des appareils mobiles, intégrés et IoT afin d'apporter le ML embarqué</a:t>
            </a:r>
          </a:p>
          <a:p>
            <a:r>
              <a:rPr lang="fr-FR" dirty="0"/>
              <a:t>Facebook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90DB3575-6C95-48D7-C1D5-ABFC897388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2240" y="0"/>
            <a:ext cx="1077443" cy="1138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56285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A57FC1-FD72-8E1A-DCE7-39F0620BE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Contraintes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B19EF08-17C8-5AA4-7FBD-C51BF74D23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Latence</a:t>
            </a:r>
          </a:p>
          <a:p>
            <a:pPr lvl="1"/>
            <a:r>
              <a:rPr lang="fr-FR" dirty="0"/>
              <a:t>pas d'aller-retour avec un serveur</a:t>
            </a:r>
          </a:p>
          <a:p>
            <a:r>
              <a:rPr lang="fr-FR" dirty="0"/>
              <a:t>Confidentialité</a:t>
            </a:r>
          </a:p>
          <a:p>
            <a:pPr lvl="1"/>
            <a:r>
              <a:rPr lang="fr-FR" dirty="0"/>
              <a:t>aucune donnée personnelle ne quitte l'appareil</a:t>
            </a:r>
          </a:p>
          <a:p>
            <a:r>
              <a:rPr lang="fr-FR" dirty="0"/>
              <a:t>Connectivité</a:t>
            </a:r>
          </a:p>
          <a:p>
            <a:pPr lvl="1"/>
            <a:r>
              <a:rPr lang="fr-FR" dirty="0"/>
              <a:t>aucune connexion Internet requise</a:t>
            </a:r>
          </a:p>
          <a:p>
            <a:r>
              <a:rPr lang="fr-FR" dirty="0"/>
              <a:t>taille</a:t>
            </a:r>
          </a:p>
          <a:p>
            <a:pPr lvl="1"/>
            <a:r>
              <a:rPr lang="fr-FR" dirty="0"/>
              <a:t>modèle réduit et taille binaire</a:t>
            </a:r>
          </a:p>
          <a:p>
            <a:r>
              <a:rPr lang="fr-FR" dirty="0"/>
              <a:t>Consommation d'énergie</a:t>
            </a:r>
          </a:p>
          <a:p>
            <a:pPr lvl="1"/>
            <a:r>
              <a:rPr lang="fr-FR" dirty="0"/>
              <a:t>inférence efficace et absence de connexions réseau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373331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ExecuTorch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Framework pour mobile et </a:t>
            </a:r>
            <a:r>
              <a:rPr lang="fr-FR" dirty="0" err="1"/>
              <a:t>IoT</a:t>
            </a:r>
            <a:endParaRPr lang="fr-FR" dirty="0"/>
          </a:p>
          <a:p>
            <a:pPr lvl="1"/>
            <a:r>
              <a:rPr lang="fr-FR" dirty="0"/>
              <a:t>Permet une utilisation plus légère de </a:t>
            </a:r>
            <a:r>
              <a:rPr lang="fr-FR" dirty="0" err="1"/>
              <a:t>PyTorch</a:t>
            </a:r>
            <a:endParaRPr lang="fr-FR" dirty="0"/>
          </a:p>
          <a:p>
            <a:pPr lvl="1"/>
            <a:r>
              <a:rPr lang="fr-FR" dirty="0"/>
              <a:t>Inférence</a:t>
            </a:r>
          </a:p>
          <a:p>
            <a:pPr lvl="1"/>
            <a:r>
              <a:rPr lang="fr-FR" dirty="0"/>
              <a:t>32 bits (aucune différence significative avec </a:t>
            </a:r>
            <a:r>
              <a:rPr lang="fr-FR" dirty="0" err="1"/>
              <a:t>PyTorch</a:t>
            </a:r>
            <a:r>
              <a:rPr lang="fr-FR" dirty="0"/>
              <a:t> qui est en 64 bits)</a:t>
            </a:r>
          </a:p>
          <a:p>
            <a:pPr lvl="1"/>
            <a:r>
              <a:rPr lang="fr-FR" dirty="0"/>
              <a:t>Implémentation Python, C++, Java, Android, Javascript, …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028168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619AE97-78FE-9D95-04F6-5151EE350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Compatibilité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19DCCFD-4793-B393-6BC1-4D23D1B0AD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Compatibilité avec plusieurs plates-formes</a:t>
            </a:r>
          </a:p>
          <a:p>
            <a:pPr lvl="1"/>
            <a:r>
              <a:rPr lang="fr-FR" dirty="0"/>
              <a:t>dont les appareils Android et iOS</a:t>
            </a:r>
          </a:p>
          <a:p>
            <a:pPr lvl="1"/>
            <a:r>
              <a:rPr lang="fr-FR" dirty="0"/>
              <a:t>les appareils avec système d'exploitation Linux intégré</a:t>
            </a:r>
          </a:p>
          <a:p>
            <a:pPr lvl="1"/>
            <a:r>
              <a:rPr lang="fr-FR" dirty="0"/>
              <a:t>les microcontrôleurs (puissants)</a:t>
            </a:r>
          </a:p>
        </p:txBody>
      </p:sp>
    </p:spTree>
    <p:extLst>
      <p:ext uri="{BB962C8B-B14F-4D97-AF65-F5344CB8AC3E}">
        <p14:creationId xmlns:p14="http://schemas.microsoft.com/office/powerpoint/2010/main" val="38617385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8B12F-843D-C1AB-E165-7B02377F0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Microcontrôleurs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52075CC-1761-121A-6B27-DBBADD7996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ExecuTorch</a:t>
            </a:r>
            <a:r>
              <a:rPr lang="fr-FR" dirty="0"/>
              <a:t> est conçu pour exécuter du ML sur des microcontrôleurs ne disposant que de quelques Mo de mémoire</a:t>
            </a:r>
          </a:p>
          <a:p>
            <a:r>
              <a:rPr lang="fr-FR" dirty="0"/>
              <a:t>Aucune compatibilité avec le système d'exploitation n'est nécessaire</a:t>
            </a:r>
          </a:p>
        </p:txBody>
      </p:sp>
    </p:spTree>
    <p:extLst>
      <p:ext uri="{BB962C8B-B14F-4D97-AF65-F5344CB8AC3E}">
        <p14:creationId xmlns:p14="http://schemas.microsoft.com/office/powerpoint/2010/main" val="13523145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13E62BB-1AA3-699C-12A5-D875DC003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Langages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B363C27-D278-6DB1-0599-EB0159BED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Compatibilité avec de nombreux langages</a:t>
            </a:r>
          </a:p>
          <a:p>
            <a:pPr lvl="1"/>
            <a:r>
              <a:rPr lang="fr-FR" dirty="0"/>
              <a:t>Java</a:t>
            </a:r>
          </a:p>
          <a:p>
            <a:pPr lvl="1"/>
            <a:r>
              <a:rPr lang="fr-FR" dirty="0"/>
              <a:t>Swift</a:t>
            </a:r>
          </a:p>
          <a:p>
            <a:pPr lvl="1"/>
            <a:r>
              <a:rPr lang="fr-FR" dirty="0"/>
              <a:t>Objective-C</a:t>
            </a:r>
          </a:p>
          <a:p>
            <a:pPr lvl="1"/>
            <a:r>
              <a:rPr lang="fr-FR" dirty="0"/>
              <a:t>C++ : librairie embarqué TFML</a:t>
            </a:r>
          </a:p>
          <a:p>
            <a:pPr lvl="1"/>
            <a:r>
              <a:rPr lang="fr-FR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4136115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BA6520-6CC8-5525-83C1-69D883917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Plateformes compatibles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3C49F64-BC9F-30D1-74B6-102E7AAAB5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C++ 32 bits</a:t>
            </a:r>
          </a:p>
          <a:p>
            <a:endParaRPr lang="fr-FR" dirty="0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54CE9CF4-93BB-D619-26B7-1D7511B178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52" y="1918120"/>
            <a:ext cx="8676456" cy="4939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91699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4FCB78-4BFB-476D-A41F-FF53E17D9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Limites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DEF7473-7C72-1FD4-741D-17FDD458DB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Compatibilité avec un sous-ensemble limité d'opérations </a:t>
            </a:r>
            <a:r>
              <a:rPr lang="fr-FR" dirty="0" err="1"/>
              <a:t>PyTorch</a:t>
            </a:r>
            <a:endParaRPr lang="fr-FR" dirty="0"/>
          </a:p>
          <a:p>
            <a:r>
              <a:rPr lang="fr-FR" dirty="0"/>
              <a:t>Compatibilité avec un nombre limité d'appareils</a:t>
            </a:r>
          </a:p>
          <a:p>
            <a:r>
              <a:rPr lang="fr-FR" dirty="0"/>
              <a:t>API C++ de bas niveau nécessitant une gestion manuelle de la mémoire</a:t>
            </a:r>
          </a:p>
          <a:p>
            <a:pPr lvl="1"/>
            <a:r>
              <a:rPr lang="fr-FR" dirty="0"/>
              <a:t>Pas de </a:t>
            </a:r>
            <a:r>
              <a:rPr lang="fr-FR" dirty="0" err="1"/>
              <a:t>MicroPython</a:t>
            </a:r>
            <a:endParaRPr lang="fr-FR" dirty="0"/>
          </a:p>
          <a:p>
            <a:r>
              <a:rPr lang="fr-FR" dirty="0"/>
              <a:t>L'entraînement sur l'appareil n'est pas disponible</a:t>
            </a:r>
          </a:p>
        </p:txBody>
      </p:sp>
    </p:spTree>
    <p:extLst>
      <p:ext uri="{BB962C8B-B14F-4D97-AF65-F5344CB8AC3E}">
        <p14:creationId xmlns:p14="http://schemas.microsoft.com/office/powerpoint/2010/main" val="38136160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9299C7-45F1-CB31-0C77-60B208C9F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Performances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107D6C1-ECDF-54DE-2F7E-342C74572A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Hautes performances, avec accélération matérielle et optimisation du modèle</a:t>
            </a:r>
          </a:p>
          <a:p>
            <a:r>
              <a:rPr lang="fr-FR" dirty="0"/>
              <a:t>Compatible GPU, NPU &amp; DSP</a:t>
            </a:r>
          </a:p>
        </p:txBody>
      </p:sp>
    </p:spTree>
    <p:extLst>
      <p:ext uri="{BB962C8B-B14F-4D97-AF65-F5344CB8AC3E}">
        <p14:creationId xmlns:p14="http://schemas.microsoft.com/office/powerpoint/2010/main" val="25823378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60E1EF0-2338-E50F-9B62-EB98A35EB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PyTorch</a:t>
            </a:r>
            <a:r>
              <a:rPr lang="fr-FR" dirty="0"/>
              <a:t> </a:t>
            </a:r>
            <a:r>
              <a:rPr lang="fr-FR" dirty="0" err="1"/>
              <a:t>Embeded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56C52CF-574A-BAF7-520C-F55D7FB344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ExecuTorch</a:t>
            </a:r>
            <a:r>
              <a:rPr lang="fr-FR" dirty="0"/>
              <a:t> s'appuie sur des plateformes pour générer le PTE</a:t>
            </a:r>
          </a:p>
          <a:p>
            <a:pPr lvl="1"/>
            <a:r>
              <a:rPr lang="fr-FR" dirty="0" err="1"/>
              <a:t>PyTorch</a:t>
            </a:r>
            <a:r>
              <a:rPr lang="fr-FR" dirty="0"/>
              <a:t> </a:t>
            </a:r>
            <a:r>
              <a:rPr lang="fr-FR" dirty="0" err="1"/>
              <a:t>Embeded</a:t>
            </a:r>
            <a:endParaRPr lang="fr-FR" dirty="0"/>
          </a:p>
          <a:p>
            <a:r>
              <a:rPr lang="fr-FR" dirty="0" err="1"/>
              <a:t>Quantisation</a:t>
            </a:r>
            <a:r>
              <a:rPr lang="fr-FR" dirty="0"/>
              <a:t> disponible</a:t>
            </a:r>
          </a:p>
          <a:p>
            <a:pPr lvl="1"/>
            <a:r>
              <a:rPr lang="fr-FR" dirty="0"/>
              <a:t>En FP32 ne nécessite aucune plateforme côté serveur</a:t>
            </a:r>
          </a:p>
          <a:p>
            <a:pPr lvl="1"/>
            <a:r>
              <a:rPr lang="fr-FR" dirty="0"/>
              <a:t>Nécessite alors une plateforme pour la </a:t>
            </a:r>
            <a:r>
              <a:rPr lang="fr-FR" dirty="0" err="1"/>
              <a:t>quantisation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341483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3F9E29-4F03-7E8B-79C7-7BAC642ED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XNNPack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CE5833A-3426-2692-778F-2704CDF868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Google XNNPACK est une solution hautement optimisée pour l’inférence de réseaux de neurones sur les plateformes ARM, x86, </a:t>
            </a:r>
            <a:r>
              <a:rPr lang="fr-FR" dirty="0" err="1"/>
              <a:t>WebAssembly</a:t>
            </a:r>
            <a:r>
              <a:rPr lang="fr-FR" dirty="0"/>
              <a:t> et RISC-V</a:t>
            </a:r>
          </a:p>
          <a:p>
            <a:pPr lvl="1"/>
            <a:r>
              <a:rPr lang="fr-FR" dirty="0"/>
              <a:t>XNNPACK n’est pas destinée à être utilisée directement par les développeurs, elle fournit plutôt des primitives de bas niveau pour accélérer des </a:t>
            </a:r>
            <a:r>
              <a:rPr lang="fr-FR" dirty="0" err="1"/>
              <a:t>frameworks</a:t>
            </a:r>
            <a:r>
              <a:rPr lang="fr-FR" dirty="0"/>
              <a:t> de machine </a:t>
            </a:r>
            <a:r>
              <a:rPr lang="fr-FR" dirty="0" err="1"/>
              <a:t>learning</a:t>
            </a:r>
            <a:r>
              <a:rPr lang="fr-FR" dirty="0"/>
              <a:t> de haut niveau</a:t>
            </a:r>
          </a:p>
          <a:p>
            <a:pPr lvl="1"/>
            <a:r>
              <a:rPr lang="fr-FR" dirty="0"/>
              <a:t>Compatible </a:t>
            </a:r>
            <a:r>
              <a:rPr lang="fr-FR" dirty="0" err="1"/>
              <a:t>TensorFlow</a:t>
            </a:r>
            <a:r>
              <a:rPr lang="fr-FR" dirty="0"/>
              <a:t> Lite, TensorFlow.js, </a:t>
            </a:r>
            <a:r>
              <a:rPr lang="fr-FR" dirty="0" err="1"/>
              <a:t>PyTorch</a:t>
            </a:r>
            <a:r>
              <a:rPr lang="fr-FR" dirty="0"/>
              <a:t>, ONNX Runtime, </a:t>
            </a:r>
            <a:r>
              <a:rPr lang="fr-FR" dirty="0" err="1"/>
              <a:t>ExecuTorch</a:t>
            </a:r>
            <a:r>
              <a:rPr lang="fr-FR" dirty="0"/>
              <a:t> et </a:t>
            </a:r>
            <a:r>
              <a:rPr lang="fr-FR" dirty="0" err="1"/>
              <a:t>MediaPipe</a:t>
            </a:r>
            <a:endParaRPr lang="fr-FR" dirty="0"/>
          </a:p>
          <a:p>
            <a:pPr lvl="1"/>
            <a:r>
              <a:rPr lang="fr-FR" dirty="0"/>
              <a:t>C'est une des plateformes </a:t>
            </a:r>
            <a:r>
              <a:rPr lang="fr-FR" dirty="0" err="1"/>
              <a:t>ExecuTorch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841782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8FC5CA7-BF45-B2D7-B9F6-AEB7DD3AE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XNNPack</a:t>
            </a:r>
            <a:endParaRPr lang="fr-FR" dirty="0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DBBC024D-30CD-7F82-A298-B30495DDA8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1691680" y="1700808"/>
            <a:ext cx="6210838" cy="2880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2989072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E85AA74-CBFB-3475-9D8D-00932BA17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Environnement de test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F298657-53D9-820D-377E-A5DCC79164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XNNPack</a:t>
            </a:r>
            <a:r>
              <a:rPr lang="fr-FR" dirty="0"/>
              <a:t> ne fonctionne pas sur microcontrôleur</a:t>
            </a:r>
          </a:p>
          <a:p>
            <a:pPr lvl="1"/>
            <a:r>
              <a:rPr lang="fr-FR" dirty="0"/>
              <a:t>Uniquement sur Intel, AMD, ARM comme le Raspberry Pi</a:t>
            </a:r>
          </a:p>
          <a:p>
            <a:r>
              <a:rPr lang="fr-FR" dirty="0" err="1"/>
              <a:t>XNNPack</a:t>
            </a:r>
            <a:r>
              <a:rPr lang="fr-FR" dirty="0"/>
              <a:t> est surtout très utile pour tester une inférence sur PC</a:t>
            </a:r>
          </a:p>
          <a:p>
            <a:pPr lvl="1"/>
            <a:r>
              <a:rPr lang="fr-FR" dirty="0"/>
              <a:t>Sans passer par le </a:t>
            </a:r>
            <a:r>
              <a:rPr lang="fr-FR" dirty="0" err="1"/>
              <a:t>micro-contrôleur</a:t>
            </a:r>
            <a:endParaRPr lang="fr-FR" dirty="0"/>
          </a:p>
          <a:p>
            <a:pPr lvl="1"/>
            <a:r>
              <a:rPr lang="fr-FR" dirty="0"/>
              <a:t>Tests en Python ou C++</a:t>
            </a:r>
          </a:p>
          <a:p>
            <a:pPr lvl="1"/>
            <a:r>
              <a:rPr lang="fr-FR" dirty="0"/>
              <a:t>Installation facile sur Windows et Linux</a:t>
            </a:r>
          </a:p>
          <a:p>
            <a:pPr lvl="1"/>
            <a:r>
              <a:rPr lang="fr-FR" dirty="0"/>
              <a:t>Ne nécessite pas une architecture propriétaire pour compiler</a:t>
            </a:r>
          </a:p>
          <a:p>
            <a:pPr lvl="1"/>
            <a:r>
              <a:rPr lang="fr-FR" dirty="0"/>
              <a:t>Par exemple ARM nécessite de compiler sur ARM</a:t>
            </a:r>
          </a:p>
          <a:p>
            <a:pPr lvl="1"/>
            <a:r>
              <a:rPr lang="fr-FR" dirty="0" err="1"/>
              <a:t>Comptabile</a:t>
            </a:r>
            <a:r>
              <a:rPr lang="fr-FR" dirty="0"/>
              <a:t> CUDA et donc GPU</a:t>
            </a:r>
          </a:p>
          <a:p>
            <a:pPr marL="0" indent="0">
              <a:buNone/>
            </a:pPr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519494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1F19D2-37D5-C841-43F6-3554E434E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Optimisations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2F0F5CF-AE1C-926A-5E26-D6BDA32C7C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Quantification</a:t>
            </a:r>
          </a:p>
          <a:p>
            <a:pPr lvl="1"/>
            <a:r>
              <a:rPr lang="fr-FR" dirty="0"/>
              <a:t>Support intégré via </a:t>
            </a:r>
            <a:r>
              <a:rPr lang="fr-FR" dirty="0" err="1"/>
              <a:t>torchao</a:t>
            </a:r>
            <a:r>
              <a:rPr lang="fr-FR" dirty="0"/>
              <a:t> pour la quantification en 8 bits, 4 bits et dynamique</a:t>
            </a:r>
          </a:p>
          <a:p>
            <a:r>
              <a:rPr lang="fr-FR" dirty="0"/>
              <a:t>Planification mémoire</a:t>
            </a:r>
          </a:p>
          <a:p>
            <a:pPr lvl="1"/>
            <a:r>
              <a:rPr lang="fr-FR" dirty="0"/>
              <a:t>Optimisation de l’utilisation mémoire grâce à des stratégies d’allocation anticipée (</a:t>
            </a:r>
            <a:r>
              <a:rPr lang="fr-FR" dirty="0" err="1"/>
              <a:t>ahead</a:t>
            </a:r>
            <a:r>
              <a:rPr lang="fr-FR" dirty="0"/>
              <a:t>-of-time)</a:t>
            </a:r>
          </a:p>
          <a:p>
            <a:r>
              <a:rPr lang="fr-FR" dirty="0"/>
              <a:t>Outils développeur</a:t>
            </a:r>
          </a:p>
          <a:p>
            <a:pPr lvl="1"/>
            <a:r>
              <a:rPr lang="fr-FR" dirty="0"/>
              <a:t>Profiler </a:t>
            </a:r>
            <a:r>
              <a:rPr lang="fr-FR" dirty="0" err="1"/>
              <a:t>ETDump</a:t>
            </a:r>
            <a:r>
              <a:rPr lang="fr-FR" dirty="0"/>
              <a:t>, inspecteur </a:t>
            </a:r>
            <a:r>
              <a:rPr lang="fr-FR" dirty="0" err="1"/>
              <a:t>ETRecord</a:t>
            </a:r>
            <a:r>
              <a:rPr lang="fr-FR" dirty="0"/>
              <a:t> et débogueur de modèle</a:t>
            </a:r>
          </a:p>
          <a:p>
            <a:r>
              <a:rPr lang="fr-FR" dirty="0" err="1"/>
              <a:t>Build</a:t>
            </a:r>
            <a:r>
              <a:rPr lang="fr-FR" dirty="0"/>
              <a:t> sélectif</a:t>
            </a:r>
          </a:p>
          <a:p>
            <a:pPr lvl="1"/>
            <a:r>
              <a:rPr lang="fr-FR" dirty="0"/>
              <a:t>Suppression des opérateurs inutilisés pour réduire la taille du </a:t>
            </a:r>
            <a:r>
              <a:rPr lang="fr-FR" dirty="0" err="1"/>
              <a:t>binaireOpérateurs</a:t>
            </a:r>
            <a:r>
              <a:rPr lang="fr-FR" dirty="0"/>
              <a:t> personnalisés</a:t>
            </a:r>
          </a:p>
        </p:txBody>
      </p:sp>
    </p:spTree>
    <p:extLst>
      <p:ext uri="{BB962C8B-B14F-4D97-AF65-F5344CB8AC3E}">
        <p14:creationId xmlns:p14="http://schemas.microsoft.com/office/powerpoint/2010/main" val="4390270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BA32208-BA2B-91EF-0DEC-DFF3F2116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Torchao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F1F05C0-01EA-6D0C-279F-D9C8559F6A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Outil de </a:t>
            </a:r>
            <a:r>
              <a:rPr lang="fr-FR" dirty="0" err="1"/>
              <a:t>quantisation</a:t>
            </a:r>
            <a:endParaRPr lang="fr-FR" dirty="0"/>
          </a:p>
          <a:p>
            <a:r>
              <a:rPr lang="fr-FR" dirty="0"/>
              <a:t>int16, int8, int4 !</a:t>
            </a:r>
          </a:p>
          <a:p>
            <a:r>
              <a:rPr lang="fr-FR" dirty="0" err="1"/>
              <a:t>Quantisation</a:t>
            </a:r>
            <a:r>
              <a:rPr lang="fr-FR" dirty="0"/>
              <a:t> possible sur GPU via Cuda</a:t>
            </a:r>
          </a:p>
          <a:p>
            <a:pPr lvl="1"/>
            <a:r>
              <a:rPr lang="fr-FR" dirty="0"/>
              <a:t>C'est indépendant la prédiction</a:t>
            </a:r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2E3B86C-8CE8-960B-CDC2-0DF45FAFAC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5656" y="3789040"/>
            <a:ext cx="6378493" cy="929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5429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CEB93DC-BBE0-54D5-A00A-CA8292581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TP 28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4733D03-FE4A-7F16-AD34-60E62DDAC5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ExecuTorch</a:t>
            </a:r>
            <a:r>
              <a:rPr lang="fr-FR" dirty="0"/>
              <a:t> Cancer</a:t>
            </a:r>
          </a:p>
          <a:p>
            <a:r>
              <a:rPr lang="fr-FR" dirty="0" err="1"/>
              <a:t>XNNPack</a:t>
            </a:r>
            <a:r>
              <a:rPr lang="fr-FR" dirty="0"/>
              <a:t> </a:t>
            </a:r>
            <a:r>
              <a:rPr lang="fr-FR" dirty="0" err="1"/>
              <a:t>Quantisation</a:t>
            </a:r>
            <a:endParaRPr lang="fr-FR" dirty="0"/>
          </a:p>
          <a:p>
            <a:r>
              <a:rPr lang="fr-FR" dirty="0" err="1"/>
              <a:t>XNNPack</a:t>
            </a:r>
            <a:r>
              <a:rPr lang="fr-FR" dirty="0"/>
              <a:t> Prédiction</a:t>
            </a:r>
          </a:p>
          <a:p>
            <a:r>
              <a:rPr lang="fr-FR" dirty="0" err="1"/>
              <a:t>ExecuTorch</a:t>
            </a:r>
            <a:r>
              <a:rPr lang="fr-FR" dirty="0"/>
              <a:t> MNIST</a:t>
            </a:r>
          </a:p>
        </p:txBody>
      </p:sp>
    </p:spTree>
    <p:extLst>
      <p:ext uri="{BB962C8B-B14F-4D97-AF65-F5344CB8AC3E}">
        <p14:creationId xmlns:p14="http://schemas.microsoft.com/office/powerpoint/2010/main" val="15569496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50BDD0-94AA-BB01-2277-71F318FEF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autres plateformes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00A9885-F03B-80D9-E13D-CDF8C0661A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est donc possible de tester le GPU via CUDA et </a:t>
            </a:r>
            <a:r>
              <a:rPr lang="fr-FR" dirty="0" err="1"/>
              <a:t>XNNPack</a:t>
            </a:r>
            <a:endParaRPr lang="fr-FR" dirty="0"/>
          </a:p>
          <a:p>
            <a:pPr lvl="1"/>
            <a:r>
              <a:rPr lang="fr-FR" dirty="0"/>
              <a:t>Il suffit que CUDA soit installé</a:t>
            </a:r>
          </a:p>
          <a:p>
            <a:r>
              <a:rPr lang="fr-FR" dirty="0"/>
              <a:t>ARM Cortex M</a:t>
            </a:r>
          </a:p>
          <a:p>
            <a:pPr lvl="1"/>
            <a:r>
              <a:rPr lang="fr-FR" dirty="0"/>
              <a:t>Il est possible d'utiliser un ARM avec GPU</a:t>
            </a:r>
          </a:p>
          <a:p>
            <a:pPr lvl="1"/>
            <a:r>
              <a:rPr lang="fr-FR" dirty="0"/>
              <a:t>Difficile à utiliser en formation car la </a:t>
            </a:r>
            <a:r>
              <a:rPr lang="fr-FR" dirty="0" err="1"/>
              <a:t>quantisation</a:t>
            </a:r>
            <a:r>
              <a:rPr lang="fr-FR" dirty="0"/>
              <a:t> et la prédiction doivent être compilées en ARM</a:t>
            </a:r>
          </a:p>
          <a:p>
            <a:r>
              <a:rPr lang="fr-FR" dirty="0"/>
              <a:t>NXP</a:t>
            </a:r>
          </a:p>
          <a:p>
            <a:pPr lvl="1"/>
            <a:r>
              <a:rPr lang="fr-FR" dirty="0"/>
              <a:t>NPU</a:t>
            </a:r>
          </a:p>
          <a:p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932626197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7621</TotalTime>
  <Words>542</Words>
  <Application>Microsoft Office PowerPoint</Application>
  <PresentationFormat>Affichage à l'écran (4:3)</PresentationFormat>
  <Paragraphs>97</Paragraphs>
  <Slides>18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18</vt:i4>
      </vt:variant>
    </vt:vector>
  </HeadingPairs>
  <TitlesOfParts>
    <vt:vector size="22" baseType="lpstr">
      <vt:lpstr>Arial</vt:lpstr>
      <vt:lpstr>Monotype Sorts</vt:lpstr>
      <vt:lpstr>Times New Roman</vt:lpstr>
      <vt:lpstr>cvc</vt:lpstr>
      <vt:lpstr>Présentation PowerPoint</vt:lpstr>
      <vt:lpstr>ExecuTorch</vt:lpstr>
      <vt:lpstr>Contraintes</vt:lpstr>
      <vt:lpstr>ExecuTorch</vt:lpstr>
      <vt:lpstr>Compatibilité</vt:lpstr>
      <vt:lpstr>Microcontrôleurs</vt:lpstr>
      <vt:lpstr>Langages</vt:lpstr>
      <vt:lpstr>Plateformes compatibles</vt:lpstr>
      <vt:lpstr>Limites</vt:lpstr>
      <vt:lpstr>Performances</vt:lpstr>
      <vt:lpstr>PyTorch Embeded</vt:lpstr>
      <vt:lpstr>XNNPack</vt:lpstr>
      <vt:lpstr>XNNPack</vt:lpstr>
      <vt:lpstr>Environnement de test</vt:lpstr>
      <vt:lpstr>Optimisations</vt:lpstr>
      <vt:lpstr>Torchao</vt:lpstr>
      <vt:lpstr>TP 28</vt:lpstr>
      <vt:lpstr>Les autres plateformes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355</cp:revision>
  <dcterms:created xsi:type="dcterms:W3CDTF">2000-04-10T19:33:12Z</dcterms:created>
  <dcterms:modified xsi:type="dcterms:W3CDTF">2026-06-15T16:48:31Z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