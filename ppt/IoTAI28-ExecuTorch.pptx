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93" r:id="rId3"/>
    <p:sldId id="294" r:id="rId4"/>
    <p:sldId id="266" r:id="rId5"/>
    <p:sldId id="295" r:id="rId6"/>
    <p:sldId id="298" r:id="rId7"/>
    <p:sldId id="296" r:id="rId8"/>
    <p:sldId id="299" r:id="rId9"/>
    <p:sldId id="300" r:id="rId10"/>
    <p:sldId id="297" r:id="rId11"/>
    <p:sldId id="304" r:id="rId12"/>
    <p:sldId id="301" r:id="rId13"/>
    <p:sldId id="302" r:id="rId14"/>
    <p:sldId id="303" r:id="rId15"/>
    <p:sldId id="289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ExecuTorch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151C95-BFF1-4B41-2CAD-9CE29EBB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848" y="4437112"/>
            <a:ext cx="1882303" cy="19889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BC646-AFF2-69B0-BD15-B8D790C1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3219AB-02E3-541B-CCCB-156421AB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r>
              <a:rPr lang="fr-FR" dirty="0"/>
              <a:t> est un ensemble d'outils conçus pour aider les développeurs à exécuter leurs modèles sur des appareils mobiles, intégrés et IoT afin d'apporter le ML embarqué</a:t>
            </a:r>
          </a:p>
          <a:p>
            <a:r>
              <a:rPr lang="fr-FR" dirty="0"/>
              <a:t>Facebook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0DB3575-6C95-48D7-C1D5-ABFC89738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0"/>
            <a:ext cx="1077443" cy="113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2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A57FC1-FD72-8E1A-DCE7-39F0620B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19EF08-17C8-5AA4-7FBD-C51BF74D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Latence</a:t>
            </a:r>
          </a:p>
          <a:p>
            <a:pPr lvl="1"/>
            <a:r>
              <a:rPr lang="fr-FR" dirty="0"/>
              <a:t>pas d'aller-retour avec un serveur</a:t>
            </a:r>
          </a:p>
          <a:p>
            <a:r>
              <a:rPr lang="fr-FR" dirty="0"/>
              <a:t>Confidentialité</a:t>
            </a:r>
          </a:p>
          <a:p>
            <a:pPr lvl="1"/>
            <a:r>
              <a:rPr lang="fr-FR" dirty="0"/>
              <a:t>aucune donnée personnelle ne quitte l'appareil</a:t>
            </a:r>
          </a:p>
          <a:p>
            <a:r>
              <a:rPr lang="fr-FR" dirty="0"/>
              <a:t>Connectivité</a:t>
            </a:r>
          </a:p>
          <a:p>
            <a:pPr lvl="1"/>
            <a:r>
              <a:rPr lang="fr-FR" dirty="0"/>
              <a:t>aucune connexion Internet requise</a:t>
            </a:r>
          </a:p>
          <a:p>
            <a:r>
              <a:rPr lang="fr-FR" dirty="0"/>
              <a:t>taille</a:t>
            </a:r>
          </a:p>
          <a:p>
            <a:pPr lvl="1"/>
            <a:r>
              <a:rPr lang="fr-FR" dirty="0"/>
              <a:t>modèle réduit et taille binaire</a:t>
            </a:r>
          </a:p>
          <a:p>
            <a:r>
              <a:rPr lang="fr-FR" dirty="0"/>
              <a:t>Consommation d'énergie</a:t>
            </a:r>
          </a:p>
          <a:p>
            <a:pPr lvl="1"/>
            <a:r>
              <a:rPr lang="fr-FR" dirty="0"/>
              <a:t>inférence efficace et absence de connexions réseau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733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Framework pour mobile et </a:t>
            </a:r>
            <a:r>
              <a:rPr lang="fr-FR" dirty="0" err="1"/>
              <a:t>IoT</a:t>
            </a:r>
            <a:endParaRPr lang="fr-FR" dirty="0"/>
          </a:p>
          <a:p>
            <a:pPr lvl="1"/>
            <a:r>
              <a:rPr lang="fr-FR" dirty="0"/>
              <a:t>Permet une utilisation plus légère de </a:t>
            </a:r>
            <a:r>
              <a:rPr lang="fr-FR" dirty="0" err="1"/>
              <a:t>PyTorch</a:t>
            </a:r>
            <a:endParaRPr lang="fr-FR" dirty="0"/>
          </a:p>
          <a:p>
            <a:pPr lvl="1"/>
            <a:r>
              <a:rPr lang="fr-FR" dirty="0"/>
              <a:t>Inférence</a:t>
            </a:r>
          </a:p>
          <a:p>
            <a:pPr lvl="1"/>
            <a:r>
              <a:rPr lang="fr-FR" dirty="0"/>
              <a:t>32 bits (aucune différence significative avec </a:t>
            </a:r>
            <a:r>
              <a:rPr lang="fr-FR" dirty="0" err="1"/>
              <a:t>PyTorch</a:t>
            </a:r>
            <a:r>
              <a:rPr lang="fr-FR" dirty="0"/>
              <a:t> qui est en 64 bits)</a:t>
            </a:r>
          </a:p>
          <a:p>
            <a:pPr lvl="1"/>
            <a:r>
              <a:rPr lang="fr-FR" dirty="0"/>
              <a:t>Implémentation Python, C++, Java, Android, Javascript, …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281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9AE97-78FE-9D95-04F6-5151EE35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Compatibilité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9DCCFD-4793-B393-6BC1-4D23D1B0A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plusieurs plates-formes</a:t>
            </a:r>
          </a:p>
          <a:p>
            <a:pPr lvl="1"/>
            <a:r>
              <a:rPr lang="fr-FR" dirty="0"/>
              <a:t>dont les appareils Android et iOS</a:t>
            </a:r>
          </a:p>
          <a:p>
            <a:pPr lvl="1"/>
            <a:r>
              <a:rPr lang="fr-FR" dirty="0"/>
              <a:t>les appareils avec système d'exploitation Linux intégré</a:t>
            </a:r>
          </a:p>
          <a:p>
            <a:pPr lvl="1"/>
            <a:r>
              <a:rPr lang="fr-FR" dirty="0"/>
              <a:t>les microcontrôleurs (puissants)</a:t>
            </a:r>
          </a:p>
        </p:txBody>
      </p:sp>
    </p:spTree>
    <p:extLst>
      <p:ext uri="{BB962C8B-B14F-4D97-AF65-F5344CB8AC3E}">
        <p14:creationId xmlns:p14="http://schemas.microsoft.com/office/powerpoint/2010/main" val="386173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8B12F-843D-C1AB-E165-7B02377F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Microcontrôleurs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2075CC-1761-121A-6B27-DBBADD799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r>
              <a:rPr lang="fr-FR" dirty="0"/>
              <a:t> est conçu pour exécuter du ML sur des microcontrôleurs ne disposant que de quelques Mo de mémoire</a:t>
            </a:r>
          </a:p>
          <a:p>
            <a:r>
              <a:rPr lang="fr-FR" dirty="0"/>
              <a:t>Aucune compatibilité avec le système d'exploitation n'est nécessaire</a:t>
            </a:r>
          </a:p>
        </p:txBody>
      </p:sp>
    </p:spTree>
    <p:extLst>
      <p:ext uri="{BB962C8B-B14F-4D97-AF65-F5344CB8AC3E}">
        <p14:creationId xmlns:p14="http://schemas.microsoft.com/office/powerpoint/2010/main" val="135231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3E62BB-1AA3-699C-12A5-D875DC00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Langages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363C27-D278-6DB1-0599-EB0159BED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de nombreux langages</a:t>
            </a:r>
          </a:p>
          <a:p>
            <a:pPr lvl="1"/>
            <a:r>
              <a:rPr lang="fr-FR" dirty="0"/>
              <a:t>Java</a:t>
            </a:r>
          </a:p>
          <a:p>
            <a:pPr lvl="1"/>
            <a:r>
              <a:rPr lang="fr-FR" dirty="0"/>
              <a:t>Swift</a:t>
            </a:r>
          </a:p>
          <a:p>
            <a:pPr lvl="1"/>
            <a:r>
              <a:rPr lang="fr-FR" dirty="0"/>
              <a:t>Objective-C</a:t>
            </a:r>
          </a:p>
          <a:p>
            <a:pPr lvl="1"/>
            <a:r>
              <a:rPr lang="fr-FR" dirty="0"/>
              <a:t>C++ : librairie embarqué TFML</a:t>
            </a:r>
          </a:p>
          <a:p>
            <a:pPr lvl="1"/>
            <a:r>
              <a:rPr lang="fr-FR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41361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A6520-6CC8-5525-83C1-69D88391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Plateformes compatibles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49F64-BC9F-30D1-74B6-102E7AAA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C++ 32 bits</a:t>
            </a:r>
          </a:p>
          <a:p>
            <a:r>
              <a:rPr lang="fr-FR" dirty="0"/>
              <a:t>Peu de plateforme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E753A5E-305B-E45E-59B4-B8BEC494B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429000"/>
            <a:ext cx="5738357" cy="22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6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FCB78-4BFB-476D-A41F-FF53E17D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F7473-7C72-1FD4-741D-17FDD458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un sous-ensemble limité d'opérations </a:t>
            </a:r>
            <a:r>
              <a:rPr lang="fr-FR" dirty="0" err="1"/>
              <a:t>PyTorch</a:t>
            </a:r>
            <a:endParaRPr lang="fr-FR" dirty="0"/>
          </a:p>
          <a:p>
            <a:r>
              <a:rPr lang="fr-FR" dirty="0"/>
              <a:t>Compatibilité avec un nombre limité d'appareils</a:t>
            </a:r>
          </a:p>
          <a:p>
            <a:r>
              <a:rPr lang="fr-FR" dirty="0"/>
              <a:t>API C++ de bas niveau nécessitant une gestion manuelle de la mémoire</a:t>
            </a:r>
          </a:p>
          <a:p>
            <a:pPr lvl="1"/>
            <a:r>
              <a:rPr lang="fr-FR" dirty="0"/>
              <a:t>Pas de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L'entraînement sur l'appareil n'est pas disponible</a:t>
            </a:r>
          </a:p>
        </p:txBody>
      </p:sp>
    </p:spTree>
    <p:extLst>
      <p:ext uri="{BB962C8B-B14F-4D97-AF65-F5344CB8AC3E}">
        <p14:creationId xmlns:p14="http://schemas.microsoft.com/office/powerpoint/2010/main" val="3813616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299C7-45F1-CB31-0C77-60B208C9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7D6C1-ECDF-54DE-2F7E-342C7457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Hautes performances, avec accélération matérielle et optimisation du modèle</a:t>
            </a:r>
          </a:p>
          <a:p>
            <a:r>
              <a:rPr lang="fr-FR" dirty="0"/>
              <a:t>Compatible GPU, NPU &amp; DSP</a:t>
            </a:r>
          </a:p>
        </p:txBody>
      </p:sp>
    </p:spTree>
    <p:extLst>
      <p:ext uri="{BB962C8B-B14F-4D97-AF65-F5344CB8AC3E}">
        <p14:creationId xmlns:p14="http://schemas.microsoft.com/office/powerpoint/2010/main" val="258233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E1EF0-2338-E50F-9B62-EB98A35E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PyTorch</a:t>
            </a:r>
            <a:r>
              <a:rPr lang="fr-FR" dirty="0"/>
              <a:t> </a:t>
            </a:r>
            <a:r>
              <a:rPr lang="fr-FR" dirty="0" err="1"/>
              <a:t>Embeded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6C52CF-574A-BAF7-520C-F55D7FB34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r>
              <a:rPr lang="fr-FR" dirty="0"/>
              <a:t> s'appuie sur des plateformes pour générer le PTE</a:t>
            </a:r>
          </a:p>
          <a:p>
            <a:pPr lvl="1"/>
            <a:r>
              <a:rPr lang="fr-FR" dirty="0" err="1"/>
              <a:t>PyTorch</a:t>
            </a:r>
            <a:r>
              <a:rPr lang="fr-FR" dirty="0"/>
              <a:t> </a:t>
            </a:r>
            <a:r>
              <a:rPr lang="fr-FR" dirty="0" err="1"/>
              <a:t>Embeded</a:t>
            </a:r>
            <a:endParaRPr lang="fr-FR" dirty="0"/>
          </a:p>
          <a:p>
            <a:r>
              <a:rPr lang="fr-FR" dirty="0" err="1"/>
              <a:t>Quantisation</a:t>
            </a:r>
            <a:r>
              <a:rPr lang="fr-FR" dirty="0"/>
              <a:t> disponible</a:t>
            </a:r>
          </a:p>
          <a:p>
            <a:pPr lvl="1"/>
            <a:r>
              <a:rPr lang="fr-FR" dirty="0"/>
              <a:t>En FP32 ne nécessite aucune plateforme côté serveur</a:t>
            </a:r>
          </a:p>
          <a:p>
            <a:pPr lvl="1"/>
            <a:r>
              <a:rPr lang="fr-FR" dirty="0"/>
              <a:t>Nécessite alors une plateforme pour la </a:t>
            </a:r>
            <a:r>
              <a:rPr lang="fr-FR" dirty="0" err="1"/>
              <a:t>quantisation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4148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F9E29-4F03-7E8B-79C7-7BAC642E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XNNPack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E5833A-3426-2692-778F-2704CDF86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 XNNPACK est une solution hautement optimisée pour l’inférence de réseaux de neurones sur les plateformes ARM, x86, </a:t>
            </a:r>
            <a:r>
              <a:rPr lang="fr-FR" dirty="0" err="1"/>
              <a:t>WebAssembly</a:t>
            </a:r>
            <a:r>
              <a:rPr lang="fr-FR" dirty="0"/>
              <a:t> et RISC-V</a:t>
            </a:r>
          </a:p>
          <a:p>
            <a:pPr lvl="1"/>
            <a:r>
              <a:rPr lang="fr-FR" dirty="0"/>
              <a:t>XNNPACK n’est pas destinée à être utilisée directement par les développeurs, elle fournit plutôt des primitives de bas niveau pour accélérer des </a:t>
            </a:r>
            <a:r>
              <a:rPr lang="fr-FR" dirty="0" err="1"/>
              <a:t>frameworks</a:t>
            </a:r>
            <a:r>
              <a:rPr lang="fr-FR" dirty="0"/>
              <a:t> de machine </a:t>
            </a:r>
            <a:r>
              <a:rPr lang="fr-FR" dirty="0" err="1"/>
              <a:t>learning</a:t>
            </a:r>
            <a:r>
              <a:rPr lang="fr-FR" dirty="0"/>
              <a:t> de haut niveau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TensorFlow</a:t>
            </a:r>
            <a:r>
              <a:rPr lang="fr-FR" dirty="0"/>
              <a:t> Lite, TensorFlow.js, </a:t>
            </a:r>
            <a:r>
              <a:rPr lang="fr-FR" dirty="0" err="1"/>
              <a:t>PyTorch</a:t>
            </a:r>
            <a:r>
              <a:rPr lang="fr-FR" dirty="0"/>
              <a:t>, ONNX Runtime, </a:t>
            </a:r>
            <a:r>
              <a:rPr lang="fr-FR" dirty="0" err="1"/>
              <a:t>ExecuTorch</a:t>
            </a:r>
            <a:r>
              <a:rPr lang="fr-FR" dirty="0"/>
              <a:t> et </a:t>
            </a:r>
            <a:r>
              <a:rPr lang="fr-FR" dirty="0" err="1"/>
              <a:t>MediaPipe</a:t>
            </a:r>
            <a:endParaRPr lang="fr-FR" dirty="0"/>
          </a:p>
          <a:p>
            <a:pPr lvl="1"/>
            <a:r>
              <a:rPr lang="fr-FR" dirty="0"/>
              <a:t>C'est une des plateformes </a:t>
            </a:r>
            <a:r>
              <a:rPr lang="fr-FR" dirty="0" err="1"/>
              <a:t>ExecuTorch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4178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FC5CA7-BF45-B2D7-B9F6-AEB7DD3A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XNNPack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BBC024D-30CD-7F82-A298-B30495DDA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91680" y="1700808"/>
            <a:ext cx="6210838" cy="2880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8907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85AA74-CBFB-3475-9D8D-00932BA1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Environnement de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298657-53D9-820D-377E-A5DCC7916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XNNPack</a:t>
            </a:r>
            <a:r>
              <a:rPr lang="fr-FR" dirty="0"/>
              <a:t> ne fonctionne pas sur microcontrôleur</a:t>
            </a:r>
          </a:p>
          <a:p>
            <a:pPr lvl="1"/>
            <a:r>
              <a:rPr lang="fr-FR" dirty="0"/>
              <a:t>Uniquement sur Intel, AMD, ARM comme le Raspberry Pi</a:t>
            </a:r>
          </a:p>
          <a:p>
            <a:r>
              <a:rPr lang="fr-FR" dirty="0" err="1"/>
              <a:t>XNNPack</a:t>
            </a:r>
            <a:r>
              <a:rPr lang="fr-FR" dirty="0"/>
              <a:t> est surtout très utile pour tester une inférence sur PC</a:t>
            </a:r>
          </a:p>
          <a:p>
            <a:pPr lvl="1"/>
            <a:r>
              <a:rPr lang="fr-FR" dirty="0"/>
              <a:t>Sans passer par le </a:t>
            </a:r>
            <a:r>
              <a:rPr lang="fr-FR" dirty="0" err="1"/>
              <a:t>micro-contrôleur</a:t>
            </a:r>
            <a:endParaRPr lang="fr-FR" dirty="0"/>
          </a:p>
          <a:p>
            <a:pPr lvl="1"/>
            <a:r>
              <a:rPr lang="fr-FR" dirty="0"/>
              <a:t>Garantit un portage à 99% sur les autres microcontrôleurs</a:t>
            </a:r>
          </a:p>
          <a:p>
            <a:pPr lvl="1"/>
            <a:r>
              <a:rPr lang="fr-FR" dirty="0"/>
              <a:t>Tests en Python ou C++</a:t>
            </a:r>
          </a:p>
          <a:p>
            <a:pPr lvl="1"/>
            <a:r>
              <a:rPr lang="fr-FR" dirty="0"/>
              <a:t>Installation facile sur Windows et Linux</a:t>
            </a:r>
          </a:p>
          <a:p>
            <a:pPr lvl="1"/>
            <a:r>
              <a:rPr lang="fr-FR" dirty="0"/>
              <a:t>Ne nécessite pas une architecture propriétaire pour compiler</a:t>
            </a:r>
          </a:p>
          <a:p>
            <a:pPr lvl="1"/>
            <a:r>
              <a:rPr lang="fr-FR" dirty="0"/>
              <a:t>Par exemple ARM nécessite de compiler sur ARM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1949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B93DC-BBE0-54D5-A00A-CA829258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28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733D03-FE4A-7F16-AD34-60E62DDAC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ExecuTorch</a:t>
            </a:r>
            <a:r>
              <a:rPr lang="fr-FR" dirty="0"/>
              <a:t> Cancer</a:t>
            </a:r>
          </a:p>
          <a:p>
            <a:r>
              <a:rPr lang="fr-FR" dirty="0" err="1"/>
              <a:t>XNNPack</a:t>
            </a:r>
            <a:r>
              <a:rPr lang="fr-FR" dirty="0"/>
              <a:t> </a:t>
            </a:r>
            <a:r>
              <a:rPr lang="fr-FR" dirty="0" err="1"/>
              <a:t>Quantisation</a:t>
            </a:r>
            <a:endParaRPr lang="fr-FR" dirty="0"/>
          </a:p>
          <a:p>
            <a:r>
              <a:rPr lang="fr-FR" dirty="0" err="1"/>
              <a:t>XNNPack</a:t>
            </a:r>
            <a:r>
              <a:rPr lang="fr-FR"/>
              <a:t> Prédiction</a:t>
            </a:r>
            <a:endParaRPr lang="fr-FR" dirty="0"/>
          </a:p>
          <a:p>
            <a:r>
              <a:rPr lang="fr-FR" dirty="0" err="1"/>
              <a:t>ExecuTorch</a:t>
            </a:r>
            <a:r>
              <a:rPr lang="fr-FR" dirty="0"/>
              <a:t> MNIST</a:t>
            </a:r>
          </a:p>
        </p:txBody>
      </p:sp>
    </p:spTree>
    <p:extLst>
      <p:ext uri="{BB962C8B-B14F-4D97-AF65-F5344CB8AC3E}">
        <p14:creationId xmlns:p14="http://schemas.microsoft.com/office/powerpoint/2010/main" val="155694960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7605</TotalTime>
  <Words>424</Words>
  <Application>Microsoft Office PowerPoint</Application>
  <PresentationFormat>Affichage à l'écran (4:3)</PresentationFormat>
  <Paragraphs>76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Monotype Sorts</vt:lpstr>
      <vt:lpstr>Times New Roman</vt:lpstr>
      <vt:lpstr>cvc</vt:lpstr>
      <vt:lpstr>Présentation PowerPoint</vt:lpstr>
      <vt:lpstr>ExecuTorch</vt:lpstr>
      <vt:lpstr>Contraintes</vt:lpstr>
      <vt:lpstr>ExecuTorch</vt:lpstr>
      <vt:lpstr>Compatibilité</vt:lpstr>
      <vt:lpstr>Microcontrôleurs</vt:lpstr>
      <vt:lpstr>Langages</vt:lpstr>
      <vt:lpstr>Plateformes compatibles</vt:lpstr>
      <vt:lpstr>Limites</vt:lpstr>
      <vt:lpstr>Performances</vt:lpstr>
      <vt:lpstr>PyTorch Embeded</vt:lpstr>
      <vt:lpstr>XNNPack</vt:lpstr>
      <vt:lpstr>XNNPack</vt:lpstr>
      <vt:lpstr>Environnement de test</vt:lpstr>
      <vt:lpstr>TP 28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354</cp:revision>
  <dcterms:created xsi:type="dcterms:W3CDTF">2000-04-10T19:33:12Z</dcterms:created>
  <dcterms:modified xsi:type="dcterms:W3CDTF">2026-06-15T16:32:43Z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