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323" r:id="rId3"/>
    <p:sldId id="324" r:id="rId4"/>
    <p:sldId id="325" r:id="rId5"/>
    <p:sldId id="355" r:id="rId6"/>
    <p:sldId id="326" r:id="rId7"/>
    <p:sldId id="356" r:id="rId8"/>
    <p:sldId id="327" r:id="rId9"/>
    <p:sldId id="328" r:id="rId10"/>
    <p:sldId id="329" r:id="rId11"/>
    <p:sldId id="330" r:id="rId12"/>
    <p:sldId id="331" r:id="rId13"/>
    <p:sldId id="332" r:id="rId14"/>
    <p:sldId id="337" r:id="rId15"/>
    <p:sldId id="333" r:id="rId16"/>
    <p:sldId id="334" r:id="rId17"/>
    <p:sldId id="335" r:id="rId18"/>
    <p:sldId id="339" r:id="rId19"/>
    <p:sldId id="340" r:id="rId20"/>
    <p:sldId id="347" r:id="rId21"/>
    <p:sldId id="341" r:id="rId22"/>
    <p:sldId id="342" r:id="rId23"/>
    <p:sldId id="345" r:id="rId24"/>
    <p:sldId id="343" r:id="rId25"/>
    <p:sldId id="346" r:id="rId26"/>
    <p:sldId id="351" r:id="rId27"/>
    <p:sldId id="357" r:id="rId28"/>
    <p:sldId id="349" r:id="rId29"/>
    <p:sldId id="350" r:id="rId30"/>
    <p:sldId id="358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CNN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646271"/>
            <a:ext cx="2590800" cy="18097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E7DAF1-8E99-E993-FC6E-066A2A7C8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622" y="4365104"/>
            <a:ext cx="3176752" cy="2007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Yann Le </a:t>
            </a:r>
            <a:r>
              <a:rPr lang="fr-FR" dirty="0" err="1"/>
              <a:t>Cun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Co-inventeur de l’apprentissage profond</a:t>
            </a:r>
          </a:p>
          <a:p>
            <a:pPr lvl="1"/>
            <a:r>
              <a:rPr lang="fr-FR" dirty="0"/>
              <a:t>Prix Turing</a:t>
            </a:r>
          </a:p>
          <a:p>
            <a:r>
              <a:rPr lang="fr-FR" dirty="0"/>
              <a:t>Inventeur des CNN</a:t>
            </a:r>
          </a:p>
          <a:p>
            <a:r>
              <a:rPr lang="fr-FR" dirty="0"/>
              <a:t>Facebook</a:t>
            </a:r>
          </a:p>
          <a:p>
            <a:r>
              <a:rPr lang="fr-FR" dirty="0"/>
              <a:t>Expert en compression</a:t>
            </a:r>
          </a:p>
        </p:txBody>
      </p:sp>
      <p:pic>
        <p:nvPicPr>
          <p:cNvPr id="1026" name="Picture 2" descr="Yann LeCun - 2018 (cropped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204864"/>
            <a:ext cx="3330749" cy="383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2160FF2-0BF2-4106-A896-800BF909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825427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86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Convulational</a:t>
            </a:r>
            <a:r>
              <a:rPr lang="fr-FR" dirty="0"/>
              <a:t> Neural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par convolution sont des MLP avec de filtres </a:t>
            </a:r>
            <a:r>
              <a:rPr lang="fr-FR" dirty="0" err="1"/>
              <a:t>convolutifs</a:t>
            </a:r>
            <a:endParaRPr lang="fr-FR" dirty="0"/>
          </a:p>
          <a:p>
            <a:pPr lvl="1"/>
            <a:r>
              <a:rPr lang="fr-FR" dirty="0" err="1"/>
              <a:t>Convulational</a:t>
            </a:r>
            <a:r>
              <a:rPr lang="fr-FR" dirty="0"/>
              <a:t> Neural Network – CNN</a:t>
            </a:r>
          </a:p>
          <a:p>
            <a:r>
              <a:rPr lang="fr-FR" dirty="0"/>
              <a:t>S’ajoute par-dessus un MLP</a:t>
            </a:r>
          </a:p>
          <a:p>
            <a:r>
              <a:rPr lang="fr-FR" dirty="0"/>
              <a:t>Remplace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Par  </a:t>
            </a:r>
          </a:p>
        </p:txBody>
      </p:sp>
      <p:pic>
        <p:nvPicPr>
          <p:cNvPr id="4" name="Picture 2" descr="https://dpzbhybb2pdcj.cloudfront.net/allaire/Figures/01fig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500" y="3308289"/>
            <a:ext cx="3091663" cy="12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ttps://dpzbhybb2pdcj.cloudfront.net/allaire/Figures/01fig06_a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141" y="4802606"/>
            <a:ext cx="3420380" cy="1907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02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pic>
        <p:nvPicPr>
          <p:cNvPr id="1026" name="Picture 2" descr="RÃ©sultat de recherche d'images pour &quot;ia vs machine learning vs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582" y="1556792"/>
            <a:ext cx="704078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1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BC988-F01C-4106-917E-AE983E84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Cancer du sein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68C33-4D93-4A91-AD97-0B3E2D5A02AA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Passage de l'image aux données</a:t>
            </a:r>
          </a:p>
          <a:p>
            <a:r>
              <a:rPr lang="fr-FR" sz="2100" dirty="0"/>
              <a:t>ML : par mesure</a:t>
            </a:r>
          </a:p>
          <a:p>
            <a:r>
              <a:rPr lang="fr-FR" sz="2100" dirty="0"/>
              <a:t>DL : automatique</a:t>
            </a:r>
          </a:p>
          <a:p>
            <a:endParaRPr lang="fr-FR" sz="2100" dirty="0"/>
          </a:p>
        </p:txBody>
      </p:sp>
      <p:pic>
        <p:nvPicPr>
          <p:cNvPr id="6146" name="Picture 2" descr="Breast Cancer Wisconsin (Diagnostic) Data Set | Kaggle">
            <a:extLst>
              <a:ext uri="{FF2B5EF4-FFF2-40B4-BE49-F238E27FC236}">
                <a16:creationId xmlns:a16="http://schemas.microsoft.com/office/drawing/2014/main" id="{1A9AFAFD-CD3C-43B3-9D8A-CF573004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100" y="857250"/>
            <a:ext cx="3189901" cy="318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9DFB1C-CD6D-4914-B6FF-FFD47A8A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65648"/>
            <a:ext cx="9143999" cy="24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2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Learning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profond</a:t>
            </a:r>
          </a:p>
          <a:p>
            <a:pPr lvl="1"/>
            <a:r>
              <a:rPr lang="fr-FR" dirty="0"/>
              <a:t>De nombreuses couches</a:t>
            </a:r>
          </a:p>
          <a:p>
            <a:r>
              <a:rPr lang="fr-FR" dirty="0"/>
              <a:t>En </a:t>
            </a:r>
            <a:r>
              <a:rPr lang="fr-FR" dirty="0" err="1"/>
              <a:t>Deep</a:t>
            </a:r>
            <a:r>
              <a:rPr lang="fr-FR" dirty="0"/>
              <a:t> Learning il existe des techniques avancées</a:t>
            </a:r>
          </a:p>
          <a:p>
            <a:pPr lvl="1"/>
            <a:r>
              <a:rPr lang="fr-FR" dirty="0"/>
              <a:t>Permettent de réduire les inputs</a:t>
            </a:r>
          </a:p>
          <a:p>
            <a:pPr lvl="1"/>
            <a:r>
              <a:rPr lang="fr-FR" dirty="0"/>
              <a:t>Permettent d'avoir un réseau très profond</a:t>
            </a:r>
          </a:p>
          <a:p>
            <a:pPr lvl="1"/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Convolutions</a:t>
            </a:r>
          </a:p>
          <a:p>
            <a:pPr lvl="1"/>
            <a:r>
              <a:rPr lang="fr-FR" dirty="0"/>
              <a:t>Régularisations</a:t>
            </a:r>
          </a:p>
          <a:p>
            <a:pPr lvl="1"/>
            <a:r>
              <a:rPr lang="fr-FR" dirty="0" err="1"/>
              <a:t>Hyperparamètres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884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B1BA8-4C00-4F03-8B03-C2B0CF03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7AD50-63BF-4A4C-84F3-1AA9CC5F7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Machine Learning</a:t>
            </a:r>
          </a:p>
          <a:p>
            <a:pPr lvl="1"/>
            <a:r>
              <a:rPr lang="fr-FR" dirty="0"/>
              <a:t>Données numériques</a:t>
            </a:r>
          </a:p>
          <a:p>
            <a:pPr lvl="1"/>
            <a:r>
              <a:rPr lang="fr-FR" dirty="0"/>
              <a:t>Données déjà filtrées et extraites</a:t>
            </a:r>
          </a:p>
          <a:p>
            <a:pPr lvl="1"/>
            <a:r>
              <a:rPr lang="fr-FR" dirty="0"/>
              <a:t>Données tabulaires</a:t>
            </a:r>
          </a:p>
          <a:p>
            <a:pPr lvl="1"/>
            <a:r>
              <a:rPr lang="fr-FR" dirty="0"/>
              <a:t>Stockage : base de données SQL, fichiers CSV, TXT, XML, </a:t>
            </a:r>
            <a:r>
              <a:rPr lang="fr-FR" dirty="0" err="1"/>
              <a:t>datawharehouse</a:t>
            </a:r>
            <a:endParaRPr lang="fr-FR" dirty="0"/>
          </a:p>
          <a:p>
            <a:r>
              <a:rPr lang="fr-FR" dirty="0" err="1"/>
              <a:t>Deep</a:t>
            </a:r>
            <a:r>
              <a:rPr lang="fr-FR" dirty="0"/>
              <a:t> Learning</a:t>
            </a:r>
          </a:p>
          <a:p>
            <a:pPr lvl="1"/>
            <a:r>
              <a:rPr lang="fr-FR" dirty="0"/>
              <a:t>Données brutes ou peu structurées</a:t>
            </a:r>
          </a:p>
          <a:p>
            <a:pPr lvl="1"/>
            <a:r>
              <a:rPr lang="fr-FR" dirty="0"/>
              <a:t>Images, Son, Vidéo, Signaux électromagnétiques</a:t>
            </a:r>
          </a:p>
          <a:p>
            <a:pPr lvl="1"/>
            <a:r>
              <a:rPr lang="fr-FR" dirty="0"/>
              <a:t>Langage naturel, traduction, moteur de recherche</a:t>
            </a:r>
          </a:p>
          <a:p>
            <a:pPr lvl="1"/>
            <a:r>
              <a:rPr lang="fr-FR" dirty="0"/>
              <a:t>Stockage : base de données SQL, file system, big data</a:t>
            </a:r>
          </a:p>
        </p:txBody>
      </p:sp>
    </p:spTree>
    <p:extLst>
      <p:ext uri="{BB962C8B-B14F-4D97-AF65-F5344CB8AC3E}">
        <p14:creationId xmlns:p14="http://schemas.microsoft.com/office/powerpoint/2010/main" val="268488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but d’un réseau profond CNN est d’extraire automatiquement les </a:t>
            </a:r>
            <a:r>
              <a:rPr lang="fr-FR" dirty="0" err="1"/>
              <a:t>features</a:t>
            </a:r>
            <a:r>
              <a:rPr lang="fr-FR" dirty="0"/>
              <a:t> d’un jeux de données complexe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429000"/>
            <a:ext cx="1428750" cy="141922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87824" y="2700048"/>
            <a:ext cx="5657356" cy="28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1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  <a:p>
            <a:pPr lvl="1"/>
            <a:r>
              <a:rPr lang="fr-FR" dirty="0"/>
              <a:t>Le produit de convolution est un opérateur bilinéaire et un produit commutatif, généralement noté *, qui, à deux fonctions f et g sur un même domaine infini, fait correspondre une autre fonction « f ∗ g » sur ce domaine, qui en tout point de celui-ci est égale à l'intégrale sur l'entièreté du domaine d'une des deux fonctions autour de ce point, pondérée par l'autre fonction autour de l'origine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sz="1800" dirty="0"/>
              <a:t>Convolution d'une fonction porte par elle-même</a:t>
            </a:r>
          </a:p>
        </p:txBody>
      </p:sp>
      <p:pic>
        <p:nvPicPr>
          <p:cNvPr id="1026" name="Picture 2" descr="https://upload.wikimedia.org/wikipedia/commons/c/c6/Convolucion_Funcion_Pi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7" y="4539299"/>
            <a:ext cx="373380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9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produit de convolution généralise l'idée de moyenne glissante et est la représentation mathématique de la notion de filtre linéaire</a:t>
            </a:r>
          </a:p>
          <a:p>
            <a:pPr lvl="1"/>
            <a:r>
              <a:rPr lang="fr-FR" dirty="0"/>
              <a:t>Il s'applique aussi bien à des données temporelles (en traitement du signal par exemple) qu'à des données spatiales (en traitement d'image)</a:t>
            </a:r>
          </a:p>
          <a:p>
            <a:pPr lvl="1"/>
            <a:r>
              <a:rPr lang="fr-FR" dirty="0"/>
              <a:t>Exemple Moyenne Mobile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365414"/>
            <a:ext cx="4968552" cy="24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5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la matrice</a:t>
            </a:r>
          </a:p>
          <a:p>
            <a:r>
              <a:rPr lang="fr-FR" dirty="0"/>
              <a:t>Soit la fenêtre</a:t>
            </a:r>
          </a:p>
          <a:p>
            <a:endParaRPr lang="fr-FR" dirty="0"/>
          </a:p>
          <a:p>
            <a:r>
              <a:rPr lang="fr-FR" dirty="0"/>
              <a:t>La convolution donne </a:t>
            </a:r>
          </a:p>
        </p:txBody>
      </p:sp>
      <p:pic>
        <p:nvPicPr>
          <p:cNvPr id="5122" name="Picture 2" descr="Screen Shot 2016-07-24 at 11.25.13 P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058" y="984455"/>
            <a:ext cx="120967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creen Shot 2016-07-24 at 11.25.24 P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058" y="2208114"/>
            <a:ext cx="704850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onvolution_schematic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83" y="3697312"/>
            <a:ext cx="2552700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22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2d et </a:t>
            </a:r>
            <a:r>
              <a:rPr lang="fr-FR" dirty="0" err="1"/>
              <a:t>Hyperparamètres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défini la taille de la fenêtre et le pas</a:t>
            </a:r>
          </a:p>
          <a:p>
            <a:pPr lvl="1"/>
            <a:r>
              <a:rPr lang="fr-FR" dirty="0" err="1"/>
              <a:t>Hyperparamètres</a:t>
            </a:r>
            <a:endParaRPr lang="fr-FR" dirty="0"/>
          </a:p>
          <a:p>
            <a:pPr lvl="1"/>
            <a:r>
              <a:rPr lang="fr-FR" dirty="0"/>
              <a:t>La taille de la fenêtre</a:t>
            </a:r>
          </a:p>
          <a:p>
            <a:pPr lvl="1"/>
            <a:r>
              <a:rPr lang="fr-FR" dirty="0"/>
              <a:t>Puis son pas (</a:t>
            </a:r>
            <a:r>
              <a:rPr lang="fr-FR" dirty="0" err="1"/>
              <a:t>stride</a:t>
            </a:r>
            <a:r>
              <a:rPr lang="fr-FR" dirty="0"/>
              <a:t>) généralement 1</a:t>
            </a:r>
          </a:p>
          <a:p>
            <a:r>
              <a:rPr lang="fr-FR" dirty="0"/>
              <a:t>Dans cet exemple</a:t>
            </a:r>
          </a:p>
          <a:p>
            <a:pPr lvl="1"/>
            <a:r>
              <a:rPr lang="fr-FR" dirty="0"/>
              <a:t>Matrice input 7x7</a:t>
            </a:r>
          </a:p>
          <a:p>
            <a:pPr lvl="1"/>
            <a:r>
              <a:rPr lang="fr-FR" dirty="0"/>
              <a:t>Fenêtre 3x3</a:t>
            </a:r>
          </a:p>
          <a:p>
            <a:pPr lvl="1"/>
            <a:r>
              <a:rPr lang="fr-FR" dirty="0" err="1"/>
              <a:t>Stride</a:t>
            </a:r>
            <a:r>
              <a:rPr lang="fr-FR" dirty="0"/>
              <a:t> 1</a:t>
            </a:r>
          </a:p>
          <a:p>
            <a:pPr lvl="1"/>
            <a:r>
              <a:rPr lang="fr-FR" dirty="0"/>
              <a:t>Donne output 5x5</a:t>
            </a:r>
          </a:p>
          <a:p>
            <a:r>
              <a:rPr lang="fr-FR" dirty="0"/>
              <a:t>Exemple avec une fenêtre 3x3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3288779"/>
            <a:ext cx="3981747" cy="172060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08" y="5009381"/>
            <a:ext cx="3683083" cy="170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0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model.add</a:t>
            </a:r>
            <a:r>
              <a:rPr lang="fr-FR" dirty="0"/>
              <a:t>(keras.layers.Conv2D(64, (3, 3)))</a:t>
            </a:r>
          </a:p>
          <a:p>
            <a:pPr lvl="1"/>
            <a:r>
              <a:rPr lang="fr-FR" dirty="0"/>
              <a:t>Génère 64 fenêtres 3x3</a:t>
            </a:r>
          </a:p>
          <a:p>
            <a:r>
              <a:rPr lang="fr-FR" dirty="0" err="1"/>
              <a:t>Padding</a:t>
            </a:r>
            <a:r>
              <a:rPr lang="fr-FR" dirty="0"/>
              <a:t> = ‘</a:t>
            </a:r>
            <a:r>
              <a:rPr lang="fr-FR" dirty="0" err="1"/>
              <a:t>same</a:t>
            </a:r>
            <a:r>
              <a:rPr lang="fr-FR" dirty="0"/>
              <a:t>’</a:t>
            </a:r>
          </a:p>
          <a:p>
            <a:pPr lvl="1"/>
            <a:r>
              <a:rPr lang="fr-FR" dirty="0"/>
              <a:t>Permet de ne pas réduire la taille de la matrice résultat</a:t>
            </a:r>
          </a:p>
          <a:p>
            <a:pPr lvl="1"/>
            <a:r>
              <a:rPr lang="fr-FR" dirty="0"/>
              <a:t>Identique au layer </a:t>
            </a:r>
            <a:r>
              <a:rPr lang="fr-FR" dirty="0" err="1"/>
              <a:t>ZeroPadding</a:t>
            </a:r>
            <a:endParaRPr lang="fr-FR" dirty="0"/>
          </a:p>
          <a:p>
            <a:r>
              <a:rPr lang="fr-FR" dirty="0"/>
              <a:t>ZeroPadding2d permet d'effectuer une convolution sans abaisser la taille de la matrice</a:t>
            </a:r>
          </a:p>
          <a:p>
            <a:pPr lvl="1"/>
            <a:r>
              <a:rPr lang="fr-FR" dirty="0"/>
              <a:t>Ajouter des zéros autour de la matrice source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7550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Conv1d, Conv2d, Conv3d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plusieurs implémentations de </a:t>
            </a:r>
            <a:r>
              <a:rPr lang="fr-FR" dirty="0" err="1"/>
              <a:t>Layers</a:t>
            </a:r>
            <a:r>
              <a:rPr lang="fr-FR" dirty="0"/>
              <a:t> </a:t>
            </a:r>
            <a:r>
              <a:rPr lang="fr-FR" dirty="0" err="1"/>
              <a:t>convolutifs</a:t>
            </a:r>
            <a:endParaRPr lang="fr-FR" dirty="0"/>
          </a:p>
          <a:p>
            <a:r>
              <a:rPr lang="fr-FR" dirty="0"/>
              <a:t>Par exemple Conv2d applique une convolution sur une matrice</a:t>
            </a:r>
          </a:p>
          <a:p>
            <a:pPr lvl="1"/>
            <a:r>
              <a:rPr lang="fr-FR" dirty="0"/>
              <a:t>Conv2D(32, (3, 3), (1,1))</a:t>
            </a:r>
          </a:p>
          <a:p>
            <a:pPr lvl="1"/>
            <a:r>
              <a:rPr lang="fr-FR" dirty="0"/>
              <a:t>Applique 32 filtres</a:t>
            </a:r>
          </a:p>
          <a:p>
            <a:pPr lvl="1"/>
            <a:r>
              <a:rPr lang="fr-FR" dirty="0"/>
              <a:t>Avec une fenêtre de taille 3x3</a:t>
            </a:r>
          </a:p>
          <a:p>
            <a:pPr lvl="1"/>
            <a:r>
              <a:rPr lang="fr-FR" dirty="0"/>
              <a:t>Et un </a:t>
            </a:r>
            <a:r>
              <a:rPr lang="fr-FR" dirty="0" err="1"/>
              <a:t>stride</a:t>
            </a:r>
            <a:r>
              <a:rPr lang="fr-FR" dirty="0"/>
              <a:t> 1x1</a:t>
            </a:r>
          </a:p>
          <a:p>
            <a:pPr lvl="1"/>
            <a:r>
              <a:rPr lang="fr-FR" dirty="0"/>
              <a:t>Nécessite un </a:t>
            </a:r>
            <a:r>
              <a:rPr lang="fr-FR" dirty="0" err="1"/>
              <a:t>shape</a:t>
            </a:r>
            <a:r>
              <a:rPr lang="fr-FR" dirty="0"/>
              <a:t>(</a:t>
            </a:r>
            <a:r>
              <a:rPr lang="fr-FR" dirty="0" err="1"/>
              <a:t>nbsample,width,length,colordepth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5593035"/>
            <a:ext cx="1681903" cy="15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Screen Shot 2016-08-05 at 11.03.00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980728"/>
            <a:ext cx="3285456" cy="539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90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kernel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kernel</a:t>
            </a:r>
            <a:r>
              <a:rPr lang="fr-FR" dirty="0"/>
              <a:t> est la fenêtre de convolution</a:t>
            </a:r>
          </a:p>
          <a:p>
            <a:r>
              <a:rPr lang="fr-FR" dirty="0"/>
              <a:t>Les éléments du </a:t>
            </a:r>
            <a:r>
              <a:rPr lang="fr-FR" dirty="0" err="1"/>
              <a:t>kernel</a:t>
            </a:r>
            <a:r>
              <a:rPr lang="fr-FR" dirty="0"/>
              <a:t> sont les poids du layer</a:t>
            </a:r>
          </a:p>
          <a:p>
            <a:r>
              <a:rPr lang="fr-FR" dirty="0"/>
              <a:t>Par exemple un </a:t>
            </a:r>
            <a:r>
              <a:rPr lang="fr-FR" dirty="0" err="1"/>
              <a:t>kernel</a:t>
            </a:r>
            <a:r>
              <a:rPr lang="fr-FR" dirty="0"/>
              <a:t> 3x3 possède 9 poids</a:t>
            </a:r>
          </a:p>
        </p:txBody>
      </p:sp>
      <p:pic>
        <p:nvPicPr>
          <p:cNvPr id="4" name="Picture 4" descr="giphy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306219"/>
            <a:ext cx="5516678" cy="312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812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model.add</a:t>
            </a:r>
            <a:r>
              <a:rPr lang="fr-FR" dirty="0"/>
              <a:t>(</a:t>
            </a:r>
            <a:r>
              <a:rPr lang="fr-FR" dirty="0" err="1"/>
              <a:t>keras.layers.Activation</a:t>
            </a:r>
            <a:r>
              <a:rPr lang="fr-FR" dirty="0"/>
              <a:t>('relu'))</a:t>
            </a:r>
          </a:p>
          <a:p>
            <a:r>
              <a:rPr lang="fr-FR" dirty="0"/>
              <a:t>L’activation relu sur une matrice fonctionne comme pour un layer normal</a:t>
            </a:r>
          </a:p>
          <a:p>
            <a:pPr lvl="1"/>
            <a:r>
              <a:rPr lang="fr-FR" dirty="0"/>
              <a:t>C’est un filtre passe haut</a:t>
            </a:r>
          </a:p>
        </p:txBody>
      </p:sp>
      <p:pic>
        <p:nvPicPr>
          <p:cNvPr id="5" name="Picture 2" descr="Screen Shot 2016-08-07 at 6.18.19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87" y="3429000"/>
            <a:ext cx="71247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50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concept important du traitement d'image ou de signal est le </a:t>
            </a:r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Le signal d'entrée est découpée en une série de rectangles de n pixels de côté ne se chevauchant pas (</a:t>
            </a:r>
            <a:r>
              <a:rPr lang="fr-FR" dirty="0" err="1"/>
              <a:t>pooling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Chaque rectangle peut être vu comme une tuile</a:t>
            </a:r>
          </a:p>
          <a:p>
            <a:pPr lvl="1"/>
            <a:r>
              <a:rPr lang="fr-FR" dirty="0"/>
              <a:t>Le signal en sortie de tuile est défini en fonction des valeurs prises par les différents pixels de la tuile.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Pooling</a:t>
            </a:r>
            <a:r>
              <a:rPr lang="fr-FR" dirty="0"/>
              <a:t> est la méthode utilisée pour la compression des images</a:t>
            </a:r>
          </a:p>
          <a:p>
            <a:pPr lvl="2"/>
            <a:r>
              <a:rPr lang="fr-FR" dirty="0"/>
              <a:t>JPEG</a:t>
            </a:r>
          </a:p>
          <a:p>
            <a:pPr lvl="2"/>
            <a:r>
              <a:rPr lang="fr-FR" dirty="0"/>
              <a:t>Exemple </a:t>
            </a:r>
            <a:r>
              <a:rPr lang="fr-FR" dirty="0" err="1"/>
              <a:t>Pooling</a:t>
            </a:r>
            <a:r>
              <a:rPr lang="fr-FR" dirty="0"/>
              <a:t> Max 2x2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55" y="5162178"/>
            <a:ext cx="3299145" cy="169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et </a:t>
            </a:r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 pas confondre Convolution et </a:t>
            </a:r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La fenêtre de convolution glisse avec chevauchement</a:t>
            </a:r>
          </a:p>
          <a:p>
            <a:pPr lvl="1"/>
            <a:r>
              <a:rPr lang="fr-FR" dirty="0"/>
              <a:t>La fenêtre de </a:t>
            </a:r>
            <a:r>
              <a:rPr lang="fr-FR" dirty="0" err="1"/>
              <a:t>pooling</a:t>
            </a:r>
            <a:r>
              <a:rPr lang="fr-FR" dirty="0"/>
              <a:t> glisse sans chevauchement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pooling</a:t>
            </a:r>
            <a:r>
              <a:rPr lang="fr-FR" dirty="0"/>
              <a:t> est une convolution où </a:t>
            </a:r>
          </a:p>
          <a:p>
            <a:pPr lvl="2"/>
            <a:r>
              <a:rPr lang="fr-FR" dirty="0" err="1"/>
              <a:t>stride</a:t>
            </a:r>
            <a:r>
              <a:rPr lang="fr-FR" dirty="0"/>
              <a:t> = taille fenêtre</a:t>
            </a:r>
          </a:p>
          <a:p>
            <a:pPr lvl="2"/>
            <a:r>
              <a:rPr lang="fr-FR" dirty="0"/>
              <a:t>En général le filtre est le max de la fenêtre</a:t>
            </a:r>
          </a:p>
        </p:txBody>
      </p:sp>
    </p:spTree>
    <p:extLst>
      <p:ext uri="{BB962C8B-B14F-4D97-AF65-F5344CB8AC3E}">
        <p14:creationId xmlns:p14="http://schemas.microsoft.com/office/powerpoint/2010/main" val="513120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CNN + Relu + </a:t>
            </a:r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L'enchainement des 3 </a:t>
            </a:r>
            <a:r>
              <a:rPr lang="fr-FR" dirty="0" err="1"/>
              <a:t>layers</a:t>
            </a:r>
            <a:r>
              <a:rPr lang="fr-FR" dirty="0"/>
              <a:t> donnent des bons résultats</a:t>
            </a:r>
          </a:p>
        </p:txBody>
      </p:sp>
      <p:pic>
        <p:nvPicPr>
          <p:cNvPr id="8196" name="Picture 4" descr="Screen Shot 2016-08-07 at 6.11.53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174" y="2852936"/>
            <a:ext cx="7124700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925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</a:t>
            </a:r>
            <a:r>
              <a:rPr lang="fr-FR" dirty="0" err="1"/>
              <a:t>convolutifs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réseau de neurones </a:t>
            </a:r>
            <a:r>
              <a:rPr lang="fr-FR" dirty="0" err="1"/>
              <a:t>convolutifs</a:t>
            </a:r>
            <a:r>
              <a:rPr lang="fr-FR" dirty="0"/>
              <a:t> (CNN) est un type de réseau de neurones artificiels acycliques</a:t>
            </a:r>
          </a:p>
          <a:p>
            <a:pPr lvl="1"/>
            <a:r>
              <a:rPr lang="fr-FR" dirty="0"/>
              <a:t>Le motif de connexion entre les neurones est inspiré par le cortex visuel des animaux</a:t>
            </a:r>
          </a:p>
          <a:p>
            <a:pPr lvl="1"/>
            <a:r>
              <a:rPr lang="fr-FR" dirty="0"/>
              <a:t>Les neurones de cette région du cerveau sont arrangés de sorte qu'ils correspondent à des régions qui se chevauchent lors du pavage du champ visuel</a:t>
            </a:r>
          </a:p>
          <a:p>
            <a:pPr lvl="1"/>
            <a:r>
              <a:rPr lang="fr-FR" dirty="0"/>
              <a:t>Application de fonctions de convolution</a:t>
            </a:r>
          </a:p>
        </p:txBody>
      </p:sp>
    </p:spTree>
    <p:extLst>
      <p:ext uri="{BB962C8B-B14F-4D97-AF65-F5344CB8AC3E}">
        <p14:creationId xmlns:p14="http://schemas.microsoft.com/office/powerpoint/2010/main" val="4145333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Convolutional</a:t>
            </a:r>
            <a:r>
              <a:rPr lang="fr-FR" dirty="0"/>
              <a:t> Neural Network</a:t>
            </a:r>
          </a:p>
          <a:p>
            <a:r>
              <a:rPr lang="fr-FR" dirty="0"/>
              <a:t>La forme la plus commune d'une architecture de réseau de neurones </a:t>
            </a:r>
            <a:r>
              <a:rPr lang="fr-FR" dirty="0" err="1"/>
              <a:t>convolutifs</a:t>
            </a:r>
            <a:r>
              <a:rPr lang="fr-FR" dirty="0"/>
              <a:t> empile quelques couches </a:t>
            </a:r>
            <a:r>
              <a:rPr lang="fr-FR" dirty="0" err="1"/>
              <a:t>Conv-ReLU</a:t>
            </a:r>
            <a:r>
              <a:rPr lang="fr-FR" dirty="0"/>
              <a:t>, les suit avec des couches Pool, et répète ce schéma jusqu'à ce que l'entrée soit réduite dans un espace d'une taille suffisamment petite. </a:t>
            </a:r>
          </a:p>
        </p:txBody>
      </p:sp>
      <p:pic>
        <p:nvPicPr>
          <p:cNvPr id="1029" name="Picture 5" descr="https://upload.wikimedia.org/wikipedia/commons/thumb/6/63/Typical_cnn.png/614px-Typical_cn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62" y="4509120"/>
            <a:ext cx="58483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66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réseau profond enchaine les </a:t>
            </a:r>
            <a:r>
              <a:rPr lang="fr-FR" dirty="0" err="1"/>
              <a:t>layers</a:t>
            </a:r>
            <a:endParaRPr lang="fr-FR" dirty="0"/>
          </a:p>
        </p:txBody>
      </p:sp>
      <p:pic>
        <p:nvPicPr>
          <p:cNvPr id="9218" name="Picture 2" descr="Screen Shot 2016-08-08 at 2.26.09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87" y="2636912"/>
            <a:ext cx="71247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018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Voici un exemple après une convolution 32, un e normalisation et un relu</a:t>
            </a:r>
          </a:p>
        </p:txBody>
      </p:sp>
      <p:pic>
        <p:nvPicPr>
          <p:cNvPr id="10242" name="Picture 2" descr="Con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85" y="2214634"/>
            <a:ext cx="6336704" cy="449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242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CNN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0768"/>
            <a:ext cx="8647261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19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Flatten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Layer de réduction</a:t>
            </a:r>
          </a:p>
          <a:p>
            <a:pPr lvl="1"/>
            <a:r>
              <a:rPr lang="fr-FR" dirty="0"/>
              <a:t>Par exemple transforme un tenseur 2D en un tenseur 1D</a:t>
            </a:r>
          </a:p>
          <a:p>
            <a:pPr lvl="1"/>
            <a:r>
              <a:rPr lang="fr-FR" dirty="0"/>
              <a:t>Par exemple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Fait le lien entre le CNN et le Dense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92" y="3203037"/>
            <a:ext cx="5042289" cy="7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4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44F58-FF48-65CC-8CED-537BCF9A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GlobalAverage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38F67B-6E2E-CD63-FF5C-D35F02743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GlobalAverage2D remplace un </a:t>
            </a:r>
            <a:r>
              <a:rPr lang="fr-FR" dirty="0" err="1"/>
              <a:t>flatten</a:t>
            </a:r>
            <a:r>
              <a:rPr lang="fr-FR" dirty="0"/>
              <a:t> </a:t>
            </a:r>
            <a:r>
              <a:rPr lang="fr-FR" dirty="0" err="1"/>
              <a:t>entransformant</a:t>
            </a:r>
            <a:r>
              <a:rPr lang="fr-FR" dirty="0"/>
              <a:t> un cube en vecteur en moyennant les données des </a:t>
            </a:r>
            <a:r>
              <a:rPr lang="fr-FR" dirty="0" err="1"/>
              <a:t>shapes</a:t>
            </a:r>
            <a:r>
              <a:rPr lang="fr-FR" dirty="0"/>
              <a:t> 1 et 2</a:t>
            </a:r>
          </a:p>
          <a:p>
            <a:r>
              <a:rPr lang="fr-FR" dirty="0"/>
              <a:t>Exemple</a:t>
            </a:r>
          </a:p>
          <a:p>
            <a:pPr marL="400050" lvl="1" indent="0">
              <a:buNone/>
            </a:pPr>
            <a:r>
              <a:rPr lang="fr-FR" dirty="0"/>
              <a:t>[[1, 2, 3, 4],</a:t>
            </a:r>
          </a:p>
          <a:p>
            <a:pPr marL="400050" lvl="1" indent="0">
              <a:buNone/>
            </a:pPr>
            <a:r>
              <a:rPr lang="fr-FR" dirty="0"/>
              <a:t> [5, 6, 7, 8],</a:t>
            </a:r>
          </a:p>
          <a:p>
            <a:pPr marL="400050" lvl="1" indent="0">
              <a:buNone/>
            </a:pPr>
            <a:r>
              <a:rPr lang="fr-FR" dirty="0"/>
              <a:t> [1, 2, 3, 4],</a:t>
            </a:r>
          </a:p>
          <a:p>
            <a:pPr marL="400050" lvl="1" indent="0">
              <a:buNone/>
            </a:pPr>
            <a:r>
              <a:rPr lang="fr-FR" dirty="0"/>
              <a:t> [5, 6, 7, 8]]</a:t>
            </a:r>
          </a:p>
          <a:p>
            <a:pPr marL="400050" lvl="1" indent="0">
              <a:buNone/>
            </a:pPr>
            <a:r>
              <a:rPr lang="fr-FR" dirty="0"/>
              <a:t>Moyenne = (1+2+3+4+5+6+7+8+1+2+3+4+5+6+7+8) / 16 = 4.5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829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ImageDataGenerator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lire automatiquement des répertoires d’images</a:t>
            </a:r>
          </a:p>
          <a:p>
            <a:pPr lvl="1"/>
            <a:r>
              <a:rPr lang="fr-FR" dirty="0"/>
              <a:t>Chaque dossier représente une catégorie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sz="2000" dirty="0" err="1"/>
              <a:t>trainset</a:t>
            </a:r>
            <a:r>
              <a:rPr lang="fr-FR" sz="2000" dirty="0"/>
              <a:t> = </a:t>
            </a:r>
            <a:r>
              <a:rPr lang="fr-FR" sz="2000" dirty="0" err="1"/>
              <a:t>keras.preprocessing.image.ImageDataGenerator</a:t>
            </a:r>
            <a:r>
              <a:rPr lang="fr-FR" sz="2000" dirty="0"/>
              <a:t>(</a:t>
            </a:r>
            <a:r>
              <a:rPr lang="fr-FR" sz="2000" dirty="0" err="1"/>
              <a:t>rescale</a:t>
            </a:r>
            <a:r>
              <a:rPr lang="fr-FR" sz="2000" dirty="0"/>
              <a:t>=1. / 255, </a:t>
            </a:r>
            <a:r>
              <a:rPr lang="fr-FR" sz="2000" dirty="0" err="1"/>
              <a:t>validation_split</a:t>
            </a:r>
            <a:r>
              <a:rPr lang="fr-FR" sz="2000" dirty="0"/>
              <a:t>=0.2)</a:t>
            </a:r>
          </a:p>
          <a:p>
            <a:pPr lvl="1"/>
            <a:r>
              <a:rPr lang="fr-FR" sz="2000" dirty="0" err="1"/>
              <a:t>trainGenerator</a:t>
            </a:r>
            <a:r>
              <a:rPr lang="fr-FR" sz="2000" dirty="0"/>
              <a:t> = </a:t>
            </a:r>
            <a:r>
              <a:rPr lang="fr-FR" sz="2000" dirty="0" err="1"/>
              <a:t>trainset.flow_from_directory</a:t>
            </a:r>
            <a:r>
              <a:rPr lang="fr-FR" sz="2000" dirty="0"/>
              <a:t>(</a:t>
            </a:r>
          </a:p>
          <a:p>
            <a:pPr marL="457200" lvl="1" indent="0">
              <a:buNone/>
            </a:pPr>
            <a:r>
              <a:rPr lang="fr-FR" sz="2000" dirty="0"/>
              <a:t>            'data/</a:t>
            </a:r>
            <a:r>
              <a:rPr lang="fr-FR" sz="2000" dirty="0" err="1"/>
              <a:t>dogsvscats</a:t>
            </a:r>
            <a:r>
              <a:rPr lang="fr-FR" sz="2000" dirty="0"/>
              <a:t>/train',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target_size</a:t>
            </a:r>
            <a:r>
              <a:rPr lang="fr-FR" sz="2000" dirty="0"/>
              <a:t>=(150, 150),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subset</a:t>
            </a:r>
            <a:r>
              <a:rPr lang="fr-FR" sz="2000" dirty="0"/>
              <a:t> = 'training',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class_mode</a:t>
            </a:r>
            <a:r>
              <a:rPr lang="fr-FR" sz="2000" dirty="0"/>
              <a:t>="</a:t>
            </a:r>
            <a:r>
              <a:rPr lang="fr-FR" sz="2000" dirty="0" err="1"/>
              <a:t>binary</a:t>
            </a:r>
            <a:r>
              <a:rPr lang="fr-FR" sz="20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281191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Augmenter le jeu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un réseau est profond plus il lui faut des données</a:t>
            </a:r>
          </a:p>
          <a:p>
            <a:pPr lvl="1"/>
            <a:r>
              <a:rPr lang="fr-FR" dirty="0"/>
              <a:t>Il suffit d'augmenter artificiellement le jeu de données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Keras</a:t>
            </a:r>
            <a:r>
              <a:rPr lang="fr-FR" dirty="0"/>
              <a:t> possède la classe </a:t>
            </a:r>
            <a:r>
              <a:rPr lang="fr-FR" dirty="0" err="1"/>
              <a:t>ImageDataGenerator</a:t>
            </a:r>
            <a:r>
              <a:rPr lang="fr-FR" dirty="0"/>
              <a:t> pour effectuer </a:t>
            </a:r>
            <a:r>
              <a:rPr lang="fr-FR" dirty="0" err="1"/>
              <a:t>celà</a:t>
            </a:r>
            <a:endParaRPr lang="fr-FR" dirty="0"/>
          </a:p>
        </p:txBody>
      </p:sp>
      <p:pic>
        <p:nvPicPr>
          <p:cNvPr id="3074" name="Picture 2" descr="https://s3-ap-south-1.amazonaws.com/av-blog-media/wp-content/uploads/2018/04/Screen-Shot-2018-04-04-at-12.14.45-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24944"/>
            <a:ext cx="599122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53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58937-8507-B0BF-4C18-24A65212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22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68E328-17A2-CCE8-F02A-A6ECA4E5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MNIST CNN</a:t>
            </a:r>
          </a:p>
          <a:p>
            <a:pPr lvl="1"/>
            <a:r>
              <a:rPr lang="fr-FR" dirty="0"/>
              <a:t>Avec </a:t>
            </a:r>
            <a:r>
              <a:rPr lang="fr-FR" dirty="0" err="1"/>
              <a:t>bottleneck</a:t>
            </a:r>
            <a:r>
              <a:rPr lang="fr-FR" dirty="0"/>
              <a:t> + MLP</a:t>
            </a:r>
          </a:p>
          <a:p>
            <a:pPr lvl="1"/>
            <a:r>
              <a:rPr lang="fr-FR" dirty="0"/>
              <a:t>Avec Average2D</a:t>
            </a:r>
          </a:p>
          <a:p>
            <a:r>
              <a:rPr lang="fr-FR"/>
              <a:t>HAR CN</a:t>
            </a:r>
            <a:r>
              <a:rPr lang="fr-FR" dirty="0"/>
              <a:t>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27328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17598</TotalTime>
  <Words>1024</Words>
  <Application>Microsoft Office PowerPoint</Application>
  <PresentationFormat>Affichage à l'écran (4:3)</PresentationFormat>
  <Paragraphs>166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Monotype Sorts</vt:lpstr>
      <vt:lpstr>Times New Roman</vt:lpstr>
      <vt:lpstr>cvc</vt:lpstr>
      <vt:lpstr>Présentation PowerPoint</vt:lpstr>
      <vt:lpstr>Yann Le Cun</vt:lpstr>
      <vt:lpstr>Convulational Neural Network</vt:lpstr>
      <vt:lpstr>ML vs DL</vt:lpstr>
      <vt:lpstr>Cancer du sein</vt:lpstr>
      <vt:lpstr>Deep Learning</vt:lpstr>
      <vt:lpstr>ML vs DL</vt:lpstr>
      <vt:lpstr>But</vt:lpstr>
      <vt:lpstr>Convolution</vt:lpstr>
      <vt:lpstr>Convolution</vt:lpstr>
      <vt:lpstr>Exemple de convolution</vt:lpstr>
      <vt:lpstr>Convolution 2d et Hyperparamètres</vt:lpstr>
      <vt:lpstr>Convolution Keras</vt:lpstr>
      <vt:lpstr>Conv1d, Conv2d, Conv3d</vt:lpstr>
      <vt:lpstr>Exemple</vt:lpstr>
      <vt:lpstr>Le kernel</vt:lpstr>
      <vt:lpstr>Relu</vt:lpstr>
      <vt:lpstr>Pooling</vt:lpstr>
      <vt:lpstr>Convolution et Pooling</vt:lpstr>
      <vt:lpstr>CNN + Relu + Pooling</vt:lpstr>
      <vt:lpstr>Réseaux convolutifs</vt:lpstr>
      <vt:lpstr>CNN</vt:lpstr>
      <vt:lpstr>Deep Network</vt:lpstr>
      <vt:lpstr>MNIST</vt:lpstr>
      <vt:lpstr>Exemple CNN</vt:lpstr>
      <vt:lpstr>Flatten</vt:lpstr>
      <vt:lpstr>GlobalAverage</vt:lpstr>
      <vt:lpstr>ImageDataGenerator</vt:lpstr>
      <vt:lpstr>Augmenter le jeu de données</vt:lpstr>
      <vt:lpstr>TP 22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550</cp:revision>
  <dcterms:created xsi:type="dcterms:W3CDTF">2000-04-10T19:33:12Z</dcterms:created>
  <dcterms:modified xsi:type="dcterms:W3CDTF">2026-06-12T11:24:27Z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