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2"/>
  </p:notesMasterIdLst>
  <p:handoutMasterIdLst>
    <p:handoutMasterId r:id="rId23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304" r:id="rId12"/>
    <p:sldId id="301" r:id="rId13"/>
    <p:sldId id="302" r:id="rId14"/>
    <p:sldId id="303" r:id="rId15"/>
    <p:sldId id="306" r:id="rId16"/>
    <p:sldId id="307" r:id="rId17"/>
    <p:sldId id="309" r:id="rId18"/>
    <p:sldId id="310" r:id="rId19"/>
    <p:sldId id="289" r:id="rId20"/>
    <p:sldId id="308" r:id="rId2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ExecuTorch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151C95-BFF1-4B41-2CAD-9CE29EBB0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848" y="4437112"/>
            <a:ext cx="1882303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Facebook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DB3575-6C95-48D7-C1D5-ABFC89738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0"/>
            <a:ext cx="1077443" cy="11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</a:t>
            </a:r>
            <a:r>
              <a:rPr lang="fr-FR" dirty="0" err="1"/>
              <a:t>PyTorch</a:t>
            </a:r>
            <a:r>
              <a:rPr lang="fr-FR" dirty="0"/>
              <a:t>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 (puissants)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Microcontrôleurs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conçu pour exécuter du ML sur des microcontrôleurs ne disposant que de quelques Mo de mémoire</a:t>
            </a:r>
          </a:p>
          <a:p>
            <a:r>
              <a:rPr lang="fr-FR" dirty="0"/>
              <a:t>Aucune compatibilité avec le système d'exploitation n'est nécessaire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4CE9CF4-93BB-D619-26B7-1D7511B17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18120"/>
            <a:ext cx="8676456" cy="493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PyTorch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 GPU, NPU &amp; DSP</a:t>
            </a:r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0E1EF0-2338-E50F-9B62-EB98A35EB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C52CF-574A-BAF7-520C-F55D7FB34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s'appuie sur des plateformes pour générer le PTE</a:t>
            </a:r>
          </a:p>
          <a:p>
            <a:pPr lvl="1"/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  <a:p>
            <a:r>
              <a:rPr lang="fr-FR" dirty="0" err="1"/>
              <a:t>Quantisation</a:t>
            </a:r>
            <a:r>
              <a:rPr lang="fr-FR" dirty="0"/>
              <a:t> disponible</a:t>
            </a:r>
          </a:p>
          <a:p>
            <a:pPr lvl="1"/>
            <a:r>
              <a:rPr lang="fr-FR" dirty="0"/>
              <a:t>En FP32 ne nécessite aucune plateforme côté serveur</a:t>
            </a:r>
          </a:p>
          <a:p>
            <a:pPr lvl="1"/>
            <a:r>
              <a:rPr lang="fr-FR" dirty="0"/>
              <a:t>Nécessite alors une plateforme pour la </a:t>
            </a:r>
            <a:r>
              <a:rPr lang="fr-FR" dirty="0" err="1"/>
              <a:t>quantisation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414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F9E29-4F03-7E8B-79C7-7BAC642E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E5833A-3426-2692-778F-2704CDF86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XNNPACK est une solution hautement optimisée pour l’inférence de réseaux de neurones sur les plateformes ARM, x86, </a:t>
            </a:r>
            <a:r>
              <a:rPr lang="fr-FR" dirty="0" err="1"/>
              <a:t>WebAssembly</a:t>
            </a:r>
            <a:r>
              <a:rPr lang="fr-FR" dirty="0"/>
              <a:t> et RISC-V</a:t>
            </a:r>
          </a:p>
          <a:p>
            <a:pPr lvl="1"/>
            <a:r>
              <a:rPr lang="fr-FR" dirty="0"/>
              <a:t>XNNPACK n’est pas destinée à être utilisée directement par les développeurs, elle fournit plutôt des primitives de bas niveau pour accélérer des </a:t>
            </a:r>
            <a:r>
              <a:rPr lang="fr-FR" dirty="0" err="1"/>
              <a:t>frameworks</a:t>
            </a:r>
            <a:r>
              <a:rPr lang="fr-FR" dirty="0"/>
              <a:t> de machine </a:t>
            </a:r>
            <a:r>
              <a:rPr lang="fr-FR" dirty="0" err="1"/>
              <a:t>learning</a:t>
            </a:r>
            <a:r>
              <a:rPr lang="fr-FR" dirty="0"/>
              <a:t> de haut niveau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TensorFlow</a:t>
            </a:r>
            <a:r>
              <a:rPr lang="fr-FR" dirty="0"/>
              <a:t> Lite, TensorFlow.js, </a:t>
            </a:r>
            <a:r>
              <a:rPr lang="fr-FR" dirty="0" err="1"/>
              <a:t>PyTorch</a:t>
            </a:r>
            <a:r>
              <a:rPr lang="fr-FR" dirty="0"/>
              <a:t>, ONNX Runtime, </a:t>
            </a:r>
            <a:r>
              <a:rPr lang="fr-FR" dirty="0" err="1"/>
              <a:t>ExecuTorch</a:t>
            </a:r>
            <a:r>
              <a:rPr lang="fr-FR" dirty="0"/>
              <a:t> et </a:t>
            </a:r>
            <a:r>
              <a:rPr lang="fr-FR" dirty="0" err="1"/>
              <a:t>MediaPipe</a:t>
            </a:r>
            <a:endParaRPr lang="fr-FR" dirty="0"/>
          </a:p>
          <a:p>
            <a:pPr lvl="1"/>
            <a:r>
              <a:rPr lang="fr-FR" dirty="0"/>
              <a:t>C'est une des plateformes </a:t>
            </a:r>
            <a:r>
              <a:rPr lang="fr-FR" dirty="0" err="1"/>
              <a:t>ExecuTorch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84178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FC5CA7-BF45-B2D7-B9F6-AEB7DD3AE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DBBC024D-30CD-7F82-A298-B30495DDA8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691680" y="1700808"/>
            <a:ext cx="6210838" cy="2880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98907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85AA74-CBFB-3475-9D8D-00932BA17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Environnement de test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298657-53D9-820D-377E-A5DCC7916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r>
              <a:rPr lang="fr-FR" dirty="0"/>
              <a:t> ne fonctionne pas sur microcontrôleur</a:t>
            </a:r>
          </a:p>
          <a:p>
            <a:pPr lvl="1"/>
            <a:r>
              <a:rPr lang="fr-FR" dirty="0"/>
              <a:t>Uniquement sur Intel, AMD, ARM comme le Raspberry Pi</a:t>
            </a:r>
          </a:p>
          <a:p>
            <a:r>
              <a:rPr lang="fr-FR" dirty="0" err="1"/>
              <a:t>XNNPack</a:t>
            </a:r>
            <a:r>
              <a:rPr lang="fr-FR" dirty="0"/>
              <a:t> est surtout très utile pour tester une inférence sur PC</a:t>
            </a:r>
          </a:p>
          <a:p>
            <a:pPr lvl="1"/>
            <a:r>
              <a:rPr lang="fr-FR" dirty="0"/>
              <a:t>Sans passer par le </a:t>
            </a:r>
            <a:r>
              <a:rPr lang="fr-FR" dirty="0" err="1"/>
              <a:t>micro-contrôleur</a:t>
            </a:r>
            <a:endParaRPr lang="fr-FR" dirty="0"/>
          </a:p>
          <a:p>
            <a:pPr lvl="1"/>
            <a:r>
              <a:rPr lang="fr-FR" dirty="0"/>
              <a:t>Tests en Python ou C++</a:t>
            </a:r>
          </a:p>
          <a:p>
            <a:pPr lvl="1"/>
            <a:r>
              <a:rPr lang="fr-FR" dirty="0"/>
              <a:t>Installation facile sur Windows et Linux</a:t>
            </a:r>
          </a:p>
          <a:p>
            <a:pPr lvl="1"/>
            <a:r>
              <a:rPr lang="fr-FR" dirty="0"/>
              <a:t>Ne nécessite pas une architecture propriétaire pour compiler</a:t>
            </a:r>
          </a:p>
          <a:p>
            <a:pPr lvl="1"/>
            <a:r>
              <a:rPr lang="fr-FR" dirty="0"/>
              <a:t>Par exemple ARM nécessite de compiler sur ARM</a:t>
            </a:r>
          </a:p>
          <a:p>
            <a:pPr lvl="1"/>
            <a:r>
              <a:rPr lang="fr-FR" dirty="0" err="1"/>
              <a:t>Comptabile</a:t>
            </a:r>
            <a:r>
              <a:rPr lang="fr-FR" dirty="0"/>
              <a:t> CUDA et donc GPU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1949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F19D2-37D5-C841-43F6-3554E434E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F0F5CF-AE1C-926A-5E26-D6BDA32C7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Quantification</a:t>
            </a:r>
          </a:p>
          <a:p>
            <a:pPr lvl="1"/>
            <a:r>
              <a:rPr lang="fr-FR" dirty="0"/>
              <a:t>Support intégré via </a:t>
            </a:r>
            <a:r>
              <a:rPr lang="fr-FR" dirty="0" err="1"/>
              <a:t>torchao</a:t>
            </a:r>
            <a:r>
              <a:rPr lang="fr-FR" dirty="0"/>
              <a:t> pour la quantification en 8 bits, 4 bits et dynamique</a:t>
            </a:r>
          </a:p>
          <a:p>
            <a:r>
              <a:rPr lang="fr-FR" dirty="0"/>
              <a:t>Planification mémoire</a:t>
            </a:r>
          </a:p>
          <a:p>
            <a:pPr lvl="1"/>
            <a:r>
              <a:rPr lang="fr-FR" dirty="0"/>
              <a:t>Optimisation de l’utilisation mémoire grâce à des stratégies d’allocation anticipée (</a:t>
            </a:r>
            <a:r>
              <a:rPr lang="fr-FR" dirty="0" err="1"/>
              <a:t>ahead</a:t>
            </a:r>
            <a:r>
              <a:rPr lang="fr-FR" dirty="0"/>
              <a:t>-of-time)</a:t>
            </a:r>
          </a:p>
          <a:p>
            <a:r>
              <a:rPr lang="fr-FR" dirty="0"/>
              <a:t>Outils développeur</a:t>
            </a:r>
          </a:p>
          <a:p>
            <a:pPr lvl="1"/>
            <a:r>
              <a:rPr lang="fr-FR" dirty="0"/>
              <a:t>Profiler </a:t>
            </a:r>
            <a:r>
              <a:rPr lang="fr-FR" dirty="0" err="1"/>
              <a:t>ETDump</a:t>
            </a:r>
            <a:r>
              <a:rPr lang="fr-FR" dirty="0"/>
              <a:t>, inspecteur </a:t>
            </a:r>
            <a:r>
              <a:rPr lang="fr-FR" dirty="0" err="1"/>
              <a:t>ETRecord</a:t>
            </a:r>
            <a:r>
              <a:rPr lang="fr-FR" dirty="0"/>
              <a:t> et débogueur de modèle</a:t>
            </a:r>
          </a:p>
          <a:p>
            <a:r>
              <a:rPr lang="fr-FR" dirty="0" err="1"/>
              <a:t>Build</a:t>
            </a:r>
            <a:r>
              <a:rPr lang="fr-FR" dirty="0"/>
              <a:t> sélectif</a:t>
            </a:r>
          </a:p>
          <a:p>
            <a:pPr lvl="1"/>
            <a:r>
              <a:rPr lang="fr-FR" dirty="0"/>
              <a:t>Suppression des opérateurs inutilisés pour réduire la taille du </a:t>
            </a:r>
            <a:r>
              <a:rPr lang="fr-FR" dirty="0" err="1"/>
              <a:t>binaireOpérateurs</a:t>
            </a:r>
            <a:r>
              <a:rPr lang="fr-FR" dirty="0"/>
              <a:t> personnalisés</a:t>
            </a:r>
          </a:p>
        </p:txBody>
      </p:sp>
    </p:spTree>
    <p:extLst>
      <p:ext uri="{BB962C8B-B14F-4D97-AF65-F5344CB8AC3E}">
        <p14:creationId xmlns:p14="http://schemas.microsoft.com/office/powerpoint/2010/main" val="439027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A32208-BA2B-91EF-0DEC-DFF3F2116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Torchao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1F05C0-01EA-6D0C-279F-D9C8559F6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 de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/>
              <a:t>int16, int8, int4 !</a:t>
            </a:r>
          </a:p>
          <a:p>
            <a:r>
              <a:rPr lang="fr-FR" dirty="0" err="1"/>
              <a:t>Quantisation</a:t>
            </a:r>
            <a:r>
              <a:rPr lang="fr-FR" dirty="0"/>
              <a:t> possible sur GPU via Cuda</a:t>
            </a:r>
          </a:p>
          <a:p>
            <a:pPr lvl="1"/>
            <a:r>
              <a:rPr lang="fr-FR" dirty="0"/>
              <a:t>C'est indépendant la prédiction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3B86C-8CE8-960B-CDC2-0DF45FAFA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3789040"/>
            <a:ext cx="6378493" cy="92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2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742AE0-DF3E-05BA-2103-BAEA37DDE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CFAEB6-F9C6-C273-2F44-637302BF9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ne possède pas d'outils aussi puissant que PT pour la conversion vers NPU, GPU embarqué</a:t>
            </a:r>
          </a:p>
          <a:p>
            <a:r>
              <a:rPr lang="fr-FR" dirty="0" err="1"/>
              <a:t>LiteRT</a:t>
            </a:r>
            <a:r>
              <a:rPr lang="fr-FR" dirty="0"/>
              <a:t> possède tous les outils pour convertir les .h5 en .</a:t>
            </a:r>
            <a:r>
              <a:rPr lang="fr-FR" dirty="0" err="1"/>
              <a:t>pte</a:t>
            </a:r>
            <a:endParaRPr lang="fr-FR" dirty="0"/>
          </a:p>
          <a:p>
            <a:pPr lvl="1"/>
            <a:r>
              <a:rPr lang="fr-FR" dirty="0" err="1"/>
              <a:t>LiteRT</a:t>
            </a:r>
            <a:r>
              <a:rPr lang="fr-FR" dirty="0"/>
              <a:t> annonce bientôt le support complet comme </a:t>
            </a:r>
            <a:r>
              <a:rPr lang="fr-FR" dirty="0" err="1"/>
              <a:t>ExecuTorch</a:t>
            </a:r>
            <a:endParaRPr lang="fr-FR" dirty="0"/>
          </a:p>
          <a:p>
            <a:pPr lvl="1"/>
            <a:r>
              <a:rPr lang="fr-FR" dirty="0" err="1"/>
              <a:t>ExecuTorch</a:t>
            </a:r>
            <a:r>
              <a:rPr lang="fr-FR" dirty="0"/>
              <a:t> annonce le support des ESP32</a:t>
            </a:r>
          </a:p>
        </p:txBody>
      </p:sp>
    </p:spTree>
    <p:extLst>
      <p:ext uri="{BB962C8B-B14F-4D97-AF65-F5344CB8AC3E}">
        <p14:creationId xmlns:p14="http://schemas.microsoft.com/office/powerpoint/2010/main" val="269352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22D26-AD39-0ECF-C559-32166749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 vs PT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BD8E9DF-F795-0507-B8A1-D5F70997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PC c'est équivalent</a:t>
            </a:r>
          </a:p>
          <a:p>
            <a:pPr lvl="1"/>
            <a:r>
              <a:rPr lang="fr-FR" dirty="0"/>
              <a:t>TF = industrie, vision</a:t>
            </a:r>
          </a:p>
          <a:p>
            <a:pPr lvl="1"/>
            <a:r>
              <a:rPr lang="fr-FR" dirty="0"/>
              <a:t>PT = recherche, LLM</a:t>
            </a:r>
          </a:p>
          <a:p>
            <a:r>
              <a:rPr lang="fr-FR" dirty="0"/>
              <a:t>En embarqué</a:t>
            </a:r>
          </a:p>
          <a:p>
            <a:pPr lvl="1"/>
            <a:r>
              <a:rPr lang="fr-FR" dirty="0"/>
              <a:t>TF = petits microcontrôleurs &lt; 1 Mo ou &lt; 4 Mo</a:t>
            </a:r>
          </a:p>
          <a:p>
            <a:pPr lvl="1"/>
            <a:r>
              <a:rPr lang="fr-FR" dirty="0"/>
              <a:t>PT = </a:t>
            </a:r>
            <a:r>
              <a:rPr lang="fr-FR"/>
              <a:t>gros microcontrôleurs, </a:t>
            </a:r>
            <a:r>
              <a:rPr lang="fr-FR" dirty="0"/>
              <a:t>NPU, GPU embarqué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60926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28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Cancer</a:t>
            </a:r>
          </a:p>
          <a:p>
            <a:r>
              <a:rPr lang="fr-FR" dirty="0" err="1"/>
              <a:t>XNNPack</a:t>
            </a:r>
            <a:r>
              <a:rPr lang="fr-FR" dirty="0"/>
              <a:t>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 err="1"/>
              <a:t>XNNPack</a:t>
            </a:r>
            <a:r>
              <a:rPr lang="fr-FR" dirty="0"/>
              <a:t> Prédiction</a:t>
            </a:r>
          </a:p>
          <a:p>
            <a:r>
              <a:rPr lang="fr-FR" dirty="0" err="1"/>
              <a:t>ExecuTorch</a:t>
            </a:r>
            <a:r>
              <a:rPr lang="fr-FR" dirty="0"/>
              <a:t> MNIST</a:t>
            </a:r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50BDD0-94AA-BB01-2277-71F318FE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autres plateformes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0A9885-F03B-80D9-E13D-CDF8C066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donc possible de tester le GPU via CUDA et </a:t>
            </a:r>
            <a:r>
              <a:rPr lang="fr-FR" dirty="0" err="1"/>
              <a:t>XNNPack</a:t>
            </a:r>
            <a:endParaRPr lang="fr-FR" dirty="0"/>
          </a:p>
          <a:p>
            <a:pPr lvl="1"/>
            <a:r>
              <a:rPr lang="fr-FR" dirty="0"/>
              <a:t>Il suffit que CUDA soit installé</a:t>
            </a:r>
          </a:p>
          <a:p>
            <a:r>
              <a:rPr lang="fr-FR" dirty="0"/>
              <a:t>ARM Cortex M</a:t>
            </a:r>
          </a:p>
          <a:p>
            <a:pPr lvl="1"/>
            <a:r>
              <a:rPr lang="fr-FR" dirty="0"/>
              <a:t>Il est possible d'utiliser un ARM avec GPU</a:t>
            </a:r>
          </a:p>
          <a:p>
            <a:pPr lvl="1"/>
            <a:r>
              <a:rPr lang="fr-FR" dirty="0"/>
              <a:t>Difficile à utiliser en formation car la </a:t>
            </a:r>
            <a:r>
              <a:rPr lang="fr-FR" dirty="0" err="1"/>
              <a:t>quantisation</a:t>
            </a:r>
            <a:r>
              <a:rPr lang="fr-FR" dirty="0"/>
              <a:t> et la prédiction doivent être compilées en ARM</a:t>
            </a:r>
          </a:p>
          <a:p>
            <a:r>
              <a:rPr lang="fr-FR" dirty="0"/>
              <a:t>NXP</a:t>
            </a:r>
          </a:p>
          <a:p>
            <a:pPr lvl="1"/>
            <a:r>
              <a:rPr lang="fr-FR" dirty="0"/>
              <a:t>NPU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262619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7624</TotalTime>
  <Words>626</Words>
  <Application>Microsoft Office PowerPoint</Application>
  <PresentationFormat>Affichage à l'écran (4:3)</PresentationFormat>
  <Paragraphs>109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Monotype Sorts</vt:lpstr>
      <vt:lpstr>Times New Roman</vt:lpstr>
      <vt:lpstr>cvc</vt:lpstr>
      <vt:lpstr>Présentation PowerPoint</vt:lpstr>
      <vt:lpstr>ExecuTorch</vt:lpstr>
      <vt:lpstr>Contraintes</vt:lpstr>
      <vt:lpstr>ExecuTorch</vt:lpstr>
      <vt:lpstr>Compatibilité</vt:lpstr>
      <vt:lpstr>Microcontrôleurs</vt:lpstr>
      <vt:lpstr>Langages</vt:lpstr>
      <vt:lpstr>Plateformes compatibles</vt:lpstr>
      <vt:lpstr>Limites</vt:lpstr>
      <vt:lpstr>Performances</vt:lpstr>
      <vt:lpstr>PyTorch Embeded</vt:lpstr>
      <vt:lpstr>XNNPack</vt:lpstr>
      <vt:lpstr>XNNPack</vt:lpstr>
      <vt:lpstr>Environnement de test</vt:lpstr>
      <vt:lpstr>Optimisations</vt:lpstr>
      <vt:lpstr>Torchao</vt:lpstr>
      <vt:lpstr>Tensorflow</vt:lpstr>
      <vt:lpstr>TF vs PT</vt:lpstr>
      <vt:lpstr>TP 28</vt:lpstr>
      <vt:lpstr>Les autres plateformes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356</cp:revision>
  <dcterms:created xsi:type="dcterms:W3CDTF">2000-04-10T19:33:12Z</dcterms:created>
  <dcterms:modified xsi:type="dcterms:W3CDTF">2026-06-15T19:06:55Z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