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4"/>
  </p:notesMasterIdLst>
  <p:handoutMasterIdLst>
    <p:handoutMasterId r:id="rId35"/>
  </p:handoutMasterIdLst>
  <p:sldIdLst>
    <p:sldId id="264" r:id="rId2"/>
    <p:sldId id="270" r:id="rId3"/>
    <p:sldId id="273" r:id="rId4"/>
    <p:sldId id="298" r:id="rId5"/>
    <p:sldId id="271" r:id="rId6"/>
    <p:sldId id="293" r:id="rId7"/>
    <p:sldId id="267" r:id="rId8"/>
    <p:sldId id="276" r:id="rId9"/>
    <p:sldId id="272" r:id="rId10"/>
    <p:sldId id="274" r:id="rId11"/>
    <p:sldId id="297" r:id="rId12"/>
    <p:sldId id="304" r:id="rId13"/>
    <p:sldId id="308" r:id="rId14"/>
    <p:sldId id="291" r:id="rId15"/>
    <p:sldId id="300" r:id="rId16"/>
    <p:sldId id="301" r:id="rId17"/>
    <p:sldId id="313" r:id="rId18"/>
    <p:sldId id="296" r:id="rId19"/>
    <p:sldId id="277" r:id="rId20"/>
    <p:sldId id="278" r:id="rId21"/>
    <p:sldId id="294" r:id="rId22"/>
    <p:sldId id="289" r:id="rId23"/>
    <p:sldId id="302" r:id="rId24"/>
    <p:sldId id="303" r:id="rId25"/>
    <p:sldId id="279" r:id="rId26"/>
    <p:sldId id="295" r:id="rId27"/>
    <p:sldId id="305" r:id="rId28"/>
    <p:sldId id="306" r:id="rId29"/>
    <p:sldId id="311" r:id="rId30"/>
    <p:sldId id="312" r:id="rId31"/>
    <p:sldId id="310" r:id="rId32"/>
    <p:sldId id="309" r:id="rId3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r>
              <a:rPr lang="fr-FR" altLang="fr-FR" dirty="0"/>
              <a:t>Programmation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du programme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bloc d'import</a:t>
            </a:r>
          </a:p>
          <a:p>
            <a:r>
              <a:rPr lang="fr-FR" dirty="0"/>
              <a:t>Une initialisation des variables</a:t>
            </a:r>
          </a:p>
          <a:p>
            <a:r>
              <a:rPr lang="fr-FR" dirty="0"/>
              <a:t>Une boucle infinie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1869F1-490E-6844-55BF-21D4DC94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068960"/>
            <a:ext cx="421063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5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boucle est trop rapide</a:t>
            </a:r>
          </a:p>
          <a:p>
            <a:r>
              <a:rPr lang="fr-FR" dirty="0"/>
              <a:t>Le module time possède les fonctions de </a:t>
            </a:r>
            <a:r>
              <a:rPr lang="fr-FR" dirty="0" err="1"/>
              <a:t>sleep</a:t>
            </a:r>
            <a:endParaRPr lang="fr-FR" dirty="0"/>
          </a:p>
          <a:p>
            <a:r>
              <a:rPr lang="fr-FR" dirty="0" err="1"/>
              <a:t>sleep</a:t>
            </a:r>
            <a:r>
              <a:rPr lang="fr-FR" dirty="0"/>
              <a:t>() permet d'effectuer une pause en seconde</a:t>
            </a:r>
          </a:p>
          <a:p>
            <a:r>
              <a:rPr lang="fr-FR" dirty="0" err="1"/>
              <a:t>sleep_ms</a:t>
            </a:r>
            <a:r>
              <a:rPr lang="fr-FR" dirty="0"/>
              <a:t>() permet d'effectuer une pause en milliseconde</a:t>
            </a:r>
          </a:p>
          <a:p>
            <a:r>
              <a:rPr lang="fr-FR" dirty="0" err="1"/>
              <a:t>sleep_ms</a:t>
            </a:r>
            <a:r>
              <a:rPr lang="fr-FR" dirty="0"/>
              <a:t>(1000)</a:t>
            </a:r>
          </a:p>
          <a:p>
            <a:pPr lvl="1"/>
            <a:r>
              <a:rPr lang="fr-FR" dirty="0"/>
              <a:t>Pause de 1s</a:t>
            </a:r>
          </a:p>
          <a:p>
            <a:pPr lvl="1"/>
            <a:r>
              <a:rPr lang="fr-FR" dirty="0"/>
              <a:t>Quasi obligatoire dans un </a:t>
            </a:r>
            <a:r>
              <a:rPr lang="fr-FR" dirty="0" err="1"/>
              <a:t>loop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46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22729-F3D9-75E0-5856-FE298382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ports  digitaux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E2E51-B406-8AEB-A832-88512507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Renvoient HIGH (1 – 3.3V) ou LOW (0)</a:t>
            </a:r>
          </a:p>
          <a:p>
            <a:pPr lvl="1"/>
            <a:r>
              <a:rPr lang="fr-FR" dirty="0"/>
              <a:t>Attention : différent de Arduino </a:t>
            </a:r>
            <a:r>
              <a:rPr lang="fr-FR" dirty="0" err="1"/>
              <a:t>Uno</a:t>
            </a:r>
            <a:r>
              <a:rPr lang="fr-FR" dirty="0"/>
              <a:t> (5V)</a:t>
            </a:r>
          </a:p>
          <a:p>
            <a:pPr lvl="1"/>
            <a:r>
              <a:rPr lang="fr-FR" dirty="0"/>
              <a:t>Nécessite une alimentation 5V pour certains composants</a:t>
            </a:r>
          </a:p>
          <a:p>
            <a:pPr lvl="1"/>
            <a:r>
              <a:rPr lang="fr-FR" dirty="0"/>
              <a:t>Pin VIN</a:t>
            </a:r>
          </a:p>
          <a:p>
            <a:r>
              <a:rPr lang="fr-FR" dirty="0"/>
              <a:t>Tous les pins à partir de 12 + 4 et 5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3561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Pin permet de définir un port</a:t>
            </a:r>
          </a:p>
          <a:p>
            <a:pPr lvl="1"/>
            <a:r>
              <a:rPr lang="fr-FR" dirty="0" err="1"/>
              <a:t>from</a:t>
            </a:r>
            <a:r>
              <a:rPr lang="fr-FR" dirty="0"/>
              <a:t> machine import Pin</a:t>
            </a:r>
          </a:p>
          <a:p>
            <a:pPr lvl="1"/>
            <a:r>
              <a:rPr lang="fr-FR" dirty="0"/>
              <a:t>p0 = Pin(0, </a:t>
            </a:r>
            <a:r>
              <a:rPr lang="fr-FR" dirty="0" err="1"/>
              <a:t>Pin.OUT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p2 = Pin(2, Pin.IN)</a:t>
            </a:r>
          </a:p>
          <a:p>
            <a:pPr lvl="1"/>
            <a:r>
              <a:rPr lang="fr-FR" dirty="0"/>
              <a:t>p4 = Pin(4, Pin.IN, </a:t>
            </a:r>
            <a:r>
              <a:rPr lang="fr-FR" dirty="0" err="1"/>
              <a:t>Pin.PULL_DOWN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p5 = Pin(5, </a:t>
            </a:r>
            <a:r>
              <a:rPr lang="fr-FR" dirty="0" err="1"/>
              <a:t>Pin.OUT</a:t>
            </a:r>
            <a:r>
              <a:rPr lang="fr-FR" dirty="0"/>
              <a:t>, value=1)</a:t>
            </a:r>
          </a:p>
          <a:p>
            <a:r>
              <a:rPr lang="fr-FR" dirty="0"/>
              <a:t>Attention</a:t>
            </a:r>
          </a:p>
          <a:p>
            <a:pPr lvl="1"/>
            <a:r>
              <a:rPr lang="fr-FR" dirty="0"/>
              <a:t>PULL_UP et PULL_DOWN sont inversé par rapport à l'Arduino</a:t>
            </a:r>
          </a:p>
          <a:p>
            <a:pPr lvl="1"/>
            <a:r>
              <a:rPr lang="fr-FR" dirty="0"/>
              <a:t>Plus logique</a:t>
            </a:r>
          </a:p>
        </p:txBody>
      </p:sp>
    </p:spTree>
    <p:extLst>
      <p:ext uri="{BB962C8B-B14F-4D97-AF65-F5344CB8AC3E}">
        <p14:creationId xmlns:p14="http://schemas.microsoft.com/office/powerpoint/2010/main" val="29487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A605-0BBA-3F93-5010-91F20E46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D79FB-4CC9-C252-1B12-2C59D46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89F8B5-8BAD-F76C-0865-C800F6E1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p.on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p.value</a:t>
            </a:r>
            <a:r>
              <a:rPr lang="fr-FR" dirty="0"/>
              <a:t>(1)</a:t>
            </a:r>
          </a:p>
          <a:p>
            <a:pPr lvl="1"/>
            <a:r>
              <a:rPr lang="fr-FR" dirty="0"/>
              <a:t>Envoie 3.3V sur le port numérique en OUT</a:t>
            </a:r>
          </a:p>
          <a:p>
            <a:r>
              <a:rPr lang="fr-FR" dirty="0" err="1"/>
              <a:t>p.off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p.value</a:t>
            </a:r>
            <a:r>
              <a:rPr lang="fr-FR" dirty="0"/>
              <a:t>(0)</a:t>
            </a:r>
          </a:p>
          <a:p>
            <a:pPr lvl="1"/>
            <a:r>
              <a:rPr lang="fr-FR" dirty="0"/>
              <a:t>Envoie 0V sur le port numérique en OUT</a:t>
            </a:r>
          </a:p>
          <a:p>
            <a:r>
              <a:rPr lang="fr-FR" dirty="0" err="1"/>
              <a:t>Led</a:t>
            </a:r>
            <a:r>
              <a:rPr lang="fr-FR" dirty="0"/>
              <a:t> builtin = Pin 2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d'une résistance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LED est un semi conducteur qui se comporte comme une diode et libère de la lumière</a:t>
            </a:r>
          </a:p>
          <a:p>
            <a:pPr lvl="1"/>
            <a:r>
              <a:rPr lang="fr-FR" dirty="0"/>
              <a:t>Si vous branchez une LED sur le 3.3V elle brule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20mA, il faut donc une résistance (5% d'erreur)</a:t>
            </a:r>
          </a:p>
          <a:p>
            <a:pPr lvl="1"/>
            <a:r>
              <a:rPr lang="fr-FR" sz="2000" dirty="0"/>
              <a:t>Très lumineux, ne pas hésiter </a:t>
            </a:r>
            <a:r>
              <a:rPr lang="fr-FR" sz="2000"/>
              <a:t>à prendre R </a:t>
            </a:r>
            <a:r>
              <a:rPr lang="fr-FR" sz="2000" dirty="0"/>
              <a:t>largement dessus</a:t>
            </a:r>
          </a:p>
          <a:p>
            <a:pPr lvl="1"/>
            <a:r>
              <a:rPr lang="fr-FR" sz="2000" dirty="0"/>
              <a:t>Souvent utilisé à 15% de luminosité</a:t>
            </a:r>
          </a:p>
          <a:p>
            <a:r>
              <a:rPr lang="fr-FR" dirty="0" err="1"/>
              <a:t>Led</a:t>
            </a:r>
            <a:r>
              <a:rPr lang="fr-FR" dirty="0"/>
              <a:t> CMS rouge (</a:t>
            </a:r>
            <a:r>
              <a:rPr lang="fr-FR" dirty="0" err="1"/>
              <a:t>Ui</a:t>
            </a:r>
            <a:r>
              <a:rPr lang="fr-FR" dirty="0"/>
              <a:t> = 2v +/- 0.2v; I = 20mA)</a:t>
            </a:r>
          </a:p>
          <a:p>
            <a:pPr lvl="1"/>
            <a:r>
              <a:rPr lang="fr-FR" sz="2000" dirty="0" err="1"/>
              <a:t>Ua</a:t>
            </a:r>
            <a:r>
              <a:rPr lang="fr-FR" sz="2000" dirty="0"/>
              <a:t> = 3.3V</a:t>
            </a:r>
          </a:p>
          <a:p>
            <a:pPr lvl="1"/>
            <a:r>
              <a:rPr lang="fr-FR" sz="2000" dirty="0" err="1"/>
              <a:t>Ua</a:t>
            </a:r>
            <a:r>
              <a:rPr lang="fr-FR" sz="2000" dirty="0"/>
              <a:t> - </a:t>
            </a:r>
            <a:r>
              <a:rPr lang="fr-FR" sz="2000" dirty="0" err="1"/>
              <a:t>Ui</a:t>
            </a:r>
            <a:r>
              <a:rPr lang="fr-FR" sz="2000" dirty="0"/>
              <a:t> = RI</a:t>
            </a:r>
          </a:p>
          <a:p>
            <a:pPr lvl="1"/>
            <a:r>
              <a:rPr lang="fr-FR" sz="2000" dirty="0"/>
              <a:t>R = (</a:t>
            </a:r>
            <a:r>
              <a:rPr lang="fr-FR" sz="2000" dirty="0" err="1"/>
              <a:t>Ua</a:t>
            </a:r>
            <a:r>
              <a:rPr lang="fr-FR" sz="2000" dirty="0"/>
              <a:t> - </a:t>
            </a:r>
            <a:r>
              <a:rPr lang="fr-FR" sz="2000" dirty="0" err="1"/>
              <a:t>Ui</a:t>
            </a:r>
            <a:r>
              <a:rPr lang="fr-FR" sz="2000" dirty="0"/>
              <a:t>) / I</a:t>
            </a:r>
          </a:p>
          <a:p>
            <a:pPr lvl="1"/>
            <a:r>
              <a:rPr lang="fr-FR" sz="2000" dirty="0"/>
              <a:t>R = (3.3 - 2) / 0.02</a:t>
            </a:r>
          </a:p>
          <a:p>
            <a:pPr lvl="1"/>
            <a:r>
              <a:rPr lang="fr-FR" sz="2000" dirty="0"/>
              <a:t>R = 65 Ohm +/- 7 Ohm +/- 5%</a:t>
            </a:r>
          </a:p>
        </p:txBody>
      </p:sp>
      <p:pic>
        <p:nvPicPr>
          <p:cNvPr id="8194" name="Picture 2" descr="schema 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617" y="4468527"/>
            <a:ext cx="214938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1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Blink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premier exemple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A06976-356E-854C-52A9-81BE2036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78" y="2069811"/>
            <a:ext cx="2734057" cy="29912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DAF4BC0-72D9-8A96-71FF-126A684A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770" y="764704"/>
            <a:ext cx="4210638" cy="28007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CA290B-267A-A0A7-0001-25B8B8330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35" y="3638008"/>
            <a:ext cx="2926845" cy="31880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9C68615-02BC-0350-AA6C-6247691AA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57" y="3637615"/>
            <a:ext cx="3077700" cy="318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3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value: </a:t>
            </a:r>
            <a:r>
              <a:rPr lang="fr-FR" dirty="0" err="1"/>
              <a:t>int</a:t>
            </a:r>
            <a:r>
              <a:rPr lang="fr-FR" dirty="0"/>
              <a:t> = </a:t>
            </a:r>
            <a:r>
              <a:rPr lang="fr-FR" dirty="0" err="1"/>
              <a:t>p.value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la valeur du port numérique IN</a:t>
            </a:r>
          </a:p>
          <a:p>
            <a:r>
              <a:rPr lang="fr-FR" dirty="0"/>
              <a:t>Pas besoin de résistance </a:t>
            </a:r>
            <a:r>
              <a:rPr lang="fr-FR" dirty="0" err="1"/>
              <a:t>PullUp</a:t>
            </a:r>
            <a:endParaRPr lang="fr-FR" dirty="0"/>
          </a:p>
          <a:p>
            <a:pPr lvl="1"/>
            <a:r>
              <a:rPr lang="fr-FR" dirty="0"/>
              <a:t>Inclue dans le </a:t>
            </a:r>
            <a:r>
              <a:rPr lang="fr-FR" dirty="0" err="1"/>
              <a:t>micro-contrôleur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418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Bouton poussoir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d'avoir une entrée numérique</a:t>
            </a:r>
          </a:p>
          <a:p>
            <a:pPr lvl="1"/>
            <a:r>
              <a:rPr lang="fr-FR" dirty="0"/>
              <a:t>Fragile</a:t>
            </a:r>
          </a:p>
        </p:txBody>
      </p:sp>
      <p:pic>
        <p:nvPicPr>
          <p:cNvPr id="1028" name="Picture 4" descr="img">
            <a:extLst>
              <a:ext uri="{FF2B5EF4-FFF2-40B4-BE49-F238E27FC236}">
                <a16:creationId xmlns:a16="http://schemas.microsoft.com/office/drawing/2014/main" id="{3A93BC08-7F47-3C8C-F371-39B934A8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1" y="2379721"/>
            <a:ext cx="7191337" cy="404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01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31781-D56A-C394-13B3-C54AC6FB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</a:t>
            </a:r>
            <a:r>
              <a:rPr lang="fr-FR" dirty="0"/>
              <a:t> &amp; Bouton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1DB631-39DE-E8A9-30BD-8A32E190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D4626B-4695-5E15-52C6-17077E536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46" y="899134"/>
            <a:ext cx="6415430" cy="55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8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780AB-2C29-2630-230C-767CB053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Motion </a:t>
            </a:r>
            <a:r>
              <a:rPr lang="fr-FR" dirty="0" err="1"/>
              <a:t>Sensor</a:t>
            </a:r>
            <a:r>
              <a:rPr lang="fr-FR" dirty="0"/>
              <a:t> &amp; Buzzer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BBCD6-D076-DFEC-7A76-3CF16658D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E37722-9918-2FE6-C678-DD4E7C8B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790467" y="507033"/>
            <a:ext cx="5910489" cy="68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3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155E9-65EF-75B3-9053-E1A4EA6A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capteurs digitaux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606C14-3052-0AF9-12A1-36708BCD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Photosensitive</a:t>
            </a:r>
            <a:endParaRPr lang="fr-FR" dirty="0"/>
          </a:p>
          <a:p>
            <a:r>
              <a:rPr lang="fr-FR" dirty="0"/>
              <a:t>Capteur de proximité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D292D3-9451-CD3A-2F38-6F7090CE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140968"/>
            <a:ext cx="2887057" cy="20904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3BF657-8C6C-B368-B2E4-62041A766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924944"/>
            <a:ext cx="2267975" cy="273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78817-F317-50C9-A887-FC742197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Ports Analogiques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3A44BC-6BAB-F234-FC6A-2901CF08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ADC</a:t>
            </a:r>
          </a:p>
          <a:p>
            <a:pPr lvl="1"/>
            <a:r>
              <a:rPr lang="fr-FR" dirty="0" err="1"/>
              <a:t>Analog</a:t>
            </a:r>
            <a:r>
              <a:rPr lang="fr-FR" dirty="0"/>
              <a:t> to Digital Conversion</a:t>
            </a:r>
          </a:p>
          <a:p>
            <a:pPr lvl="1"/>
            <a:r>
              <a:rPr lang="fr-FR" dirty="0"/>
              <a:t>Sur ESP32 disponible sur : 4, 12-15, 25-27, 32-39</a:t>
            </a:r>
          </a:p>
          <a:p>
            <a:r>
              <a:rPr lang="fr-FR" dirty="0"/>
              <a:t>Permet d'avoir une valeur analogique sur 12 bits</a:t>
            </a:r>
          </a:p>
          <a:p>
            <a:pPr lvl="1"/>
            <a:r>
              <a:rPr lang="fr-FR" dirty="0"/>
              <a:t>Entre 0 et 4096</a:t>
            </a:r>
          </a:p>
          <a:p>
            <a:pPr lvl="1"/>
            <a:r>
              <a:rPr lang="fr-FR" dirty="0"/>
              <a:t>0 correspond à 0V</a:t>
            </a:r>
          </a:p>
          <a:p>
            <a:pPr lvl="1"/>
            <a:r>
              <a:rPr lang="fr-FR" dirty="0"/>
              <a:t>4096 correspond ~= 1.1V</a:t>
            </a:r>
          </a:p>
          <a:p>
            <a:pPr lvl="1"/>
            <a:r>
              <a:rPr lang="fr-FR" dirty="0"/>
              <a:t>Uniquement en input</a:t>
            </a:r>
          </a:p>
          <a:p>
            <a:pPr lvl="1"/>
            <a:r>
              <a:rPr lang="fr-FR" dirty="0"/>
              <a:t>Beaucoup moins précis que sur Arduino</a:t>
            </a:r>
          </a:p>
          <a:p>
            <a:pPr lvl="1"/>
            <a:r>
              <a:rPr lang="fr-FR" dirty="0"/>
              <a:t>Préférer les bus</a:t>
            </a:r>
          </a:p>
        </p:txBody>
      </p:sp>
    </p:spTree>
    <p:extLst>
      <p:ext uri="{BB962C8B-B14F-4D97-AF65-F5344CB8AC3E}">
        <p14:creationId xmlns:p14="http://schemas.microsoft.com/office/powerpoint/2010/main" val="404512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BF76D-DA79-AC22-60B2-D3A8C3A9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Analogique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5BE266-1ADE-1B0A-F645-AAB140244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from</a:t>
            </a:r>
            <a:r>
              <a:rPr lang="fr-FR" sz="2400" dirty="0"/>
              <a:t> machine import ADC</a:t>
            </a:r>
          </a:p>
          <a:p>
            <a:r>
              <a:rPr lang="fr-FR" sz="2400" dirty="0" err="1"/>
              <a:t>adc</a:t>
            </a:r>
            <a:r>
              <a:rPr lang="fr-FR" sz="2400" dirty="0"/>
              <a:t> = ADC(pin)</a:t>
            </a:r>
          </a:p>
          <a:p>
            <a:r>
              <a:rPr lang="fr-FR" sz="2400" dirty="0"/>
              <a:t>val = adc.read_u16() # Lecteur 16 bits</a:t>
            </a:r>
          </a:p>
          <a:p>
            <a:r>
              <a:rPr lang="fr-FR" sz="2400" dirty="0"/>
              <a:t>val = </a:t>
            </a:r>
            <a:r>
              <a:rPr lang="fr-FR" sz="2400" dirty="0" err="1"/>
              <a:t>adc.read_uv</a:t>
            </a:r>
            <a:r>
              <a:rPr lang="fr-FR" sz="2400" dirty="0"/>
              <a:t>()   # Valeur en microvolt</a:t>
            </a:r>
          </a:p>
          <a:p>
            <a:r>
              <a:rPr lang="fr-FR" sz="2400" dirty="0" err="1"/>
              <a:t>adc.width</a:t>
            </a:r>
            <a:r>
              <a:rPr lang="fr-FR" sz="2400" dirty="0"/>
              <a:t>(ADC.WIDTH_10BIT) # Compatibilité Arduino</a:t>
            </a:r>
          </a:p>
        </p:txBody>
      </p:sp>
    </p:spTree>
    <p:extLst>
      <p:ext uri="{BB962C8B-B14F-4D97-AF65-F5344CB8AC3E}">
        <p14:creationId xmlns:p14="http://schemas.microsoft.com/office/powerpoint/2010/main" val="334498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DD782-1FB6-D38A-C83D-FFA5B5F4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Potentiomètre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7C960-E70D-7049-ACC5-44F07F08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Variateur de résistance</a:t>
            </a:r>
          </a:p>
          <a:p>
            <a:pPr lvl="1"/>
            <a:r>
              <a:rPr lang="fr-FR" dirty="0"/>
              <a:t>Nécessite une résistance interne : 10KOhm</a:t>
            </a:r>
          </a:p>
          <a:p>
            <a:pPr lvl="1"/>
            <a:r>
              <a:rPr lang="fr-FR" dirty="0"/>
              <a:t>Pour une intensité constante fait varié la tension de 0v à 3.3v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41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7DFA-D00F-7D2B-6F49-A44971D9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B8AE4-624B-0241-5A57-67057613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Atténuation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C28B0E-641B-2F46-D80E-39B4FD0E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branche le potentiomètre, la valeur maximale est atteinte à mi-course</a:t>
            </a:r>
          </a:p>
          <a:p>
            <a:pPr lvl="1"/>
            <a:r>
              <a:rPr lang="fr-FR" dirty="0"/>
              <a:t>La plage de lecture est par défaut de 0 à 1v</a:t>
            </a:r>
          </a:p>
          <a:p>
            <a:pPr lvl="1"/>
            <a:r>
              <a:rPr lang="fr-FR" dirty="0"/>
              <a:t>Le paramètre d'atténuation </a:t>
            </a:r>
            <a:r>
              <a:rPr lang="fr-FR" dirty="0" err="1"/>
              <a:t>atten</a:t>
            </a:r>
            <a:r>
              <a:rPr lang="fr-FR" dirty="0"/>
              <a:t> permet d'augmenter la plage de lecture</a:t>
            </a:r>
          </a:p>
          <a:p>
            <a:pPr lvl="1"/>
            <a:r>
              <a:rPr lang="fr-FR" dirty="0" err="1"/>
              <a:t>machine.ADC</a:t>
            </a:r>
            <a:r>
              <a:rPr lang="fr-FR" dirty="0"/>
              <a:t>(35, </a:t>
            </a:r>
            <a:r>
              <a:rPr lang="fr-FR" dirty="0" err="1"/>
              <a:t>atten</a:t>
            </a:r>
            <a:r>
              <a:rPr lang="fr-FR" dirty="0"/>
              <a:t>=machine.ADC.ATTN_11DB)</a:t>
            </a:r>
          </a:p>
          <a:p>
            <a:pPr lvl="1"/>
            <a:r>
              <a:rPr lang="fr-FR" dirty="0"/>
              <a:t>Ce code permet d'avoir une plage de lecture de 0.1v à 2.5v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663391-78A1-B3CE-8DD7-3978B9A0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54" y="5445224"/>
            <a:ext cx="4772691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16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EFE90-0953-D6F8-2762-1F8856F3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Potentiomètre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6044B-9AE5-D9A8-9909-6830D3D7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1CF8ED-3787-8C9D-0144-628D1926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63" y="1052736"/>
            <a:ext cx="6090623" cy="529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89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Analogique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ports analogiques permettent de lire et écrire dans un range 12 bits</a:t>
            </a:r>
          </a:p>
          <a:p>
            <a:pPr lvl="1"/>
            <a:r>
              <a:rPr lang="fr-FR" dirty="0"/>
              <a:t>Par exemple le potentiomètre</a:t>
            </a:r>
          </a:p>
          <a:p>
            <a:pPr lvl="1"/>
            <a:r>
              <a:rPr lang="fr-FR" dirty="0"/>
              <a:t>0 =&gt; 0°, 4096 =&gt; 300°, 2048 =&gt; 150°</a:t>
            </a:r>
          </a:p>
          <a:p>
            <a:r>
              <a:rPr lang="fr-FR" dirty="0"/>
              <a:t>Le problème de la conversion se pose alors</a:t>
            </a:r>
          </a:p>
          <a:p>
            <a:pPr lvl="1"/>
            <a:r>
              <a:rPr lang="fr-FR" dirty="0"/>
              <a:t>Les capteurs ont souvent une conversion linéaire</a:t>
            </a:r>
          </a:p>
          <a:p>
            <a:pPr lvl="1"/>
            <a:r>
              <a:rPr lang="fr-FR" dirty="0"/>
              <a:t>Par exemple la température est sur 9 bits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902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6984776" cy="5040560"/>
          </a:xfrm>
        </p:spPr>
        <p:txBody>
          <a:bodyPr/>
          <a:lstStyle/>
          <a:p>
            <a:r>
              <a:rPr lang="fr-FR" sz="2400" dirty="0"/>
              <a:t>Convertit une température entre 0 et 3.3V</a:t>
            </a:r>
          </a:p>
          <a:p>
            <a:pPr lvl="1"/>
            <a:r>
              <a:rPr lang="fr-FR" sz="2000" dirty="0" err="1"/>
              <a:t>int</a:t>
            </a:r>
            <a:r>
              <a:rPr lang="fr-FR" sz="2000" dirty="0"/>
              <a:t> a = </a:t>
            </a:r>
            <a:r>
              <a:rPr lang="fr-FR" sz="2000" dirty="0" err="1"/>
              <a:t>analogRead</a:t>
            </a:r>
            <a:r>
              <a:rPr lang="fr-FR" sz="2000" dirty="0"/>
              <a:t>(</a:t>
            </a:r>
            <a:r>
              <a:rPr lang="fr-FR" sz="2000" dirty="0" err="1"/>
              <a:t>pinTempSensor</a:t>
            </a:r>
            <a:r>
              <a:rPr lang="fr-FR" sz="2000" dirty="0"/>
              <a:t>);</a:t>
            </a:r>
          </a:p>
          <a:p>
            <a:pPr lvl="1"/>
            <a:r>
              <a:rPr lang="fr-FR" sz="2000" dirty="0"/>
              <a:t>Atténuation de 11db</a:t>
            </a:r>
          </a:p>
          <a:p>
            <a:r>
              <a:rPr lang="fr-FR" sz="2400" dirty="0"/>
              <a:t>Pour convertir la tension en température (K°) une conversion linéaire est disponible</a:t>
            </a:r>
          </a:p>
          <a:p>
            <a:pPr lvl="1"/>
            <a:r>
              <a:rPr lang="pt-BR" sz="2000" dirty="0"/>
              <a:t> = 1023.0/a-1.0;</a:t>
            </a:r>
          </a:p>
          <a:p>
            <a:pPr lvl="1"/>
            <a:r>
              <a:rPr lang="pt-BR" sz="2000" dirty="0"/>
              <a:t>R = R0*R;</a:t>
            </a:r>
          </a:p>
          <a:p>
            <a:pPr lvl="1"/>
            <a:r>
              <a:rPr lang="pt-BR" sz="2000" dirty="0"/>
              <a:t>kelvin= 1.0/(log(R/R0)/B+1/298.15)</a:t>
            </a:r>
          </a:p>
          <a:p>
            <a:pPr lvl="1"/>
            <a:r>
              <a:rPr lang="pt-BR" sz="2000" dirty="0"/>
              <a:t>Pour convertir en d° il suffit de retrancher 273.15</a:t>
            </a:r>
          </a:p>
          <a:p>
            <a:pPr lvl="1"/>
            <a:endParaRPr lang="fr-FR" sz="2000" dirty="0"/>
          </a:p>
          <a:p>
            <a:endParaRPr lang="fr-FR" sz="2400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588224" y="2880543"/>
            <a:ext cx="28003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73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F172A-E3E4-F0BD-D606-1868A4FA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ACA6870-BDD8-A2EA-DB86-047816A1C473}"/>
              </a:ext>
            </a:extLst>
          </p:cNvPr>
          <p:cNvSpPr txBox="1">
            <a:spLocks/>
          </p:cNvSpPr>
          <p:nvPr/>
        </p:nvSpPr>
        <p:spPr bwMode="auto">
          <a:xfrm>
            <a:off x="179512" y="1412776"/>
            <a:ext cx="698477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sz="2400" kern="0" dirty="0"/>
              <a:t>Pins Grove</a:t>
            </a:r>
          </a:p>
          <a:p>
            <a:pPr lvl="1"/>
            <a:r>
              <a:rPr lang="fr-FR" sz="2000" kern="0" dirty="0"/>
              <a:t>Noir = Masse</a:t>
            </a:r>
          </a:p>
          <a:p>
            <a:pPr lvl="1"/>
            <a:r>
              <a:rPr lang="fr-FR" sz="2000" kern="0" dirty="0"/>
              <a:t>Rouge = 3.3V</a:t>
            </a:r>
          </a:p>
          <a:p>
            <a:pPr lvl="1"/>
            <a:r>
              <a:rPr lang="fr-FR" sz="2000" kern="0" dirty="0"/>
              <a:t>Jaune = Sortie Analogique 3.3V</a:t>
            </a:r>
            <a:endParaRPr lang="pt-BR" sz="2000" kern="0" dirty="0"/>
          </a:p>
          <a:p>
            <a:pPr lvl="1"/>
            <a:endParaRPr lang="fr-FR" sz="2000" kern="0" dirty="0"/>
          </a:p>
          <a:p>
            <a:endParaRPr lang="fr-FR" sz="2400" kern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70C45E9-BADC-18A0-B496-A98ECAB00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972" y="2132922"/>
            <a:ext cx="3656632" cy="36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2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01C0B-168D-13BB-7EE5-53165807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43A7BD-DF86-471E-A4E5-8EC2CC89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Pulse </a:t>
            </a:r>
            <a:r>
              <a:rPr lang="fr-FR" dirty="0" err="1"/>
              <a:t>With</a:t>
            </a:r>
            <a:r>
              <a:rPr lang="fr-FR" dirty="0"/>
              <a:t> Modulation</a:t>
            </a:r>
          </a:p>
          <a:p>
            <a:r>
              <a:rPr lang="fr-FR" dirty="0"/>
              <a:t>Permet de reproduire un signal analogique avec du numérique</a:t>
            </a:r>
          </a:p>
          <a:p>
            <a:r>
              <a:rPr lang="en-US" dirty="0"/>
              <a:t>Sur ESP32 </a:t>
            </a:r>
            <a:r>
              <a:rPr lang="en-US" dirty="0" err="1"/>
              <a:t>tous</a:t>
            </a:r>
            <a:r>
              <a:rPr lang="en-US" dirty="0"/>
              <a:t> les pins </a:t>
            </a:r>
            <a:r>
              <a:rPr lang="en-US" dirty="0" err="1"/>
              <a:t>en</a:t>
            </a:r>
            <a:r>
              <a:rPr lang="en-US" dirty="0"/>
              <a:t> output </a:t>
            </a:r>
            <a:r>
              <a:rPr lang="en-US" dirty="0" err="1"/>
              <a:t>sont</a:t>
            </a:r>
            <a:r>
              <a:rPr lang="en-US" dirty="0"/>
              <a:t> PWM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fréquence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réglable</a:t>
            </a:r>
            <a:endParaRPr lang="en-US" dirty="0"/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46BF34-DDE2-2D48-E48F-288610E3D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62" y="4292699"/>
            <a:ext cx="33337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D4D28E-A6EF-E06C-6132-51F7E059A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-9679"/>
            <a:ext cx="3259130" cy="17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2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EABE6-08D5-1D21-B833-54F76F51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 Initialisation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3F1E8-A103-DF2D-7AC5-2044DD2F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from</a:t>
            </a:r>
            <a:r>
              <a:rPr lang="fr-FR" dirty="0"/>
              <a:t> machine import Pin, PWM</a:t>
            </a:r>
          </a:p>
          <a:p>
            <a:r>
              <a:rPr lang="fr-FR" dirty="0"/>
              <a:t>pwm4 = PWM(Pin(4), </a:t>
            </a:r>
            <a:r>
              <a:rPr lang="fr-FR" dirty="0" err="1"/>
              <a:t>freq</a:t>
            </a:r>
            <a:r>
              <a:rPr lang="fr-FR" dirty="0"/>
              <a:t>=5000, duty_u16=65536)</a:t>
            </a:r>
          </a:p>
          <a:p>
            <a:pPr lvl="1"/>
            <a:r>
              <a:rPr lang="fr-FR" dirty="0" err="1"/>
              <a:t>freq</a:t>
            </a:r>
            <a:r>
              <a:rPr lang="fr-FR" dirty="0"/>
              <a:t> = fréquence du PWM</a:t>
            </a:r>
          </a:p>
          <a:p>
            <a:pPr lvl="1"/>
            <a:r>
              <a:rPr lang="fr-FR" dirty="0"/>
              <a:t>De 1Hz à 40MHz</a:t>
            </a:r>
          </a:p>
          <a:p>
            <a:pPr lvl="1"/>
            <a:r>
              <a:rPr lang="fr-FR" dirty="0"/>
              <a:t>+ élevé = + précis = + CPU</a:t>
            </a:r>
          </a:p>
          <a:p>
            <a:pPr lvl="1"/>
            <a:r>
              <a:rPr lang="fr-FR" dirty="0"/>
              <a:t>duty_u16 = range des valeurs, de 0 à 2**16</a:t>
            </a:r>
          </a:p>
        </p:txBody>
      </p:sp>
    </p:spTree>
    <p:extLst>
      <p:ext uri="{BB962C8B-B14F-4D97-AF65-F5344CB8AC3E}">
        <p14:creationId xmlns:p14="http://schemas.microsoft.com/office/powerpoint/2010/main" val="3403515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408BD-C6F9-642E-C33C-1D4BE25A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 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8765E0-7715-696D-A6DE-8B02A481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pwm.duty_u16(</a:t>
            </a:r>
            <a:r>
              <a:rPr lang="fr-FR" dirty="0"/>
              <a:t>value</a:t>
            </a:r>
            <a:r>
              <a:rPr lang="pl-PL" dirty="0"/>
              <a:t>)</a:t>
            </a:r>
            <a:endParaRPr lang="fr-FR" dirty="0"/>
          </a:p>
          <a:p>
            <a:pPr lvl="1"/>
            <a:r>
              <a:rPr lang="fr-FR" dirty="0"/>
              <a:t>Ecrit la donnée en 16 bits</a:t>
            </a:r>
          </a:p>
          <a:p>
            <a:r>
              <a:rPr lang="fr-FR" dirty="0" err="1"/>
              <a:t>pwm_duty</a:t>
            </a:r>
            <a:r>
              <a:rPr lang="fr-FR" dirty="0"/>
              <a:t>(value)</a:t>
            </a:r>
          </a:p>
          <a:p>
            <a:pPr lvl="1"/>
            <a:r>
              <a:rPr lang="fr-FR" dirty="0"/>
              <a:t>Ecrit la donnée en 10 bits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6580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sur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LED peuvent être branchées sur une sortie PWM</a:t>
            </a:r>
          </a:p>
          <a:p>
            <a:pPr lvl="1"/>
            <a:r>
              <a:rPr lang="fr-FR" dirty="0"/>
              <a:t>Une sortie à 1.65V permet d'avoir une luminosité à 50%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en-US" dirty="0"/>
              <a:t>pwm2.duty_u16(val16</a:t>
            </a:r>
          </a:p>
          <a:p>
            <a:pPr lvl="1"/>
            <a:r>
              <a:rPr lang="en-US" dirty="0" err="1"/>
              <a:t>Permet</a:t>
            </a:r>
            <a:r>
              <a:rPr lang="en-US" dirty="0"/>
              <a:t> </a:t>
            </a:r>
            <a:r>
              <a:rPr lang="en-US" dirty="0" err="1"/>
              <a:t>d'adapter</a:t>
            </a:r>
            <a:r>
              <a:rPr lang="en-US" dirty="0"/>
              <a:t> </a:t>
            </a:r>
            <a:r>
              <a:rPr lang="en-US" dirty="0" err="1"/>
              <a:t>l'intensité</a:t>
            </a:r>
            <a:r>
              <a:rPr lang="en-US" dirty="0"/>
              <a:t> de la LED à un </a:t>
            </a:r>
            <a:r>
              <a:rPr lang="en-US" dirty="0" err="1"/>
              <a:t>potentiomètre</a:t>
            </a:r>
            <a:endParaRPr lang="en-US" dirty="0"/>
          </a:p>
          <a:p>
            <a:pPr lvl="1"/>
            <a:r>
              <a:rPr lang="en-US" dirty="0"/>
              <a:t>val16 </a:t>
            </a:r>
            <a:r>
              <a:rPr lang="en-US" dirty="0" err="1"/>
              <a:t>est</a:t>
            </a:r>
            <a:r>
              <a:rPr lang="en-US" dirty="0"/>
              <a:t> la </a:t>
            </a:r>
            <a:r>
              <a:rPr lang="en-US" dirty="0" err="1"/>
              <a:t>valeur</a:t>
            </a:r>
            <a:r>
              <a:rPr lang="en-US" dirty="0"/>
              <a:t> du </a:t>
            </a:r>
            <a:r>
              <a:rPr lang="en-US" dirty="0" err="1"/>
              <a:t>potentiomètre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932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0C91E-BA67-45C5-B976-3D203940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E4AF0B-0B0D-85FE-2FAF-D1AC2F76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 descr="Fading a LED | Arduino Documentation">
            <a:extLst>
              <a:ext uri="{FF2B5EF4-FFF2-40B4-BE49-F238E27FC236}">
                <a16:creationId xmlns:a16="http://schemas.microsoft.com/office/drawing/2014/main" id="{C32B0E97-2542-7B5C-6B7F-8803761E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330"/>
            <a:ext cx="9175790" cy="51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53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FF7D2-C0EA-9D58-486A-3C2970FA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Clock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2F9E93-3942-8C84-2C7B-5DC024998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pins sont des horloges</a:t>
            </a:r>
          </a:p>
          <a:p>
            <a:pPr lvl="1"/>
            <a:r>
              <a:rPr lang="fr-FR" dirty="0"/>
              <a:t>14 : HSPI CLK</a:t>
            </a:r>
          </a:p>
          <a:p>
            <a:pPr lvl="1"/>
            <a:r>
              <a:rPr lang="fr-FR" dirty="0"/>
              <a:t>18 : VSPI CLK</a:t>
            </a:r>
          </a:p>
          <a:p>
            <a:pPr lvl="1"/>
            <a:r>
              <a:rPr lang="fr-FR" dirty="0"/>
              <a:t>22 : I2C CLK</a:t>
            </a:r>
          </a:p>
          <a:p>
            <a:r>
              <a:rPr lang="fr-FR" dirty="0"/>
              <a:t>Utile pour faire passer plusieurs infos sur un pin digital</a:t>
            </a:r>
          </a:p>
          <a:p>
            <a:pPr lvl="1"/>
            <a:r>
              <a:rPr lang="fr-FR" dirty="0"/>
              <a:t>Principe du Bus</a:t>
            </a:r>
          </a:p>
          <a:p>
            <a:pPr lvl="1"/>
            <a:r>
              <a:rPr lang="fr-FR" dirty="0"/>
              <a:t>Utilisé par certains composants hors bus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197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D6EFB-4FEB-5C60-64A1-713DD08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 Segments 4 Digits Display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2042AB-8438-F175-9F01-A5D40D8E8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TM1637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D903B6-6D5D-7562-74EC-6272FCCB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988840"/>
            <a:ext cx="8392696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6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6CC45-1A66-7AB0-971B-AC033DF1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d'intensité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CD1B4A-9843-A548-161A-2C94B171F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microcontrôleurs sont limités en puissance</a:t>
            </a:r>
          </a:p>
          <a:p>
            <a:pPr lvl="1"/>
            <a:r>
              <a:rPr lang="fr-FR" dirty="0"/>
              <a:t>USB limité à 500mA en 5V soit 2.5W</a:t>
            </a:r>
          </a:p>
          <a:p>
            <a:pPr lvl="1"/>
            <a:r>
              <a:rPr lang="fr-FR" dirty="0"/>
              <a:t>Alimentation VIN limité à 1A en 5V soit 5W</a:t>
            </a:r>
          </a:p>
          <a:p>
            <a:pPr lvl="1"/>
            <a:r>
              <a:rPr lang="fr-FR" dirty="0"/>
              <a:t>L'ensemble des pins sont limités à 200mA</a:t>
            </a:r>
          </a:p>
          <a:p>
            <a:pPr lvl="1"/>
            <a:r>
              <a:rPr lang="fr-FR" dirty="0"/>
              <a:t>Chaque pin est limité à 20mA</a:t>
            </a:r>
          </a:p>
          <a:p>
            <a:r>
              <a:rPr lang="fr-FR" dirty="0"/>
              <a:t>Pour alimenter plus que les limites il faut un relais de puissance par transistor NPN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9151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DFAC0-7DF8-2614-7074-C8FD59D2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Basse 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84D8E4-12CB-8A3D-F5F7-25EF8D86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la basse tension et des intensités &gt; 0.2A</a:t>
            </a:r>
          </a:p>
          <a:p>
            <a:r>
              <a:rPr lang="fr-FR" dirty="0"/>
              <a:t>Utiliser des transistor NPN avec une alimentation VIN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Pour des puissances &gt; 2.5W ne pas utiliser VIN mais une alimentation externe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A3B3AC-09F4-2151-7598-0628409C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708920"/>
            <a:ext cx="2943636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06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B39C7-26DD-8EF2-D4BE-5FD5834F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3B160B-BBF4-63D9-BFE1-B055BD6A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besoins de plusieurs transistors</a:t>
            </a:r>
          </a:p>
          <a:p>
            <a:pPr lvl="1"/>
            <a:r>
              <a:rPr lang="fr-FR" dirty="0"/>
              <a:t>Par exemple pour gérer 8 </a:t>
            </a:r>
            <a:r>
              <a:rPr lang="fr-FR" dirty="0" err="1"/>
              <a:t>leds</a:t>
            </a:r>
            <a:endParaRPr lang="fr-FR" dirty="0"/>
          </a:p>
          <a:p>
            <a:pPr lvl="1"/>
            <a:r>
              <a:rPr lang="fr-FR" dirty="0"/>
              <a:t>Des tensions &gt; 5v ou des </a:t>
            </a:r>
            <a:r>
              <a:rPr lang="fr-FR" dirty="0" err="1"/>
              <a:t>leds</a:t>
            </a:r>
            <a:r>
              <a:rPr lang="fr-FR" dirty="0"/>
              <a:t> &gt; 20mA</a:t>
            </a:r>
          </a:p>
          <a:p>
            <a:r>
              <a:rPr lang="fr-FR" dirty="0"/>
              <a:t>Un ULN est un ensemble de transistor NPN</a:t>
            </a:r>
          </a:p>
          <a:p>
            <a:r>
              <a:rPr lang="fr-FR" dirty="0"/>
              <a:t>Par exemple pour une alimentation 12V</a:t>
            </a:r>
          </a:p>
          <a:p>
            <a:pPr lvl="1"/>
            <a:r>
              <a:rPr lang="fr-FR" dirty="0"/>
              <a:t>Sorties digitales sur pins 1 à 8</a:t>
            </a:r>
          </a:p>
          <a:p>
            <a:pPr lvl="1"/>
            <a:r>
              <a:rPr lang="fr-FR" dirty="0"/>
              <a:t>GND sur GND</a:t>
            </a:r>
          </a:p>
          <a:p>
            <a:pPr lvl="1"/>
            <a:r>
              <a:rPr lang="fr-FR" dirty="0"/>
              <a:t>12V sur pin 10</a:t>
            </a:r>
          </a:p>
          <a:p>
            <a:pPr lvl="1"/>
            <a:r>
              <a:rPr lang="fr-FR" dirty="0"/>
              <a:t>5v sur 5 =&gt; LOW sur 14 (OUT5)</a:t>
            </a:r>
          </a:p>
          <a:p>
            <a:pPr lvl="1"/>
            <a:r>
              <a:rPr lang="fr-FR" dirty="0"/>
              <a:t>5v sur 6 =&gt; HIGH sur 13 (OUT6)</a:t>
            </a:r>
          </a:p>
          <a:p>
            <a:pPr lvl="1"/>
            <a:r>
              <a:rPr lang="fr-FR" dirty="0"/>
              <a:t>Seuil de déclenchement entre 2v et 3v</a:t>
            </a:r>
          </a:p>
        </p:txBody>
      </p:sp>
      <p:pic>
        <p:nvPicPr>
          <p:cNvPr id="1026" name="Picture 2" descr="Le circuit intégré ULN 2803 : octuple driver d&amp;rsquo;amplification de puissance ON/OFF">
            <a:extLst>
              <a:ext uri="{FF2B5EF4-FFF2-40B4-BE49-F238E27FC236}">
                <a16:creationId xmlns:a16="http://schemas.microsoft.com/office/drawing/2014/main" id="{4C2B5834-F64B-6D7C-35A8-51FE59B14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589" y="3782193"/>
            <a:ext cx="2534022" cy="30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FE58307-A2C6-B421-1B5B-D9D26F43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61857"/>
            <a:ext cx="181952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31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BDC3A-6B9C-4402-1297-8B15946E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Relais de puissance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616AA-144A-FE5F-67FF-E001F3132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micro-contrôleurs</a:t>
            </a:r>
            <a:r>
              <a:rPr lang="fr-FR" dirty="0"/>
              <a:t> ne peuvent pas gérer &gt; 5v</a:t>
            </a:r>
          </a:p>
          <a:p>
            <a:r>
              <a:rPr lang="fr-FR" dirty="0"/>
              <a:t>Pour le 220v il faut un relais de puissance</a:t>
            </a:r>
          </a:p>
          <a:p>
            <a:pPr lvl="1"/>
            <a:r>
              <a:rPr lang="fr-FR" dirty="0"/>
              <a:t>Fonctionnement simple en digital</a:t>
            </a:r>
          </a:p>
          <a:p>
            <a:pPr lvl="1"/>
            <a:r>
              <a:rPr lang="fr-FR" dirty="0"/>
              <a:t>Nécessite du 5v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D2EB2C-5381-9A8B-8CA6-B23C9766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04085" y="2152541"/>
            <a:ext cx="3415789" cy="59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1111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4986</TotalTime>
  <Words>1104</Words>
  <Application>Microsoft Office PowerPoint</Application>
  <PresentationFormat>Affichage à l'écran (4:3)</PresentationFormat>
  <Paragraphs>185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Arial</vt:lpstr>
      <vt:lpstr>Monotype Sorts</vt:lpstr>
      <vt:lpstr>Times New Roman</vt:lpstr>
      <vt:lpstr>cvc</vt:lpstr>
      <vt:lpstr>Présentation PowerPoint</vt:lpstr>
      <vt:lpstr>Structure du programme</vt:lpstr>
      <vt:lpstr>Time</vt:lpstr>
      <vt:lpstr>Les ports  digitaux</vt:lpstr>
      <vt:lpstr>Pin</vt:lpstr>
      <vt:lpstr>Ecriture</vt:lpstr>
      <vt:lpstr>Calcul d'une résistance</vt:lpstr>
      <vt:lpstr>Blink</vt:lpstr>
      <vt:lpstr>Lecture</vt:lpstr>
      <vt:lpstr>Bouton poussoir</vt:lpstr>
      <vt:lpstr>Led &amp; Bouton</vt:lpstr>
      <vt:lpstr>Motion Sensor &amp; Buzzer</vt:lpstr>
      <vt:lpstr>Autres capteurs digitaux</vt:lpstr>
      <vt:lpstr>Ports Analogiques</vt:lpstr>
      <vt:lpstr>Lecture Analogique</vt:lpstr>
      <vt:lpstr>Potentiomètre</vt:lpstr>
      <vt:lpstr>Atténuation</vt:lpstr>
      <vt:lpstr>Potentiomètre</vt:lpstr>
      <vt:lpstr>Lecture Analogique</vt:lpstr>
      <vt:lpstr>Le capteur de température</vt:lpstr>
      <vt:lpstr>Le capteur de température</vt:lpstr>
      <vt:lpstr>PWM</vt:lpstr>
      <vt:lpstr>PWM Initialisation</vt:lpstr>
      <vt:lpstr>PWM Ecriture</vt:lpstr>
      <vt:lpstr>Fading sur Led</vt:lpstr>
      <vt:lpstr>Fading led</vt:lpstr>
      <vt:lpstr>Clock</vt:lpstr>
      <vt:lpstr>7 Segments 4 Digits Display</vt:lpstr>
      <vt:lpstr>Limites d'intensité</vt:lpstr>
      <vt:lpstr>Basse tension</vt:lpstr>
      <vt:lpstr>ULN</vt:lpstr>
      <vt:lpstr>Relais de puissance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267</cp:revision>
  <dcterms:created xsi:type="dcterms:W3CDTF">2000-04-10T19:33:12Z</dcterms:created>
  <dcterms:modified xsi:type="dcterms:W3CDTF">2025-09-25T07:16:02Z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