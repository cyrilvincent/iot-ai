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26"/>
  </p:notesMasterIdLst>
  <p:handoutMasterIdLst>
    <p:handoutMasterId r:id="rId27"/>
  </p:handoutMasterIdLst>
  <p:sldIdLst>
    <p:sldId id="264" r:id="rId2"/>
    <p:sldId id="305" r:id="rId3"/>
    <p:sldId id="306" r:id="rId4"/>
    <p:sldId id="307" r:id="rId5"/>
    <p:sldId id="289" r:id="rId6"/>
    <p:sldId id="287" r:id="rId7"/>
    <p:sldId id="286" r:id="rId8"/>
    <p:sldId id="283" r:id="rId9"/>
    <p:sldId id="290" r:id="rId10"/>
    <p:sldId id="294" r:id="rId11"/>
    <p:sldId id="301" r:id="rId12"/>
    <p:sldId id="284" r:id="rId13"/>
    <p:sldId id="298" r:id="rId14"/>
    <p:sldId id="285" r:id="rId15"/>
    <p:sldId id="309" r:id="rId16"/>
    <p:sldId id="297" r:id="rId17"/>
    <p:sldId id="299" r:id="rId18"/>
    <p:sldId id="303" r:id="rId19"/>
    <p:sldId id="308" r:id="rId20"/>
    <p:sldId id="310" r:id="rId21"/>
    <p:sldId id="292" r:id="rId22"/>
    <p:sldId id="293" r:id="rId23"/>
    <p:sldId id="304" r:id="rId24"/>
    <p:sldId id="296" r:id="rId25"/>
  </p:sldIdLst>
  <p:sldSz cx="9144000" cy="6858000" type="screen4x3"/>
  <p:notesSz cx="6648450" cy="978217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4" autoAdjust="0"/>
    <p:restoredTop sz="94590" autoAdjust="0"/>
  </p:normalViewPr>
  <p:slideViewPr>
    <p:cSldViewPr>
      <p:cViewPr varScale="1">
        <p:scale>
          <a:sx n="70" d="100"/>
          <a:sy n="70" d="100"/>
        </p:scale>
        <p:origin x="1810" y="2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18"/>
    </p:cViewPr>
  </p:sorterViewPr>
  <p:notesViewPr>
    <p:cSldViewPr>
      <p:cViewPr>
        <p:scale>
          <a:sx n="100" d="100"/>
          <a:sy n="100" d="100"/>
        </p:scale>
        <p:origin x="-924" y="2430"/>
      </p:cViewPr>
      <p:guideLst>
        <p:guide orient="horz" pos="3081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1000">
                <a:latin typeface="Arial" charset="0"/>
              </a:defRPr>
            </a:lvl1pPr>
          </a:lstStyle>
          <a:p>
            <a:pPr>
              <a:defRPr/>
            </a:pPr>
            <a:fld id="{05A6847E-ECD8-4888-9A6C-CBE85B378C1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43995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6300" y="733425"/>
            <a:ext cx="4895850" cy="3670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79413" y="4646613"/>
            <a:ext cx="5851525" cy="440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2245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118913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8766051" cy="504056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10342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92756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6881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66428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062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55899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37193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5494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1671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6477000"/>
            <a:ext cx="9144000" cy="762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fr-FR" altLang="fr-FR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6934200" y="6553200"/>
            <a:ext cx="1219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 dirty="0"/>
              <a:t>Page </a:t>
            </a:r>
            <a:fld id="{E218E9B1-FD08-4C80-902E-210BA2967D0D}" type="slidenum">
              <a:rPr lang="fr-FR" sz="1200" smtClean="0"/>
              <a:pPr>
                <a:spcBef>
                  <a:spcPct val="50000"/>
                </a:spcBef>
                <a:defRPr/>
              </a:pPr>
              <a:t>‹N°›</a:t>
            </a:fld>
            <a:endParaRPr lang="fr-FR" dirty="0">
              <a:latin typeface="Times New Roman" pitchFamily="18" charset="0"/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209800" y="6553200"/>
            <a:ext cx="472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fr-FR" sz="1600" dirty="0" err="1"/>
              <a:t>IoT</a:t>
            </a:r>
            <a:endParaRPr lang="fr-FR" dirty="0">
              <a:latin typeface="Times New Roman" pitchFamily="18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77925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 du masque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96975"/>
            <a:ext cx="8766175" cy="528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21450"/>
            <a:ext cx="3429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/>
              <a:t>© Cyril Vincent Conseil</a:t>
            </a:r>
            <a:endParaRPr lang="fr-FR">
              <a:latin typeface="Times New Roman" pitchFamily="18" charset="0"/>
            </a:endParaRPr>
          </a:p>
        </p:txBody>
      </p:sp>
      <p:pic>
        <p:nvPicPr>
          <p:cNvPr id="1032" name="Picture 8" descr="cartevisite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74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mcauser/awesome-micropython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robert-hh/BME280/blob/master/bme280_float.py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1628800"/>
            <a:ext cx="6400800" cy="4010000"/>
          </a:xfrm>
        </p:spPr>
        <p:txBody>
          <a:bodyPr/>
          <a:lstStyle/>
          <a:p>
            <a:pPr eaLnBrk="1" hangingPunct="1"/>
            <a:r>
              <a:rPr lang="fr-FR" altLang="fr-FR" dirty="0" err="1"/>
              <a:t>IoT</a:t>
            </a:r>
            <a:endParaRPr lang="fr-FR" altLang="fr-FR" dirty="0"/>
          </a:p>
          <a:p>
            <a:pPr eaLnBrk="1" hangingPunct="1"/>
            <a:endParaRPr lang="fr-FR" altLang="fr-FR" dirty="0"/>
          </a:p>
          <a:p>
            <a:pPr eaLnBrk="1" hangingPunct="1"/>
            <a:r>
              <a:rPr lang="fr-FR" altLang="fr-FR" dirty="0"/>
              <a:t>Bus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D38F5F3-2EC9-7AE2-A0C7-6617175AF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Protocole DHT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9B55325-8B91-5D0D-4DD5-52FFF91D3B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DHT</a:t>
            </a:r>
          </a:p>
          <a:p>
            <a:pPr lvl="1"/>
            <a:r>
              <a:rPr lang="fr-FR" dirty="0"/>
              <a:t>Très peu chère</a:t>
            </a:r>
          </a:p>
          <a:p>
            <a:pPr lvl="1"/>
            <a:r>
              <a:rPr lang="fr-FR" dirty="0"/>
              <a:t>Protocole propriétaire sans horloge</a:t>
            </a:r>
          </a:p>
          <a:p>
            <a:pPr lvl="1"/>
            <a:r>
              <a:rPr lang="fr-FR" dirty="0"/>
              <a:t>Utilise 1 seul pin digital (30 bits à chaque requête)</a:t>
            </a:r>
          </a:p>
          <a:p>
            <a:pPr lvl="1"/>
            <a:r>
              <a:rPr lang="fr-FR" dirty="0"/>
              <a:t>De ce fait il est très lent (1 secondes)</a:t>
            </a:r>
          </a:p>
          <a:p>
            <a:pPr lvl="1"/>
            <a:r>
              <a:rPr lang="fr-FR" dirty="0"/>
              <a:t>Bibliothèque DHT incluse par défaut</a:t>
            </a:r>
          </a:p>
          <a:p>
            <a:pPr lvl="1"/>
            <a:r>
              <a:rPr lang="fr-FR" dirty="0"/>
              <a:t>Ici le DHT11</a:t>
            </a:r>
          </a:p>
          <a:p>
            <a:pPr lvl="1"/>
            <a:r>
              <a:rPr lang="fr-FR" dirty="0"/>
              <a:t>import </a:t>
            </a:r>
            <a:r>
              <a:rPr lang="fr-FR" dirty="0" err="1"/>
              <a:t>dth</a:t>
            </a:r>
            <a:endParaRPr lang="fr-FR" dirty="0"/>
          </a:p>
          <a:p>
            <a:pPr lvl="1"/>
            <a:r>
              <a:rPr lang="fr-FR" dirty="0"/>
              <a:t>dht.DHT11(Pin(17))</a:t>
            </a:r>
          </a:p>
          <a:p>
            <a:pPr lvl="1"/>
            <a:r>
              <a:rPr lang="fr-FR" dirty="0" err="1"/>
              <a:t>capteur.measure</a:t>
            </a:r>
            <a:r>
              <a:rPr lang="fr-FR" dirty="0"/>
              <a:t>()</a:t>
            </a:r>
          </a:p>
          <a:p>
            <a:pPr lvl="1"/>
            <a:r>
              <a:rPr lang="fr-FR" dirty="0" err="1"/>
              <a:t>capteur.temperature</a:t>
            </a:r>
            <a:r>
              <a:rPr lang="fr-FR" dirty="0"/>
              <a:t>() et </a:t>
            </a:r>
            <a:r>
              <a:rPr lang="fr-FR" dirty="0" err="1"/>
              <a:t>humidity</a:t>
            </a: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FD0537E-4448-4A5A-1C1B-03AF39C461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2200" y="3573016"/>
            <a:ext cx="2381582" cy="2105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86825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807916F-BF1E-9C7E-2882-8E05FCAD6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DHT11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702CEE3-1724-EB8F-E23B-34C57195CD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Attention au branchement 3.3v et </a:t>
            </a:r>
            <a:r>
              <a:rPr lang="fr-FR"/>
              <a:t>au sens</a:t>
            </a:r>
            <a:endParaRPr lang="fr-FR" dirty="0"/>
          </a:p>
        </p:txBody>
      </p:sp>
      <p:pic>
        <p:nvPicPr>
          <p:cNvPr id="2050" name="Picture 2" descr="Câblage du DHT11 et esp32 wroom">
            <a:extLst>
              <a:ext uri="{FF2B5EF4-FFF2-40B4-BE49-F238E27FC236}">
                <a16:creationId xmlns:a16="http://schemas.microsoft.com/office/drawing/2014/main" id="{A4A163B3-6FAB-84EA-25D0-8095857540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3131" y="3042111"/>
            <a:ext cx="5364088" cy="3411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13608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EA97F18-48FC-9F0C-5F85-2F82EAAC4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Librairies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08EE2F0-94D2-CB85-BEA6-A344D0A3A6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Micropython</a:t>
            </a:r>
            <a:r>
              <a:rPr lang="fr-FR" dirty="0"/>
              <a:t> est livré avec un certain nombre de module</a:t>
            </a:r>
          </a:p>
          <a:p>
            <a:pPr lvl="1"/>
            <a:r>
              <a:rPr lang="fr-FR" dirty="0"/>
              <a:t>Par exemple DHT</a:t>
            </a:r>
          </a:p>
          <a:p>
            <a:r>
              <a:rPr lang="fr-FR" dirty="0"/>
              <a:t>Il est possible d'en rajouter à volonté</a:t>
            </a:r>
          </a:p>
          <a:p>
            <a:pPr lvl="1"/>
            <a:r>
              <a:rPr lang="fr-FR" dirty="0"/>
              <a:t>Fichier *.</a:t>
            </a:r>
            <a:r>
              <a:rPr lang="fr-FR" dirty="0" err="1"/>
              <a:t>py</a:t>
            </a:r>
            <a:endParaRPr lang="fr-FR" dirty="0"/>
          </a:p>
          <a:p>
            <a:pPr lvl="1"/>
            <a:r>
              <a:rPr lang="fr-FR" dirty="0"/>
              <a:t>Copier coller à la racine de l'ESP32</a:t>
            </a:r>
          </a:p>
          <a:p>
            <a:pPr lvl="1"/>
            <a:r>
              <a:rPr lang="fr-FR" dirty="0"/>
              <a:t>Dans </a:t>
            </a:r>
            <a:r>
              <a:rPr lang="fr-FR" dirty="0" err="1"/>
              <a:t>Thonny</a:t>
            </a:r>
            <a:r>
              <a:rPr lang="fr-FR" dirty="0"/>
              <a:t> utiliser </a:t>
            </a:r>
            <a:r>
              <a:rPr lang="fr-FR" dirty="0" err="1"/>
              <a:t>save</a:t>
            </a:r>
            <a:r>
              <a:rPr lang="fr-FR"/>
              <a:t> as</a:t>
            </a:r>
            <a:endParaRPr lang="fr-FR" dirty="0"/>
          </a:p>
          <a:p>
            <a:pPr lvl="1"/>
            <a:r>
              <a:rPr lang="fr-FR" dirty="0"/>
              <a:t>import nom_module.py</a:t>
            </a:r>
          </a:p>
          <a:p>
            <a:pPr lvl="1"/>
            <a:r>
              <a:rPr lang="fr-FR" dirty="0"/>
              <a:t>Dans la limite de la RAM</a:t>
            </a:r>
          </a:p>
          <a:p>
            <a:r>
              <a:rPr lang="fr-FR" dirty="0"/>
              <a:t>De nombreux modules existent</a:t>
            </a:r>
          </a:p>
          <a:p>
            <a:pPr lvl="1"/>
            <a:r>
              <a:rPr lang="fr-FR" dirty="0">
                <a:hlinkClick r:id="rId2"/>
              </a:rPr>
              <a:t>https://github.com/mcauser/awesome-micropython</a:t>
            </a:r>
            <a:endParaRPr lang="fr-FR" dirty="0"/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917973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E9FDABE-0D98-6750-62DE-5F18AC44E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Limitations des ports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14040E7-FD16-D92F-0555-3563EE903F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Un port numérique ne sait envoyé que des 1 et 0</a:t>
            </a:r>
          </a:p>
          <a:p>
            <a:r>
              <a:rPr lang="fr-FR" dirty="0"/>
              <a:t>Un port analogique est limité par sa taille</a:t>
            </a:r>
          </a:p>
          <a:p>
            <a:pPr lvl="1"/>
            <a:r>
              <a:rPr lang="fr-FR" dirty="0"/>
              <a:t>12 bits</a:t>
            </a:r>
          </a:p>
          <a:p>
            <a:r>
              <a:rPr lang="fr-FR" dirty="0"/>
              <a:t>Un seul périphérique par port physique</a:t>
            </a:r>
          </a:p>
        </p:txBody>
      </p:sp>
    </p:spTree>
    <p:extLst>
      <p:ext uri="{BB962C8B-B14F-4D97-AF65-F5344CB8AC3E}">
        <p14:creationId xmlns:p14="http://schemas.microsoft.com/office/powerpoint/2010/main" val="35262869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DD6CB81-77FF-D984-1FF4-28D886657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Bus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BB35C95-FAF8-2523-F9E8-8E7974F2D3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1973" y="1412775"/>
            <a:ext cx="8766051" cy="5040560"/>
          </a:xfrm>
        </p:spPr>
        <p:txBody>
          <a:bodyPr/>
          <a:lstStyle/>
          <a:p>
            <a:r>
              <a:rPr lang="fr-FR" dirty="0"/>
              <a:t>Un bus informatique est un dispositif de transmission de données partagé entre plusieurs composants d'un système numérique</a:t>
            </a:r>
          </a:p>
          <a:p>
            <a:pPr lvl="1"/>
            <a:r>
              <a:rPr lang="fr-FR" dirty="0"/>
              <a:t>Par l'intermédiaire d'une voie de transmission commune, dans lequel les composants ne prennent aucune part à la transmission des données entre les autres participants</a:t>
            </a:r>
          </a:p>
        </p:txBody>
      </p:sp>
      <p:pic>
        <p:nvPicPr>
          <p:cNvPr id="1026" name="Picture 2" descr="Vue des trois sous-ensembles composant un bus : données, adresse et contrôle">
            <a:extLst>
              <a:ext uri="{FF2B5EF4-FFF2-40B4-BE49-F238E27FC236}">
                <a16:creationId xmlns:a16="http://schemas.microsoft.com/office/drawing/2014/main" id="{5DF06DDB-49A1-C739-B343-F2B2C1168D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3888" y="4365104"/>
            <a:ext cx="2381250" cy="1685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30785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4061F8F-A749-06D6-C0B5-CE4BA350B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Historique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67AC1C2-59CB-46CF-DA07-6A3F2C6731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Proposé par Apple dans l'Apple // en 1977</a:t>
            </a:r>
          </a:p>
          <a:p>
            <a:r>
              <a:rPr lang="fr-FR" dirty="0"/>
              <a:t>Popularisé par IBM PC en 1981</a:t>
            </a:r>
          </a:p>
          <a:p>
            <a:pPr lvl="1"/>
            <a:r>
              <a:rPr lang="fr-FR" dirty="0"/>
              <a:t>Bus ISA 8 bits</a:t>
            </a:r>
          </a:p>
          <a:p>
            <a:r>
              <a:rPr lang="fr-FR" dirty="0"/>
              <a:t>Evolutions</a:t>
            </a:r>
          </a:p>
          <a:p>
            <a:pPr lvl="1"/>
            <a:r>
              <a:rPr lang="fr-FR" dirty="0"/>
              <a:t>ISA 16 bits</a:t>
            </a:r>
          </a:p>
          <a:p>
            <a:pPr lvl="1"/>
            <a:r>
              <a:rPr lang="fr-FR" dirty="0"/>
              <a:t>PCI</a:t>
            </a:r>
          </a:p>
          <a:p>
            <a:pPr lvl="1"/>
            <a:r>
              <a:rPr lang="fr-FR" dirty="0"/>
              <a:t>AGP</a:t>
            </a:r>
          </a:p>
          <a:p>
            <a:pPr lvl="1"/>
            <a:r>
              <a:rPr lang="fr-FR" dirty="0"/>
              <a:t>…</a:t>
            </a:r>
          </a:p>
          <a:p>
            <a:r>
              <a:rPr lang="fr-FR" dirty="0"/>
              <a:t>Un périphérique est identifié par son adresse sur le bus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36477CDB-B17A-F835-C5BB-4DDF217F39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6314" y="1988840"/>
            <a:ext cx="3159249" cy="3077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25867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Bus I2C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I2C (Inter-Integrated Circuit) est un bus informatique qui a émergé de la « guerre des standards » lancée par les acteurs du monde électronique</a:t>
            </a:r>
          </a:p>
          <a:p>
            <a:pPr lvl="1"/>
            <a:r>
              <a:rPr lang="fr-FR" dirty="0"/>
              <a:t>Conçu par Philips pour les applications de domotique et d’électronique domestique, il permet de relier facilement un microprocesseur et différents circuits, notamment ceux d’un téléviseur moderne : récepteur de la télécommande, réglages des amplificateurs basses fréquences, tuner, horloge, …</a:t>
            </a:r>
          </a:p>
          <a:p>
            <a:r>
              <a:rPr lang="fr-FR" dirty="0"/>
              <a:t>Natif dans </a:t>
            </a:r>
            <a:r>
              <a:rPr lang="fr-FR" dirty="0" err="1"/>
              <a:t>Micropython</a:t>
            </a:r>
            <a:endParaRPr lang="fr-FR" dirty="0"/>
          </a:p>
          <a:p>
            <a:pPr lvl="1"/>
            <a:r>
              <a:rPr lang="fr-FR" dirty="0"/>
              <a:t>machine.I2C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939325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6FDAA47-2E1E-4182-E2E9-63C85EFE2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I2C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995AD00-2A6D-B2F7-7294-A4456E7BC1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Programmer du I2C est difficile</a:t>
            </a:r>
          </a:p>
          <a:p>
            <a:pPr lvl="1"/>
            <a:r>
              <a:rPr lang="fr-FR" dirty="0"/>
              <a:t>Dépend complètement du périphérique</a:t>
            </a:r>
          </a:p>
          <a:p>
            <a:r>
              <a:rPr lang="fr-FR" dirty="0"/>
              <a:t>Exemple</a:t>
            </a:r>
          </a:p>
          <a:p>
            <a:pPr lvl="1"/>
            <a:r>
              <a:rPr lang="fr-FR" dirty="0"/>
              <a:t>Code du BME280 : </a:t>
            </a:r>
            <a:r>
              <a:rPr lang="fr-FR" dirty="0">
                <a:hlinkClick r:id="rId2"/>
              </a:rPr>
              <a:t>https://github.com/robert-hh/BME280/blob/master/bme280_float.py</a:t>
            </a:r>
            <a:endParaRPr lang="fr-FR" dirty="0"/>
          </a:p>
          <a:p>
            <a:pPr lvl="1"/>
            <a:r>
              <a:rPr lang="fr-FR" dirty="0"/>
              <a:t>La plupart des périphériques I2C sont fournis avec un driver</a:t>
            </a:r>
          </a:p>
        </p:txBody>
      </p:sp>
    </p:spTree>
    <p:extLst>
      <p:ext uri="{BB962C8B-B14F-4D97-AF65-F5344CB8AC3E}">
        <p14:creationId xmlns:p14="http://schemas.microsoft.com/office/powerpoint/2010/main" val="379134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2944F62-F0B8-697C-761E-5F625F27C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I2C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7FA0753-ED80-146A-AF08-68D11A6FAA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Sur ESP32 il y a 1 bus I2C</a:t>
            </a:r>
          </a:p>
          <a:p>
            <a:pPr lvl="1"/>
            <a:r>
              <a:rPr lang="fr-FR" dirty="0"/>
              <a:t>21 = SDA</a:t>
            </a:r>
          </a:p>
          <a:p>
            <a:pPr lvl="1"/>
            <a:r>
              <a:rPr lang="fr-FR" dirty="0"/>
              <a:t>22 = SCL</a:t>
            </a:r>
          </a:p>
          <a:p>
            <a:pPr lvl="1"/>
            <a:r>
              <a:rPr lang="fr-FR" dirty="0"/>
              <a:t>Il est possible de brancher tous les périphériques I2C sur le même port I2C</a:t>
            </a:r>
          </a:p>
          <a:p>
            <a:r>
              <a:rPr lang="fr-FR" dirty="0"/>
              <a:t>machine.I2C</a:t>
            </a:r>
          </a:p>
          <a:p>
            <a:r>
              <a:rPr lang="fr-FR" dirty="0"/>
              <a:t>Il est possible d'émuler de l'I2C sur tous les ports en sortie</a:t>
            </a:r>
          </a:p>
          <a:p>
            <a:pPr lvl="1"/>
            <a:r>
              <a:rPr lang="fr-FR" dirty="0"/>
              <a:t>Remplacer machine.I2C par machine.SoftI2C</a:t>
            </a:r>
          </a:p>
        </p:txBody>
      </p:sp>
    </p:spTree>
    <p:extLst>
      <p:ext uri="{BB962C8B-B14F-4D97-AF65-F5344CB8AC3E}">
        <p14:creationId xmlns:p14="http://schemas.microsoft.com/office/powerpoint/2010/main" val="22954807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5DF5FA1-CF3C-D5FA-9FE8-4A2810A4A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Protocole I2C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3CA8EEC-E370-296D-8DD4-6BA87BC1E9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1026" name="Picture 2" descr="img">
            <a:extLst>
              <a:ext uri="{FF2B5EF4-FFF2-40B4-BE49-F238E27FC236}">
                <a16:creationId xmlns:a16="http://schemas.microsoft.com/office/drawing/2014/main" id="{C2B61A84-7040-3DC2-0F0C-7D183081D1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14357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562728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Capteur de pression I2C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5040559" cy="5040560"/>
          </a:xfrm>
        </p:spPr>
        <p:txBody>
          <a:bodyPr/>
          <a:lstStyle/>
          <a:p>
            <a:r>
              <a:rPr lang="fr-FR" dirty="0"/>
              <a:t>BM280 est un capteur de pression I2C</a:t>
            </a:r>
          </a:p>
          <a:p>
            <a:pPr lvl="1"/>
            <a:r>
              <a:rPr lang="fr-FR" dirty="0"/>
              <a:t>BME280_float.py</a:t>
            </a:r>
          </a:p>
          <a:p>
            <a:pPr lvl="1"/>
            <a:r>
              <a:rPr lang="fr-FR" dirty="0"/>
              <a:t>A sauver sur ESP32 avec Save As</a:t>
            </a:r>
          </a:p>
          <a:p>
            <a:endParaRPr lang="fr-FR" dirty="0"/>
          </a:p>
        </p:txBody>
      </p:sp>
      <p:pic>
        <p:nvPicPr>
          <p:cNvPr id="5" name="Image 4"/>
          <p:cNvPicPr/>
          <p:nvPr/>
        </p:nvPicPr>
        <p:blipFill>
          <a:blip r:embed="rId2"/>
          <a:stretch>
            <a:fillRect/>
          </a:stretch>
        </p:blipFill>
        <p:spPr>
          <a:xfrm>
            <a:off x="5135710" y="1348774"/>
            <a:ext cx="3104381" cy="1815653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8B4593B8-53AF-BB9E-9AD1-B0D427340B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8231" y="4726653"/>
            <a:ext cx="5639587" cy="1743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2490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A307E13-C1FE-5F93-2E20-65023D456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Branchement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6FABC04-8983-9588-2C36-465E941D15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1026" name="Picture 2" descr="MicroPython : BME280 avec ESP32 et ESP8266 (Pression, Température, Humidité)">
            <a:extLst>
              <a:ext uri="{FF2B5EF4-FFF2-40B4-BE49-F238E27FC236}">
                <a16:creationId xmlns:a16="http://schemas.microsoft.com/office/drawing/2014/main" id="{6AE904DA-5073-5A53-D2EC-50BDAA4800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836712"/>
            <a:ext cx="6633501" cy="5778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050D0363-C604-2494-7A5B-1C49C4E2A0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9117" y="4705032"/>
            <a:ext cx="4761583" cy="1480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68009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Ecran LCD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3" y="1412776"/>
            <a:ext cx="5400600" cy="5040560"/>
          </a:xfrm>
        </p:spPr>
        <p:txBody>
          <a:bodyPr/>
          <a:lstStyle/>
          <a:p>
            <a:r>
              <a:rPr lang="fr-FR" sz="2400" dirty="0"/>
              <a:t>2 types</a:t>
            </a:r>
          </a:p>
          <a:p>
            <a:r>
              <a:rPr lang="fr-FR" sz="2400" dirty="0"/>
              <a:t>Grove RGB </a:t>
            </a:r>
            <a:r>
              <a:rPr lang="fr-FR" sz="2400" dirty="0" err="1"/>
              <a:t>Backlight</a:t>
            </a:r>
            <a:endParaRPr lang="fr-FR" sz="2400" dirty="0"/>
          </a:p>
          <a:p>
            <a:pPr lvl="1"/>
            <a:r>
              <a:rPr lang="fr-FR" sz="2000" dirty="0"/>
              <a:t>import i2c_lcd</a:t>
            </a:r>
          </a:p>
          <a:p>
            <a:pPr lvl="1"/>
            <a:r>
              <a:rPr lang="fr-FR" sz="2000" dirty="0"/>
              <a:t>3 fichiers à mettre ESP32</a:t>
            </a:r>
          </a:p>
          <a:p>
            <a:pPr lvl="1"/>
            <a:r>
              <a:rPr lang="fr-FR" sz="2000" dirty="0"/>
              <a:t>i2c_lcd*.py</a:t>
            </a:r>
          </a:p>
          <a:p>
            <a:pPr lvl="1"/>
            <a:r>
              <a:rPr lang="fr-FR" sz="2000" dirty="0"/>
              <a:t>Bug sur i2c_lcd_backlight j'ai mis 21 et 22 en dur</a:t>
            </a:r>
          </a:p>
          <a:p>
            <a:pPr lvl="1"/>
            <a:r>
              <a:rPr lang="fr-FR" sz="2000" dirty="0"/>
              <a:t>5V</a:t>
            </a:r>
          </a:p>
          <a:p>
            <a:r>
              <a:rPr lang="fr-FR" sz="2400" dirty="0"/>
              <a:t>1602</a:t>
            </a:r>
          </a:p>
          <a:p>
            <a:pPr lvl="1"/>
            <a:r>
              <a:rPr lang="fr-FR" sz="2000" dirty="0"/>
              <a:t>import i2c_lcd1602</a:t>
            </a:r>
          </a:p>
          <a:p>
            <a:pPr lvl="1"/>
            <a:endParaRPr lang="fr-FR" dirty="0"/>
          </a:p>
          <a:p>
            <a:pPr lvl="1"/>
            <a:endParaRPr lang="fr-FR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A2606776-6119-44D8-8CDD-9E453E89C3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4128" y="1268760"/>
            <a:ext cx="2762636" cy="2448267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E040F75F-AF5F-80E7-76D3-A2397B76B2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932" y="4951184"/>
            <a:ext cx="4020111" cy="1467055"/>
          </a:xfrm>
          <a:prstGeom prst="rect">
            <a:avLst/>
          </a:prstGeom>
        </p:spPr>
      </p:pic>
      <p:pic>
        <p:nvPicPr>
          <p:cNvPr id="9" name="Image 8"/>
          <p:cNvPicPr/>
          <p:nvPr/>
        </p:nvPicPr>
        <p:blipFill>
          <a:blip r:embed="rId4"/>
          <a:stretch>
            <a:fillRect/>
          </a:stretch>
        </p:blipFill>
        <p:spPr>
          <a:xfrm>
            <a:off x="4918519" y="4100509"/>
            <a:ext cx="3286125" cy="200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17605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F1E9DA5-DF17-2521-537A-37F0948CF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LCD 1602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BB2570B-D25F-9A97-D006-B2FB6BFB6E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A0D2287-B6D1-1C5B-EB3A-B94D86D341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01000"/>
            <a:ext cx="9144000" cy="465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170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8639832-8660-45B4-AC1A-A987CD84A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Branchement sur le bus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1BF7959-E3D2-BB17-8F1B-BD50ED9B63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Il est possible de brancher plusieurs périphériques sur le bus</a:t>
            </a:r>
          </a:p>
        </p:txBody>
      </p:sp>
      <p:pic>
        <p:nvPicPr>
          <p:cNvPr id="2050" name="Picture 2" descr="Arduino I2C Tutorial | Arduino Wire Library I2C Communication">
            <a:extLst>
              <a:ext uri="{FF2B5EF4-FFF2-40B4-BE49-F238E27FC236}">
                <a16:creationId xmlns:a16="http://schemas.microsoft.com/office/drawing/2014/main" id="{45BA1B2F-2418-32EF-5D18-E3DB9FB31B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2420888"/>
            <a:ext cx="6588224" cy="3757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40048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0E843E2-9469-1258-5A67-268564D44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Branchement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BE9F82C-B300-F237-EA73-F13E4FFE40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122" name="Picture 2" descr="BMP280: Measure Temperature, Pressure and Altitude | Arduino Project Hub">
            <a:extLst>
              <a:ext uri="{FF2B5EF4-FFF2-40B4-BE49-F238E27FC236}">
                <a16:creationId xmlns:a16="http://schemas.microsoft.com/office/drawing/2014/main" id="{854A8CE9-93A0-6253-2256-D52ECBAB24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01750"/>
            <a:ext cx="9144000" cy="425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705764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A65F0FF-BCB0-4C61-BD54-F5C500132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Ecran OLED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9BFC818-01C9-A9B3-A2C4-7DD5040727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Ecran OLED SSD1306 0.98 </a:t>
            </a:r>
            <a:r>
              <a:rPr lang="fr-FR" dirty="0" err="1"/>
              <a:t>inch</a:t>
            </a:r>
            <a:endParaRPr lang="fr-FR" dirty="0"/>
          </a:p>
          <a:p>
            <a:pPr lvl="1"/>
            <a:r>
              <a:rPr lang="fr-FR" dirty="0"/>
              <a:t>3.3V uniquement</a:t>
            </a:r>
          </a:p>
          <a:p>
            <a:endParaRPr lang="fr-FR" dirty="0"/>
          </a:p>
          <a:p>
            <a:endParaRPr lang="fr-FR" dirty="0"/>
          </a:p>
        </p:txBody>
      </p:sp>
      <p:pic>
        <p:nvPicPr>
          <p:cNvPr id="1026" name="Picture 2" descr="Warning, Warning sign Icon, Warning sign, illustration.sign, Red warning">
            <a:extLst>
              <a:ext uri="{FF2B5EF4-FFF2-40B4-BE49-F238E27FC236}">
                <a16:creationId xmlns:a16="http://schemas.microsoft.com/office/drawing/2014/main" id="{94575C41-31FC-B284-B372-8B4D06F89B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46" y="1916832"/>
            <a:ext cx="936104" cy="1008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A3AA85F3-C8C1-DAA2-EE89-1953F411DB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0400" y="2209872"/>
            <a:ext cx="5638704" cy="4099447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B12C09FA-485F-A9D6-682A-18AB33BF7D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068960"/>
            <a:ext cx="3874692" cy="2592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6863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E194D93-CE43-09E0-2F8E-8CEFDA09E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LIDAR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1429362-E116-0AED-BC22-515F3EDE77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Capteur de distance</a:t>
            </a:r>
          </a:p>
          <a:p>
            <a:pPr lvl="1"/>
            <a:r>
              <a:rPr lang="fr-FR" dirty="0"/>
              <a:t>Time of flight</a:t>
            </a:r>
          </a:p>
        </p:txBody>
      </p:sp>
      <p:pic>
        <p:nvPicPr>
          <p:cNvPr id="1028" name="Picture 4" descr="Picture of Time of Flight Principle">
            <a:extLst>
              <a:ext uri="{FF2B5EF4-FFF2-40B4-BE49-F238E27FC236}">
                <a16:creationId xmlns:a16="http://schemas.microsoft.com/office/drawing/2014/main" id="{76C0BA22-6BD2-E6BE-3F09-94FE09CA32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3092372"/>
            <a:ext cx="6012160" cy="33609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66317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7419E45-663E-813D-AEF8-31A826568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VL53L0X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EE55425-6267-B6A2-EA5C-BBC0990A1E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ToF</a:t>
            </a:r>
            <a:endParaRPr lang="fr-FR" dirty="0"/>
          </a:p>
          <a:p>
            <a:r>
              <a:rPr lang="fr-FR" dirty="0"/>
              <a:t>3 à 5v</a:t>
            </a:r>
          </a:p>
          <a:p>
            <a:r>
              <a:rPr lang="fr-FR" dirty="0"/>
              <a:t>Plage de fonctionnement : 3cm à 2m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56E53ABA-939D-6C25-079A-3339AED5F4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7704" y="3645024"/>
            <a:ext cx="5039428" cy="2676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5775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C87917A-2F17-3A05-54A7-8AC5DE24D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SPI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E4A22F4-098F-A765-30E7-556ED2186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Bus SPI</a:t>
            </a:r>
          </a:p>
          <a:p>
            <a:pPr lvl="1"/>
            <a:r>
              <a:rPr lang="fr-FR" dirty="0"/>
              <a:t>Il s'agit d'un bus maître esclave en série</a:t>
            </a:r>
          </a:p>
          <a:p>
            <a:pPr lvl="1"/>
            <a:r>
              <a:rPr lang="fr-FR" dirty="0"/>
              <a:t>Toutes les communications passent par le périphérique maitre</a:t>
            </a:r>
          </a:p>
          <a:p>
            <a:pPr lvl="1"/>
            <a:r>
              <a:rPr lang="fr-FR" dirty="0"/>
              <a:t>SCLK : Serial </a:t>
            </a:r>
            <a:r>
              <a:rPr lang="fr-FR" dirty="0" err="1"/>
              <a:t>Clock</a:t>
            </a:r>
            <a:r>
              <a:rPr lang="fr-FR" dirty="0"/>
              <a:t> (généré par le maitre)</a:t>
            </a:r>
          </a:p>
          <a:p>
            <a:pPr lvl="1"/>
            <a:r>
              <a:rPr lang="fr-FR" dirty="0"/>
              <a:t>MOSI : Master Output Slave Input (généré par le maitre)</a:t>
            </a:r>
          </a:p>
          <a:p>
            <a:pPr lvl="1"/>
            <a:r>
              <a:rPr lang="fr-FR" dirty="0"/>
              <a:t>MISO : Master Input, Slave Output (généré par l'esclave)</a:t>
            </a:r>
          </a:p>
          <a:p>
            <a:pPr lvl="1"/>
            <a:r>
              <a:rPr lang="fr-FR" dirty="0"/>
              <a:t>SS : Slave Select, Actif à l'état bas (généré par le maître)</a:t>
            </a:r>
          </a:p>
          <a:p>
            <a:r>
              <a:rPr lang="fr-FR" dirty="0"/>
              <a:t>Utilisé par Serial, Bluetooth, </a:t>
            </a:r>
            <a:r>
              <a:rPr lang="fr-FR" dirty="0" err="1"/>
              <a:t>SDCard</a:t>
            </a:r>
            <a:r>
              <a:rPr lang="fr-FR" dirty="0"/>
              <a:t>, …</a:t>
            </a:r>
          </a:p>
        </p:txBody>
      </p:sp>
    </p:spTree>
    <p:extLst>
      <p:ext uri="{BB962C8B-B14F-4D97-AF65-F5344CB8AC3E}">
        <p14:creationId xmlns:p14="http://schemas.microsoft.com/office/powerpoint/2010/main" val="27376640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542DC52-D223-A94A-0167-7FC7DEDD2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SPI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395F77F-19C2-7F4D-DD92-349954DCE8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Sur les ports UART</a:t>
            </a:r>
          </a:p>
          <a:p>
            <a:r>
              <a:rPr lang="fr-FR" dirty="0"/>
              <a:t>Sur les ports 10 à 13</a:t>
            </a:r>
          </a:p>
          <a:p>
            <a:r>
              <a:rPr lang="fr-FR" dirty="0"/>
              <a:t>Sur le connecteur ISP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96080B7-CDAE-BE2D-9278-BFABE71474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4048" y="1156209"/>
            <a:ext cx="3748062" cy="2666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A58CFF9C-6161-94AD-AC33-8A24E55FC2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873" y="3836090"/>
            <a:ext cx="6494160" cy="2576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17357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29F4542-13A5-51F6-67F3-9AE8E2D4E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Oled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62CDF19-14EA-7993-BF17-6CCB8E9C5F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L'écran </a:t>
            </a:r>
            <a:r>
              <a:rPr lang="fr-FR" dirty="0" err="1"/>
              <a:t>oled</a:t>
            </a:r>
            <a:r>
              <a:rPr lang="fr-FR" dirty="0"/>
              <a:t> peut également être programmé sur SPI</a:t>
            </a:r>
          </a:p>
          <a:p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C3B98B9-61BB-B972-093A-C211928A7F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68" y="2636912"/>
            <a:ext cx="9159352" cy="2520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07225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F50D49D-F7C7-B89E-6608-1A4A31602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Autres bus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68BF851-DB02-58D2-437A-73464D2402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D'autres bus peuvent être utilisés</a:t>
            </a:r>
          </a:p>
          <a:p>
            <a:r>
              <a:rPr lang="fr-FR" dirty="0"/>
              <a:t>ADC</a:t>
            </a:r>
          </a:p>
          <a:p>
            <a:pPr lvl="1"/>
            <a:r>
              <a:rPr lang="fr-FR" dirty="0" err="1"/>
              <a:t>Analogic</a:t>
            </a:r>
            <a:r>
              <a:rPr lang="fr-FR" dirty="0"/>
              <a:t> Digital Converter</a:t>
            </a:r>
          </a:p>
          <a:p>
            <a:pPr lvl="1"/>
            <a:r>
              <a:rPr lang="fr-FR" dirty="0"/>
              <a:t>Convertisseur analogique numérique</a:t>
            </a:r>
          </a:p>
          <a:p>
            <a:pPr lvl="1"/>
            <a:r>
              <a:rPr lang="fr-FR" dirty="0"/>
              <a:t>Utilisé par le module Wifi (natif dans ESP32)</a:t>
            </a:r>
          </a:p>
          <a:p>
            <a:r>
              <a:rPr lang="fr-FR" dirty="0"/>
              <a:t>DAC</a:t>
            </a:r>
          </a:p>
          <a:p>
            <a:pPr lvl="1"/>
            <a:r>
              <a:rPr lang="fr-FR" dirty="0"/>
              <a:t>Digital </a:t>
            </a:r>
            <a:r>
              <a:rPr lang="fr-FR" dirty="0" err="1"/>
              <a:t>Analogic</a:t>
            </a:r>
            <a:r>
              <a:rPr lang="fr-FR" dirty="0"/>
              <a:t> Converter</a:t>
            </a:r>
          </a:p>
          <a:p>
            <a:pPr lvl="1"/>
            <a:r>
              <a:rPr lang="fr-FR" dirty="0"/>
              <a:t>Utilisé sur les cartes son (natif dans ESP32)</a:t>
            </a:r>
          </a:p>
          <a:p>
            <a:r>
              <a:rPr lang="fr-FR" dirty="0"/>
              <a:t>CAN</a:t>
            </a:r>
          </a:p>
          <a:p>
            <a:pPr lvl="1"/>
            <a:r>
              <a:rPr lang="fr-FR" dirty="0"/>
              <a:t>Controller Area Network</a:t>
            </a:r>
          </a:p>
          <a:p>
            <a:pPr lvl="1"/>
            <a:r>
              <a:rPr lang="fr-FR" dirty="0"/>
              <a:t>Industriel (</a:t>
            </a:r>
            <a:r>
              <a:rPr lang="fr-FR" dirty="0" err="1"/>
              <a:t>Bosh</a:t>
            </a:r>
            <a:r>
              <a:rPr lang="fr-FR" dirty="0"/>
              <a:t>)</a:t>
            </a:r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62768152"/>
      </p:ext>
    </p:extLst>
  </p:cSld>
  <p:clrMapOvr>
    <a:masterClrMapping/>
  </p:clrMapOvr>
</p:sld>
</file>

<file path=ppt/theme/theme1.xml><?xml version="1.0" encoding="utf-8"?>
<a:theme xmlns:a="http://schemas.openxmlformats.org/drawingml/2006/main" name="cvc">
  <a:themeElements>
    <a:clrScheme name="cv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v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v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vc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4240</TotalTime>
  <Words>674</Words>
  <Application>Microsoft Office PowerPoint</Application>
  <PresentationFormat>Affichage à l'écran (4:3)</PresentationFormat>
  <Paragraphs>122</Paragraphs>
  <Slides>24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24</vt:i4>
      </vt:variant>
    </vt:vector>
  </HeadingPairs>
  <TitlesOfParts>
    <vt:vector size="28" baseType="lpstr">
      <vt:lpstr>Arial</vt:lpstr>
      <vt:lpstr>Monotype Sorts</vt:lpstr>
      <vt:lpstr>Times New Roman</vt:lpstr>
      <vt:lpstr>cvc</vt:lpstr>
      <vt:lpstr>Présentation PowerPoint</vt:lpstr>
      <vt:lpstr>Protocole DHT</vt:lpstr>
      <vt:lpstr>DHT11</vt:lpstr>
      <vt:lpstr>Librairies</vt:lpstr>
      <vt:lpstr>Limitations des ports</vt:lpstr>
      <vt:lpstr>Bus</vt:lpstr>
      <vt:lpstr>Historique</vt:lpstr>
      <vt:lpstr>Bus I2C</vt:lpstr>
      <vt:lpstr>I2C</vt:lpstr>
      <vt:lpstr>I2C</vt:lpstr>
      <vt:lpstr>Protocole I2C</vt:lpstr>
      <vt:lpstr>Capteur de pression I2C</vt:lpstr>
      <vt:lpstr>Branchement</vt:lpstr>
      <vt:lpstr>Ecran LCD</vt:lpstr>
      <vt:lpstr>LCD 1602</vt:lpstr>
      <vt:lpstr>Branchement sur le bus</vt:lpstr>
      <vt:lpstr>Branchement</vt:lpstr>
      <vt:lpstr>Ecran OLED</vt:lpstr>
      <vt:lpstr>LIDAR</vt:lpstr>
      <vt:lpstr>VL53L0X</vt:lpstr>
      <vt:lpstr>SPI</vt:lpstr>
      <vt:lpstr>SPI</vt:lpstr>
      <vt:lpstr>Oled</vt:lpstr>
      <vt:lpstr>Autres bus</vt:lpstr>
    </vt:vector>
  </TitlesOfParts>
  <Company>jkhjkjkh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</dc:title>
  <dc:creator>jhkhkhkj</dc:creator>
  <cp:lastModifiedBy>Cyril Vincent</cp:lastModifiedBy>
  <cp:revision>274</cp:revision>
  <dcterms:created xsi:type="dcterms:W3CDTF">2000-04-10T19:33:12Z</dcterms:created>
  <dcterms:modified xsi:type="dcterms:W3CDTF">2025-09-25T11:21:50Z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lpwstr>0.1</vt:lpwstr>
  </property>
</Properties>
</file>