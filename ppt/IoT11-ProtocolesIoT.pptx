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20"/>
  </p:notesMasterIdLst>
  <p:handoutMasterIdLst>
    <p:handoutMasterId r:id="rId21"/>
  </p:handoutMasterIdLst>
  <p:sldIdLst>
    <p:sldId id="264" r:id="rId2"/>
    <p:sldId id="266" r:id="rId3"/>
    <p:sldId id="274" r:id="rId4"/>
    <p:sldId id="267" r:id="rId5"/>
    <p:sldId id="268" r:id="rId6"/>
    <p:sldId id="269" r:id="rId7"/>
    <p:sldId id="273" r:id="rId8"/>
    <p:sldId id="275" r:id="rId9"/>
    <p:sldId id="270" r:id="rId10"/>
    <p:sldId id="271" r:id="rId11"/>
    <p:sldId id="272" r:id="rId12"/>
    <p:sldId id="276" r:id="rId13"/>
    <p:sldId id="277" r:id="rId14"/>
    <p:sldId id="278" r:id="rId15"/>
    <p:sldId id="279" r:id="rId16"/>
    <p:sldId id="280" r:id="rId17"/>
    <p:sldId id="281" r:id="rId18"/>
    <p:sldId id="282" r:id="rId19"/>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94590" autoAdjust="0"/>
  </p:normalViewPr>
  <p:slideViewPr>
    <p:cSldViewPr>
      <p:cViewPr varScale="1">
        <p:scale>
          <a:sx n="70" d="100"/>
          <a:sy n="70" d="100"/>
        </p:scale>
        <p:origin x="1814"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err="1"/>
              <a:t>IoT</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a:xfrm>
            <a:off x="1371600" y="1628800"/>
            <a:ext cx="6400800" cy="4010000"/>
          </a:xfrm>
        </p:spPr>
        <p:txBody>
          <a:bodyPr/>
          <a:lstStyle/>
          <a:p>
            <a:pPr eaLnBrk="1" hangingPunct="1"/>
            <a:r>
              <a:rPr lang="fr-FR" altLang="fr-FR" dirty="0" err="1"/>
              <a:t>IoT</a:t>
            </a:r>
            <a:endParaRPr lang="fr-FR" altLang="fr-FR" dirty="0"/>
          </a:p>
          <a:p>
            <a:pPr eaLnBrk="1" hangingPunct="1"/>
            <a:endParaRPr lang="fr-FR" altLang="fr-FR" dirty="0"/>
          </a:p>
          <a:p>
            <a:pPr eaLnBrk="1" hangingPunct="1"/>
            <a:r>
              <a:rPr lang="fr-FR" altLang="fr-FR" dirty="0"/>
              <a:t>Chapitre 12</a:t>
            </a:r>
          </a:p>
          <a:p>
            <a:pPr eaLnBrk="1" hangingPunct="1"/>
            <a:r>
              <a:rPr lang="fr-FR" altLang="fr-FR" dirty="0"/>
              <a:t>Les protocoles </a:t>
            </a:r>
            <a:r>
              <a:rPr lang="fr-FR" altLang="fr-FR" dirty="0" err="1"/>
              <a:t>IoT</a:t>
            </a:r>
            <a:endParaRPr lang="fr-FR" altLang="fr-F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 défis des protocoles </a:t>
            </a:r>
            <a:r>
              <a:rPr lang="fr-FR" dirty="0" err="1"/>
              <a:t>IoT</a:t>
            </a:r>
            <a:endParaRPr lang="fr-FR" dirty="0"/>
          </a:p>
        </p:txBody>
      </p:sp>
      <p:sp>
        <p:nvSpPr>
          <p:cNvPr id="3" name="Espace réservé du contenu 2"/>
          <p:cNvSpPr>
            <a:spLocks noGrp="1"/>
          </p:cNvSpPr>
          <p:nvPr>
            <p:ph idx="1"/>
          </p:nvPr>
        </p:nvSpPr>
        <p:spPr/>
        <p:txBody>
          <a:bodyPr/>
          <a:lstStyle/>
          <a:p>
            <a:r>
              <a:rPr lang="fr-FR" dirty="0"/>
              <a:t>Un protocole </a:t>
            </a:r>
            <a:r>
              <a:rPr lang="fr-FR" dirty="0" err="1"/>
              <a:t>IoT</a:t>
            </a:r>
            <a:r>
              <a:rPr lang="fr-FR" dirty="0"/>
              <a:t> doit être</a:t>
            </a:r>
          </a:p>
          <a:p>
            <a:pPr lvl="1"/>
            <a:r>
              <a:rPr lang="fr-FR" dirty="0"/>
              <a:t>Fiable</a:t>
            </a:r>
          </a:p>
          <a:p>
            <a:pPr lvl="1"/>
            <a:r>
              <a:rPr lang="fr-FR" dirty="0"/>
              <a:t>Low </a:t>
            </a:r>
            <a:r>
              <a:rPr lang="fr-FR" dirty="0" err="1"/>
              <a:t>energy</a:t>
            </a:r>
            <a:endParaRPr lang="fr-FR" dirty="0"/>
          </a:p>
          <a:p>
            <a:pPr lvl="1"/>
            <a:r>
              <a:rPr lang="fr-FR" dirty="0"/>
              <a:t>Sans fil</a:t>
            </a:r>
          </a:p>
        </p:txBody>
      </p:sp>
    </p:spTree>
    <p:extLst>
      <p:ext uri="{BB962C8B-B14F-4D97-AF65-F5344CB8AC3E}">
        <p14:creationId xmlns:p14="http://schemas.microsoft.com/office/powerpoint/2010/main" val="1048181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26E089-4379-4D4E-8AF3-64F9762486F6}"/>
              </a:ext>
            </a:extLst>
          </p:cNvPr>
          <p:cNvSpPr>
            <a:spLocks noGrp="1"/>
          </p:cNvSpPr>
          <p:nvPr>
            <p:ph type="title"/>
          </p:nvPr>
        </p:nvSpPr>
        <p:spPr/>
        <p:txBody>
          <a:bodyPr/>
          <a:lstStyle/>
          <a:p>
            <a:r>
              <a:rPr lang="fr-FR" dirty="0"/>
              <a:t>LoRa</a:t>
            </a:r>
          </a:p>
        </p:txBody>
      </p:sp>
      <p:sp>
        <p:nvSpPr>
          <p:cNvPr id="3" name="Espace réservé du contenu 2">
            <a:extLst>
              <a:ext uri="{FF2B5EF4-FFF2-40B4-BE49-F238E27FC236}">
                <a16:creationId xmlns:a16="http://schemas.microsoft.com/office/drawing/2014/main" id="{33DB30CA-E928-4377-900A-92C62C7F887A}"/>
              </a:ext>
            </a:extLst>
          </p:cNvPr>
          <p:cNvSpPr>
            <a:spLocks noGrp="1"/>
          </p:cNvSpPr>
          <p:nvPr>
            <p:ph idx="1"/>
          </p:nvPr>
        </p:nvSpPr>
        <p:spPr/>
        <p:txBody>
          <a:bodyPr/>
          <a:lstStyle/>
          <a:p>
            <a:r>
              <a:rPr lang="fr-FR" dirty="0"/>
              <a:t>Créé en 2009 par la start-up grenobloise </a:t>
            </a:r>
            <a:r>
              <a:rPr lang="fr-FR" dirty="0" err="1"/>
              <a:t>Cycléo</a:t>
            </a:r>
            <a:r>
              <a:rPr lang="fr-FR" dirty="0"/>
              <a:t> et rachetée par </a:t>
            </a:r>
            <a:r>
              <a:rPr lang="fr-FR" dirty="0" err="1"/>
              <a:t>Semtech</a:t>
            </a:r>
            <a:r>
              <a:rPr lang="fr-FR" dirty="0"/>
              <a:t> en 2012</a:t>
            </a:r>
          </a:p>
          <a:p>
            <a:pPr lvl="1"/>
            <a:r>
              <a:rPr lang="fr-FR" dirty="0" err="1"/>
              <a:t>Semtech</a:t>
            </a:r>
            <a:r>
              <a:rPr lang="fr-FR" dirty="0"/>
              <a:t> promeut sa plateforme LoRa grâce à la LoRa Alliance, dont elle fait partie</a:t>
            </a:r>
          </a:p>
          <a:p>
            <a:pPr lvl="1"/>
            <a:r>
              <a:rPr lang="fr-FR" dirty="0"/>
              <a:t>Le protocole </a:t>
            </a:r>
            <a:r>
              <a:rPr lang="fr-FR" dirty="0" err="1"/>
              <a:t>LoRaWAN</a:t>
            </a:r>
            <a:r>
              <a:rPr lang="fr-FR" dirty="0"/>
              <a:t> sur la couche physique LoRa permet de connecter des capteurs ou des objets nécessitant une longue autonomie de batterie (comptée en années), dans un volume (taille d'une boite d'allumettes ou d'un paquet de cigarettes) et un coût réduit</a:t>
            </a:r>
          </a:p>
        </p:txBody>
      </p:sp>
    </p:spTree>
    <p:extLst>
      <p:ext uri="{BB962C8B-B14F-4D97-AF65-F5344CB8AC3E}">
        <p14:creationId xmlns:p14="http://schemas.microsoft.com/office/powerpoint/2010/main" val="1829092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LoRa</a:t>
            </a:r>
            <a:endParaRPr lang="fr-FR" dirty="0"/>
          </a:p>
        </p:txBody>
      </p:sp>
      <p:sp>
        <p:nvSpPr>
          <p:cNvPr id="3" name="Espace réservé du contenu 2"/>
          <p:cNvSpPr>
            <a:spLocks noGrp="1"/>
          </p:cNvSpPr>
          <p:nvPr>
            <p:ph idx="1"/>
          </p:nvPr>
        </p:nvSpPr>
        <p:spPr/>
        <p:txBody>
          <a:bodyPr/>
          <a:lstStyle/>
          <a:p>
            <a:r>
              <a:rPr lang="fr-FR" dirty="0"/>
              <a:t>LoRa (Long Range)</a:t>
            </a:r>
          </a:p>
          <a:p>
            <a:pPr lvl="1"/>
            <a:r>
              <a:rPr lang="fr-FR"/>
              <a:t>433 - 868 </a:t>
            </a:r>
            <a:r>
              <a:rPr lang="fr-FR" dirty="0"/>
              <a:t>MHz</a:t>
            </a:r>
          </a:p>
          <a:p>
            <a:r>
              <a:rPr lang="fr-FR" dirty="0" err="1"/>
              <a:t>LoRa</a:t>
            </a:r>
            <a:r>
              <a:rPr lang="fr-FR" dirty="0"/>
              <a:t> est un protocole radio de longue portée et de faible consommation électrique</a:t>
            </a:r>
          </a:p>
          <a:p>
            <a:r>
              <a:rPr lang="fr-FR" dirty="0"/>
              <a:t>U = 3.3v</a:t>
            </a:r>
          </a:p>
          <a:p>
            <a:r>
              <a:rPr lang="fr-FR" dirty="0"/>
              <a:t>I = 13.5mA en réception soit 0.04W</a:t>
            </a:r>
          </a:p>
          <a:p>
            <a:pPr lvl="1"/>
            <a:r>
              <a:rPr lang="fr-FR" dirty="0"/>
              <a:t>I = 2.7mA en attente soit 9mW</a:t>
            </a:r>
          </a:p>
          <a:p>
            <a:r>
              <a:rPr lang="fr-FR" dirty="0"/>
              <a:t>I = 124mA en émission soit 0.4W</a:t>
            </a:r>
          </a:p>
          <a:p>
            <a:r>
              <a:rPr lang="fr-FR" dirty="0"/>
              <a:t>d = 5km en zone urbaine, 15 km en campagne</a:t>
            </a:r>
          </a:p>
        </p:txBody>
      </p:sp>
    </p:spTree>
    <p:extLst>
      <p:ext uri="{BB962C8B-B14F-4D97-AF65-F5344CB8AC3E}">
        <p14:creationId xmlns:p14="http://schemas.microsoft.com/office/powerpoint/2010/main" val="350234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LoRaWAN</a:t>
            </a:r>
            <a:endParaRPr lang="fr-FR" dirty="0"/>
          </a:p>
        </p:txBody>
      </p:sp>
      <p:sp>
        <p:nvSpPr>
          <p:cNvPr id="3" name="Espace réservé du contenu 2"/>
          <p:cNvSpPr>
            <a:spLocks noGrp="1"/>
          </p:cNvSpPr>
          <p:nvPr>
            <p:ph idx="1"/>
          </p:nvPr>
        </p:nvSpPr>
        <p:spPr/>
        <p:txBody>
          <a:bodyPr/>
          <a:lstStyle/>
          <a:p>
            <a:r>
              <a:rPr lang="fr-FR" sz="2400" dirty="0" err="1"/>
              <a:t>LoRaWAN</a:t>
            </a:r>
            <a:r>
              <a:rPr lang="fr-FR" sz="2400" dirty="0"/>
              <a:t> est un protocole permettant la communication à bas débit, par radio, d'objets à faible consommation électrique communiquant selon la technologie </a:t>
            </a:r>
            <a:r>
              <a:rPr lang="fr-FR" sz="2400" dirty="0" err="1"/>
              <a:t>LoRa</a:t>
            </a:r>
            <a:r>
              <a:rPr lang="fr-FR" sz="2400" dirty="0"/>
              <a:t> et connectés à l'Internet via des passerelles</a:t>
            </a:r>
          </a:p>
          <a:p>
            <a:pPr lvl="1"/>
            <a:r>
              <a:rPr lang="fr-FR" sz="2000" dirty="0" err="1"/>
              <a:t>LoRa</a:t>
            </a:r>
            <a:r>
              <a:rPr lang="fr-FR" sz="2000" dirty="0"/>
              <a:t> permet de connecter des objets nécessitant une longue autonomie (comptée en années), dans un volume (taille d'une boite d'allumettes ou d'un paquet de cigarettes) et un coût réduits</a:t>
            </a:r>
          </a:p>
          <a:p>
            <a:pPr lvl="1"/>
            <a:r>
              <a:rPr lang="fr-FR" sz="2000" dirty="0"/>
              <a:t>Débit faible (en </a:t>
            </a:r>
            <a:r>
              <a:rPr lang="fr-FR" sz="2000" dirty="0" err="1"/>
              <a:t>kbits/s</a:t>
            </a:r>
            <a:r>
              <a:rPr lang="fr-FR" sz="2000" dirty="0"/>
              <a:t>)</a:t>
            </a:r>
          </a:p>
        </p:txBody>
      </p:sp>
      <p:pic>
        <p:nvPicPr>
          <p:cNvPr id="1026" name="Picture 2" descr="https://upload.wikimedia.org/wikipedia/commons/thumb/e/ec/Architecture_lorawan.png/800px-Architecture_lorawa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040" y="3899098"/>
            <a:ext cx="4211960" cy="2958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1927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Arduino</a:t>
            </a:r>
            <a:r>
              <a:rPr lang="fr-FR" dirty="0"/>
              <a:t> </a:t>
            </a:r>
            <a:r>
              <a:rPr lang="fr-FR" dirty="0" err="1"/>
              <a:t>LoRaWAN</a:t>
            </a:r>
            <a:endParaRPr lang="fr-FR" dirty="0"/>
          </a:p>
        </p:txBody>
      </p:sp>
      <p:sp>
        <p:nvSpPr>
          <p:cNvPr id="3" name="Espace réservé du contenu 2"/>
          <p:cNvSpPr>
            <a:spLocks noGrp="1"/>
          </p:cNvSpPr>
          <p:nvPr>
            <p:ph idx="1"/>
          </p:nvPr>
        </p:nvSpPr>
        <p:spPr/>
        <p:txBody>
          <a:bodyPr/>
          <a:lstStyle/>
          <a:p>
            <a:r>
              <a:rPr lang="fr-FR" dirty="0"/>
              <a:t>La carte </a:t>
            </a:r>
            <a:r>
              <a:rPr lang="fr-FR" dirty="0" err="1"/>
              <a:t>Seeeduino</a:t>
            </a:r>
            <a:r>
              <a:rPr lang="fr-FR" dirty="0"/>
              <a:t> </a:t>
            </a:r>
            <a:r>
              <a:rPr lang="fr-FR" dirty="0" err="1"/>
              <a:t>LoRaWAN</a:t>
            </a:r>
            <a:endParaRPr lang="fr-FR" dirty="0"/>
          </a:p>
        </p:txBody>
      </p:sp>
      <p:pic>
        <p:nvPicPr>
          <p:cNvPr id="2050" name="Picture 2" descr="Résultat de recherche d'images pour &quot;arduino lorawan&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7130" y="3405938"/>
            <a:ext cx="4488433" cy="3366325"/>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p:cNvPicPr>
            <a:picLocks noChangeAspect="1"/>
          </p:cNvPicPr>
          <p:nvPr/>
        </p:nvPicPr>
        <p:blipFill>
          <a:blip r:embed="rId3"/>
          <a:stretch>
            <a:fillRect/>
          </a:stretch>
        </p:blipFill>
        <p:spPr>
          <a:xfrm>
            <a:off x="1163580" y="2924944"/>
            <a:ext cx="4105275" cy="2790825"/>
          </a:xfrm>
          <a:prstGeom prst="rect">
            <a:avLst/>
          </a:prstGeom>
        </p:spPr>
      </p:pic>
    </p:spTree>
    <p:extLst>
      <p:ext uri="{BB962C8B-B14F-4D97-AF65-F5344CB8AC3E}">
        <p14:creationId xmlns:p14="http://schemas.microsoft.com/office/powerpoint/2010/main" val="413212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EC4A24-A1E2-44B7-9A6B-27A2FC675F8F}"/>
              </a:ext>
            </a:extLst>
          </p:cNvPr>
          <p:cNvSpPr>
            <a:spLocks noGrp="1"/>
          </p:cNvSpPr>
          <p:nvPr>
            <p:ph type="title"/>
          </p:nvPr>
        </p:nvSpPr>
        <p:spPr/>
        <p:txBody>
          <a:bodyPr/>
          <a:lstStyle/>
          <a:p>
            <a:r>
              <a:rPr lang="fr-FR" dirty="0"/>
              <a:t>Raspberry Lora</a:t>
            </a:r>
          </a:p>
        </p:txBody>
      </p:sp>
      <p:sp>
        <p:nvSpPr>
          <p:cNvPr id="3" name="Espace réservé du contenu 2">
            <a:extLst>
              <a:ext uri="{FF2B5EF4-FFF2-40B4-BE49-F238E27FC236}">
                <a16:creationId xmlns:a16="http://schemas.microsoft.com/office/drawing/2014/main" id="{254C5EB3-BE30-42E3-92A9-F578B2E13BF2}"/>
              </a:ext>
            </a:extLst>
          </p:cNvPr>
          <p:cNvSpPr>
            <a:spLocks noGrp="1"/>
          </p:cNvSpPr>
          <p:nvPr>
            <p:ph idx="1"/>
          </p:nvPr>
        </p:nvSpPr>
        <p:spPr/>
        <p:txBody>
          <a:bodyPr/>
          <a:lstStyle/>
          <a:p>
            <a:r>
              <a:rPr lang="fr-FR" dirty="0"/>
              <a:t>HAT RPI Lora</a:t>
            </a:r>
          </a:p>
        </p:txBody>
      </p:sp>
      <p:pic>
        <p:nvPicPr>
          <p:cNvPr id="1026" name="Picture 2" descr="Bouclier Pi à la raspberry - LoRa, 868 MHz, SX1262 WAVESHARE 16806">
            <a:extLst>
              <a:ext uri="{FF2B5EF4-FFF2-40B4-BE49-F238E27FC236}">
                <a16:creationId xmlns:a16="http://schemas.microsoft.com/office/drawing/2014/main" id="{897CD0DB-7EA9-42F1-AD52-3678054D68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2080" y="1412776"/>
            <a:ext cx="28575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a:extLst>
              <a:ext uri="{FF2B5EF4-FFF2-40B4-BE49-F238E27FC236}">
                <a16:creationId xmlns:a16="http://schemas.microsoft.com/office/drawing/2014/main" id="{0A964FA8-5676-4136-A684-A95F13E62C4C}"/>
              </a:ext>
            </a:extLst>
          </p:cNvPr>
          <p:cNvPicPr>
            <a:picLocks noChangeAspect="1"/>
          </p:cNvPicPr>
          <p:nvPr/>
        </p:nvPicPr>
        <p:blipFill>
          <a:blip r:embed="rId3"/>
          <a:stretch>
            <a:fillRect/>
          </a:stretch>
        </p:blipFill>
        <p:spPr>
          <a:xfrm>
            <a:off x="755576" y="2370372"/>
            <a:ext cx="4205881" cy="4077072"/>
          </a:xfrm>
          <a:prstGeom prst="rect">
            <a:avLst/>
          </a:prstGeom>
        </p:spPr>
      </p:pic>
    </p:spTree>
    <p:extLst>
      <p:ext uri="{BB962C8B-B14F-4D97-AF65-F5344CB8AC3E}">
        <p14:creationId xmlns:p14="http://schemas.microsoft.com/office/powerpoint/2010/main" val="2414170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4896C3-7635-EBBA-B053-B666C467522D}"/>
              </a:ext>
            </a:extLst>
          </p:cNvPr>
          <p:cNvSpPr>
            <a:spLocks noGrp="1"/>
          </p:cNvSpPr>
          <p:nvPr>
            <p:ph type="title"/>
          </p:nvPr>
        </p:nvSpPr>
        <p:spPr/>
        <p:txBody>
          <a:bodyPr/>
          <a:lstStyle/>
          <a:p>
            <a:r>
              <a:rPr lang="fr-FR" dirty="0"/>
              <a:t>RFID</a:t>
            </a:r>
          </a:p>
        </p:txBody>
      </p:sp>
      <p:sp>
        <p:nvSpPr>
          <p:cNvPr id="3" name="Espace réservé du contenu 2">
            <a:extLst>
              <a:ext uri="{FF2B5EF4-FFF2-40B4-BE49-F238E27FC236}">
                <a16:creationId xmlns:a16="http://schemas.microsoft.com/office/drawing/2014/main" id="{7DD6AD86-C116-6D9C-1CB2-C3B2B9F2C446}"/>
              </a:ext>
            </a:extLst>
          </p:cNvPr>
          <p:cNvSpPr>
            <a:spLocks noGrp="1"/>
          </p:cNvSpPr>
          <p:nvPr>
            <p:ph idx="1"/>
          </p:nvPr>
        </p:nvSpPr>
        <p:spPr/>
        <p:txBody>
          <a:bodyPr/>
          <a:lstStyle/>
          <a:p>
            <a:r>
              <a:rPr lang="fr-FR" dirty="0"/>
              <a:t>Radio Frequency Identification, est une méthode pour mémoriser et récupérer des données à distance en utilisant des marqueurs appelés « radio-étiquettes »</a:t>
            </a:r>
          </a:p>
          <a:p>
            <a:r>
              <a:rPr lang="fr-FR" dirty="0"/>
              <a:t>Très utilisé dans les </a:t>
            </a:r>
            <a:r>
              <a:rPr lang="fr-FR" dirty="0" err="1"/>
              <a:t>vétements</a:t>
            </a:r>
            <a:endParaRPr lang="fr-FR" dirty="0"/>
          </a:p>
        </p:txBody>
      </p:sp>
      <p:pic>
        <p:nvPicPr>
          <p:cNvPr id="5" name="Image 4">
            <a:extLst>
              <a:ext uri="{FF2B5EF4-FFF2-40B4-BE49-F238E27FC236}">
                <a16:creationId xmlns:a16="http://schemas.microsoft.com/office/drawing/2014/main" id="{69333D1A-551A-5382-3402-D67DFB59C050}"/>
              </a:ext>
            </a:extLst>
          </p:cNvPr>
          <p:cNvPicPr>
            <a:picLocks noChangeAspect="1"/>
          </p:cNvPicPr>
          <p:nvPr/>
        </p:nvPicPr>
        <p:blipFill>
          <a:blip r:embed="rId2"/>
          <a:stretch>
            <a:fillRect/>
          </a:stretch>
        </p:blipFill>
        <p:spPr>
          <a:xfrm>
            <a:off x="4355976" y="3645024"/>
            <a:ext cx="3837711" cy="2565630"/>
          </a:xfrm>
          <a:prstGeom prst="rect">
            <a:avLst/>
          </a:prstGeom>
        </p:spPr>
      </p:pic>
    </p:spTree>
    <p:extLst>
      <p:ext uri="{BB962C8B-B14F-4D97-AF65-F5344CB8AC3E}">
        <p14:creationId xmlns:p14="http://schemas.microsoft.com/office/powerpoint/2010/main" val="2288474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Sigfox</a:t>
            </a:r>
            <a:endParaRPr lang="fr-FR" dirty="0"/>
          </a:p>
        </p:txBody>
      </p:sp>
      <p:sp>
        <p:nvSpPr>
          <p:cNvPr id="3" name="Espace réservé du contenu 2"/>
          <p:cNvSpPr>
            <a:spLocks noGrp="1"/>
          </p:cNvSpPr>
          <p:nvPr>
            <p:ph idx="1"/>
          </p:nvPr>
        </p:nvSpPr>
        <p:spPr/>
        <p:txBody>
          <a:bodyPr/>
          <a:lstStyle/>
          <a:p>
            <a:r>
              <a:rPr lang="fr-FR" dirty="0"/>
              <a:t>Sigfox est un opérateur de télécommunications français qui est spécialisé dans le M2M via des réseaux bas débit</a:t>
            </a:r>
          </a:p>
          <a:p>
            <a:pPr lvl="1"/>
            <a:r>
              <a:rPr lang="fr-FR" dirty="0"/>
              <a:t>Machine 2 Machine</a:t>
            </a:r>
          </a:p>
          <a:p>
            <a:pPr lvl="1"/>
            <a:r>
              <a:rPr lang="fr-FR" dirty="0"/>
              <a:t>Il contribue à l'Internet des objets en permettant l'interconnexion via une passerelle</a:t>
            </a:r>
          </a:p>
          <a:p>
            <a:pPr lvl="1"/>
            <a:r>
              <a:rPr lang="fr-FR" dirty="0"/>
              <a:t>Sa technologie radio UNB (« Ultra </a:t>
            </a:r>
            <a:r>
              <a:rPr lang="fr-FR" dirty="0" err="1"/>
              <a:t>narrow</a:t>
            </a:r>
            <a:r>
              <a:rPr lang="fr-FR" dirty="0"/>
              <a:t> band ») lui permet de bâtir un réseau cellulaire bas-débit, économe en énergie. Ce type de réseau est déployé dans certaines bandes de fréquences ISM, disponibles mondialement sans licence. En Europe, la bande de fréquence ISM utilisée est celle de 868 MHz</a:t>
            </a:r>
          </a:p>
        </p:txBody>
      </p:sp>
    </p:spTree>
    <p:extLst>
      <p:ext uri="{BB962C8B-B14F-4D97-AF65-F5344CB8AC3E}">
        <p14:creationId xmlns:p14="http://schemas.microsoft.com/office/powerpoint/2010/main" val="3688488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5G</a:t>
            </a:r>
          </a:p>
        </p:txBody>
      </p:sp>
      <p:sp>
        <p:nvSpPr>
          <p:cNvPr id="3" name="Espace réservé du contenu 2"/>
          <p:cNvSpPr>
            <a:spLocks noGrp="1"/>
          </p:cNvSpPr>
          <p:nvPr>
            <p:ph idx="1"/>
          </p:nvPr>
        </p:nvSpPr>
        <p:spPr/>
        <p:txBody>
          <a:bodyPr/>
          <a:lstStyle/>
          <a:p>
            <a:r>
              <a:rPr lang="fr-FR" dirty="0"/>
              <a:t>La 5G permet également d'avoir des transferts bas débit</a:t>
            </a:r>
          </a:p>
        </p:txBody>
      </p:sp>
    </p:spTree>
    <p:extLst>
      <p:ext uri="{BB962C8B-B14F-4D97-AF65-F5344CB8AC3E}">
        <p14:creationId xmlns:p14="http://schemas.microsoft.com/office/powerpoint/2010/main" val="1076349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Bluetooth</a:t>
            </a:r>
          </a:p>
        </p:txBody>
      </p:sp>
      <p:sp>
        <p:nvSpPr>
          <p:cNvPr id="3" name="Espace réservé du contenu 2"/>
          <p:cNvSpPr>
            <a:spLocks noGrp="1"/>
          </p:cNvSpPr>
          <p:nvPr>
            <p:ph idx="1"/>
          </p:nvPr>
        </p:nvSpPr>
        <p:spPr/>
        <p:txBody>
          <a:bodyPr/>
          <a:lstStyle/>
          <a:p>
            <a:r>
              <a:rPr lang="fr-FR" dirty="0"/>
              <a:t>Bluetooth 5 LE </a:t>
            </a:r>
            <a:r>
              <a:rPr lang="fr-FR"/>
              <a:t>est aujourd'hui </a:t>
            </a:r>
            <a:r>
              <a:rPr lang="fr-FR" dirty="0"/>
              <a:t>considéré comme un protocole </a:t>
            </a:r>
            <a:r>
              <a:rPr lang="fr-FR" dirty="0" err="1"/>
              <a:t>IoT</a:t>
            </a:r>
            <a:endParaRPr lang="fr-FR" dirty="0"/>
          </a:p>
        </p:txBody>
      </p:sp>
    </p:spTree>
    <p:extLst>
      <p:ext uri="{BB962C8B-B14F-4D97-AF65-F5344CB8AC3E}">
        <p14:creationId xmlns:p14="http://schemas.microsoft.com/office/powerpoint/2010/main" val="2889796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9C12858-7F59-54FE-D61F-20CDC59346C6}"/>
              </a:ext>
            </a:extLst>
          </p:cNvPr>
          <p:cNvSpPr>
            <a:spLocks noGrp="1"/>
          </p:cNvSpPr>
          <p:nvPr>
            <p:ph type="title"/>
          </p:nvPr>
        </p:nvSpPr>
        <p:spPr/>
        <p:txBody>
          <a:bodyPr/>
          <a:lstStyle/>
          <a:p>
            <a:r>
              <a:rPr lang="fr-FR" dirty="0"/>
              <a:t>NFC</a:t>
            </a:r>
          </a:p>
        </p:txBody>
      </p:sp>
      <p:sp>
        <p:nvSpPr>
          <p:cNvPr id="3" name="Espace réservé du contenu 2">
            <a:extLst>
              <a:ext uri="{FF2B5EF4-FFF2-40B4-BE49-F238E27FC236}">
                <a16:creationId xmlns:a16="http://schemas.microsoft.com/office/drawing/2014/main" id="{CF9906FE-A5FB-49FA-E734-2D2505B1EC5F}"/>
              </a:ext>
            </a:extLst>
          </p:cNvPr>
          <p:cNvSpPr>
            <a:spLocks noGrp="1"/>
          </p:cNvSpPr>
          <p:nvPr>
            <p:ph idx="1"/>
          </p:nvPr>
        </p:nvSpPr>
        <p:spPr/>
        <p:txBody>
          <a:bodyPr/>
          <a:lstStyle/>
          <a:p>
            <a:r>
              <a:rPr lang="fr-FR" dirty="0"/>
              <a:t>Le Near-Field Communication est une technique de communication sans fil à courte portée et à haute fréquence, permettant l'échange d'informations entre des périphériques jusqu'à une distance d'environ 10 cm</a:t>
            </a:r>
          </a:p>
          <a:p>
            <a:pPr lvl="1"/>
            <a:r>
              <a:rPr lang="fr-FR" dirty="0"/>
              <a:t>Cette technique est une extension de la norme RFID qui combinent une carte à puce et un lecteur au sein d'un seul périphérique.</a:t>
            </a:r>
          </a:p>
        </p:txBody>
      </p:sp>
    </p:spTree>
    <p:extLst>
      <p:ext uri="{BB962C8B-B14F-4D97-AF65-F5344CB8AC3E}">
        <p14:creationId xmlns:p14="http://schemas.microsoft.com/office/powerpoint/2010/main" val="2216145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8FA469-1636-D1D5-35E9-E49DFCDB907E}"/>
              </a:ext>
            </a:extLst>
          </p:cNvPr>
          <p:cNvSpPr>
            <a:spLocks noGrp="1"/>
          </p:cNvSpPr>
          <p:nvPr>
            <p:ph type="title"/>
          </p:nvPr>
        </p:nvSpPr>
        <p:spPr/>
        <p:txBody>
          <a:bodyPr/>
          <a:lstStyle/>
          <a:p>
            <a:r>
              <a:rPr lang="fr-FR" dirty="0"/>
              <a:t>IPv6</a:t>
            </a:r>
          </a:p>
        </p:txBody>
      </p:sp>
      <p:sp>
        <p:nvSpPr>
          <p:cNvPr id="3" name="Espace réservé du contenu 2">
            <a:extLst>
              <a:ext uri="{FF2B5EF4-FFF2-40B4-BE49-F238E27FC236}">
                <a16:creationId xmlns:a16="http://schemas.microsoft.com/office/drawing/2014/main" id="{4A9C6425-EDC7-3302-46F7-C6974EB99B3A}"/>
              </a:ext>
            </a:extLst>
          </p:cNvPr>
          <p:cNvSpPr>
            <a:spLocks noGrp="1"/>
          </p:cNvSpPr>
          <p:nvPr>
            <p:ph idx="1"/>
          </p:nvPr>
        </p:nvSpPr>
        <p:spPr/>
        <p:txBody>
          <a:bodyPr/>
          <a:lstStyle/>
          <a:p>
            <a:r>
              <a:rPr lang="fr-FR" dirty="0"/>
              <a:t>IPv6 est une extension de IPv4</a:t>
            </a:r>
          </a:p>
          <a:p>
            <a:r>
              <a:rPr lang="fr-FR" dirty="0"/>
              <a:t>Grâce à des adresses de 128 bits au lieu de 32 bits, IPv6 dispose d'un espace d'adressage bien plus important qu'IPv4 (10^38 adresses)</a:t>
            </a:r>
          </a:p>
          <a:p>
            <a:pPr lvl="1"/>
            <a:r>
              <a:rPr lang="fr-FR" dirty="0"/>
              <a:t>Cette quantité d'adresses considérable permet une plus grande flexibilité dans l'attribution des adresses et une meilleure agrégation des routes dans la table de routage d'Internet</a:t>
            </a:r>
          </a:p>
          <a:p>
            <a:pPr lvl="1"/>
            <a:r>
              <a:rPr lang="fr-FR" dirty="0"/>
              <a:t>La traduction d'adresse, qui a été rendue populaire par le manque d'adresses IPv4, n'est plus nécessaire</a:t>
            </a:r>
          </a:p>
          <a:p>
            <a:pPr lvl="1"/>
            <a:r>
              <a:rPr lang="fr-FR" dirty="0"/>
              <a:t>Pour avoir une idée à l'échelle humaine, on pourrait adresser chaque grain de sable sur la Terre</a:t>
            </a:r>
          </a:p>
        </p:txBody>
      </p:sp>
    </p:spTree>
    <p:extLst>
      <p:ext uri="{BB962C8B-B14F-4D97-AF65-F5344CB8AC3E}">
        <p14:creationId xmlns:p14="http://schemas.microsoft.com/office/powerpoint/2010/main" val="1063774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2FDE8D-FFBE-3C47-AF14-E575980A9B2F}"/>
              </a:ext>
            </a:extLst>
          </p:cNvPr>
          <p:cNvSpPr>
            <a:spLocks noGrp="1"/>
          </p:cNvSpPr>
          <p:nvPr>
            <p:ph type="title"/>
          </p:nvPr>
        </p:nvSpPr>
        <p:spPr/>
        <p:txBody>
          <a:bodyPr/>
          <a:lstStyle/>
          <a:p>
            <a:r>
              <a:rPr lang="fr-FR" dirty="0"/>
              <a:t>Autres technologies</a:t>
            </a:r>
          </a:p>
        </p:txBody>
      </p:sp>
      <p:sp>
        <p:nvSpPr>
          <p:cNvPr id="3" name="Espace réservé du contenu 2">
            <a:extLst>
              <a:ext uri="{FF2B5EF4-FFF2-40B4-BE49-F238E27FC236}">
                <a16:creationId xmlns:a16="http://schemas.microsoft.com/office/drawing/2014/main" id="{D5087A00-DF54-E9B0-95FB-A63AC3FDEE01}"/>
              </a:ext>
            </a:extLst>
          </p:cNvPr>
          <p:cNvSpPr>
            <a:spLocks noGrp="1"/>
          </p:cNvSpPr>
          <p:nvPr>
            <p:ph idx="1"/>
          </p:nvPr>
        </p:nvSpPr>
        <p:spPr/>
        <p:txBody>
          <a:bodyPr/>
          <a:lstStyle/>
          <a:p>
            <a:r>
              <a:rPr lang="fr-FR" dirty="0"/>
              <a:t>Nanotechnologies</a:t>
            </a:r>
          </a:p>
          <a:p>
            <a:r>
              <a:rPr lang="fr-FR" dirty="0"/>
              <a:t>Robotique</a:t>
            </a:r>
          </a:p>
          <a:p>
            <a:r>
              <a:rPr lang="fr-FR" dirty="0"/>
              <a:t>Réalité augmentée (VR)</a:t>
            </a:r>
          </a:p>
          <a:p>
            <a:endParaRPr lang="fr-FR" dirty="0"/>
          </a:p>
        </p:txBody>
      </p:sp>
    </p:spTree>
    <p:extLst>
      <p:ext uri="{BB962C8B-B14F-4D97-AF65-F5344CB8AC3E}">
        <p14:creationId xmlns:p14="http://schemas.microsoft.com/office/powerpoint/2010/main" val="2602808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E6E39A-65AD-29FD-C0D4-777D7C0629F6}"/>
              </a:ext>
            </a:extLst>
          </p:cNvPr>
          <p:cNvSpPr>
            <a:spLocks noGrp="1"/>
          </p:cNvSpPr>
          <p:nvPr>
            <p:ph type="title"/>
          </p:nvPr>
        </p:nvSpPr>
        <p:spPr/>
        <p:txBody>
          <a:bodyPr/>
          <a:lstStyle/>
          <a:p>
            <a:r>
              <a:rPr lang="fr-FR" dirty="0"/>
              <a:t>Identification</a:t>
            </a:r>
          </a:p>
        </p:txBody>
      </p:sp>
      <p:sp>
        <p:nvSpPr>
          <p:cNvPr id="3" name="Espace réservé du contenu 2">
            <a:extLst>
              <a:ext uri="{FF2B5EF4-FFF2-40B4-BE49-F238E27FC236}">
                <a16:creationId xmlns:a16="http://schemas.microsoft.com/office/drawing/2014/main" id="{34F2F9D3-83D5-9D6C-2ADA-C6C83F0DD85E}"/>
              </a:ext>
            </a:extLst>
          </p:cNvPr>
          <p:cNvSpPr>
            <a:spLocks noGrp="1"/>
          </p:cNvSpPr>
          <p:nvPr>
            <p:ph idx="1"/>
          </p:nvPr>
        </p:nvSpPr>
        <p:spPr/>
        <p:txBody>
          <a:bodyPr/>
          <a:lstStyle/>
          <a:p>
            <a:r>
              <a:rPr lang="fr-FR" dirty="0"/>
              <a:t>Il est essentiel de pouvoir identifier un </a:t>
            </a:r>
            <a:r>
              <a:rPr lang="fr-FR" dirty="0" err="1"/>
              <a:t>IoTde</a:t>
            </a:r>
            <a:r>
              <a:rPr lang="fr-FR" dirty="0"/>
              <a:t> manière unique (au monde ?)</a:t>
            </a:r>
          </a:p>
          <a:p>
            <a:r>
              <a:rPr lang="fr-FR" dirty="0"/>
              <a:t>Toutes ces technologies le permettent</a:t>
            </a:r>
          </a:p>
          <a:p>
            <a:r>
              <a:rPr lang="fr-FR" dirty="0"/>
              <a:t>Certaines technologies permettent également</a:t>
            </a:r>
          </a:p>
          <a:p>
            <a:pPr lvl="1"/>
            <a:r>
              <a:rPr lang="fr-FR" dirty="0"/>
              <a:t>La localisation</a:t>
            </a:r>
          </a:p>
          <a:p>
            <a:pPr lvl="1"/>
            <a:r>
              <a:rPr lang="fr-FR" dirty="0"/>
              <a:t>La capture</a:t>
            </a:r>
          </a:p>
        </p:txBody>
      </p:sp>
    </p:spTree>
    <p:extLst>
      <p:ext uri="{BB962C8B-B14F-4D97-AF65-F5344CB8AC3E}">
        <p14:creationId xmlns:p14="http://schemas.microsoft.com/office/powerpoint/2010/main" val="2623119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8BB500-9DD2-5073-2285-EF90A9D358AA}"/>
              </a:ext>
            </a:extLst>
          </p:cNvPr>
          <p:cNvSpPr>
            <a:spLocks noGrp="1"/>
          </p:cNvSpPr>
          <p:nvPr>
            <p:ph type="title"/>
          </p:nvPr>
        </p:nvSpPr>
        <p:spPr/>
        <p:txBody>
          <a:bodyPr/>
          <a:lstStyle/>
          <a:p>
            <a:r>
              <a:rPr lang="fr-FR" dirty="0"/>
              <a:t>Fonctionnalité d'inférence</a:t>
            </a:r>
          </a:p>
        </p:txBody>
      </p:sp>
      <p:sp>
        <p:nvSpPr>
          <p:cNvPr id="3" name="Espace réservé du contenu 2">
            <a:extLst>
              <a:ext uri="{FF2B5EF4-FFF2-40B4-BE49-F238E27FC236}">
                <a16:creationId xmlns:a16="http://schemas.microsoft.com/office/drawing/2014/main" id="{25ABEF89-B29E-BB61-C0B8-EC1430074AE4}"/>
              </a:ext>
            </a:extLst>
          </p:cNvPr>
          <p:cNvSpPr>
            <a:spLocks noGrp="1"/>
          </p:cNvSpPr>
          <p:nvPr>
            <p:ph idx="1"/>
          </p:nvPr>
        </p:nvSpPr>
        <p:spPr/>
        <p:txBody>
          <a:bodyPr/>
          <a:lstStyle/>
          <a:p>
            <a:r>
              <a:rPr lang="fr-FR" dirty="0"/>
              <a:t>Capacité d’un système à analyser des données collectées par les capteurs et à en déduire des informations ou des états non directement mesurés</a:t>
            </a:r>
          </a:p>
          <a:p>
            <a:pPr lvl="1"/>
            <a:r>
              <a:rPr lang="fr-FR" dirty="0"/>
              <a:t>À partir de la température et de l’humidité, le système infère un risque de corrosion ou un besoin d’entretien</a:t>
            </a:r>
          </a:p>
        </p:txBody>
      </p:sp>
    </p:spTree>
    <p:extLst>
      <p:ext uri="{BB962C8B-B14F-4D97-AF65-F5344CB8AC3E}">
        <p14:creationId xmlns:p14="http://schemas.microsoft.com/office/powerpoint/2010/main" val="601120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811014-1628-69E9-584D-1CDD958B6A42}"/>
              </a:ext>
            </a:extLst>
          </p:cNvPr>
          <p:cNvSpPr>
            <a:spLocks noGrp="1"/>
          </p:cNvSpPr>
          <p:nvPr>
            <p:ph type="title"/>
          </p:nvPr>
        </p:nvSpPr>
        <p:spPr/>
        <p:txBody>
          <a:bodyPr/>
          <a:lstStyle/>
          <a:p>
            <a:r>
              <a:rPr lang="fr-FR" dirty="0"/>
              <a:t>Fonctionnalités de décision</a:t>
            </a:r>
          </a:p>
        </p:txBody>
      </p:sp>
      <p:sp>
        <p:nvSpPr>
          <p:cNvPr id="3" name="Espace réservé du contenu 2">
            <a:extLst>
              <a:ext uri="{FF2B5EF4-FFF2-40B4-BE49-F238E27FC236}">
                <a16:creationId xmlns:a16="http://schemas.microsoft.com/office/drawing/2014/main" id="{8DEB352C-92E4-7A81-56CA-62133B131286}"/>
              </a:ext>
            </a:extLst>
          </p:cNvPr>
          <p:cNvSpPr>
            <a:spLocks noGrp="1"/>
          </p:cNvSpPr>
          <p:nvPr>
            <p:ph idx="1"/>
          </p:nvPr>
        </p:nvSpPr>
        <p:spPr/>
        <p:txBody>
          <a:bodyPr/>
          <a:lstStyle/>
          <a:p>
            <a:r>
              <a:rPr lang="fr-FR" dirty="0"/>
              <a:t>Utilisation des résultats de l’inférence pour choisir la meilleure action selon des règles, des modèles ou des algorithmes</a:t>
            </a:r>
          </a:p>
          <a:p>
            <a:pPr lvl="1"/>
            <a:r>
              <a:rPr lang="fr-FR" dirty="0"/>
              <a:t>Peut être basé sur IA</a:t>
            </a:r>
          </a:p>
          <a:p>
            <a:pPr lvl="1"/>
            <a:r>
              <a:rPr lang="fr-FR" dirty="0"/>
              <a:t>Si le risque de panne est élevé, le système décide de planifier une maintenance ou de réduire la charge de l’équipement</a:t>
            </a:r>
          </a:p>
        </p:txBody>
      </p:sp>
    </p:spTree>
    <p:extLst>
      <p:ext uri="{BB962C8B-B14F-4D97-AF65-F5344CB8AC3E}">
        <p14:creationId xmlns:p14="http://schemas.microsoft.com/office/powerpoint/2010/main" val="300922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4FAC89-43F5-80B1-71AA-D57CA88B5E85}"/>
              </a:ext>
            </a:extLst>
          </p:cNvPr>
          <p:cNvSpPr>
            <a:spLocks noGrp="1"/>
          </p:cNvSpPr>
          <p:nvPr>
            <p:ph type="title"/>
          </p:nvPr>
        </p:nvSpPr>
        <p:spPr/>
        <p:txBody>
          <a:bodyPr/>
          <a:lstStyle/>
          <a:p>
            <a:r>
              <a:rPr lang="fr-FR" dirty="0"/>
              <a:t>Fonctionnalités de déclenchement à distance</a:t>
            </a:r>
          </a:p>
        </p:txBody>
      </p:sp>
      <p:sp>
        <p:nvSpPr>
          <p:cNvPr id="3" name="Espace réservé du contenu 2">
            <a:extLst>
              <a:ext uri="{FF2B5EF4-FFF2-40B4-BE49-F238E27FC236}">
                <a16:creationId xmlns:a16="http://schemas.microsoft.com/office/drawing/2014/main" id="{EAF31DB9-6975-8C16-F3DE-36BFB15FBE76}"/>
              </a:ext>
            </a:extLst>
          </p:cNvPr>
          <p:cNvSpPr>
            <a:spLocks noGrp="1"/>
          </p:cNvSpPr>
          <p:nvPr>
            <p:ph idx="1"/>
          </p:nvPr>
        </p:nvSpPr>
        <p:spPr/>
        <p:txBody>
          <a:bodyPr/>
          <a:lstStyle/>
          <a:p>
            <a:r>
              <a:rPr lang="fr-FR" dirty="0"/>
              <a:t>Capacité à exécuter une action à distance via le réseau, sans intervention physique sur site</a:t>
            </a:r>
          </a:p>
          <a:p>
            <a:pPr lvl="1"/>
            <a:r>
              <a:rPr lang="fr-FR" dirty="0"/>
              <a:t>Envoyer une commande pour arrêter une machine, ajuster la température d’un bâtiment ou activer un système d’alerte</a:t>
            </a:r>
          </a:p>
          <a:p>
            <a:pPr lvl="1"/>
            <a:r>
              <a:rPr lang="fr-FR" dirty="0"/>
              <a:t>Activer un système de mesure météo à distance </a:t>
            </a:r>
            <a:r>
              <a:rPr lang="fr-FR"/>
              <a:t>puis l'endormir</a:t>
            </a:r>
            <a:endParaRPr lang="fr-FR" dirty="0"/>
          </a:p>
        </p:txBody>
      </p:sp>
    </p:spTree>
    <p:extLst>
      <p:ext uri="{BB962C8B-B14F-4D97-AF65-F5344CB8AC3E}">
        <p14:creationId xmlns:p14="http://schemas.microsoft.com/office/powerpoint/2010/main" val="264269711"/>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3029</TotalTime>
  <Words>705</Words>
  <Application>Microsoft Office PowerPoint</Application>
  <PresentationFormat>Affichage à l'écran (4:3)</PresentationFormat>
  <Paragraphs>72</Paragraphs>
  <Slides>18</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18</vt:i4>
      </vt:variant>
    </vt:vector>
  </HeadingPairs>
  <TitlesOfParts>
    <vt:vector size="22" baseType="lpstr">
      <vt:lpstr>Arial</vt:lpstr>
      <vt:lpstr>Monotype Sorts</vt:lpstr>
      <vt:lpstr>Times New Roman</vt:lpstr>
      <vt:lpstr>cvc</vt:lpstr>
      <vt:lpstr>Présentation PowerPoint</vt:lpstr>
      <vt:lpstr>Le défis des protocoles IoT</vt:lpstr>
      <vt:lpstr>LoRa</vt:lpstr>
      <vt:lpstr>LoRa</vt:lpstr>
      <vt:lpstr>LoRaWAN</vt:lpstr>
      <vt:lpstr>Arduino LoRaWAN</vt:lpstr>
      <vt:lpstr>Raspberry Lora</vt:lpstr>
      <vt:lpstr>RFID</vt:lpstr>
      <vt:lpstr>Sigfox</vt:lpstr>
      <vt:lpstr>5G</vt:lpstr>
      <vt:lpstr>Bluetooth</vt:lpstr>
      <vt:lpstr>NFC</vt:lpstr>
      <vt:lpstr>IPv6</vt:lpstr>
      <vt:lpstr>Autres technologies</vt:lpstr>
      <vt:lpstr>Identification</vt:lpstr>
      <vt:lpstr>Fonctionnalité d'inférence</vt:lpstr>
      <vt:lpstr>Fonctionnalités de décision</vt:lpstr>
      <vt:lpstr>Fonctionnalités de déclenchement à distance</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210</cp:revision>
  <dcterms:created xsi:type="dcterms:W3CDTF">2000-04-10T19:33:12Z</dcterms:created>
  <dcterms:modified xsi:type="dcterms:W3CDTF">2025-11-28T14:20:49Z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