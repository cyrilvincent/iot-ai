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2"/>
  </p:notesMasterIdLst>
  <p:handoutMasterIdLst>
    <p:handoutMasterId r:id="rId23"/>
  </p:handoutMasterIdLst>
  <p:sldIdLst>
    <p:sldId id="264" r:id="rId2"/>
    <p:sldId id="266" r:id="rId3"/>
    <p:sldId id="282" r:id="rId4"/>
    <p:sldId id="283" r:id="rId5"/>
    <p:sldId id="284" r:id="rId6"/>
    <p:sldId id="285"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90" autoAdjust="0"/>
  </p:normalViewPr>
  <p:slideViewPr>
    <p:cSldViewPr>
      <p:cViewPr varScale="1">
        <p:scale>
          <a:sx n="78" d="100"/>
          <a:sy n="78" d="100"/>
        </p:scale>
        <p:origin x="1622"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bmp"/><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3107495" y="2132856"/>
            <a:ext cx="3211135" cy="646331"/>
          </a:xfrm>
          <a:prstGeom prst="rect">
            <a:avLst/>
          </a:prstGeom>
          <a:noFill/>
        </p:spPr>
        <p:txBody>
          <a:bodyPr wrap="none" rtlCol="0">
            <a:spAutoFit/>
          </a:bodyPr>
          <a:lstStyle/>
          <a:p>
            <a:r>
              <a:rPr lang="fr-FR" sz="3600" dirty="0" err="1"/>
              <a:t>Deep</a:t>
            </a:r>
            <a:r>
              <a:rPr lang="fr-FR" sz="3600" dirty="0"/>
              <a:t> Learning</a:t>
            </a:r>
          </a:p>
        </p:txBody>
      </p:sp>
      <p:sp>
        <p:nvSpPr>
          <p:cNvPr id="4" name="Sous-titre 3">
            <a:extLst>
              <a:ext uri="{FF2B5EF4-FFF2-40B4-BE49-F238E27FC236}">
                <a16:creationId xmlns:a16="http://schemas.microsoft.com/office/drawing/2014/main" id="{064A7E8C-15F4-61F7-2B29-D562CB325CC1}"/>
              </a:ext>
            </a:extLst>
          </p:cNvPr>
          <p:cNvSpPr>
            <a:spLocks noGrp="1"/>
          </p:cNvSpPr>
          <p:nvPr>
            <p:ph type="subTitle" idx="1"/>
          </p:nvPr>
        </p:nvSpPr>
        <p:spPr/>
        <p:txBody>
          <a:bodyPr/>
          <a:lstStyle/>
          <a:p>
            <a:r>
              <a:rPr lang="fr-FR" dirty="0"/>
              <a:t>RNN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437DCD-D806-3BF8-90CA-E2C886656F58}"/>
              </a:ext>
            </a:extLst>
          </p:cNvPr>
          <p:cNvSpPr>
            <a:spLocks noGrp="1"/>
          </p:cNvSpPr>
          <p:nvPr>
            <p:ph type="title"/>
          </p:nvPr>
        </p:nvSpPr>
        <p:spPr/>
        <p:txBody>
          <a:bodyPr/>
          <a:lstStyle/>
          <a:p>
            <a:r>
              <a:rPr lang="fr-FR" dirty="0"/>
              <a:t>Le Temps</a:t>
            </a:r>
          </a:p>
        </p:txBody>
      </p:sp>
      <p:sp>
        <p:nvSpPr>
          <p:cNvPr id="3" name="Espace réservé du contenu 2">
            <a:extLst>
              <a:ext uri="{FF2B5EF4-FFF2-40B4-BE49-F238E27FC236}">
                <a16:creationId xmlns:a16="http://schemas.microsoft.com/office/drawing/2014/main" id="{AB2870A8-2792-E86E-57C4-3E1A8D7C4E3A}"/>
              </a:ext>
            </a:extLst>
          </p:cNvPr>
          <p:cNvSpPr>
            <a:spLocks noGrp="1"/>
          </p:cNvSpPr>
          <p:nvPr>
            <p:ph idx="1"/>
          </p:nvPr>
        </p:nvSpPr>
        <p:spPr/>
        <p:txBody>
          <a:bodyPr/>
          <a:lstStyle/>
          <a:p>
            <a:r>
              <a:rPr lang="fr-FR" dirty="0"/>
              <a:t>Les réseaux MLP et CNN ne tiennent pas compte du temps</a:t>
            </a:r>
          </a:p>
          <a:p>
            <a:pPr lvl="1"/>
            <a:r>
              <a:rPr lang="fr-FR" dirty="0"/>
              <a:t>Ils sont </a:t>
            </a:r>
            <a:r>
              <a:rPr lang="fr-FR" dirty="0" err="1"/>
              <a:t>stateless</a:t>
            </a:r>
            <a:endParaRPr lang="fr-FR" dirty="0"/>
          </a:p>
          <a:p>
            <a:pPr lvl="1"/>
            <a:r>
              <a:rPr lang="fr-FR" dirty="0"/>
              <a:t>En ML il a fallu transformer des </a:t>
            </a:r>
            <a:r>
              <a:rPr lang="fr-FR" dirty="0" err="1"/>
              <a:t>series</a:t>
            </a:r>
            <a:r>
              <a:rPr lang="fr-FR" dirty="0"/>
              <a:t> temporelles en </a:t>
            </a:r>
            <a:r>
              <a:rPr lang="fr-FR" dirty="0" err="1"/>
              <a:t>features</a:t>
            </a:r>
            <a:endParaRPr lang="fr-FR" dirty="0"/>
          </a:p>
          <a:p>
            <a:endParaRPr lang="fr-FR" dirty="0"/>
          </a:p>
          <a:p>
            <a:pPr lvl="1"/>
            <a:endParaRPr lang="fr-FR" dirty="0"/>
          </a:p>
        </p:txBody>
      </p:sp>
    </p:spTree>
    <p:extLst>
      <p:ext uri="{BB962C8B-B14F-4D97-AF65-F5344CB8AC3E}">
        <p14:creationId xmlns:p14="http://schemas.microsoft.com/office/powerpoint/2010/main" val="1565731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6A26A6-F933-D264-06CE-E906C3C42791}"/>
              </a:ext>
            </a:extLst>
          </p:cNvPr>
          <p:cNvSpPr>
            <a:spLocks noGrp="1"/>
          </p:cNvSpPr>
          <p:nvPr>
            <p:ph type="title"/>
          </p:nvPr>
        </p:nvSpPr>
        <p:spPr/>
        <p:txBody>
          <a:bodyPr/>
          <a:lstStyle/>
          <a:p>
            <a:r>
              <a:rPr lang="fr-FR" dirty="0"/>
              <a:t>Traitement du signal temporel</a:t>
            </a:r>
          </a:p>
        </p:txBody>
      </p:sp>
      <p:sp>
        <p:nvSpPr>
          <p:cNvPr id="3" name="Espace réservé du contenu 2">
            <a:extLst>
              <a:ext uri="{FF2B5EF4-FFF2-40B4-BE49-F238E27FC236}">
                <a16:creationId xmlns:a16="http://schemas.microsoft.com/office/drawing/2014/main" id="{9F6417E7-E3D3-248E-4C83-490CD8575505}"/>
              </a:ext>
            </a:extLst>
          </p:cNvPr>
          <p:cNvSpPr>
            <a:spLocks noGrp="1"/>
          </p:cNvSpPr>
          <p:nvPr>
            <p:ph idx="1"/>
          </p:nvPr>
        </p:nvSpPr>
        <p:spPr/>
        <p:txBody>
          <a:bodyPr/>
          <a:lstStyle/>
          <a:p>
            <a:r>
              <a:rPr lang="fr-FR" dirty="0"/>
              <a:t>La 1</a:t>
            </a:r>
            <a:r>
              <a:rPr lang="fr-FR" baseline="30000" dirty="0"/>
              <a:t>ère</a:t>
            </a:r>
            <a:r>
              <a:rPr lang="fr-FR" dirty="0"/>
              <a:t> solution consiste transformer la série temporelle en matrice</a:t>
            </a:r>
          </a:p>
          <a:p>
            <a:pPr lvl="1"/>
            <a:r>
              <a:rPr lang="fr-FR" dirty="0"/>
              <a:t>Prendre un pas de temps</a:t>
            </a:r>
          </a:p>
          <a:p>
            <a:pPr lvl="1"/>
            <a:r>
              <a:rPr lang="fr-FR" dirty="0"/>
              <a:t>Afficher la série comme une image</a:t>
            </a:r>
          </a:p>
          <a:p>
            <a:pPr lvl="1"/>
            <a:r>
              <a:rPr lang="fr-FR" dirty="0"/>
              <a:t>Puis traiter en CNN</a:t>
            </a:r>
          </a:p>
          <a:p>
            <a:endParaRPr lang="fr-FR" dirty="0"/>
          </a:p>
        </p:txBody>
      </p:sp>
      <p:pic>
        <p:nvPicPr>
          <p:cNvPr id="5" name="Image 4">
            <a:extLst>
              <a:ext uri="{FF2B5EF4-FFF2-40B4-BE49-F238E27FC236}">
                <a16:creationId xmlns:a16="http://schemas.microsoft.com/office/drawing/2014/main" id="{E13953A8-4CFE-4ABF-C425-B78086A4CBCD}"/>
              </a:ext>
            </a:extLst>
          </p:cNvPr>
          <p:cNvPicPr>
            <a:picLocks noChangeAspect="1"/>
          </p:cNvPicPr>
          <p:nvPr/>
        </p:nvPicPr>
        <p:blipFill>
          <a:blip r:embed="rId2"/>
          <a:stretch>
            <a:fillRect/>
          </a:stretch>
        </p:blipFill>
        <p:spPr>
          <a:xfrm>
            <a:off x="3419872" y="3818325"/>
            <a:ext cx="2187130" cy="1607959"/>
          </a:xfrm>
          <a:prstGeom prst="rect">
            <a:avLst/>
          </a:prstGeom>
        </p:spPr>
      </p:pic>
    </p:spTree>
    <p:extLst>
      <p:ext uri="{BB962C8B-B14F-4D97-AF65-F5344CB8AC3E}">
        <p14:creationId xmlns:p14="http://schemas.microsoft.com/office/powerpoint/2010/main" val="1755190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A04E44-937E-90B1-DF6A-692BAB5B7682}"/>
              </a:ext>
            </a:extLst>
          </p:cNvPr>
          <p:cNvSpPr>
            <a:spLocks noGrp="1"/>
          </p:cNvSpPr>
          <p:nvPr>
            <p:ph type="title"/>
          </p:nvPr>
        </p:nvSpPr>
        <p:spPr/>
        <p:txBody>
          <a:bodyPr/>
          <a:lstStyle/>
          <a:p>
            <a:r>
              <a:rPr lang="fr-FR" dirty="0"/>
              <a:t>Transformée de Fourier</a:t>
            </a:r>
          </a:p>
        </p:txBody>
      </p:sp>
      <p:sp>
        <p:nvSpPr>
          <p:cNvPr id="3" name="Espace réservé du contenu 2">
            <a:extLst>
              <a:ext uri="{FF2B5EF4-FFF2-40B4-BE49-F238E27FC236}">
                <a16:creationId xmlns:a16="http://schemas.microsoft.com/office/drawing/2014/main" id="{0FA52EEC-B5DE-C5E5-D557-9EB6A2E33187}"/>
              </a:ext>
            </a:extLst>
          </p:cNvPr>
          <p:cNvSpPr>
            <a:spLocks noGrp="1"/>
          </p:cNvSpPr>
          <p:nvPr>
            <p:ph idx="1"/>
          </p:nvPr>
        </p:nvSpPr>
        <p:spPr>
          <a:xfrm>
            <a:off x="116597" y="1134372"/>
            <a:ext cx="8766051" cy="5040560"/>
          </a:xfrm>
        </p:spPr>
        <p:txBody>
          <a:bodyPr/>
          <a:lstStyle/>
          <a:p>
            <a:r>
              <a:rPr lang="fr-FR" dirty="0"/>
              <a:t>Un traitement du signal par une transformée de </a:t>
            </a:r>
            <a:r>
              <a:rPr lang="fr-FR" dirty="0" err="1"/>
              <a:t>fourier</a:t>
            </a:r>
            <a:r>
              <a:rPr lang="fr-FR" dirty="0"/>
              <a:t> va transformer la série temporelle en série de fréquence</a:t>
            </a:r>
          </a:p>
          <a:p>
            <a:r>
              <a:rPr lang="fr-FR" dirty="0"/>
              <a:t>Il est alors possible d'afficher la série par bande de fréquence</a:t>
            </a:r>
          </a:p>
          <a:p>
            <a:endParaRPr lang="fr-FR" dirty="0"/>
          </a:p>
        </p:txBody>
      </p:sp>
      <p:pic>
        <p:nvPicPr>
          <p:cNvPr id="1026" name="Picture 2">
            <a:extLst>
              <a:ext uri="{FF2B5EF4-FFF2-40B4-BE49-F238E27FC236}">
                <a16:creationId xmlns:a16="http://schemas.microsoft.com/office/drawing/2014/main" id="{6C951C1B-9F15-0935-2406-AB656725FC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5035" y="3026777"/>
            <a:ext cx="4210050" cy="2695575"/>
          </a:xfrm>
          <a:prstGeom prst="rect">
            <a:avLst/>
          </a:prstGeom>
          <a:noFill/>
          <a:extLst>
            <a:ext uri="{909E8E84-426E-40DD-AFC4-6F175D3DCCD1}">
              <a14:hiddenFill xmlns:a14="http://schemas.microsoft.com/office/drawing/2010/main">
                <a:solidFill>
                  <a:srgbClr val="FFFFFF"/>
                </a:solidFill>
              </a14:hiddenFill>
            </a:ext>
          </a:extLst>
        </p:spPr>
      </p:pic>
      <p:pic>
        <p:nvPicPr>
          <p:cNvPr id="5" name="Espace réservé du contenu 4">
            <a:extLst>
              <a:ext uri="{FF2B5EF4-FFF2-40B4-BE49-F238E27FC236}">
                <a16:creationId xmlns:a16="http://schemas.microsoft.com/office/drawing/2014/main" id="{EEFF860F-865D-843C-50B3-065A815BB9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flipH="1">
            <a:off x="3913825" y="5692833"/>
            <a:ext cx="1316350" cy="877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8888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F4751C-EE54-8749-7AA9-5B089095BE8A}"/>
              </a:ext>
            </a:extLst>
          </p:cNvPr>
          <p:cNvSpPr>
            <a:spLocks noGrp="1"/>
          </p:cNvSpPr>
          <p:nvPr>
            <p:ph type="title"/>
          </p:nvPr>
        </p:nvSpPr>
        <p:spPr/>
        <p:txBody>
          <a:bodyPr/>
          <a:lstStyle/>
          <a:p>
            <a:r>
              <a:rPr lang="fr-FR" dirty="0"/>
              <a:t>TP 25</a:t>
            </a:r>
          </a:p>
        </p:txBody>
      </p:sp>
      <p:sp>
        <p:nvSpPr>
          <p:cNvPr id="3" name="Espace réservé du contenu 2">
            <a:extLst>
              <a:ext uri="{FF2B5EF4-FFF2-40B4-BE49-F238E27FC236}">
                <a16:creationId xmlns:a16="http://schemas.microsoft.com/office/drawing/2014/main" id="{383691EF-798E-B7F6-A0C9-7E2FD9F07159}"/>
              </a:ext>
            </a:extLst>
          </p:cNvPr>
          <p:cNvSpPr>
            <a:spLocks noGrp="1"/>
          </p:cNvSpPr>
          <p:nvPr>
            <p:ph idx="1"/>
          </p:nvPr>
        </p:nvSpPr>
        <p:spPr/>
        <p:txBody>
          <a:bodyPr/>
          <a:lstStyle/>
          <a:p>
            <a:r>
              <a:rPr lang="fr-FR" dirty="0"/>
              <a:t>HAR CNN Démo</a:t>
            </a:r>
          </a:p>
        </p:txBody>
      </p:sp>
    </p:spTree>
    <p:extLst>
      <p:ext uri="{BB962C8B-B14F-4D97-AF65-F5344CB8AC3E}">
        <p14:creationId xmlns:p14="http://schemas.microsoft.com/office/powerpoint/2010/main" val="500441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9614BC-5C6F-FCB6-8FA2-F3077E85F708}"/>
              </a:ext>
            </a:extLst>
          </p:cNvPr>
          <p:cNvSpPr>
            <a:spLocks noGrp="1"/>
          </p:cNvSpPr>
          <p:nvPr>
            <p:ph type="title"/>
          </p:nvPr>
        </p:nvSpPr>
        <p:spPr/>
        <p:txBody>
          <a:bodyPr/>
          <a:lstStyle/>
          <a:p>
            <a:r>
              <a:rPr lang="fr-FR" dirty="0"/>
              <a:t>Conv1d</a:t>
            </a:r>
          </a:p>
        </p:txBody>
      </p:sp>
      <p:sp>
        <p:nvSpPr>
          <p:cNvPr id="3" name="Espace réservé du contenu 2">
            <a:extLst>
              <a:ext uri="{FF2B5EF4-FFF2-40B4-BE49-F238E27FC236}">
                <a16:creationId xmlns:a16="http://schemas.microsoft.com/office/drawing/2014/main" id="{9194C07F-8E12-4E72-3292-E09946B75272}"/>
              </a:ext>
            </a:extLst>
          </p:cNvPr>
          <p:cNvSpPr>
            <a:spLocks noGrp="1"/>
          </p:cNvSpPr>
          <p:nvPr>
            <p:ph idx="1"/>
          </p:nvPr>
        </p:nvSpPr>
        <p:spPr/>
        <p:txBody>
          <a:bodyPr/>
          <a:lstStyle/>
          <a:p>
            <a:r>
              <a:rPr lang="fr-FR" dirty="0"/>
              <a:t>Conv1d fonctionne comme CNN mais sur un vecteur</a:t>
            </a:r>
          </a:p>
          <a:p>
            <a:pPr lvl="1"/>
            <a:r>
              <a:rPr lang="fr-FR" dirty="0"/>
              <a:t>C'est ce qui est utilisé pour les moyennes mobiles</a:t>
            </a:r>
          </a:p>
        </p:txBody>
      </p:sp>
      <p:pic>
        <p:nvPicPr>
          <p:cNvPr id="5" name="Image 4">
            <a:extLst>
              <a:ext uri="{FF2B5EF4-FFF2-40B4-BE49-F238E27FC236}">
                <a16:creationId xmlns:a16="http://schemas.microsoft.com/office/drawing/2014/main" id="{C1DF0519-CEEF-D60D-E993-23F9550A187D}"/>
              </a:ext>
            </a:extLst>
          </p:cNvPr>
          <p:cNvPicPr>
            <a:picLocks noChangeAspect="1"/>
          </p:cNvPicPr>
          <p:nvPr/>
        </p:nvPicPr>
        <p:blipFill>
          <a:blip r:embed="rId2"/>
          <a:stretch>
            <a:fillRect/>
          </a:stretch>
        </p:blipFill>
        <p:spPr>
          <a:xfrm>
            <a:off x="1573270" y="2879901"/>
            <a:ext cx="5997460" cy="3886537"/>
          </a:xfrm>
          <a:prstGeom prst="rect">
            <a:avLst/>
          </a:prstGeom>
        </p:spPr>
      </p:pic>
    </p:spTree>
    <p:extLst>
      <p:ext uri="{BB962C8B-B14F-4D97-AF65-F5344CB8AC3E}">
        <p14:creationId xmlns:p14="http://schemas.microsoft.com/office/powerpoint/2010/main" val="1551474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26E813-A726-CFCA-02AE-D16252A15CAF}"/>
              </a:ext>
            </a:extLst>
          </p:cNvPr>
          <p:cNvSpPr>
            <a:spLocks noGrp="1"/>
          </p:cNvSpPr>
          <p:nvPr>
            <p:ph type="title"/>
          </p:nvPr>
        </p:nvSpPr>
        <p:spPr/>
        <p:txBody>
          <a:bodyPr/>
          <a:lstStyle/>
          <a:p>
            <a:r>
              <a:rPr lang="fr-FR" dirty="0"/>
              <a:t>RNN</a:t>
            </a:r>
          </a:p>
        </p:txBody>
      </p:sp>
      <p:sp>
        <p:nvSpPr>
          <p:cNvPr id="3" name="Espace réservé du contenu 2">
            <a:extLst>
              <a:ext uri="{FF2B5EF4-FFF2-40B4-BE49-F238E27FC236}">
                <a16:creationId xmlns:a16="http://schemas.microsoft.com/office/drawing/2014/main" id="{1BDD0FB2-5022-CF3D-AE89-FD4935F1B631}"/>
              </a:ext>
            </a:extLst>
          </p:cNvPr>
          <p:cNvSpPr>
            <a:spLocks noGrp="1"/>
          </p:cNvSpPr>
          <p:nvPr>
            <p:ph idx="1"/>
          </p:nvPr>
        </p:nvSpPr>
        <p:spPr/>
        <p:txBody>
          <a:bodyPr/>
          <a:lstStyle/>
          <a:p>
            <a:r>
              <a:rPr lang="fr-FR" dirty="0"/>
              <a:t>Alors que les réseaux d’apprentissage profond traditionnels supposent que les entrées et les sorties sont indépendantes les unes des autres, la sortie des RNN dépend des éléments antérieurs de la séquence</a:t>
            </a:r>
          </a:p>
          <a:p>
            <a:pPr lvl="1"/>
            <a:r>
              <a:rPr lang="fr-FR" dirty="0"/>
              <a:t>Bien que les événements futurs soient également utiles pour déterminer la sortie d’une séquence donnée, les réseaux neuronaux récurrents unidirectionnels ne peuvent pas tenir compte de ces événements dans leurs prédictions</a:t>
            </a:r>
          </a:p>
        </p:txBody>
      </p:sp>
    </p:spTree>
    <p:extLst>
      <p:ext uri="{BB962C8B-B14F-4D97-AF65-F5344CB8AC3E}">
        <p14:creationId xmlns:p14="http://schemas.microsoft.com/office/powerpoint/2010/main" val="2168500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8F1F65-BE37-7D6A-BE99-319AF8FE5ADC}"/>
              </a:ext>
            </a:extLst>
          </p:cNvPr>
          <p:cNvSpPr>
            <a:spLocks noGrp="1"/>
          </p:cNvSpPr>
          <p:nvPr>
            <p:ph type="title"/>
          </p:nvPr>
        </p:nvSpPr>
        <p:spPr/>
        <p:txBody>
          <a:bodyPr/>
          <a:lstStyle/>
          <a:p>
            <a:r>
              <a:rPr lang="fr-FR" dirty="0"/>
              <a:t>RNN</a:t>
            </a:r>
          </a:p>
        </p:txBody>
      </p:sp>
      <p:sp>
        <p:nvSpPr>
          <p:cNvPr id="3" name="Espace réservé du contenu 2">
            <a:extLst>
              <a:ext uri="{FF2B5EF4-FFF2-40B4-BE49-F238E27FC236}">
                <a16:creationId xmlns:a16="http://schemas.microsoft.com/office/drawing/2014/main" id="{7C2C579D-C9C5-6F0A-5A3B-40B8890BF33B}"/>
              </a:ext>
            </a:extLst>
          </p:cNvPr>
          <p:cNvSpPr>
            <a:spLocks noGrp="1"/>
          </p:cNvSpPr>
          <p:nvPr>
            <p:ph idx="1"/>
          </p:nvPr>
        </p:nvSpPr>
        <p:spPr>
          <a:xfrm>
            <a:off x="179513" y="1412776"/>
            <a:ext cx="6373462" cy="5040560"/>
          </a:xfrm>
        </p:spPr>
        <p:txBody>
          <a:bodyPr/>
          <a:lstStyle/>
          <a:p>
            <a:r>
              <a:rPr lang="fr-FR" dirty="0"/>
              <a:t>Une autre caractéristique distinctive des réseaux récurrents est qu’ils partagent des paramètres sur chaque couche du réseau</a:t>
            </a:r>
          </a:p>
          <a:p>
            <a:pPr lvl="1"/>
            <a:r>
              <a:rPr lang="fr-FR" dirty="0"/>
              <a:t>Alors que les réseaux à propagation avant ont des poids différents sur chaque nœud, les réseaux neuronaux récurrents partagent le même paramètre de poids au sein de chaque couche du réseau</a:t>
            </a:r>
          </a:p>
        </p:txBody>
      </p:sp>
      <p:pic>
        <p:nvPicPr>
          <p:cNvPr id="5" name="Image 4">
            <a:extLst>
              <a:ext uri="{FF2B5EF4-FFF2-40B4-BE49-F238E27FC236}">
                <a16:creationId xmlns:a16="http://schemas.microsoft.com/office/drawing/2014/main" id="{C5C658D8-FE8F-DF0C-CCB8-5826A659B382}"/>
              </a:ext>
            </a:extLst>
          </p:cNvPr>
          <p:cNvPicPr>
            <a:picLocks noChangeAspect="1"/>
          </p:cNvPicPr>
          <p:nvPr/>
        </p:nvPicPr>
        <p:blipFill>
          <a:blip r:embed="rId2"/>
          <a:stretch>
            <a:fillRect/>
          </a:stretch>
        </p:blipFill>
        <p:spPr>
          <a:xfrm>
            <a:off x="6552975" y="1119643"/>
            <a:ext cx="2591025" cy="5738357"/>
          </a:xfrm>
          <a:prstGeom prst="rect">
            <a:avLst/>
          </a:prstGeom>
        </p:spPr>
      </p:pic>
    </p:spTree>
    <p:extLst>
      <p:ext uri="{BB962C8B-B14F-4D97-AF65-F5344CB8AC3E}">
        <p14:creationId xmlns:p14="http://schemas.microsoft.com/office/powerpoint/2010/main" val="1141366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56111E-D22F-2536-605D-E799FDB80FB3}"/>
              </a:ext>
            </a:extLst>
          </p:cNvPr>
          <p:cNvSpPr>
            <a:spLocks noGrp="1"/>
          </p:cNvSpPr>
          <p:nvPr>
            <p:ph type="title"/>
          </p:nvPr>
        </p:nvSpPr>
        <p:spPr/>
        <p:txBody>
          <a:bodyPr/>
          <a:lstStyle/>
          <a:p>
            <a:r>
              <a:rPr lang="fr-FR" dirty="0"/>
              <a:t>BPTT</a:t>
            </a:r>
          </a:p>
        </p:txBody>
      </p:sp>
      <p:sp>
        <p:nvSpPr>
          <p:cNvPr id="3" name="Espace réservé du contenu 2">
            <a:extLst>
              <a:ext uri="{FF2B5EF4-FFF2-40B4-BE49-F238E27FC236}">
                <a16:creationId xmlns:a16="http://schemas.microsoft.com/office/drawing/2014/main" id="{4F621A35-C2DE-431E-2902-8C74858414D4}"/>
              </a:ext>
            </a:extLst>
          </p:cNvPr>
          <p:cNvSpPr>
            <a:spLocks noGrp="1"/>
          </p:cNvSpPr>
          <p:nvPr>
            <p:ph idx="1"/>
          </p:nvPr>
        </p:nvSpPr>
        <p:spPr/>
        <p:txBody>
          <a:bodyPr/>
          <a:lstStyle/>
          <a:p>
            <a:r>
              <a:rPr lang="fr-FR" dirty="0"/>
              <a:t>Les RNN utilisent des algorithmes de rétropropagation à travers le temps </a:t>
            </a:r>
            <a:r>
              <a:rPr lang="fr-FR" dirty="0" err="1"/>
              <a:t>Backpropagation</a:t>
            </a:r>
            <a:r>
              <a:rPr lang="fr-FR" dirty="0"/>
              <a:t> </a:t>
            </a:r>
            <a:r>
              <a:rPr lang="fr-FR" dirty="0" err="1"/>
              <a:t>Through</a:t>
            </a:r>
            <a:r>
              <a:rPr lang="fr-FR" dirty="0"/>
              <a:t> Time</a:t>
            </a:r>
          </a:p>
          <a:p>
            <a:r>
              <a:rPr lang="fr-FR" dirty="0"/>
              <a:t>Les principes de la BPTT sont les mêmes que ceux de la rétropropagation traditionnelle</a:t>
            </a:r>
          </a:p>
          <a:p>
            <a:pPr lvl="1"/>
            <a:r>
              <a:rPr lang="fr-FR" dirty="0"/>
              <a:t>Le modèle s’entraîne lui-même en calculant les erreurs de sa couche de sortie à sa couche d’entrée</a:t>
            </a:r>
          </a:p>
          <a:p>
            <a:pPr lvl="1"/>
            <a:r>
              <a:rPr lang="fr-FR" dirty="0"/>
              <a:t>La BPTT diffère de l’approche traditionnelle en ce sens qu’elle additionne les erreurs à chaque intervalle temporel, alors que les réseaux à propagation à action directe n’ont pas besoin d’additionner les erreurs, car ils ne partagent aucun paramètre sur chaque couche</a:t>
            </a:r>
          </a:p>
        </p:txBody>
      </p:sp>
    </p:spTree>
    <p:extLst>
      <p:ext uri="{BB962C8B-B14F-4D97-AF65-F5344CB8AC3E}">
        <p14:creationId xmlns:p14="http://schemas.microsoft.com/office/powerpoint/2010/main" val="3955419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631060-7A9E-1876-C3DB-E4987C949673}"/>
              </a:ext>
            </a:extLst>
          </p:cNvPr>
          <p:cNvSpPr>
            <a:spLocks noGrp="1"/>
          </p:cNvSpPr>
          <p:nvPr>
            <p:ph type="title"/>
          </p:nvPr>
        </p:nvSpPr>
        <p:spPr/>
        <p:txBody>
          <a:bodyPr/>
          <a:lstStyle/>
          <a:p>
            <a:r>
              <a:rPr lang="fr-FR" dirty="0" err="1"/>
              <a:t>Enroullement</a:t>
            </a:r>
            <a:endParaRPr lang="fr-FR" dirty="0"/>
          </a:p>
        </p:txBody>
      </p:sp>
      <p:sp>
        <p:nvSpPr>
          <p:cNvPr id="3" name="Espace réservé du contenu 2">
            <a:extLst>
              <a:ext uri="{FF2B5EF4-FFF2-40B4-BE49-F238E27FC236}">
                <a16:creationId xmlns:a16="http://schemas.microsoft.com/office/drawing/2014/main" id="{D40F7CA6-B1E0-6681-23D7-B1A344FBEC98}"/>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03BEF8DF-4458-A8ED-30F1-1C88B932FA2E}"/>
              </a:ext>
            </a:extLst>
          </p:cNvPr>
          <p:cNvPicPr>
            <a:picLocks noChangeAspect="1"/>
          </p:cNvPicPr>
          <p:nvPr/>
        </p:nvPicPr>
        <p:blipFill>
          <a:blip r:embed="rId2"/>
          <a:stretch>
            <a:fillRect/>
          </a:stretch>
        </p:blipFill>
        <p:spPr>
          <a:xfrm>
            <a:off x="1835696" y="2492896"/>
            <a:ext cx="5908743" cy="3501088"/>
          </a:xfrm>
          <a:prstGeom prst="rect">
            <a:avLst/>
          </a:prstGeom>
        </p:spPr>
      </p:pic>
    </p:spTree>
    <p:extLst>
      <p:ext uri="{BB962C8B-B14F-4D97-AF65-F5344CB8AC3E}">
        <p14:creationId xmlns:p14="http://schemas.microsoft.com/office/powerpoint/2010/main" val="387333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D8EFD5-9B0D-F083-A6C1-755DFD3FFED1}"/>
              </a:ext>
            </a:extLst>
          </p:cNvPr>
          <p:cNvSpPr>
            <a:spLocks noGrp="1"/>
          </p:cNvSpPr>
          <p:nvPr>
            <p:ph type="title"/>
          </p:nvPr>
        </p:nvSpPr>
        <p:spPr/>
        <p:txBody>
          <a:bodyPr/>
          <a:lstStyle/>
          <a:p>
            <a:r>
              <a:rPr lang="fr-FR" dirty="0"/>
              <a:t>Les différents types de RNN</a:t>
            </a:r>
          </a:p>
        </p:txBody>
      </p:sp>
      <p:sp>
        <p:nvSpPr>
          <p:cNvPr id="3" name="Espace réservé du contenu 2">
            <a:extLst>
              <a:ext uri="{FF2B5EF4-FFF2-40B4-BE49-F238E27FC236}">
                <a16:creationId xmlns:a16="http://schemas.microsoft.com/office/drawing/2014/main" id="{86591006-25FA-A1C0-B732-73047AA7181D}"/>
              </a:ext>
            </a:extLst>
          </p:cNvPr>
          <p:cNvSpPr>
            <a:spLocks noGrp="1"/>
          </p:cNvSpPr>
          <p:nvPr>
            <p:ph idx="1"/>
          </p:nvPr>
        </p:nvSpPr>
        <p:spPr/>
        <p:txBody>
          <a:bodyPr/>
          <a:lstStyle/>
          <a:p>
            <a:r>
              <a:rPr lang="fr-FR" dirty="0"/>
              <a:t>RNN standard</a:t>
            </a:r>
          </a:p>
          <a:p>
            <a:r>
              <a:rPr lang="fr-FR" dirty="0"/>
              <a:t>Réseaux neuronaux récurrents bidirectionnels BRRN</a:t>
            </a:r>
          </a:p>
          <a:p>
            <a:r>
              <a:rPr lang="fr-FR" dirty="0"/>
              <a:t>Long short-</a:t>
            </a:r>
            <a:r>
              <a:rPr lang="fr-FR" dirty="0" err="1"/>
              <a:t>term</a:t>
            </a:r>
            <a:r>
              <a:rPr lang="fr-FR" dirty="0"/>
              <a:t> memory (LSTM)</a:t>
            </a:r>
          </a:p>
          <a:p>
            <a:r>
              <a:rPr lang="fr-FR" dirty="0"/>
              <a:t>Unités récurrentes fermées (GRU)</a:t>
            </a:r>
          </a:p>
          <a:p>
            <a:r>
              <a:rPr lang="fr-FR" dirty="0"/>
              <a:t>RNN encodeurs-décodeurs</a:t>
            </a:r>
          </a:p>
          <a:p>
            <a:r>
              <a:rPr lang="fr-FR" dirty="0"/>
              <a:t>RNN </a:t>
            </a:r>
            <a:r>
              <a:rPr lang="fr-FR" dirty="0" err="1"/>
              <a:t>transformers</a:t>
            </a:r>
            <a:endParaRPr lang="fr-FR" dirty="0"/>
          </a:p>
        </p:txBody>
      </p:sp>
    </p:spTree>
    <p:extLst>
      <p:ext uri="{BB962C8B-B14F-4D97-AF65-F5344CB8AC3E}">
        <p14:creationId xmlns:p14="http://schemas.microsoft.com/office/powerpoint/2010/main" val="646304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7A3168-AA1A-58C0-B359-2441E72BA612}"/>
              </a:ext>
            </a:extLst>
          </p:cNvPr>
          <p:cNvSpPr>
            <a:spLocks noGrp="1"/>
          </p:cNvSpPr>
          <p:nvPr>
            <p:ph type="title"/>
          </p:nvPr>
        </p:nvSpPr>
        <p:spPr/>
        <p:txBody>
          <a:bodyPr/>
          <a:lstStyle/>
          <a:p>
            <a:r>
              <a:rPr lang="fr-FR" dirty="0" err="1"/>
              <a:t>Encoders</a:t>
            </a:r>
            <a:r>
              <a:rPr lang="fr-FR" dirty="0"/>
              <a:t> </a:t>
            </a:r>
            <a:r>
              <a:rPr lang="fr-FR" dirty="0" err="1"/>
              <a:t>Decoders</a:t>
            </a:r>
            <a:r>
              <a:rPr lang="fr-FR" dirty="0"/>
              <a:t> Transformers</a:t>
            </a:r>
          </a:p>
        </p:txBody>
      </p:sp>
      <p:sp>
        <p:nvSpPr>
          <p:cNvPr id="3" name="Espace réservé du contenu 2">
            <a:extLst>
              <a:ext uri="{FF2B5EF4-FFF2-40B4-BE49-F238E27FC236}">
                <a16:creationId xmlns:a16="http://schemas.microsoft.com/office/drawing/2014/main" id="{6C94C16A-BE99-5B08-4A8E-742D146CFA16}"/>
              </a:ext>
            </a:extLst>
          </p:cNvPr>
          <p:cNvSpPr>
            <a:spLocks noGrp="1"/>
          </p:cNvSpPr>
          <p:nvPr>
            <p:ph idx="1"/>
          </p:nvPr>
        </p:nvSpPr>
        <p:spPr/>
        <p:txBody>
          <a:bodyPr/>
          <a:lstStyle/>
          <a:p>
            <a:endParaRPr lang="fr-FR"/>
          </a:p>
        </p:txBody>
      </p:sp>
      <p:pic>
        <p:nvPicPr>
          <p:cNvPr id="1028" name="Picture 4">
            <a:extLst>
              <a:ext uri="{FF2B5EF4-FFF2-40B4-BE49-F238E27FC236}">
                <a16:creationId xmlns:a16="http://schemas.microsoft.com/office/drawing/2014/main" id="{1FB03E1C-BC79-C604-D8A6-45FFF685D3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5" y="1173987"/>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38246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B76E11-364B-3C8D-34D9-742FCD7D5272}"/>
              </a:ext>
            </a:extLst>
          </p:cNvPr>
          <p:cNvSpPr>
            <a:spLocks noGrp="1"/>
          </p:cNvSpPr>
          <p:nvPr>
            <p:ph type="title"/>
          </p:nvPr>
        </p:nvSpPr>
        <p:spPr/>
        <p:txBody>
          <a:bodyPr/>
          <a:lstStyle/>
          <a:p>
            <a:r>
              <a:rPr lang="fr-FR" dirty="0"/>
              <a:t>RNN Standard</a:t>
            </a:r>
          </a:p>
        </p:txBody>
      </p:sp>
      <p:sp>
        <p:nvSpPr>
          <p:cNvPr id="3" name="Espace réservé du contenu 2">
            <a:extLst>
              <a:ext uri="{FF2B5EF4-FFF2-40B4-BE49-F238E27FC236}">
                <a16:creationId xmlns:a16="http://schemas.microsoft.com/office/drawing/2014/main" id="{D3D09FC8-C9D7-FC8A-6A3D-E31BFEBC3E9D}"/>
              </a:ext>
            </a:extLst>
          </p:cNvPr>
          <p:cNvSpPr>
            <a:spLocks noGrp="1"/>
          </p:cNvSpPr>
          <p:nvPr>
            <p:ph idx="1"/>
          </p:nvPr>
        </p:nvSpPr>
        <p:spPr/>
        <p:txBody>
          <a:bodyPr/>
          <a:lstStyle/>
          <a:p>
            <a:r>
              <a:rPr lang="fr-FR" dirty="0"/>
              <a:t>La version la plus basique d’un RNN, où la sortie à chaque intervalle temporel dépend à la fois de l’entrée actuelle et de l’état masqué de l’intervalle temporel précédent, souffre de problèmes tels que la disparition des gradients, ce qui rend difficile l’apprentissage des dépendances à long terme</a:t>
            </a:r>
          </a:p>
          <a:p>
            <a:r>
              <a:rPr lang="fr-FR" dirty="0"/>
              <a:t>Ils excellent dans les tâches simples avec des dépendances à court terme, comme prédire le mot suivant dans une phrase (pour les phrases courtes et simples) ou la valeur suivante dans une série temporelle simple.</a:t>
            </a:r>
          </a:p>
        </p:txBody>
      </p:sp>
    </p:spTree>
    <p:extLst>
      <p:ext uri="{BB962C8B-B14F-4D97-AF65-F5344CB8AC3E}">
        <p14:creationId xmlns:p14="http://schemas.microsoft.com/office/powerpoint/2010/main" val="3873375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C3A29C-EB8B-0020-E714-950BD389FE28}"/>
              </a:ext>
            </a:extLst>
          </p:cNvPr>
          <p:cNvSpPr>
            <a:spLocks noGrp="1"/>
          </p:cNvSpPr>
          <p:nvPr>
            <p:ph type="title"/>
          </p:nvPr>
        </p:nvSpPr>
        <p:spPr/>
        <p:txBody>
          <a:bodyPr/>
          <a:lstStyle/>
          <a:p>
            <a:r>
              <a:rPr lang="fr-FR" dirty="0"/>
              <a:t>BRNN</a:t>
            </a:r>
          </a:p>
        </p:txBody>
      </p:sp>
      <p:sp>
        <p:nvSpPr>
          <p:cNvPr id="3" name="Espace réservé du contenu 2">
            <a:extLst>
              <a:ext uri="{FF2B5EF4-FFF2-40B4-BE49-F238E27FC236}">
                <a16:creationId xmlns:a16="http://schemas.microsoft.com/office/drawing/2014/main" id="{BBE2EFCA-2486-3E0E-E24A-29E1B603F2AB}"/>
              </a:ext>
            </a:extLst>
          </p:cNvPr>
          <p:cNvSpPr>
            <a:spLocks noGrp="1"/>
          </p:cNvSpPr>
          <p:nvPr>
            <p:ph idx="1"/>
          </p:nvPr>
        </p:nvSpPr>
        <p:spPr/>
        <p:txBody>
          <a:bodyPr/>
          <a:lstStyle/>
          <a:p>
            <a:r>
              <a:rPr lang="fr-FR" dirty="0"/>
              <a:t>les RNN bidirectionnels, extraient des données postérieures pour en améliorer la précision</a:t>
            </a:r>
          </a:p>
          <a:p>
            <a:r>
              <a:rPr lang="fr-FR" dirty="0"/>
              <a:t>C’est-à-dire que la prédiction d'une valeur ou d'un mot dépend des mots précédents et suivants</a:t>
            </a:r>
          </a:p>
          <a:p>
            <a:pPr lvl="1"/>
            <a:r>
              <a:rPr lang="fr-FR" dirty="0"/>
              <a:t>Par exemple une phrase de maitre Yoda</a:t>
            </a:r>
          </a:p>
        </p:txBody>
      </p:sp>
    </p:spTree>
    <p:extLst>
      <p:ext uri="{BB962C8B-B14F-4D97-AF65-F5344CB8AC3E}">
        <p14:creationId xmlns:p14="http://schemas.microsoft.com/office/powerpoint/2010/main" val="2154805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0363C2-E961-5EA0-FF60-B101E7C9F5DE}"/>
              </a:ext>
            </a:extLst>
          </p:cNvPr>
          <p:cNvSpPr>
            <a:spLocks noGrp="1"/>
          </p:cNvSpPr>
          <p:nvPr>
            <p:ph type="title"/>
          </p:nvPr>
        </p:nvSpPr>
        <p:spPr/>
        <p:txBody>
          <a:bodyPr/>
          <a:lstStyle/>
          <a:p>
            <a:r>
              <a:rPr lang="fr-FR" dirty="0"/>
              <a:t>LSTM</a:t>
            </a:r>
          </a:p>
        </p:txBody>
      </p:sp>
      <p:sp>
        <p:nvSpPr>
          <p:cNvPr id="3" name="Espace réservé du contenu 2">
            <a:extLst>
              <a:ext uri="{FF2B5EF4-FFF2-40B4-BE49-F238E27FC236}">
                <a16:creationId xmlns:a16="http://schemas.microsoft.com/office/drawing/2014/main" id="{E5A3EB15-D314-A2B4-9BC9-FE4BACCBE0AA}"/>
              </a:ext>
            </a:extLst>
          </p:cNvPr>
          <p:cNvSpPr>
            <a:spLocks noGrp="1"/>
          </p:cNvSpPr>
          <p:nvPr>
            <p:ph idx="1"/>
          </p:nvPr>
        </p:nvSpPr>
        <p:spPr/>
        <p:txBody>
          <a:bodyPr/>
          <a:lstStyle/>
          <a:p>
            <a:r>
              <a:rPr lang="fr-FR" dirty="0"/>
              <a:t>Long Short </a:t>
            </a:r>
            <a:r>
              <a:rPr lang="fr-FR" dirty="0" err="1"/>
              <a:t>Term</a:t>
            </a:r>
            <a:r>
              <a:rPr lang="fr-FR" dirty="0"/>
              <a:t> Memory </a:t>
            </a:r>
            <a:r>
              <a:rPr lang="fr-FR" dirty="0" err="1"/>
              <a:t>resoud</a:t>
            </a:r>
            <a:r>
              <a:rPr lang="fr-FR" dirty="0"/>
              <a:t> le problème de la résilience des gradients à long terme</a:t>
            </a:r>
          </a:p>
          <a:p>
            <a:r>
              <a:rPr lang="fr-FR" dirty="0"/>
              <a:t> LSTM possèdent des « cellules » situées dans les couches cachées du réseau neuronal artificiel, qui possèdent trois portes : une porte d’entrée, une porte de sortie et une porte d’oubli</a:t>
            </a:r>
          </a:p>
          <a:p>
            <a:r>
              <a:rPr lang="fr-FR" dirty="0"/>
              <a:t>Ces portes contrôlent le flux d’informations nécessaires pour prévoir la sortie sur le réseau</a:t>
            </a:r>
          </a:p>
          <a:p>
            <a:pPr lvl="1"/>
            <a:r>
              <a:rPr lang="fr-FR" dirty="0"/>
              <a:t>Par exemple, si les pronoms de genre, tels que « elle », ont été répétés plusieurs fois dans les phrases précédentes, vous pouvez les exclure de l’état de la cellule</a:t>
            </a:r>
          </a:p>
        </p:txBody>
      </p:sp>
    </p:spTree>
    <p:extLst>
      <p:ext uri="{BB962C8B-B14F-4D97-AF65-F5344CB8AC3E}">
        <p14:creationId xmlns:p14="http://schemas.microsoft.com/office/powerpoint/2010/main" val="3005059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C3F745-AD5B-AA19-04A5-646298C1D7A3}"/>
              </a:ext>
            </a:extLst>
          </p:cNvPr>
          <p:cNvSpPr>
            <a:spLocks noGrp="1"/>
          </p:cNvSpPr>
          <p:nvPr>
            <p:ph type="title"/>
          </p:nvPr>
        </p:nvSpPr>
        <p:spPr/>
        <p:txBody>
          <a:bodyPr/>
          <a:lstStyle/>
          <a:p>
            <a:r>
              <a:rPr lang="fr-FR" dirty="0"/>
              <a:t>LSTM</a:t>
            </a:r>
          </a:p>
        </p:txBody>
      </p:sp>
      <p:sp>
        <p:nvSpPr>
          <p:cNvPr id="3" name="Espace réservé du contenu 2">
            <a:extLst>
              <a:ext uri="{FF2B5EF4-FFF2-40B4-BE49-F238E27FC236}">
                <a16:creationId xmlns:a16="http://schemas.microsoft.com/office/drawing/2014/main" id="{96BBC6D0-84D5-DA20-5934-46C60249CC43}"/>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1F7B145D-C316-36CE-A3A6-8D8F7F33A0A3}"/>
              </a:ext>
            </a:extLst>
          </p:cNvPr>
          <p:cNvPicPr>
            <a:picLocks noChangeAspect="1"/>
          </p:cNvPicPr>
          <p:nvPr/>
        </p:nvPicPr>
        <p:blipFill>
          <a:blip r:embed="rId2"/>
          <a:stretch>
            <a:fillRect/>
          </a:stretch>
        </p:blipFill>
        <p:spPr>
          <a:xfrm>
            <a:off x="853117" y="1295215"/>
            <a:ext cx="7437765" cy="4267570"/>
          </a:xfrm>
          <a:prstGeom prst="rect">
            <a:avLst/>
          </a:prstGeom>
        </p:spPr>
      </p:pic>
    </p:spTree>
    <p:extLst>
      <p:ext uri="{BB962C8B-B14F-4D97-AF65-F5344CB8AC3E}">
        <p14:creationId xmlns:p14="http://schemas.microsoft.com/office/powerpoint/2010/main" val="40813523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038CCB-14EE-0D10-8F92-7BE12DD13BAE}"/>
              </a:ext>
            </a:extLst>
          </p:cNvPr>
          <p:cNvSpPr>
            <a:spLocks noGrp="1"/>
          </p:cNvSpPr>
          <p:nvPr>
            <p:ph type="title"/>
          </p:nvPr>
        </p:nvSpPr>
        <p:spPr/>
        <p:txBody>
          <a:bodyPr/>
          <a:lstStyle/>
          <a:p>
            <a:r>
              <a:rPr lang="fr-FR" dirty="0"/>
              <a:t>GRU</a:t>
            </a:r>
          </a:p>
        </p:txBody>
      </p:sp>
      <p:sp>
        <p:nvSpPr>
          <p:cNvPr id="3" name="Espace réservé du contenu 2">
            <a:extLst>
              <a:ext uri="{FF2B5EF4-FFF2-40B4-BE49-F238E27FC236}">
                <a16:creationId xmlns:a16="http://schemas.microsoft.com/office/drawing/2014/main" id="{42F7CDE3-ED43-7B97-4858-FD8C588CDC24}"/>
              </a:ext>
            </a:extLst>
          </p:cNvPr>
          <p:cNvSpPr>
            <a:spLocks noGrp="1"/>
          </p:cNvSpPr>
          <p:nvPr>
            <p:ph idx="1"/>
          </p:nvPr>
        </p:nvSpPr>
        <p:spPr/>
        <p:txBody>
          <a:bodyPr/>
          <a:lstStyle/>
          <a:p>
            <a:r>
              <a:rPr lang="fr-FR" dirty="0"/>
              <a:t>Les Unités récurrentes fermées sont similaires à LSTM mais avec seulement 2 portes</a:t>
            </a:r>
          </a:p>
          <a:p>
            <a:pPr lvl="1"/>
            <a:r>
              <a:rPr lang="fr-FR" dirty="0"/>
              <a:t>Ils sont donc plus rapides </a:t>
            </a:r>
          </a:p>
        </p:txBody>
      </p:sp>
      <p:pic>
        <p:nvPicPr>
          <p:cNvPr id="9" name="Image 8">
            <a:extLst>
              <a:ext uri="{FF2B5EF4-FFF2-40B4-BE49-F238E27FC236}">
                <a16:creationId xmlns:a16="http://schemas.microsoft.com/office/drawing/2014/main" id="{0BA7AB5D-65E1-2FED-02D0-659A2D28C189}"/>
              </a:ext>
            </a:extLst>
          </p:cNvPr>
          <p:cNvPicPr>
            <a:picLocks noChangeAspect="1"/>
          </p:cNvPicPr>
          <p:nvPr/>
        </p:nvPicPr>
        <p:blipFill>
          <a:blip r:embed="rId2"/>
          <a:stretch>
            <a:fillRect/>
          </a:stretch>
        </p:blipFill>
        <p:spPr>
          <a:xfrm>
            <a:off x="2555776" y="2852936"/>
            <a:ext cx="3703641" cy="2949196"/>
          </a:xfrm>
          <a:prstGeom prst="rect">
            <a:avLst/>
          </a:prstGeom>
        </p:spPr>
      </p:pic>
    </p:spTree>
    <p:extLst>
      <p:ext uri="{BB962C8B-B14F-4D97-AF65-F5344CB8AC3E}">
        <p14:creationId xmlns:p14="http://schemas.microsoft.com/office/powerpoint/2010/main" val="675242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9A2EB2-E46A-F77D-15BC-CEFF9790ACDC}"/>
              </a:ext>
            </a:extLst>
          </p:cNvPr>
          <p:cNvSpPr>
            <a:spLocks noGrp="1"/>
          </p:cNvSpPr>
          <p:nvPr>
            <p:ph type="title"/>
          </p:nvPr>
        </p:nvSpPr>
        <p:spPr/>
        <p:txBody>
          <a:bodyPr/>
          <a:lstStyle/>
          <a:p>
            <a:r>
              <a:rPr lang="fr-FR" dirty="0"/>
              <a:t>RNN Encodeur </a:t>
            </a:r>
            <a:r>
              <a:rPr lang="fr-FR" dirty="0" err="1"/>
              <a:t>Decoder</a:t>
            </a:r>
            <a:endParaRPr lang="fr-FR" dirty="0"/>
          </a:p>
        </p:txBody>
      </p:sp>
      <p:sp>
        <p:nvSpPr>
          <p:cNvPr id="3" name="Espace réservé du contenu 2">
            <a:extLst>
              <a:ext uri="{FF2B5EF4-FFF2-40B4-BE49-F238E27FC236}">
                <a16:creationId xmlns:a16="http://schemas.microsoft.com/office/drawing/2014/main" id="{2126137D-8F4E-559B-277B-CAAED0C4E7EA}"/>
              </a:ext>
            </a:extLst>
          </p:cNvPr>
          <p:cNvSpPr>
            <a:spLocks noGrp="1"/>
          </p:cNvSpPr>
          <p:nvPr>
            <p:ph idx="1"/>
          </p:nvPr>
        </p:nvSpPr>
        <p:spPr/>
        <p:txBody>
          <a:bodyPr/>
          <a:lstStyle/>
          <a:p>
            <a:r>
              <a:rPr lang="fr-FR" dirty="0"/>
              <a:t>Ils sont couramment utilisés pour les tâches de séquence à séquence, telles que la traduction automatique</a:t>
            </a:r>
          </a:p>
          <a:p>
            <a:r>
              <a:rPr lang="fr-FR" dirty="0"/>
              <a:t>L’encodeur traite la séquence d’entrée dans un vecteur de longueur fixe (contexte) et le décodeur utilise ce contexte pour générer la séquence de sortie</a:t>
            </a:r>
          </a:p>
          <a:p>
            <a:r>
              <a:rPr lang="fr-FR" dirty="0"/>
              <a:t>Quand la tailler de la sortie est égale à l'entrée il s'agit d'un Transformer</a:t>
            </a:r>
          </a:p>
        </p:txBody>
      </p:sp>
    </p:spTree>
    <p:extLst>
      <p:ext uri="{BB962C8B-B14F-4D97-AF65-F5344CB8AC3E}">
        <p14:creationId xmlns:p14="http://schemas.microsoft.com/office/powerpoint/2010/main" val="3160228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FDA05E-3438-4728-EF6F-99F3BC94A726}"/>
              </a:ext>
            </a:extLst>
          </p:cNvPr>
          <p:cNvSpPr>
            <a:spLocks noGrp="1"/>
          </p:cNvSpPr>
          <p:nvPr>
            <p:ph type="title"/>
          </p:nvPr>
        </p:nvSpPr>
        <p:spPr/>
        <p:txBody>
          <a:bodyPr/>
          <a:lstStyle/>
          <a:p>
            <a:r>
              <a:rPr lang="fr-FR" dirty="0" err="1"/>
              <a:t>Keras</a:t>
            </a:r>
            <a:endParaRPr lang="fr-FR" dirty="0"/>
          </a:p>
        </p:txBody>
      </p:sp>
      <p:sp>
        <p:nvSpPr>
          <p:cNvPr id="3" name="Espace réservé du contenu 2">
            <a:extLst>
              <a:ext uri="{FF2B5EF4-FFF2-40B4-BE49-F238E27FC236}">
                <a16:creationId xmlns:a16="http://schemas.microsoft.com/office/drawing/2014/main" id="{BC18B85F-0860-56BB-4B39-2FD696CA45D6}"/>
              </a:ext>
            </a:extLst>
          </p:cNvPr>
          <p:cNvSpPr>
            <a:spLocks noGrp="1"/>
          </p:cNvSpPr>
          <p:nvPr>
            <p:ph idx="1"/>
          </p:nvPr>
        </p:nvSpPr>
        <p:spPr/>
        <p:txBody>
          <a:bodyPr/>
          <a:lstStyle/>
          <a:p>
            <a:r>
              <a:rPr lang="fr-FR" dirty="0" err="1"/>
              <a:t>Keras</a:t>
            </a:r>
            <a:r>
              <a:rPr lang="fr-FR" dirty="0"/>
              <a:t> intègre des types de neurones RNN</a:t>
            </a:r>
          </a:p>
          <a:p>
            <a:pPr lvl="1"/>
            <a:r>
              <a:rPr lang="fr-FR" dirty="0"/>
              <a:t>LSTM</a:t>
            </a:r>
          </a:p>
          <a:p>
            <a:pPr lvl="1"/>
            <a:r>
              <a:rPr lang="fr-FR" dirty="0"/>
              <a:t>GRU</a:t>
            </a:r>
          </a:p>
          <a:p>
            <a:pPr lvl="1"/>
            <a:r>
              <a:rPr lang="fr-FR" dirty="0"/>
              <a:t>Le paramètre </a:t>
            </a:r>
            <a:r>
              <a:rPr lang="fr-FR" dirty="0" err="1"/>
              <a:t>return_sequences</a:t>
            </a:r>
            <a:r>
              <a:rPr lang="fr-FR" dirty="0"/>
              <a:t>=False indique si la sortie retourne le dernier paramètre ou toute la séquence</a:t>
            </a:r>
          </a:p>
          <a:p>
            <a:pPr lvl="1"/>
            <a:r>
              <a:rPr lang="fr-FR" dirty="0"/>
              <a:t>La forme d'un RNN est x, </a:t>
            </a:r>
            <a:r>
              <a:rPr lang="fr-FR" dirty="0" err="1"/>
              <a:t>time_step</a:t>
            </a:r>
            <a:r>
              <a:rPr lang="fr-FR" dirty="0"/>
              <a:t>, y</a:t>
            </a:r>
          </a:p>
          <a:p>
            <a:r>
              <a:rPr lang="fr-FR" dirty="0"/>
              <a:t>Non compatible </a:t>
            </a:r>
            <a:r>
              <a:rPr lang="fr-FR" dirty="0" err="1"/>
              <a:t>TinyMaix</a:t>
            </a:r>
            <a:endParaRPr lang="fr-FR" dirty="0"/>
          </a:p>
          <a:p>
            <a:pPr lvl="1"/>
            <a:endParaRPr lang="fr-FR" dirty="0"/>
          </a:p>
        </p:txBody>
      </p:sp>
    </p:spTree>
    <p:extLst>
      <p:ext uri="{BB962C8B-B14F-4D97-AF65-F5344CB8AC3E}">
        <p14:creationId xmlns:p14="http://schemas.microsoft.com/office/powerpoint/2010/main" val="35642213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960150-FC42-1802-FA01-6D7316A97EB9}"/>
              </a:ext>
            </a:extLst>
          </p:cNvPr>
          <p:cNvSpPr>
            <a:spLocks noGrp="1"/>
          </p:cNvSpPr>
          <p:nvPr>
            <p:ph type="title"/>
          </p:nvPr>
        </p:nvSpPr>
        <p:spPr/>
        <p:txBody>
          <a:bodyPr/>
          <a:lstStyle/>
          <a:p>
            <a:r>
              <a:rPr lang="fr-FR"/>
              <a:t>TP 26</a:t>
            </a:r>
            <a:endParaRPr lang="fr-FR" dirty="0"/>
          </a:p>
        </p:txBody>
      </p:sp>
      <p:sp>
        <p:nvSpPr>
          <p:cNvPr id="3" name="Espace réservé du contenu 2">
            <a:extLst>
              <a:ext uri="{FF2B5EF4-FFF2-40B4-BE49-F238E27FC236}">
                <a16:creationId xmlns:a16="http://schemas.microsoft.com/office/drawing/2014/main" id="{8939214D-1445-B97B-6E06-CA5B7E1F132D}"/>
              </a:ext>
            </a:extLst>
          </p:cNvPr>
          <p:cNvSpPr>
            <a:spLocks noGrp="1"/>
          </p:cNvSpPr>
          <p:nvPr>
            <p:ph idx="1"/>
          </p:nvPr>
        </p:nvSpPr>
        <p:spPr/>
        <p:txBody>
          <a:bodyPr/>
          <a:lstStyle/>
          <a:p>
            <a:r>
              <a:rPr lang="fr-FR" dirty="0"/>
              <a:t>HAR Conv1d</a:t>
            </a:r>
          </a:p>
          <a:p>
            <a:r>
              <a:rPr lang="fr-FR" dirty="0"/>
              <a:t>HAR RNN</a:t>
            </a:r>
          </a:p>
          <a:p>
            <a:r>
              <a:rPr lang="fr-FR" dirty="0"/>
              <a:t>HAR LSTM</a:t>
            </a:r>
          </a:p>
        </p:txBody>
      </p:sp>
    </p:spTree>
    <p:extLst>
      <p:ext uri="{BB962C8B-B14F-4D97-AF65-F5344CB8AC3E}">
        <p14:creationId xmlns:p14="http://schemas.microsoft.com/office/powerpoint/2010/main" val="3000630258"/>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10678</TotalTime>
  <Words>707</Words>
  <Application>Microsoft Office PowerPoint</Application>
  <PresentationFormat>Affichage à l'écran (4:3)</PresentationFormat>
  <Paragraphs>70</Paragraphs>
  <Slides>20</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20</vt:i4>
      </vt:variant>
    </vt:vector>
  </HeadingPairs>
  <TitlesOfParts>
    <vt:vector size="24" baseType="lpstr">
      <vt:lpstr>Arial</vt:lpstr>
      <vt:lpstr>Monotype Sorts</vt:lpstr>
      <vt:lpstr>Times New Roman</vt:lpstr>
      <vt:lpstr>cvc</vt:lpstr>
      <vt:lpstr>Présentation PowerPoint</vt:lpstr>
      <vt:lpstr>Le Temps</vt:lpstr>
      <vt:lpstr>Traitement du signal temporel</vt:lpstr>
      <vt:lpstr>Transformée de Fourier</vt:lpstr>
      <vt:lpstr>TP 25</vt:lpstr>
      <vt:lpstr>Conv1d</vt:lpstr>
      <vt:lpstr>RNN</vt:lpstr>
      <vt:lpstr>RNN</vt:lpstr>
      <vt:lpstr>BPTT</vt:lpstr>
      <vt:lpstr>Enroullement</vt:lpstr>
      <vt:lpstr>Les différents types de RNN</vt:lpstr>
      <vt:lpstr>Encoders Decoders Transformers</vt:lpstr>
      <vt:lpstr>RNN Standard</vt:lpstr>
      <vt:lpstr>BRNN</vt:lpstr>
      <vt:lpstr>LSTM</vt:lpstr>
      <vt:lpstr>LSTM</vt:lpstr>
      <vt:lpstr>GRU</vt:lpstr>
      <vt:lpstr>RNN Encodeur Decoder</vt:lpstr>
      <vt:lpstr>Keras</vt:lpstr>
      <vt:lpstr>TP 26</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351</cp:revision>
  <dcterms:created xsi:type="dcterms:W3CDTF">2000-04-10T19:33:12Z</dcterms:created>
  <dcterms:modified xsi:type="dcterms:W3CDTF">2026-06-14T19:50:39Z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