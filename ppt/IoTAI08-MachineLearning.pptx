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40"/>
  </p:notesMasterIdLst>
  <p:handoutMasterIdLst>
    <p:handoutMasterId r:id="rId41"/>
  </p:handoutMasterIdLst>
  <p:sldIdLst>
    <p:sldId id="264" r:id="rId2"/>
    <p:sldId id="323" r:id="rId3"/>
    <p:sldId id="320" r:id="rId4"/>
    <p:sldId id="266" r:id="rId5"/>
    <p:sldId id="267" r:id="rId6"/>
    <p:sldId id="268" r:id="rId7"/>
    <p:sldId id="269" r:id="rId8"/>
    <p:sldId id="270" r:id="rId9"/>
    <p:sldId id="271" r:id="rId10"/>
    <p:sldId id="272" r:id="rId11"/>
    <p:sldId id="287" r:id="rId12"/>
    <p:sldId id="358" r:id="rId13"/>
    <p:sldId id="273" r:id="rId14"/>
    <p:sldId id="274" r:id="rId15"/>
    <p:sldId id="306" r:id="rId16"/>
    <p:sldId id="288" r:id="rId17"/>
    <p:sldId id="289" r:id="rId18"/>
    <p:sldId id="290" r:id="rId19"/>
    <p:sldId id="275" r:id="rId20"/>
    <p:sldId id="291" r:id="rId21"/>
    <p:sldId id="292" r:id="rId22"/>
    <p:sldId id="294" r:id="rId23"/>
    <p:sldId id="295" r:id="rId24"/>
    <p:sldId id="296" r:id="rId25"/>
    <p:sldId id="276" r:id="rId26"/>
    <p:sldId id="277" r:id="rId27"/>
    <p:sldId id="319" r:id="rId28"/>
    <p:sldId id="278" r:id="rId29"/>
    <p:sldId id="279" r:id="rId30"/>
    <p:sldId id="280" r:id="rId31"/>
    <p:sldId id="281" r:id="rId32"/>
    <p:sldId id="283" r:id="rId33"/>
    <p:sldId id="284" r:id="rId34"/>
    <p:sldId id="299" r:id="rId35"/>
    <p:sldId id="318" r:id="rId36"/>
    <p:sldId id="359" r:id="rId37"/>
    <p:sldId id="361" r:id="rId38"/>
    <p:sldId id="362" r:id="rId39"/>
  </p:sldIdLst>
  <p:sldSz cx="9144000" cy="6858000" type="screen4x3"/>
  <p:notesSz cx="6648450" cy="9782175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81">
          <p15:clr>
            <a:srgbClr val="A4A3A4"/>
          </p15:clr>
        </p15:guide>
        <p15:guide id="2" pos="209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590" autoAdjust="0"/>
  </p:normalViewPr>
  <p:slideViewPr>
    <p:cSldViewPr>
      <p:cViewPr varScale="1">
        <p:scale>
          <a:sx n="82" d="100"/>
          <a:sy n="82" d="100"/>
        </p:scale>
        <p:origin x="619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918"/>
    </p:cViewPr>
  </p:sorterViewPr>
  <p:notesViewPr>
    <p:cSldViewPr>
      <p:cViewPr>
        <p:scale>
          <a:sx n="100" d="100"/>
          <a:sy n="100" d="100"/>
        </p:scale>
        <p:origin x="-924" y="2430"/>
      </p:cViewPr>
      <p:guideLst>
        <p:guide orient="horz" pos="3081"/>
        <p:guide pos="209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1000">
                <a:latin typeface="Arial" charset="0"/>
              </a:defRPr>
            </a:lvl1pPr>
          </a:lstStyle>
          <a:p>
            <a:pPr>
              <a:defRPr/>
            </a:pPr>
            <a:fld id="{05A6847E-ECD8-4888-9A6C-CBE85B378C1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43995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15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6300" y="733425"/>
            <a:ext cx="4895850" cy="36703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379413" y="4646613"/>
            <a:ext cx="5851525" cy="440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© HANDSHAKE - Philippe MASINA</a:t>
            </a:r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I-</a:t>
            </a:r>
            <a:fld id="{88B410AF-14E7-4D87-8C8E-6E377E0C238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022458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2118913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87624" y="13209"/>
            <a:ext cx="7829947" cy="1143000"/>
          </a:xfrm>
        </p:spPr>
        <p:txBody>
          <a:bodyPr/>
          <a:lstStyle>
            <a:lvl1pPr>
              <a:defRPr sz="320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412776"/>
            <a:ext cx="8766051" cy="5040560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010342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1731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1355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892756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568818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664286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0620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855899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371934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254946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002463" y="457200"/>
            <a:ext cx="1943100" cy="56388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173163" y="457200"/>
            <a:ext cx="5676900" cy="56388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716717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6477000"/>
            <a:ext cx="9144000" cy="762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endParaRPr lang="fr-FR" altLang="fr-FR"/>
          </a:p>
        </p:txBody>
      </p:sp>
      <p:sp>
        <p:nvSpPr>
          <p:cNvPr id="1027" name="Text Box 3"/>
          <p:cNvSpPr txBox="1">
            <a:spLocks noChangeArrowheads="1"/>
          </p:cNvSpPr>
          <p:nvPr/>
        </p:nvSpPr>
        <p:spPr bwMode="auto">
          <a:xfrm>
            <a:off x="6934200" y="6553200"/>
            <a:ext cx="12192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 dirty="0"/>
              <a:t>Page </a:t>
            </a:r>
            <a:fld id="{E218E9B1-FD08-4C80-902E-210BA2967D0D}" type="slidenum">
              <a:rPr lang="fr-FR" sz="1200" smtClean="0"/>
              <a:pPr>
                <a:spcBef>
                  <a:spcPct val="50000"/>
                </a:spcBef>
                <a:defRPr/>
              </a:pPr>
              <a:t>‹N°›</a:t>
            </a:fld>
            <a:endParaRPr lang="fr-FR" dirty="0">
              <a:latin typeface="Times New Roman" pitchFamily="18" charset="0"/>
            </a:endParaRPr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2209800" y="6553200"/>
            <a:ext cx="4724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fr-FR" sz="1600" dirty="0"/>
              <a:t>Python</a:t>
            </a:r>
            <a:endParaRPr lang="fr-FR" dirty="0">
              <a:latin typeface="Times New Roman" pitchFamily="18" charset="0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177925" y="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 style du titre du masque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1196975"/>
            <a:ext cx="8766175" cy="528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les styles du texte du masque</a:t>
            </a:r>
          </a:p>
          <a:p>
            <a:pPr lvl="1"/>
            <a:r>
              <a:rPr lang="fr-FR" altLang="fr-FR"/>
              <a:t>Deuxième niveau</a:t>
            </a:r>
          </a:p>
          <a:p>
            <a:pPr lvl="2"/>
            <a:r>
              <a:rPr lang="fr-FR" altLang="fr-FR"/>
              <a:t>Troisième niveau</a:t>
            </a:r>
          </a:p>
          <a:p>
            <a:pPr lvl="3"/>
            <a:r>
              <a:rPr lang="fr-FR" altLang="fr-FR"/>
              <a:t>Quatrième niveau</a:t>
            </a:r>
          </a:p>
          <a:p>
            <a:pPr lvl="4"/>
            <a:r>
              <a:rPr lang="fr-FR" altLang="fr-FR"/>
              <a:t>Cinquième niveau</a:t>
            </a:r>
          </a:p>
        </p:txBody>
      </p:sp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0" y="6521450"/>
            <a:ext cx="34290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/>
              <a:t>© Cyril Vincent Conseil</a:t>
            </a:r>
            <a:endParaRPr lang="fr-FR">
              <a:latin typeface="Times New Roman" pitchFamily="18" charset="0"/>
            </a:endParaRPr>
          </a:p>
        </p:txBody>
      </p:sp>
      <p:pic>
        <p:nvPicPr>
          <p:cNvPr id="1032" name="Picture 8" descr="cartevisite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8745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Monotype Sorts" pitchFamily="2" charset="2"/>
        <a:buChar char="o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fr-FR" altLang="fr-FR" dirty="0"/>
              <a:t>Machine Learning</a:t>
            </a:r>
          </a:p>
        </p:txBody>
      </p:sp>
      <p:sp>
        <p:nvSpPr>
          <p:cNvPr id="3" name="ZoneTexte 2"/>
          <p:cNvSpPr txBox="1"/>
          <p:nvPr/>
        </p:nvSpPr>
        <p:spPr>
          <a:xfrm>
            <a:off x="3107495" y="2132856"/>
            <a:ext cx="29290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 dirty="0"/>
              <a:t>Data Science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5485807D-22C2-F8BC-0CC4-6942A04CAF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5589" y="4710545"/>
            <a:ext cx="2905530" cy="169568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B42ED8F-11AB-C149-14DE-0ECEEA2E5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164126B-6D65-4283-A1F1-8A8BB03CBF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1026" name="Picture 2" descr="1_hfyjxxcfingbcyzcgksaiq">
            <a:extLst>
              <a:ext uri="{FF2B5EF4-FFF2-40B4-BE49-F238E27FC236}">
                <a16:creationId xmlns:a16="http://schemas.microsoft.com/office/drawing/2014/main" id="{0248DE54-DD5F-56BD-F121-1923D3F596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48" y="1156208"/>
            <a:ext cx="9123224" cy="52251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01384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IA - ML - DL</a:t>
            </a:r>
          </a:p>
        </p:txBody>
      </p:sp>
      <p:pic>
        <p:nvPicPr>
          <p:cNvPr id="1026" name="Picture 2" descr="https://www.mytectra.com/media/wysiwyg/Blog/deep-learning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08719"/>
            <a:ext cx="9144000" cy="5816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734152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1</a:t>
            </a:r>
            <a:r>
              <a:rPr lang="fr-FR" baseline="30000" dirty="0"/>
              <a:t>ère</a:t>
            </a:r>
            <a:r>
              <a:rPr lang="fr-FR" dirty="0"/>
              <a:t> étape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Trouver les données</a:t>
            </a:r>
          </a:p>
          <a:p>
            <a:pPr lvl="1"/>
            <a:r>
              <a:rPr lang="fr-FR" dirty="0"/>
              <a:t>Mise à disposition d’un data </a:t>
            </a:r>
            <a:r>
              <a:rPr lang="fr-FR" dirty="0" err="1"/>
              <a:t>lake</a:t>
            </a:r>
            <a:r>
              <a:rPr lang="fr-FR" dirty="0"/>
              <a:t> ou d’un data </a:t>
            </a:r>
            <a:r>
              <a:rPr lang="fr-FR" dirty="0" err="1"/>
              <a:t>mart</a:t>
            </a:r>
            <a:endParaRPr lang="fr-FR" dirty="0"/>
          </a:p>
          <a:p>
            <a:r>
              <a:rPr lang="fr-FR" dirty="0"/>
              <a:t>Le jeu de données utilisé en machine </a:t>
            </a:r>
            <a:r>
              <a:rPr lang="fr-FR" dirty="0" err="1"/>
              <a:t>learning</a:t>
            </a:r>
            <a:r>
              <a:rPr lang="fr-FR" dirty="0"/>
              <a:t> s’appel le </a:t>
            </a:r>
            <a:r>
              <a:rPr lang="fr-FR" dirty="0" err="1"/>
              <a:t>Dataset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410759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But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En machine </a:t>
            </a:r>
            <a:r>
              <a:rPr lang="fr-FR" dirty="0" err="1"/>
              <a:t>learning</a:t>
            </a:r>
            <a:r>
              <a:rPr lang="fr-FR" dirty="0"/>
              <a:t> et en data science plus généralement, l'objectif est de trouver un modèle du phénomène à l'origine des données</a:t>
            </a:r>
          </a:p>
          <a:p>
            <a:r>
              <a:rPr lang="fr-FR" dirty="0"/>
              <a:t>C'est à dire qu'on considère que chaque donnée observée est l'expression d'une variable aléatoire générée par une distribution de probabilité</a:t>
            </a:r>
          </a:p>
          <a:p>
            <a:pPr lvl="1"/>
            <a:r>
              <a:rPr lang="fr-FR"/>
              <a:t>Par exemple les sondages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829163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Exemple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Imaginez que vous voulez savoir si vous payez trop cher votre loyer</a:t>
            </a:r>
          </a:p>
          <a:p>
            <a:r>
              <a:rPr lang="fr-FR" dirty="0"/>
              <a:t>Vous avez récupéré sur un site de location une trentaine de prix des locations disponibles, ainsi que la surface associée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2040" y="4149080"/>
            <a:ext cx="2809875" cy="2038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0968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Graphique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Surface / Loyer</a:t>
            </a:r>
          </a:p>
        </p:txBody>
      </p:sp>
      <p:pic>
        <p:nvPicPr>
          <p:cNvPr id="1028" name="Picture 4" descr="Le loyer mensuel en fonction de la surface du logemen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2060848"/>
            <a:ext cx="5688632" cy="39314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626392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Régression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Une régression est une formule mathématique qui étudie des données réelle d’une manière proche de la réalité mais simplifiée</a:t>
            </a:r>
          </a:p>
          <a:p>
            <a:r>
              <a:rPr lang="fr-FR" dirty="0"/>
              <a:t>Différent types</a:t>
            </a:r>
          </a:p>
          <a:p>
            <a:pPr lvl="1"/>
            <a:r>
              <a:rPr lang="fr-FR" dirty="0"/>
              <a:t>Linéaire</a:t>
            </a:r>
          </a:p>
          <a:p>
            <a:pPr lvl="1"/>
            <a:r>
              <a:rPr lang="fr-FR" dirty="0"/>
              <a:t>Second degré</a:t>
            </a:r>
          </a:p>
          <a:p>
            <a:pPr lvl="1"/>
            <a:r>
              <a:rPr lang="fr-FR" dirty="0"/>
              <a:t>Polynomiale</a:t>
            </a:r>
          </a:p>
          <a:p>
            <a:pPr lvl="1"/>
            <a:r>
              <a:rPr lang="fr-FR" dirty="0" err="1"/>
              <a:t>Sinusoidale</a:t>
            </a:r>
            <a:endParaRPr lang="fr-FR" dirty="0"/>
          </a:p>
          <a:p>
            <a:pPr lvl="1"/>
            <a:r>
              <a:rPr lang="fr-FR" dirty="0"/>
              <a:t>Elliptique</a:t>
            </a:r>
          </a:p>
        </p:txBody>
      </p:sp>
    </p:spTree>
    <p:extLst>
      <p:ext uri="{BB962C8B-B14F-4D97-AF65-F5344CB8AC3E}">
        <p14:creationId xmlns:p14="http://schemas.microsoft.com/office/powerpoint/2010/main" val="40016493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Régression linéaire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Notre exemple montre une régression linéaire</a:t>
            </a:r>
          </a:p>
          <a:p>
            <a:endParaRPr lang="fr-FR" dirty="0"/>
          </a:p>
        </p:txBody>
      </p:sp>
      <p:pic>
        <p:nvPicPr>
          <p:cNvPr id="2056" name="Picture 8" descr="la droite de régression correspondant à la modélisation statistique du nuage de point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1" y="2420888"/>
            <a:ext cx="5212067" cy="3648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666377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Erreur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Un écart type et un taux de confiance peut être calculé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Exemple : taux de confiance à 90%</a:t>
            </a:r>
          </a:p>
        </p:txBody>
      </p:sp>
      <p:pic>
        <p:nvPicPr>
          <p:cNvPr id="3074" name="Picture 2" descr="l'intervalle de confiance (à 90%) que les point se trouvent dans cette zon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736" y="2276872"/>
            <a:ext cx="4286250" cy="3000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689216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Classification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Une autre distinction qui vous aidera dans le choix d'un algorithme de machine </a:t>
            </a:r>
            <a:r>
              <a:rPr lang="fr-FR" dirty="0" err="1"/>
              <a:t>learning</a:t>
            </a:r>
            <a:r>
              <a:rPr lang="fr-FR" dirty="0"/>
              <a:t> est le type de sortie que l'on attend de notre programme</a:t>
            </a:r>
          </a:p>
          <a:p>
            <a:pPr lvl="1"/>
            <a:r>
              <a:rPr lang="fr-FR" dirty="0"/>
              <a:t>Est-ce une valeur continue (un nombre)</a:t>
            </a:r>
          </a:p>
          <a:p>
            <a:pPr lvl="1"/>
            <a:r>
              <a:rPr lang="fr-FR" dirty="0"/>
              <a:t>ou bien une valeur discrète (une catégorie) ?</a:t>
            </a:r>
          </a:p>
          <a:p>
            <a:r>
              <a:rPr lang="fr-FR" dirty="0"/>
              <a:t>Le premier cas est appelé une régression, le second une classification</a:t>
            </a:r>
          </a:p>
        </p:txBody>
      </p:sp>
      <p:pic>
        <p:nvPicPr>
          <p:cNvPr id="1026" name="Picture 2" descr="Illustration de la différence entre régression et classificati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7744" y="4591645"/>
            <a:ext cx="4286250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465263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3B79A36-DCA2-04FF-4BD9-ADEA618418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Principes mathématiques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A9957CF-3C17-0A94-E370-57CDB03457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De nombreux principes mathématiques et statistiques régissent le Machine Learning</a:t>
            </a:r>
          </a:p>
          <a:p>
            <a:pPr lvl="1"/>
            <a:r>
              <a:rPr lang="fr-FR" sz="2000" dirty="0"/>
              <a:t>D'avantage pour le </a:t>
            </a:r>
            <a:r>
              <a:rPr lang="fr-FR" sz="2000"/>
              <a:t>Deep Learning</a:t>
            </a:r>
            <a:endParaRPr lang="fr-FR" sz="2000" dirty="0"/>
          </a:p>
          <a:p>
            <a:r>
              <a:rPr lang="fr-FR" dirty="0"/>
              <a:t>Statistiques</a:t>
            </a:r>
          </a:p>
          <a:p>
            <a:pPr lvl="1"/>
            <a:r>
              <a:rPr lang="fr-FR" sz="2000" dirty="0"/>
              <a:t>Distribution, loi normale, échantillonnage</a:t>
            </a:r>
          </a:p>
          <a:p>
            <a:r>
              <a:rPr lang="fr-FR" dirty="0"/>
              <a:t>Algorithmiques</a:t>
            </a:r>
            <a:endParaRPr lang="fr-FR" sz="2000" dirty="0"/>
          </a:p>
          <a:p>
            <a:r>
              <a:rPr lang="fr-FR" dirty="0"/>
              <a:t>MDP</a:t>
            </a:r>
          </a:p>
          <a:p>
            <a:pPr lvl="1"/>
            <a:r>
              <a:rPr lang="fr-FR" sz="2000" dirty="0"/>
              <a:t>Les processus de décision markoviens modélisent des états, actions et </a:t>
            </a:r>
            <a:r>
              <a:rPr lang="fr-FR" sz="1800" dirty="0"/>
              <a:t>récompenses </a:t>
            </a:r>
            <a:r>
              <a:rPr lang="fr-FR" dirty="0"/>
              <a:t>pour la prise de décision séquentielle.​</a:t>
            </a:r>
            <a:endParaRPr lang="fr-FR" sz="2800" dirty="0"/>
          </a:p>
          <a:p>
            <a:r>
              <a:rPr lang="fr-FR" dirty="0"/>
              <a:t>Équations de Bellman​</a:t>
            </a:r>
          </a:p>
          <a:p>
            <a:pPr lvl="1"/>
            <a:r>
              <a:rPr lang="fr-FR" sz="2000" dirty="0"/>
              <a:t>Les équations de Bellman définissent la relation récursive pour calculer les fonctions des valeurs optimales.​</a:t>
            </a:r>
          </a:p>
        </p:txBody>
      </p:sp>
    </p:spTree>
    <p:extLst>
      <p:ext uri="{BB962C8B-B14F-4D97-AF65-F5344CB8AC3E}">
        <p14:creationId xmlns:p14="http://schemas.microsoft.com/office/powerpoint/2010/main" val="24442780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Trouver le bon modèle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Pour résumer, le travail de modélisation consiste à trouver le bon modèle statistique qui colle le mieux aux données d'exemple</a:t>
            </a:r>
          </a:p>
          <a:p>
            <a:r>
              <a:rPr lang="fr-FR" dirty="0"/>
              <a:t>Le machine </a:t>
            </a:r>
            <a:r>
              <a:rPr lang="fr-FR" dirty="0" err="1"/>
              <a:t>learning</a:t>
            </a:r>
            <a:r>
              <a:rPr lang="fr-FR" dirty="0"/>
              <a:t> en particulier intervient pour trouver ce modèle de manière automatisée</a:t>
            </a:r>
          </a:p>
          <a:p>
            <a:r>
              <a:rPr lang="fr-FR" dirty="0"/>
              <a:t>Problème du quartet d’</a:t>
            </a:r>
            <a:r>
              <a:rPr lang="fr-FR" dirty="0" err="1"/>
              <a:t>Ascombe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48214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Quartet d’</a:t>
            </a:r>
            <a:r>
              <a:rPr lang="fr-FR" dirty="0" err="1"/>
              <a:t>Ascombe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Ces 4 modèles possède la même régression linéaire</a:t>
            </a:r>
          </a:p>
          <a:p>
            <a:pPr lvl="1"/>
            <a:r>
              <a:rPr lang="fr-FR" dirty="0"/>
              <a:t>Trouver les erreurs</a:t>
            </a:r>
          </a:p>
        </p:txBody>
      </p:sp>
      <p:pic>
        <p:nvPicPr>
          <p:cNvPr id="4098" name="Picture 2" descr="Le quartet d'anscomb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8833" y="2783429"/>
            <a:ext cx="6067407" cy="40530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16077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La régression n’est pas tous les temps linéaire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Dans cette exemple il est impossible de faire filer une droite</a:t>
            </a:r>
          </a:p>
        </p:txBody>
      </p:sp>
      <p:pic>
        <p:nvPicPr>
          <p:cNvPr id="4098" name="Picture 2" descr="Comme on peut le voir sur ce genre de données, c'est difficile de faire fitter une droite!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752" y="1860773"/>
            <a:ext cx="4714875" cy="4619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730094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différents types de régression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Linéaire</a:t>
            </a:r>
          </a:p>
          <a:p>
            <a:pPr lvl="1"/>
            <a:r>
              <a:rPr lang="fr-FR" dirty="0"/>
              <a:t>f = </a:t>
            </a:r>
            <a:r>
              <a:rPr lang="fr-FR" dirty="0" err="1"/>
              <a:t>ax</a:t>
            </a:r>
            <a:r>
              <a:rPr lang="fr-FR" dirty="0"/>
              <a:t>  + b</a:t>
            </a:r>
          </a:p>
          <a:p>
            <a:pPr lvl="1"/>
            <a:r>
              <a:rPr lang="fr-FR" dirty="0"/>
              <a:t>Moyenne est un cas particulier : f = mx</a:t>
            </a:r>
          </a:p>
          <a:p>
            <a:r>
              <a:rPr lang="fr-FR" dirty="0"/>
              <a:t>Second degré (binomiale)</a:t>
            </a:r>
          </a:p>
          <a:p>
            <a:pPr lvl="1"/>
            <a:r>
              <a:rPr lang="fr-FR" dirty="0"/>
              <a:t>f = ax² + </a:t>
            </a:r>
            <a:r>
              <a:rPr lang="fr-FR" dirty="0" err="1"/>
              <a:t>bx</a:t>
            </a:r>
            <a:r>
              <a:rPr lang="fr-FR" dirty="0"/>
              <a:t> + c</a:t>
            </a:r>
          </a:p>
          <a:p>
            <a:r>
              <a:rPr lang="fr-FR" dirty="0"/>
              <a:t>Troisième degré (</a:t>
            </a:r>
            <a:r>
              <a:rPr lang="fr-FR" dirty="0" err="1"/>
              <a:t>trinomiale</a:t>
            </a:r>
            <a:r>
              <a:rPr lang="fr-FR" dirty="0"/>
              <a:t>)</a:t>
            </a:r>
          </a:p>
          <a:p>
            <a:pPr lvl="1"/>
            <a:r>
              <a:rPr lang="fr-FR" dirty="0"/>
              <a:t>f = ax3 + bx² + cx + d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4168" y="2842443"/>
            <a:ext cx="2474987" cy="1652397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7944" y="4477190"/>
            <a:ext cx="2415770" cy="1580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72187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différents types de régression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Polynomiale</a:t>
            </a:r>
          </a:p>
          <a:p>
            <a:pPr lvl="1"/>
            <a:r>
              <a:rPr lang="fr-FR" dirty="0"/>
              <a:t>f = </a:t>
            </a:r>
            <a:r>
              <a:rPr lang="fr-FR" dirty="0" err="1"/>
              <a:t>polynome</a:t>
            </a:r>
            <a:endParaRPr lang="fr-FR" dirty="0"/>
          </a:p>
          <a:p>
            <a:r>
              <a:rPr lang="fr-FR" dirty="0"/>
              <a:t>Exponentielle</a:t>
            </a:r>
          </a:p>
          <a:p>
            <a:pPr lvl="1"/>
            <a:r>
              <a:rPr lang="fr-FR" dirty="0"/>
              <a:t>f = </a:t>
            </a:r>
            <a:r>
              <a:rPr lang="fr-FR" dirty="0" err="1"/>
              <a:t>exp</a:t>
            </a:r>
            <a:r>
              <a:rPr lang="fr-FR" dirty="0"/>
              <a:t>(x)</a:t>
            </a:r>
          </a:p>
          <a:p>
            <a:r>
              <a:rPr lang="fr-FR" dirty="0"/>
              <a:t>Logarithmique</a:t>
            </a:r>
          </a:p>
          <a:p>
            <a:pPr lvl="1"/>
            <a:r>
              <a:rPr lang="fr-FR" dirty="0"/>
              <a:t>f = log(x)</a:t>
            </a:r>
          </a:p>
          <a:p>
            <a:r>
              <a:rPr lang="fr-FR" dirty="0"/>
              <a:t>Asymptotique</a:t>
            </a:r>
          </a:p>
          <a:p>
            <a:pPr lvl="1"/>
            <a:r>
              <a:rPr lang="fr-FR" dirty="0"/>
              <a:t>F = 1/x</a:t>
            </a:r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1840" y="3933056"/>
            <a:ext cx="3314700" cy="2200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98398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différents types de régression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Sinusoidale</a:t>
            </a:r>
            <a:endParaRPr lang="fr-FR" dirty="0"/>
          </a:p>
          <a:p>
            <a:pPr lvl="1"/>
            <a:r>
              <a:rPr lang="fr-FR" dirty="0"/>
              <a:t>f = a sin(x / b)</a:t>
            </a:r>
          </a:p>
          <a:p>
            <a:r>
              <a:rPr lang="fr-FR" dirty="0" err="1"/>
              <a:t>Sinusoidale</a:t>
            </a:r>
            <a:r>
              <a:rPr lang="fr-FR" dirty="0"/>
              <a:t> amortie</a:t>
            </a:r>
          </a:p>
          <a:p>
            <a:pPr lvl="1"/>
            <a:r>
              <a:rPr lang="fr-FR" dirty="0"/>
              <a:t>f = a sin(x / b) </a:t>
            </a:r>
            <a:r>
              <a:rPr lang="fr-FR" dirty="0" err="1"/>
              <a:t>exp</a:t>
            </a:r>
            <a:r>
              <a:rPr lang="fr-FR" dirty="0"/>
              <a:t>(-x / c)</a:t>
            </a:r>
          </a:p>
          <a:p>
            <a:pPr lvl="1"/>
            <a:endParaRPr lang="fr-FR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8024" y="1156209"/>
            <a:ext cx="3248025" cy="2162175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5522" y="3574951"/>
            <a:ext cx="3267075" cy="2152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75673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Machine Learning</a:t>
            </a:r>
          </a:p>
        </p:txBody>
      </p:sp>
      <p:pic>
        <p:nvPicPr>
          <p:cNvPr id="5122" name="Picture 2" descr="Nous ne nous intéresseront dans ces cours qu'à la création des algorithmes et modélisation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1156209"/>
            <a:ext cx="5453559" cy="40901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551904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Filtrage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Il faut pouvoir enlever les données aberrante</a:t>
            </a:r>
          </a:p>
          <a:p>
            <a:r>
              <a:rPr lang="fr-FR" dirty="0"/>
              <a:t>Ou les données non significatives</a:t>
            </a:r>
          </a:p>
          <a:p>
            <a:r>
              <a:rPr lang="fr-FR" dirty="0"/>
              <a:t>Ou les données trop en dehors de l’écart type</a:t>
            </a:r>
          </a:p>
        </p:txBody>
      </p:sp>
      <p:pic>
        <p:nvPicPr>
          <p:cNvPr id="1026" name="Picture 2" descr="Comment détecter des événements rares comme le point rouge?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736" y="3284984"/>
            <a:ext cx="4286250" cy="3000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31157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Ecart type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Mesure la dispersion des variables</a:t>
            </a:r>
          </a:p>
          <a:p>
            <a:pPr lvl="1"/>
            <a:r>
              <a:rPr lang="fr-FR" dirty="0"/>
              <a:t>Racine carrée de la variance</a:t>
            </a:r>
          </a:p>
          <a:p>
            <a:pPr lvl="1"/>
            <a:r>
              <a:rPr lang="fr-FR" dirty="0"/>
              <a:t>Moyenne est écarts par rapport à une moyenne</a:t>
            </a:r>
          </a:p>
          <a:p>
            <a:pPr lvl="1"/>
            <a:r>
              <a:rPr lang="fr-FR" dirty="0"/>
              <a:t>Souvent noté sigma</a:t>
            </a:r>
          </a:p>
          <a:p>
            <a:r>
              <a:rPr lang="fr-FR" dirty="0"/>
              <a:t>Voici 2 échantillons avec la même moyenne mais des écarts types différents</a:t>
            </a:r>
          </a:p>
        </p:txBody>
      </p:sp>
      <p:pic>
        <p:nvPicPr>
          <p:cNvPr id="3074" name="Picture 2" descr="https://upload.wikimedia.org/wikipedia/commons/thumb/f/f9/Comparison_standard_deviations.svg/612px-Comparison_standard_deviations.svg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6792" y="4149081"/>
            <a:ext cx="3071450" cy="2273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946356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Loi normale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Il est fréquent de considérer que les valeurs se répartissent selon une courbe de Gauss</a:t>
            </a:r>
          </a:p>
          <a:p>
            <a:pPr lvl="1"/>
            <a:r>
              <a:rPr lang="fr-FR" dirty="0"/>
              <a:t>Dans le cas des sciences sociales, par exemple, la moyenne et l'écart type permettent de déterminer un intervalle dans lequel on trouve une majorité de la population</a:t>
            </a:r>
          </a:p>
          <a:p>
            <a:pPr lvl="1"/>
            <a:endParaRPr lang="fr-FR" dirty="0"/>
          </a:p>
        </p:txBody>
      </p:sp>
      <p:pic>
        <p:nvPicPr>
          <p:cNvPr id="4098" name="Picture 2" descr="https://upload.wikimedia.org/wikipedia/commons/thumb/8/8c/Standard_deviation_diagram.svg/400px-Standard_deviation_diagram.svg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752" y="4221088"/>
            <a:ext cx="3810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777049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Loi normale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Avec le calcul de la distribution des données il est possible de filtrer les données trop éloignée de la loi normale</a:t>
            </a:r>
          </a:p>
          <a:p>
            <a:pPr lvl="1"/>
            <a:r>
              <a:rPr lang="fr-FR" dirty="0"/>
              <a:t>Possibilité de filtrer les données &gt; 3 * Sigma</a:t>
            </a:r>
          </a:p>
          <a:p>
            <a:r>
              <a:rPr lang="fr-FR" dirty="0"/>
              <a:t>Possibilité de calculer la médiane, quartile, décile, centile</a:t>
            </a:r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940000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Cas non gaussien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Les distribution des salaire en France ne suit pas une gaussienne</a:t>
            </a:r>
          </a:p>
          <a:p>
            <a:pPr lvl="1"/>
            <a:r>
              <a:rPr lang="fr-FR" dirty="0"/>
              <a:t>C’est une gaussienne asymétrique</a:t>
            </a:r>
          </a:p>
          <a:p>
            <a:r>
              <a:rPr lang="fr-FR" dirty="0"/>
              <a:t>La moyenne et l’écart type n’ont pas de sens</a:t>
            </a:r>
          </a:p>
          <a:p>
            <a:r>
              <a:rPr lang="fr-FR" dirty="0"/>
              <a:t>Il faut utilise la médiane et les *iles</a:t>
            </a:r>
          </a:p>
          <a:p>
            <a:r>
              <a:rPr lang="fr-FR" dirty="0"/>
              <a:t>Exemple</a:t>
            </a:r>
          </a:p>
          <a:p>
            <a:pPr lvl="1"/>
            <a:r>
              <a:rPr lang="fr-FR" dirty="0"/>
              <a:t>Salaire équivalent temps plein net</a:t>
            </a:r>
          </a:p>
          <a:p>
            <a:pPr lvl="1"/>
            <a:r>
              <a:rPr lang="fr-FR" dirty="0"/>
              <a:t>Salaire moyen : 2250 €</a:t>
            </a:r>
          </a:p>
          <a:p>
            <a:pPr lvl="1"/>
            <a:r>
              <a:rPr lang="fr-FR" dirty="0"/>
              <a:t>Salaire médian : 1797 €</a:t>
            </a:r>
          </a:p>
          <a:p>
            <a:pPr lvl="1"/>
            <a:endParaRPr lang="fr-FR" dirty="0"/>
          </a:p>
        </p:txBody>
      </p:sp>
      <p:pic>
        <p:nvPicPr>
          <p:cNvPr id="5122" name="Picture 2" descr="Résultat de recherche d'images pour &quot;distribution des salaires en france&quot;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7864" y="3789040"/>
            <a:ext cx="3367370" cy="22625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54339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Modélisation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Imaginez que vous êtes un data </a:t>
            </a:r>
            <a:r>
              <a:rPr lang="fr-FR" dirty="0" err="1"/>
              <a:t>scientist</a:t>
            </a:r>
            <a:endParaRPr lang="fr-FR" dirty="0"/>
          </a:p>
          <a:p>
            <a:pPr lvl="1"/>
            <a:r>
              <a:rPr lang="fr-FR" dirty="0"/>
              <a:t>Vous êtes maintenant confortable avec l'ensemble des données récupérées pour vos analyses</a:t>
            </a:r>
          </a:p>
          <a:p>
            <a:pPr lvl="1"/>
            <a:r>
              <a:rPr lang="fr-FR" dirty="0"/>
              <a:t>Vous avez une connaissance des objectifs principaux de l'entreprise, ce qui vous a aidé à synthétiser les différentes variables qui interviennent, ainsi que visualiser les différents comportements et corrélations présents au sein de ces données</a:t>
            </a:r>
          </a:p>
        </p:txBody>
      </p:sp>
    </p:spTree>
    <p:extLst>
      <p:ext uri="{BB962C8B-B14F-4D97-AF65-F5344CB8AC3E}">
        <p14:creationId xmlns:p14="http://schemas.microsoft.com/office/powerpoint/2010/main" val="121328464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Apprentissage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En machine </a:t>
            </a:r>
            <a:r>
              <a:rPr lang="fr-FR" dirty="0" err="1"/>
              <a:t>learning</a:t>
            </a:r>
            <a:r>
              <a:rPr lang="fr-FR" dirty="0"/>
              <a:t>, l'idée est que l'algorithme construise une "représentation interne" tout seul afin de pouvoir effectuer la tâche qui lui est demandée (prédiction, identification, </a:t>
            </a:r>
            <a:r>
              <a:rPr lang="fr-FR" dirty="0" err="1"/>
              <a:t>etc</a:t>
            </a:r>
            <a:r>
              <a:rPr lang="fr-FR" dirty="0"/>
              <a:t>)</a:t>
            </a:r>
          </a:p>
          <a:p>
            <a:r>
              <a:rPr lang="fr-FR" dirty="0"/>
              <a:t>L’être humain est quasiment incapable d’écrire l’algorithme</a:t>
            </a:r>
          </a:p>
          <a:p>
            <a:r>
              <a:rPr lang="fr-FR" dirty="0"/>
              <a:t>Pour cela, il va d'abord falloir lui entrer un jeu de données d'exemples afin qu'il puisse s'entraîner et s'améliorer, d'où le mot apprentissage</a:t>
            </a:r>
          </a:p>
          <a:p>
            <a:r>
              <a:rPr lang="fr-FR" dirty="0"/>
              <a:t>Ce jeu de données s'appelle le training set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9689129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Machine Learning </a:t>
            </a:r>
            <a:r>
              <a:rPr lang="fr-FR"/>
              <a:t>vs Programmation</a:t>
            </a:r>
            <a:endParaRPr lang="fr-FR" dirty="0"/>
          </a:p>
        </p:txBody>
      </p:sp>
      <p:pic>
        <p:nvPicPr>
          <p:cNvPr id="1026" name="Picture 2" descr="https://dpzbhybb2pdcj.cloudfront.net/allaire/Figures/01fig0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12" y="2420888"/>
            <a:ext cx="6048672" cy="30694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98157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Exemple</a:t>
            </a:r>
          </a:p>
        </p:txBody>
      </p:sp>
      <p:pic>
        <p:nvPicPr>
          <p:cNvPr id="6146" name="Picture 2" descr="Un exemple de jeu de données classique (appelé CIFAR-10) qui permet d'entraîner un modèle de machine learnin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0716" y="1156209"/>
            <a:ext cx="6697627" cy="51779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9442572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Workflow</a:t>
            </a:r>
          </a:p>
        </p:txBody>
      </p:sp>
      <p:pic>
        <p:nvPicPr>
          <p:cNvPr id="7170" name="Picture 2" descr="Un détail de des deux phases du process de machine learning.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1268760"/>
            <a:ext cx="6902073" cy="46788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719881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Notre travail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 travail du data </a:t>
            </a:r>
            <a:r>
              <a:rPr lang="fr-FR" dirty="0" err="1"/>
              <a:t>scientist</a:t>
            </a:r>
            <a:r>
              <a:rPr lang="fr-FR" dirty="0"/>
              <a:t> en machine </a:t>
            </a:r>
            <a:r>
              <a:rPr lang="fr-FR" dirty="0" err="1"/>
              <a:t>learning</a:t>
            </a:r>
            <a:r>
              <a:rPr lang="fr-FR" dirty="0"/>
              <a:t> consiste à sélectionner les bonnes données test, choisir et entraîner le bon algorithme en vérifiant grâce à l'analyse d'erreurs que le modèle devient de plus en plus performant et robuste</a:t>
            </a:r>
          </a:p>
          <a:p>
            <a:r>
              <a:rPr lang="fr-FR" dirty="0"/>
              <a:t>Si les performances s'améliorent lorsqu'on lui fourni les données d'entraînement, on dit alors que la machine "apprend".</a:t>
            </a:r>
          </a:p>
          <a:p>
            <a:r>
              <a:rPr lang="fr-FR" dirty="0"/>
              <a:t>Le data </a:t>
            </a:r>
            <a:r>
              <a:rPr lang="fr-FR" dirty="0" err="1"/>
              <a:t>scientist</a:t>
            </a:r>
            <a:r>
              <a:rPr lang="fr-FR" dirty="0"/>
              <a:t> peut ensuite déployer le modèle afin qu'il traite de nouvelles données, pour accomplir la tâche (prédiction</a:t>
            </a:r>
            <a:r>
              <a:rPr lang="fr-FR"/>
              <a:t>, décision, ...).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3586972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L'algorithme d'apprentissage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L'algorithme d'apprentissage constitue la méthode avec laquelle le modèle statistique va se paramétrer à partir des données d'exemple</a:t>
            </a:r>
          </a:p>
          <a:p>
            <a:pPr lvl="1"/>
            <a:r>
              <a:rPr lang="fr-FR" dirty="0"/>
              <a:t>Il existe de nombreux algorithmes différents !</a:t>
            </a:r>
          </a:p>
          <a:p>
            <a:pPr lvl="1"/>
            <a:r>
              <a:rPr lang="fr-FR" dirty="0"/>
              <a:t>On choisira un type d'algorithme particulier en fonction du type de tâche que l'on souhaite accomplir et du type de données dont on dispose</a:t>
            </a:r>
          </a:p>
        </p:txBody>
      </p:sp>
    </p:spTree>
    <p:extLst>
      <p:ext uri="{BB962C8B-B14F-4D97-AF65-F5344CB8AC3E}">
        <p14:creationId xmlns:p14="http://schemas.microsoft.com/office/powerpoint/2010/main" val="183449102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Exemples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Quelques exemples d'algorithmes de machine </a:t>
            </a:r>
            <a:r>
              <a:rPr lang="fr-FR" dirty="0" err="1"/>
              <a:t>learning</a:t>
            </a:r>
            <a:r>
              <a:rPr lang="fr-FR" dirty="0"/>
              <a:t>, dont vous avez peut-être déjà entendu parler :</a:t>
            </a:r>
          </a:p>
          <a:p>
            <a:pPr lvl="1"/>
            <a:r>
              <a:rPr lang="fr-FR" dirty="0"/>
              <a:t>La régression linéaire</a:t>
            </a:r>
          </a:p>
          <a:p>
            <a:pPr lvl="1"/>
            <a:r>
              <a:rPr lang="fr-FR" dirty="0" err="1"/>
              <a:t>K-nn</a:t>
            </a:r>
            <a:endParaRPr lang="fr-FR" dirty="0"/>
          </a:p>
          <a:p>
            <a:pPr lvl="1"/>
            <a:r>
              <a:rPr lang="fr-FR" dirty="0"/>
              <a:t>Les Support </a:t>
            </a:r>
            <a:r>
              <a:rPr lang="fr-FR" dirty="0" err="1"/>
              <a:t>Vector</a:t>
            </a:r>
            <a:r>
              <a:rPr lang="fr-FR" dirty="0"/>
              <a:t> Machine (SVM)</a:t>
            </a:r>
          </a:p>
          <a:p>
            <a:pPr lvl="1"/>
            <a:r>
              <a:rPr lang="fr-FR" dirty="0"/>
              <a:t>Les réseaux de neurones</a:t>
            </a:r>
          </a:p>
          <a:p>
            <a:pPr lvl="1"/>
            <a:r>
              <a:rPr lang="fr-FR" dirty="0"/>
              <a:t>Les </a:t>
            </a:r>
            <a:r>
              <a:rPr lang="fr-FR" dirty="0" err="1"/>
              <a:t>random</a:t>
            </a:r>
            <a:r>
              <a:rPr lang="fr-FR" dirty="0"/>
              <a:t> </a:t>
            </a:r>
            <a:r>
              <a:rPr lang="fr-FR" dirty="0" err="1"/>
              <a:t>forests</a:t>
            </a:r>
            <a:endParaRPr lang="fr-FR" dirty="0"/>
          </a:p>
          <a:p>
            <a:pPr lvl="1"/>
            <a:r>
              <a:rPr lang="fr-FR" dirty="0"/>
              <a:t>etc.</a:t>
            </a:r>
          </a:p>
        </p:txBody>
      </p:sp>
    </p:spTree>
    <p:extLst>
      <p:ext uri="{BB962C8B-B14F-4D97-AF65-F5344CB8AC3E}">
        <p14:creationId xmlns:p14="http://schemas.microsoft.com/office/powerpoint/2010/main" val="415239901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Mesure de performance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Mesurer les performances fait partie intégrante du travail de modélisation. Il faut en général déterminer une mesure principale, souvent spécifique à la tâche à accomplir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7377435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Considération sur les tailles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sz="2400" dirty="0"/>
              <a:t>En Python un flottant fait 32 bits</a:t>
            </a:r>
          </a:p>
          <a:p>
            <a:pPr lvl="1"/>
            <a:r>
              <a:rPr lang="fr-FR" sz="2000" dirty="0"/>
              <a:t>Sachant que la moitié des ressources est pris par l’OS et qu’une liste de valeur est amené à être dupliqué au moins une fois</a:t>
            </a:r>
          </a:p>
          <a:p>
            <a:pPr lvl="1"/>
            <a:r>
              <a:rPr lang="fr-FR" sz="2000" dirty="0"/>
              <a:t>Python 32 bits sait géré 10**8 flottants</a:t>
            </a:r>
          </a:p>
          <a:p>
            <a:pPr lvl="1"/>
            <a:r>
              <a:rPr lang="fr-FR" sz="2000" dirty="0"/>
              <a:t>Python 64 bits sait géré 10**18 flottants</a:t>
            </a:r>
          </a:p>
          <a:p>
            <a:r>
              <a:rPr lang="fr-FR" sz="2400" dirty="0"/>
              <a:t>Une image 28 * 28 * 16 niveaux de gris fait 3Ko</a:t>
            </a:r>
          </a:p>
          <a:p>
            <a:pPr lvl="1"/>
            <a:r>
              <a:rPr lang="fr-FR" sz="2000" dirty="0"/>
              <a:t>Python 32 bits sait géré 333 000 images</a:t>
            </a:r>
          </a:p>
          <a:p>
            <a:pPr lvl="1"/>
            <a:r>
              <a:rPr lang="fr-FR" sz="2000" dirty="0"/>
              <a:t>Python 64 bits sait géré 10**15 images</a:t>
            </a:r>
          </a:p>
          <a:p>
            <a:r>
              <a:rPr lang="fr-FR" sz="2400" dirty="0"/>
              <a:t>Une image 1024 * 768 en couleur RAW fait 3Mo</a:t>
            </a:r>
          </a:p>
          <a:p>
            <a:pPr lvl="1"/>
            <a:r>
              <a:rPr lang="fr-FR" sz="2000" dirty="0"/>
              <a:t>Python 32 bits sait géré 333 images</a:t>
            </a:r>
          </a:p>
          <a:p>
            <a:pPr lvl="1"/>
            <a:r>
              <a:rPr lang="fr-FR" sz="2000" dirty="0"/>
              <a:t>Python 64 bits sait géré 10**12 images</a:t>
            </a:r>
          </a:p>
          <a:p>
            <a:r>
              <a:rPr lang="fr-FR" sz="2400" dirty="0"/>
              <a:t>Une image 4K RAW fait 16Mo</a:t>
            </a:r>
          </a:p>
          <a:p>
            <a:pPr marL="457200" lvl="1" indent="0">
              <a:buNone/>
            </a:pPr>
            <a:endParaRPr lang="fr-FR" dirty="0"/>
          </a:p>
          <a:p>
            <a:pPr lvl="1"/>
            <a:endParaRPr lang="fr-FR" sz="2000" dirty="0"/>
          </a:p>
        </p:txBody>
      </p:sp>
    </p:spTree>
    <p:extLst>
      <p:ext uri="{BB962C8B-B14F-4D97-AF65-F5344CB8AC3E}">
        <p14:creationId xmlns:p14="http://schemas.microsoft.com/office/powerpoint/2010/main" val="91619389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Pur rappel</a:t>
            </a:r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12280" y="1412875"/>
            <a:ext cx="6300391" cy="5040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463974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95591C7-271E-7838-BCF7-EAA93EC4C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Frameworks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2C35FC1-24B2-930D-B6D7-347BE8D03A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Pour le Machine Learning</a:t>
            </a:r>
          </a:p>
          <a:p>
            <a:r>
              <a:rPr lang="fr-FR" dirty="0"/>
              <a:t>Nous allons utiliser </a:t>
            </a:r>
            <a:r>
              <a:rPr lang="fr-FR" dirty="0" err="1"/>
              <a:t>Scikit-learn</a:t>
            </a:r>
            <a:r>
              <a:rPr lang="fr-FR" dirty="0"/>
              <a:t> pour l'entrainement côté PC</a:t>
            </a:r>
          </a:p>
          <a:p>
            <a:r>
              <a:rPr lang="fr-FR" dirty="0"/>
              <a:t>Nous allons utiliser </a:t>
            </a:r>
            <a:r>
              <a:rPr lang="fr-FR" dirty="0" err="1"/>
              <a:t>EMLearn</a:t>
            </a:r>
            <a:r>
              <a:rPr lang="fr-FR" dirty="0"/>
              <a:t> pour la prédiction côté micro-</a:t>
            </a:r>
            <a:r>
              <a:rPr lang="fr-FR" dirty="0" err="1"/>
              <a:t>controlleur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9403541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4668743-C478-4A85-1D9B-F6D53271E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Worflow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D66064D-D52E-EC60-6D17-D7B1A0A217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BC57BE11-FD26-ADEA-BC6F-C27765EF46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467" y="1268760"/>
            <a:ext cx="8345065" cy="4782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105805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1E0E692-168F-E8D3-7C81-692AE0741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TP 4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A321AAE-C1B0-BD5C-939F-DDF4F75760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Etudier House avec Pandas</a:t>
            </a:r>
          </a:p>
          <a:p>
            <a:r>
              <a:rPr lang="fr-FR" dirty="0"/>
              <a:t>Etudier Heart avec Pandas</a:t>
            </a:r>
          </a:p>
        </p:txBody>
      </p:sp>
    </p:spTree>
    <p:extLst>
      <p:ext uri="{BB962C8B-B14F-4D97-AF65-F5344CB8AC3E}">
        <p14:creationId xmlns:p14="http://schemas.microsoft.com/office/powerpoint/2010/main" val="597347316"/>
      </p:ext>
    </p:extLst>
  </p:cSld>
  <p:clrMapOvr>
    <a:masterClrMapping/>
  </p:clrMapOvr>
</p:sld>
</file>

<file path=ppt/theme/theme1.xml><?xml version="1.0" encoding="utf-8"?>
<a:theme xmlns:a="http://schemas.openxmlformats.org/drawingml/2006/main" name="cvc">
  <a:themeElements>
    <a:clrScheme name="cvc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v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vc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vc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3551</TotalTime>
  <Words>1169</Words>
  <Application>Microsoft Office PowerPoint</Application>
  <PresentationFormat>Affichage à l'écran (4:3)</PresentationFormat>
  <Paragraphs>159</Paragraphs>
  <Slides>38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38</vt:i4>
      </vt:variant>
    </vt:vector>
  </HeadingPairs>
  <TitlesOfParts>
    <vt:vector size="42" baseType="lpstr">
      <vt:lpstr>Arial</vt:lpstr>
      <vt:lpstr>Monotype Sorts</vt:lpstr>
      <vt:lpstr>Times New Roman</vt:lpstr>
      <vt:lpstr>cvc</vt:lpstr>
      <vt:lpstr>Présentation PowerPoint</vt:lpstr>
      <vt:lpstr>Présentation PowerPoint</vt:lpstr>
      <vt:lpstr>IA - ML - DL</vt:lpstr>
      <vt:lpstr>1ère étape</vt:lpstr>
      <vt:lpstr>But</vt:lpstr>
      <vt:lpstr>Exemple</vt:lpstr>
      <vt:lpstr>Graphique</vt:lpstr>
      <vt:lpstr>Régression</vt:lpstr>
      <vt:lpstr>Régression linéaire</vt:lpstr>
      <vt:lpstr>Erreur</vt:lpstr>
      <vt:lpstr>Classification</vt:lpstr>
      <vt:lpstr>Principes mathématiques</vt:lpstr>
      <vt:lpstr>Trouver le bon modèle</vt:lpstr>
      <vt:lpstr>Quartet d’Ascombe</vt:lpstr>
      <vt:lpstr>La régression n’est pas tous les temps linéaire</vt:lpstr>
      <vt:lpstr>Les différents types de régression</vt:lpstr>
      <vt:lpstr>Les différents types de régression</vt:lpstr>
      <vt:lpstr>Les différents types de régression</vt:lpstr>
      <vt:lpstr>Machine Learning</vt:lpstr>
      <vt:lpstr>Filtrage</vt:lpstr>
      <vt:lpstr>Ecart type</vt:lpstr>
      <vt:lpstr>Loi normale</vt:lpstr>
      <vt:lpstr>Loi normale</vt:lpstr>
      <vt:lpstr>Cas non gaussien</vt:lpstr>
      <vt:lpstr>Modélisation</vt:lpstr>
      <vt:lpstr>Apprentissage</vt:lpstr>
      <vt:lpstr>Machine Learning vs Programmation</vt:lpstr>
      <vt:lpstr>Exemple</vt:lpstr>
      <vt:lpstr>Workflow</vt:lpstr>
      <vt:lpstr>Notre travail</vt:lpstr>
      <vt:lpstr>L'algorithme d'apprentissage</vt:lpstr>
      <vt:lpstr>Exemples</vt:lpstr>
      <vt:lpstr>Mesure de performance</vt:lpstr>
      <vt:lpstr>Considération sur les tailles</vt:lpstr>
      <vt:lpstr>Pur rappel</vt:lpstr>
      <vt:lpstr>Frameworks</vt:lpstr>
      <vt:lpstr>Worflow</vt:lpstr>
      <vt:lpstr>TP 4</vt:lpstr>
    </vt:vector>
  </TitlesOfParts>
  <Company>jkhjkjkh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</dc:title>
  <dc:creator>jhkhkhkj</dc:creator>
  <cp:lastModifiedBy>Cyril Vincent</cp:lastModifiedBy>
  <cp:revision>281</cp:revision>
  <dcterms:created xsi:type="dcterms:W3CDTF">2000-04-10T19:33:12Z</dcterms:created>
  <dcterms:modified xsi:type="dcterms:W3CDTF">2026-06-10T10:10:58Z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lpwstr>0.1</vt:lpwstr>
  </property>
</Properties>
</file>