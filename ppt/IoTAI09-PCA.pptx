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264" r:id="rId2"/>
    <p:sldId id="265" r:id="rId3"/>
    <p:sldId id="266" r:id="rId4"/>
    <p:sldId id="267" r:id="rId5"/>
    <p:sldId id="268" r:id="rId6"/>
    <p:sldId id="269" r:id="rId7"/>
    <p:sldId id="282" r:id="rId8"/>
    <p:sldId id="271" r:id="rId9"/>
    <p:sldId id="272" r:id="rId10"/>
    <p:sldId id="277" r:id="rId11"/>
    <p:sldId id="273" r:id="rId12"/>
    <p:sldId id="274" r:id="rId13"/>
    <p:sldId id="275" r:id="rId14"/>
    <p:sldId id="270" r:id="rId15"/>
    <p:sldId id="276" r:id="rId16"/>
    <p:sldId id="278" r:id="rId17"/>
    <p:sldId id="281" r:id="rId18"/>
    <p:sldId id="279" r:id="rId19"/>
    <p:sldId id="280" r:id="rId20"/>
    <p:sldId id="284" r:id="rId21"/>
    <p:sldId id="283" r:id="rId2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859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40/human+activity+recognition+using+smartphone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EMLearn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B0C0DD4-C32D-6361-822A-08686DBB9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339" y="3783217"/>
            <a:ext cx="3296110" cy="1343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Diminution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limite le nombre de </a:t>
            </a:r>
            <a:r>
              <a:rPr lang="fr-FR" dirty="0" err="1"/>
              <a:t>features</a:t>
            </a:r>
            <a:r>
              <a:rPr lang="fr-FR" dirty="0"/>
              <a:t> à 100</a:t>
            </a:r>
          </a:p>
          <a:p>
            <a:pPr lvl="1"/>
            <a:r>
              <a:rPr lang="fr-FR" dirty="0"/>
              <a:t>MNIST possède 784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La rapidité est liée au nombre de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existe de nombreuses méthodes pour diminuer le nombre de dimension d'un tenseur</a:t>
            </a:r>
          </a:p>
          <a:p>
            <a:r>
              <a:rPr lang="fr-FR" dirty="0"/>
              <a:t>PCA</a:t>
            </a:r>
          </a:p>
          <a:p>
            <a:pPr lvl="1"/>
            <a:r>
              <a:rPr lang="fr-FR" dirty="0"/>
              <a:t>Analyse en composante principale</a:t>
            </a:r>
          </a:p>
          <a:p>
            <a:pPr lvl="1"/>
            <a:r>
              <a:rPr lang="fr-FR" dirty="0"/>
              <a:t>Hélas non disponible sur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En cours de développement</a:t>
            </a:r>
          </a:p>
          <a:p>
            <a:pPr lvl="1"/>
            <a:r>
              <a:rPr lang="fr-FR" dirty="0" err="1"/>
              <a:t>Développemnt</a:t>
            </a:r>
            <a:r>
              <a:rPr lang="fr-FR" dirty="0"/>
              <a:t> propriétaire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96FD7-94D5-00C5-181C-49EE9985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922073-F44A-C916-4A19-9C916EAC4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Comment réduire les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Il existe plusieurs principes pour réduire les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Certains principes dépendent du type de données</a:t>
            </a:r>
          </a:p>
          <a:p>
            <a:r>
              <a:rPr lang="fr-FR" dirty="0"/>
              <a:t>Principe des corrélations</a:t>
            </a:r>
          </a:p>
          <a:p>
            <a:pPr lvl="1"/>
            <a:r>
              <a:rPr lang="fr-FR" dirty="0"/>
              <a:t>Il existe des outils puissants de corrélations entre les </a:t>
            </a:r>
            <a:r>
              <a:rPr lang="fr-FR" dirty="0" err="1"/>
              <a:t>features</a:t>
            </a:r>
            <a:r>
              <a:rPr lang="fr-FR" dirty="0"/>
              <a:t> x</a:t>
            </a:r>
          </a:p>
          <a:p>
            <a:pPr lvl="1"/>
            <a:r>
              <a:rPr lang="fr-FR" dirty="0"/>
              <a:t>Ils permettent de choisir les </a:t>
            </a:r>
            <a:r>
              <a:rPr lang="fr-FR" dirty="0" err="1"/>
              <a:t>features</a:t>
            </a:r>
            <a:r>
              <a:rPr lang="fr-FR" dirty="0"/>
              <a:t> les plus importantes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230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141585-E439-4BDB-6BCD-20E3EC54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DCD989-8AB6-9938-E6B3-5579093F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corrélations de </a:t>
            </a:r>
            <a:r>
              <a:rPr lang="fr-FR" dirty="0" err="1"/>
              <a:t>Pearsons</a:t>
            </a:r>
            <a:r>
              <a:rPr lang="fr-FR" dirty="0"/>
              <a:t> permettent de mesurer les corrélations en colonnes</a:t>
            </a:r>
          </a:p>
          <a:p>
            <a:pPr lvl="1"/>
            <a:r>
              <a:rPr lang="fr-FR" dirty="0"/>
              <a:t>Ainsi de mesurer les corrélations entre x et y</a:t>
            </a:r>
          </a:p>
          <a:p>
            <a:pPr lvl="1"/>
            <a:r>
              <a:rPr lang="fr-FR" dirty="0"/>
              <a:t>Outils statistique puissant de Pandas</a:t>
            </a:r>
          </a:p>
          <a:p>
            <a:pPr lvl="1"/>
            <a:r>
              <a:rPr lang="fr-FR" dirty="0" err="1"/>
              <a:t>pd.corr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Il suffit ensuite de choisir les meilleures colonnes, par exemple le TOP 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169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D05114-99EB-9E7D-9BB1-036DFAAC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84BCBA-B240-06D5-4E26-C769BF533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344D91-213C-73A8-7182-4DFE30385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173" y="918917"/>
            <a:ext cx="6538848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3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35EA9-55C4-17E1-7EE1-78079327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295210-FDD6-9EF3-328F-405B66E43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Forest Importances </a:t>
            </a:r>
            <a:r>
              <a:rPr lang="fr-FR" dirty="0" err="1"/>
              <a:t>Features</a:t>
            </a:r>
            <a:r>
              <a:rPr lang="fr-FR" dirty="0"/>
              <a:t> sont un extraordinaire outil de corrélation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2543D6-372A-0577-DD64-0254AD352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342552"/>
            <a:ext cx="6308296" cy="44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1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99C1C-49A8-3731-A109-17D7C664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Stochastique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193D80-E9B8-0893-1EB1-4C8B4BA4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Ajouter une colonne </a:t>
            </a:r>
            <a:r>
              <a:rPr lang="fr-FR" dirty="0" err="1"/>
              <a:t>Random</a:t>
            </a:r>
            <a:endParaRPr lang="fr-FR" dirty="0"/>
          </a:p>
          <a:p>
            <a:pPr lvl="1"/>
            <a:r>
              <a:rPr lang="fr-FR" dirty="0"/>
              <a:t>Elle apparaitra dans les </a:t>
            </a:r>
            <a:r>
              <a:rPr lang="fr-FR" dirty="0" err="1"/>
              <a:t>features</a:t>
            </a:r>
            <a:r>
              <a:rPr lang="fr-FR" dirty="0"/>
              <a:t> importances</a:t>
            </a:r>
          </a:p>
          <a:p>
            <a:pPr lvl="1"/>
            <a:r>
              <a:rPr lang="fr-FR" dirty="0"/>
              <a:t>Nous pouvons enlever sans risque les </a:t>
            </a:r>
            <a:r>
              <a:rPr lang="fr-FR" dirty="0" err="1"/>
              <a:t>features</a:t>
            </a:r>
            <a:r>
              <a:rPr lang="fr-FR" dirty="0"/>
              <a:t> en dessous du score de </a:t>
            </a:r>
            <a:r>
              <a:rPr lang="fr-FR" dirty="0" err="1"/>
              <a:t>rnd</a:t>
            </a:r>
            <a:r>
              <a:rPr lang="fr-FR" dirty="0"/>
              <a:t> ainsi que les </a:t>
            </a:r>
            <a:r>
              <a:rPr lang="fr-FR" dirty="0" err="1"/>
              <a:t>features</a:t>
            </a:r>
            <a:r>
              <a:rPr lang="fr-FR" dirty="0"/>
              <a:t> proche de </a:t>
            </a:r>
            <a:r>
              <a:rPr lang="fr-FR" dirty="0" err="1"/>
              <a:t>rnd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95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D39EB-ABE6-91E1-4988-F10F8072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normalisations L1 et L2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B59ECA-F57D-F77A-C6D7-3A98E0DC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normalisation L1 est simplement la moyenne de plusieurs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L1(x, y, z) = (x + y + z) / 3</a:t>
            </a:r>
          </a:p>
          <a:p>
            <a:r>
              <a:rPr lang="fr-FR" dirty="0"/>
              <a:t>La normalisation L2 est la racine carrée des carrés de plusieurs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L2(x, y, z) = (x² + y² + z²) ** 0.5</a:t>
            </a:r>
          </a:p>
          <a:p>
            <a:pPr lvl="1"/>
            <a:r>
              <a:rPr lang="fr-FR" dirty="0"/>
              <a:t>Pour des raisons de rapidité souvent la racine carrée est remplacée par une moyenne</a:t>
            </a:r>
          </a:p>
          <a:p>
            <a:r>
              <a:rPr lang="fr-FR" sz="2400" dirty="0"/>
              <a:t>Ces normalisations ne fonctionnent pas en 8 et 16 bits (risque de dépassement surtout en 8 bits) il faut alors passer temporairement en 32 bits</a:t>
            </a:r>
          </a:p>
          <a:p>
            <a:pPr lvl="1"/>
            <a:r>
              <a:rPr lang="fr-FR" sz="2000" dirty="0" err="1"/>
              <a:t>Consomaation</a:t>
            </a:r>
            <a:r>
              <a:rPr lang="fr-FR" sz="2000" dirty="0"/>
              <a:t> de mémoire</a:t>
            </a:r>
          </a:p>
        </p:txBody>
      </p:sp>
    </p:spTree>
    <p:extLst>
      <p:ext uri="{BB962C8B-B14F-4D97-AF65-F5344CB8AC3E}">
        <p14:creationId xmlns:p14="http://schemas.microsoft.com/office/powerpoint/2010/main" val="99527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821AD-DBCD-D128-BAC8-822A35B6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 par chevauchement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21DC9-DC71-1AC3-D924-82CE7F869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d'appliquer des normalisation L1 ou L2 sur quelques colonnes avec chevauchement</a:t>
            </a:r>
          </a:p>
          <a:p>
            <a:pPr lvl="1"/>
            <a:r>
              <a:rPr lang="fr-FR" dirty="0"/>
              <a:t>Inspiré de PCA</a:t>
            </a:r>
          </a:p>
          <a:p>
            <a:r>
              <a:rPr lang="fr-FR" dirty="0"/>
              <a:t>Définition</a:t>
            </a:r>
          </a:p>
          <a:p>
            <a:pPr lvl="1"/>
            <a:r>
              <a:rPr lang="fr-FR" dirty="0"/>
              <a:t>La fenêtre est le nombre de colonne fusionnée</a:t>
            </a:r>
          </a:p>
          <a:p>
            <a:pPr lvl="1"/>
            <a:r>
              <a:rPr lang="fr-FR" dirty="0"/>
              <a:t>Par exemple 10</a:t>
            </a:r>
          </a:p>
          <a:p>
            <a:pPr lvl="1"/>
            <a:r>
              <a:rPr lang="fr-FR" dirty="0"/>
              <a:t>stride est le pas de déplacement, par exemple 5</a:t>
            </a:r>
          </a:p>
          <a:p>
            <a:pPr lvl="1"/>
            <a:r>
              <a:rPr lang="fr-FR" dirty="0"/>
              <a:t>Dans ce cas pour 30 </a:t>
            </a:r>
            <a:r>
              <a:rPr lang="fr-FR" dirty="0" err="1"/>
              <a:t>features</a:t>
            </a:r>
            <a:r>
              <a:rPr lang="fr-FR" dirty="0"/>
              <a:t>, on fusionne 10 </a:t>
            </a:r>
            <a:r>
              <a:rPr lang="fr-FR" dirty="0" err="1"/>
              <a:t>features</a:t>
            </a:r>
            <a:r>
              <a:rPr lang="fr-FR" dirty="0"/>
              <a:t> puis on décale de 5 (chevauchement de 5)</a:t>
            </a:r>
          </a:p>
          <a:p>
            <a:pPr lvl="1"/>
            <a:r>
              <a:rPr lang="fr-FR" dirty="0"/>
              <a:t>Nous obtenons 12 </a:t>
            </a:r>
            <a:r>
              <a:rPr lang="fr-FR" dirty="0" err="1"/>
              <a:t>features</a:t>
            </a:r>
            <a:r>
              <a:rPr lang="fr-FR" dirty="0"/>
              <a:t> (6 pour L1 et 6 pour L2)</a:t>
            </a:r>
          </a:p>
          <a:p>
            <a:pPr lvl="1"/>
            <a:r>
              <a:rPr lang="fr-FR" dirty="0" err="1"/>
              <a:t>pca_lite.PCALite</a:t>
            </a:r>
            <a:r>
              <a:rPr lang="fr-FR" dirty="0"/>
              <a:t>(10, 5)</a:t>
            </a:r>
          </a:p>
        </p:txBody>
      </p:sp>
    </p:spTree>
    <p:extLst>
      <p:ext uri="{BB962C8B-B14F-4D97-AF65-F5344CB8AC3E}">
        <p14:creationId xmlns:p14="http://schemas.microsoft.com/office/powerpoint/2010/main" val="156988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C6A18-2E40-50D5-3351-BA214FD6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30A0E1-EDEC-40ED-BD60-E656275D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Réduction de dimension pour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pPr lvl="1"/>
            <a:r>
              <a:rPr lang="fr-FR" dirty="0"/>
              <a:t>Appliquer un TOP 5</a:t>
            </a:r>
          </a:p>
          <a:p>
            <a:pPr lvl="1"/>
            <a:r>
              <a:rPr lang="fr-FR" dirty="0"/>
              <a:t>Appliquer des normalisations L1 et L2 par chevauchement 10, 5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55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995C0-78B2-1AF2-FF9B-82F8078B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Séries corrélées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4AC62-8E53-5AF7-6498-987318CD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série corrélée est une série où les </a:t>
            </a:r>
            <a:r>
              <a:rPr lang="fr-FR" dirty="0" err="1"/>
              <a:t>rows</a:t>
            </a:r>
            <a:r>
              <a:rPr lang="fr-FR" dirty="0"/>
              <a:t> sont dépendantes les unes des autres</a:t>
            </a:r>
          </a:p>
          <a:p>
            <a:r>
              <a:rPr lang="fr-FR" dirty="0"/>
              <a:t>x(i+1) est corrélée à x(i)</a:t>
            </a:r>
          </a:p>
          <a:p>
            <a:r>
              <a:rPr lang="fr-FR" dirty="0"/>
              <a:t>Par exemple</a:t>
            </a:r>
          </a:p>
          <a:p>
            <a:pPr lvl="1"/>
            <a:r>
              <a:rPr lang="fr-FR" dirty="0"/>
              <a:t>Les séries temporelles</a:t>
            </a:r>
          </a:p>
          <a:p>
            <a:pPr lvl="1"/>
            <a:r>
              <a:rPr lang="fr-FR" dirty="0"/>
              <a:t>Les images, vidéos, sons</a:t>
            </a:r>
          </a:p>
          <a:p>
            <a:pPr lvl="1"/>
            <a:r>
              <a:rPr lang="fr-FR" dirty="0"/>
              <a:t>Les mesures électroniques et </a:t>
            </a:r>
            <a:r>
              <a:rPr lang="fr-FR" dirty="0" err="1"/>
              <a:t>electro</a:t>
            </a:r>
            <a:r>
              <a:rPr lang="fr-FR" dirty="0"/>
              <a:t>-magnétiques</a:t>
            </a:r>
          </a:p>
          <a:p>
            <a:r>
              <a:rPr lang="fr-FR" dirty="0"/>
              <a:t>Il est possible d'abaisser les data des séries corrélées par de nombreux moyens</a:t>
            </a:r>
          </a:p>
        </p:txBody>
      </p:sp>
    </p:spTree>
    <p:extLst>
      <p:ext uri="{BB962C8B-B14F-4D97-AF65-F5344CB8AC3E}">
        <p14:creationId xmlns:p14="http://schemas.microsoft.com/office/powerpoint/2010/main" val="427988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69A3E-863C-B8D3-9335-C91677B0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du signal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E578DC-7967-4A64-D783-1D7091943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tout signal temporelle il est possible de transformer les données par des transformées de Fourier (FFT)</a:t>
            </a:r>
          </a:p>
          <a:p>
            <a:pPr lvl="1"/>
            <a:r>
              <a:rPr lang="fr-FR" dirty="0"/>
              <a:t>Disponible dans </a:t>
            </a:r>
            <a:r>
              <a:rPr lang="fr-FR" dirty="0" err="1"/>
              <a:t>Scipy</a:t>
            </a:r>
            <a:r>
              <a:rPr lang="fr-FR" dirty="0"/>
              <a:t> et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D'autres transformées existent</a:t>
            </a:r>
          </a:p>
          <a:p>
            <a:pPr lvl="1"/>
            <a:r>
              <a:rPr lang="fr-FR" dirty="0"/>
              <a:t>En général ces transformée peuvent abaisser fortement le nombre de ligne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657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3103C-7126-B987-EDAF-7D1DAC69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3EDF8D-8A97-94B8-BED1-9D185B0F4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d'autres outils pour fusionner des lignes</a:t>
            </a:r>
          </a:p>
          <a:p>
            <a:r>
              <a:rPr lang="fr-FR" dirty="0"/>
              <a:t>Les convolutions</a:t>
            </a:r>
          </a:p>
          <a:p>
            <a:pPr lvl="1"/>
            <a:r>
              <a:rPr lang="fr-FR" dirty="0"/>
              <a:t>Vu dans le chapitre CNN</a:t>
            </a:r>
          </a:p>
          <a:p>
            <a:r>
              <a:rPr lang="fr-FR" dirty="0"/>
              <a:t>Des exemples de convolutions</a:t>
            </a:r>
          </a:p>
          <a:p>
            <a:pPr lvl="1"/>
            <a:r>
              <a:rPr lang="fr-FR" dirty="0"/>
              <a:t>Moyenne et médiane mobile</a:t>
            </a:r>
          </a:p>
          <a:p>
            <a:pPr lvl="1"/>
            <a:r>
              <a:rPr lang="fr-FR" dirty="0"/>
              <a:t>Les dérivées</a:t>
            </a:r>
          </a:p>
          <a:p>
            <a:pPr lvl="1"/>
            <a:r>
              <a:rPr lang="fr-FR" dirty="0"/>
              <a:t>Normalisations L1 et L2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12EE90-3849-067F-F39F-29923A7F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789039"/>
            <a:ext cx="4788024" cy="30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1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C057-665B-F6EC-8719-74599ACA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Poolling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4E22E5-6713-0A85-9F22-87DA8C62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pooling</a:t>
            </a:r>
            <a:r>
              <a:rPr lang="fr-FR" dirty="0"/>
              <a:t> permet de fusionner des convolutions</a:t>
            </a:r>
          </a:p>
          <a:p>
            <a:r>
              <a:rPr lang="fr-FR" dirty="0"/>
              <a:t>Par exemple faire une moyenne des moyennes mobiles avec un pas 10 mesures sans chevauchement</a:t>
            </a:r>
          </a:p>
          <a:p>
            <a:pPr lvl="1"/>
            <a:r>
              <a:rPr lang="fr-FR" dirty="0"/>
              <a:t>Utilisations de fonction statistiques comme médiane, quantile, …</a:t>
            </a:r>
          </a:p>
          <a:p>
            <a:r>
              <a:rPr lang="fr-FR" dirty="0"/>
              <a:t>Un autre outil est les dérivées partielles</a:t>
            </a:r>
          </a:p>
        </p:txBody>
      </p:sp>
    </p:spTree>
    <p:extLst>
      <p:ext uri="{BB962C8B-B14F-4D97-AF65-F5344CB8AC3E}">
        <p14:creationId xmlns:p14="http://schemas.microsoft.com/office/powerpoint/2010/main" val="181957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54F26-7B57-24AA-8C6B-1654461E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Mixage des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0B38DD-E42D-7018-CDB1-0185093B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fusionner toutes les méthodes vues</a:t>
            </a:r>
          </a:p>
          <a:p>
            <a:r>
              <a:rPr lang="fr-FR" dirty="0"/>
              <a:t>TOP 5 + PCA sur les autres colonnes</a:t>
            </a:r>
          </a:p>
        </p:txBody>
      </p:sp>
    </p:spTree>
    <p:extLst>
      <p:ext uri="{BB962C8B-B14F-4D97-AF65-F5344CB8AC3E}">
        <p14:creationId xmlns:p14="http://schemas.microsoft.com/office/powerpoint/2010/main" val="75543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AD877-957B-2533-7823-DF2C58BD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6F6B9E-F49A-24A7-F34A-70CC57E61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HAR – Human Action Recognition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278069-9DD5-0C8B-A1A6-AB147D28F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0848"/>
            <a:ext cx="5976664" cy="403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85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830FE-4DA5-FFE9-4160-F629B578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574FC6-12E8-622B-1225-93D808900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HAR est un </a:t>
            </a:r>
            <a:r>
              <a:rPr lang="fr-FR" sz="2000" dirty="0" err="1"/>
              <a:t>dataset</a:t>
            </a:r>
            <a:endParaRPr lang="fr-FR" sz="2000" dirty="0"/>
          </a:p>
          <a:p>
            <a:r>
              <a:rPr lang="fr-FR" sz="2000" dirty="0">
                <a:hlinkClick r:id="rId2"/>
              </a:rPr>
              <a:t>https://archive.ics.uci.edu/dataset/240/human+activity+recognition+using+smartphones</a:t>
            </a:r>
            <a:endParaRPr lang="fr-FR" sz="2000" dirty="0"/>
          </a:p>
          <a:p>
            <a:r>
              <a:rPr lang="fr-FR" sz="2000" dirty="0"/>
              <a:t>Il enregistre les activités de votre téléphone</a:t>
            </a:r>
          </a:p>
          <a:p>
            <a:r>
              <a:rPr lang="fr-FR" sz="2000" dirty="0"/>
              <a:t>Une IA essaye de déterminer votre type d'activité </a:t>
            </a:r>
            <a:r>
              <a:rPr lang="fr-FR" sz="2000" dirty="0" err="1"/>
              <a:t>parmis</a:t>
            </a:r>
            <a:r>
              <a:rPr lang="fr-FR" sz="2000" dirty="0"/>
              <a:t> </a:t>
            </a:r>
          </a:p>
          <a:p>
            <a:pPr lvl="1"/>
            <a:r>
              <a:rPr lang="fr-FR" sz="1600" dirty="0"/>
              <a:t>0 WALKING, </a:t>
            </a:r>
          </a:p>
          <a:p>
            <a:pPr lvl="1"/>
            <a:r>
              <a:rPr lang="fr-FR" sz="1600" dirty="0"/>
              <a:t>1 WALKING_UPSTAIRS, </a:t>
            </a:r>
          </a:p>
          <a:p>
            <a:pPr lvl="1"/>
            <a:r>
              <a:rPr lang="fr-FR" sz="1600" dirty="0"/>
              <a:t>2 WALKING_DOWNSTAIRS, </a:t>
            </a:r>
          </a:p>
          <a:p>
            <a:pPr lvl="1"/>
            <a:r>
              <a:rPr lang="fr-FR" sz="1600" dirty="0"/>
              <a:t>3 SITTING, </a:t>
            </a:r>
          </a:p>
          <a:p>
            <a:pPr lvl="1"/>
            <a:r>
              <a:rPr lang="fr-FR" sz="1600" dirty="0"/>
              <a:t>4 STANDING, </a:t>
            </a:r>
          </a:p>
          <a:p>
            <a:pPr lvl="1"/>
            <a:r>
              <a:rPr lang="fr-FR" sz="1600" dirty="0"/>
              <a:t>5 LAYING</a:t>
            </a:r>
          </a:p>
          <a:p>
            <a:r>
              <a:rPr lang="fr-FR" sz="2000" dirty="0"/>
              <a:t>Les activités enregistrées sont les données de l'accéléromètres sur 3 axes et du gyroscope sur 3 axes toutes les 10ms (100Hz)</a:t>
            </a:r>
          </a:p>
          <a:p>
            <a:r>
              <a:rPr lang="fr-FR" sz="2000" dirty="0"/>
              <a:t>Pour le TP nous allons utiliser uniquement l'accéléromètre avec les données notées x, y, z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734440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E7A33-0BC5-E425-7D61-778D1EFC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67FCEB-DF0F-4504-9033-1F8651CD4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BBEB14-564B-DECF-92CA-04B1FC70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4" y="1565763"/>
            <a:ext cx="8326012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53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F2252A-F07D-1311-2BA7-75D4B88C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A5EBA-B94B-0ECA-49B3-56056AFD3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Pour déterminer une activité nous avons besoins de 128 mesures soit 1.28s</a:t>
            </a:r>
          </a:p>
          <a:p>
            <a:r>
              <a:rPr lang="fr-FR" sz="2000" dirty="0"/>
              <a:t>Nous avons donc 3*128=384 </a:t>
            </a:r>
            <a:r>
              <a:rPr lang="fr-FR" sz="2000" dirty="0" err="1"/>
              <a:t>features</a:t>
            </a:r>
            <a:r>
              <a:rPr lang="fr-FR" sz="2000" dirty="0"/>
              <a:t> ce qui est trop pour RF</a:t>
            </a:r>
          </a:p>
          <a:p>
            <a:r>
              <a:rPr lang="fr-FR" sz="2000" dirty="0"/>
              <a:t>L'algorithme d'abaissement de dimension est le suivant :</a:t>
            </a:r>
          </a:p>
          <a:p>
            <a:r>
              <a:rPr lang="fr-FR" sz="2000" dirty="0"/>
              <a:t>Sur x, y, z nous prenons une fenêtre mobile de 128 mesures</a:t>
            </a:r>
          </a:p>
          <a:p>
            <a:r>
              <a:rPr lang="fr-FR" sz="2000" dirty="0"/>
              <a:t>Nous allons appliquer les 10 fonctions statistiques suivantes sur x, y et 10: </a:t>
            </a:r>
            <a:r>
              <a:rPr lang="fr-FR" sz="2000" dirty="0" err="1"/>
              <a:t>median</a:t>
            </a:r>
            <a:r>
              <a:rPr lang="fr-FR" sz="2000" dirty="0"/>
              <a:t>, q25, q75, q75-q25, min, max, std, </a:t>
            </a:r>
            <a:r>
              <a:rPr lang="fr-FR" sz="2000" dirty="0" err="1"/>
              <a:t>energy</a:t>
            </a:r>
            <a:r>
              <a:rPr lang="fr-FR" sz="2000" dirty="0"/>
              <a:t>=0, </a:t>
            </a:r>
            <a:r>
              <a:rPr lang="fr-FR" sz="2000" dirty="0" err="1"/>
              <a:t>entropy</a:t>
            </a:r>
            <a:endParaRPr lang="fr-FR" sz="2000" dirty="0"/>
          </a:p>
          <a:p>
            <a:r>
              <a:rPr lang="fr-FR" sz="2000" dirty="0"/>
              <a:t>Cela nous donne 3*10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La série étant temporelle nous appliquons une normalisation L1, nous passons donc de 3*128 à 128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Sur L1 nous appliquons les 8 fonctions statistiques suivantes </a:t>
            </a:r>
            <a:r>
              <a:rPr lang="fr-FR" sz="2000" dirty="0" err="1"/>
              <a:t>median</a:t>
            </a:r>
            <a:r>
              <a:rPr lang="fr-FR" sz="2000" dirty="0"/>
              <a:t>, q25, q75, q75-q25, min, max, std</a:t>
            </a:r>
          </a:p>
          <a:p>
            <a:r>
              <a:rPr lang="fr-FR" sz="2000" dirty="0"/>
              <a:t>Cela nous donne 8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Nous faisons la même chose avec une normalisation L2 et obtenons 8 </a:t>
            </a:r>
            <a:r>
              <a:rPr lang="fr-FR" sz="2000" dirty="0" err="1"/>
              <a:t>features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289542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8743-C478-4A85-1D9B-F6D5327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Worflow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6064D-D52E-EC60-6D17-D7B1A0A2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7BE11-FD26-ADEA-BC6F-C27765EF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7" y="1268760"/>
            <a:ext cx="8345065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8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2414-4CC0-3282-C823-91AA2FD2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F5EB3-75A3-6EFA-C17D-85443238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A2AA0E-F56B-600B-E815-F0989F41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Nous avons donc obtenu 3*10+8+8=46 </a:t>
            </a:r>
            <a:r>
              <a:rPr lang="fr-FR" sz="2000" dirty="0" err="1"/>
              <a:t>features</a:t>
            </a:r>
            <a:endParaRPr lang="fr-FR" sz="2000" dirty="0"/>
          </a:p>
          <a:p>
            <a:r>
              <a:rPr lang="fr-FR" sz="2000" dirty="0"/>
              <a:t>Sur la série </a:t>
            </a:r>
            <a:r>
              <a:rPr lang="fr-FR" sz="2000" dirty="0" err="1"/>
              <a:t>x,y,z</a:t>
            </a:r>
            <a:r>
              <a:rPr lang="fr-FR" sz="2000" dirty="0"/>
              <a:t> nous appliquons une dérivée (appelée Jerk f(x+1)=f(x+1)-f(x))</a:t>
            </a:r>
          </a:p>
          <a:p>
            <a:r>
              <a:rPr lang="fr-FR" sz="2000" dirty="0"/>
              <a:t>Sur cette nouvelle série nous appliquons les mêmes calculs et obtenons 46 </a:t>
            </a:r>
            <a:r>
              <a:rPr lang="fr-FR" sz="2000" dirty="0" err="1"/>
              <a:t>features</a:t>
            </a:r>
            <a:r>
              <a:rPr lang="fr-FR" sz="2000" dirty="0"/>
              <a:t> supplémentaires</a:t>
            </a:r>
          </a:p>
          <a:p>
            <a:r>
              <a:rPr lang="fr-FR" sz="2000" dirty="0"/>
              <a:t>Nous avons donc en tout 46+46=92 </a:t>
            </a:r>
            <a:r>
              <a:rPr lang="fr-FR" sz="2000" dirty="0" err="1"/>
              <a:t>features</a:t>
            </a:r>
            <a:r>
              <a:rPr lang="fr-FR" sz="2000" dirty="0"/>
              <a:t> (réduction de 384 à 92)</a:t>
            </a:r>
          </a:p>
          <a:p>
            <a:r>
              <a:rPr lang="fr-FR" sz="2000" dirty="0"/>
              <a:t>Les capteurs sont 16 bits donc 1.28s = 92*2=184 octets</a:t>
            </a:r>
          </a:p>
          <a:p>
            <a:r>
              <a:rPr lang="fr-FR" sz="2000" dirty="0"/>
              <a:t>L'apprentissage est programmé dans har_trees/har_train.py</a:t>
            </a:r>
          </a:p>
          <a:p>
            <a:r>
              <a:rPr lang="fr-FR" sz="2000" dirty="0"/>
              <a:t>Les fonctions de réductions sont programmées har_tree/timebase.py</a:t>
            </a:r>
          </a:p>
          <a:p>
            <a:r>
              <a:rPr lang="fr-FR" sz="2000" dirty="0"/>
              <a:t>Les fonctions de fenêtrage sont programmées dans har_tree/windower.py</a:t>
            </a:r>
          </a:p>
          <a:p>
            <a:r>
              <a:rPr lang="fr-FR" sz="2000" dirty="0"/>
              <a:t>La fonction qui traduit des CSV </a:t>
            </a:r>
            <a:r>
              <a:rPr lang="fr-FR" sz="2000" dirty="0" err="1"/>
              <a:t>x,y,z</a:t>
            </a:r>
            <a:r>
              <a:rPr lang="fr-FR" sz="2000" dirty="0"/>
              <a:t> en </a:t>
            </a:r>
            <a:r>
              <a:rPr lang="fr-FR" sz="2000" dirty="0" err="1"/>
              <a:t>array</a:t>
            </a:r>
            <a:r>
              <a:rPr lang="fr-FR" sz="2000" dirty="0"/>
              <a:t> de 92 </a:t>
            </a:r>
            <a:r>
              <a:rPr lang="fr-FR" sz="2000" dirty="0" err="1"/>
              <a:t>features</a:t>
            </a:r>
            <a:r>
              <a:rPr lang="fr-FR" sz="2000"/>
              <a:t> en 16 bits est programmées dans har_csv_to_npy.py</a:t>
            </a:r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1419466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7806</TotalTime>
  <Words>998</Words>
  <Application>Microsoft Office PowerPoint</Application>
  <PresentationFormat>Affichage à l'écran (4:3)</PresentationFormat>
  <Paragraphs>122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Monotype Sorts</vt:lpstr>
      <vt:lpstr>Times New Roman</vt:lpstr>
      <vt:lpstr>cvc</vt:lpstr>
      <vt:lpstr>Présentation PowerPoint</vt:lpstr>
      <vt:lpstr>Diminution des features</vt:lpstr>
      <vt:lpstr>Les principes</vt:lpstr>
      <vt:lpstr>Pearson</vt:lpstr>
      <vt:lpstr>Pearson</vt:lpstr>
      <vt:lpstr>Importance Features</vt:lpstr>
      <vt:lpstr>Stochastique</vt:lpstr>
      <vt:lpstr>Les normalisations L1 et L2</vt:lpstr>
      <vt:lpstr>Normalisation par chevauchement</vt:lpstr>
      <vt:lpstr>TP 8</vt:lpstr>
      <vt:lpstr>Séries corrélées</vt:lpstr>
      <vt:lpstr>Traitement du signal</vt:lpstr>
      <vt:lpstr>Convolutions</vt:lpstr>
      <vt:lpstr>Le Poolling</vt:lpstr>
      <vt:lpstr>Mixage des méthodes</vt:lpstr>
      <vt:lpstr>TP 9</vt:lpstr>
      <vt:lpstr>HAR</vt:lpstr>
      <vt:lpstr>HAR </vt:lpstr>
      <vt:lpstr>HAR</vt:lpstr>
      <vt:lpstr>Worflow</vt:lpstr>
      <vt:lpstr>HAR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369</cp:revision>
  <dcterms:created xsi:type="dcterms:W3CDTF">2000-04-10T19:33:12Z</dcterms:created>
  <dcterms:modified xsi:type="dcterms:W3CDTF">2026-03-17T12:08:32Z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