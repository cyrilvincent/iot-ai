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3"/>
  </p:notesMasterIdLst>
  <p:handoutMasterIdLst>
    <p:handoutMasterId r:id="rId14"/>
  </p:handoutMasterIdLst>
  <p:sldIdLst>
    <p:sldId id="264" r:id="rId2"/>
    <p:sldId id="266" r:id="rId3"/>
    <p:sldId id="267" r:id="rId4"/>
    <p:sldId id="279" r:id="rId5"/>
    <p:sldId id="268" r:id="rId6"/>
    <p:sldId id="285" r:id="rId7"/>
    <p:sldId id="280" r:id="rId8"/>
    <p:sldId id="278" r:id="rId9"/>
    <p:sldId id="282" r:id="rId10"/>
    <p:sldId id="284" r:id="rId11"/>
    <p:sldId id="286" r:id="rId1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82" d="100"/>
          <a:sy n="82" d="100"/>
        </p:scale>
        <p:origin x="15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Random</a:t>
            </a:r>
            <a:r>
              <a:rPr lang="fr-FR" altLang="fr-FR"/>
              <a:t> Forest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forêts d'arbres décisionnels ont été formellement proposées en 2001 par Leo </a:t>
            </a:r>
            <a:r>
              <a:rPr lang="fr-FR" dirty="0" err="1"/>
              <a:t>Breiman</a:t>
            </a:r>
            <a:r>
              <a:rPr lang="fr-FR" dirty="0"/>
              <a:t> et Adèle </a:t>
            </a:r>
            <a:r>
              <a:rPr lang="fr-FR" dirty="0" err="1"/>
              <a:t>Cutler</a:t>
            </a:r>
            <a:endParaRPr lang="fr-FR" dirty="0"/>
          </a:p>
          <a:p>
            <a:r>
              <a:rPr lang="fr-FR" dirty="0"/>
              <a:t>Cet algorithme combine les concepts de sous-espaces aléatoires et de </a:t>
            </a:r>
            <a:r>
              <a:rPr lang="fr-FR" dirty="0" err="1"/>
              <a:t>bagging</a:t>
            </a:r>
            <a:endParaRPr lang="fr-FR" dirty="0"/>
          </a:p>
          <a:p>
            <a:r>
              <a:rPr lang="fr-FR" dirty="0"/>
              <a:t>L'algorithme des forêts d'arbres décisionnels effectue un apprentissage sur de multiples arbres de décision entraînés sur des sous-ensembles de données légèrement différents</a:t>
            </a:r>
          </a:p>
        </p:txBody>
      </p:sp>
    </p:spTree>
    <p:extLst>
      <p:ext uri="{BB962C8B-B14F-4D97-AF65-F5344CB8AC3E}">
        <p14:creationId xmlns:p14="http://schemas.microsoft.com/office/powerpoint/2010/main" val="3428597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400" dirty="0"/>
              <a:t>On créé B nouveaux ensembles d'apprentissage par un double processus d'échantillonnage :</a:t>
            </a:r>
          </a:p>
          <a:p>
            <a:pPr lvl="1"/>
            <a:r>
              <a:rPr lang="fr-FR" sz="2000" dirty="0"/>
              <a:t>sur les observations, en utilisant un tirage avec remise d'un nombre N d'observations identique à celui des données d'origine</a:t>
            </a:r>
          </a:p>
          <a:p>
            <a:pPr lvl="1"/>
            <a:r>
              <a:rPr lang="fr-FR" sz="2000" dirty="0"/>
              <a:t>et sur les p prédicteurs, en n'en retenant qu'un échantillon de cardinal m &lt; </a:t>
            </a:r>
            <a:r>
              <a:rPr lang="fr-FR" sz="2000" dirty="0" err="1"/>
              <a:t>sqrt</a:t>
            </a:r>
            <a:r>
              <a:rPr lang="fr-FR" sz="2000" dirty="0"/>
              <a:t>(p)</a:t>
            </a:r>
          </a:p>
          <a:p>
            <a:pPr lvl="1"/>
            <a:r>
              <a:rPr lang="fr-FR" sz="2000" dirty="0"/>
              <a:t>Sur chaque échantillon, on entraîne un arbre de décision selon une des techniques connues, en limitant sa croissance par validation croisée</a:t>
            </a:r>
          </a:p>
          <a:p>
            <a:pPr lvl="1"/>
            <a:r>
              <a:rPr lang="fr-FR" sz="2000" dirty="0"/>
              <a:t>On stocke les B prédictions de la variable d'intérêt pour chaque observation d'origine.</a:t>
            </a:r>
          </a:p>
          <a:p>
            <a:pPr lvl="1"/>
            <a:r>
              <a:rPr lang="fr-FR" sz="2000" dirty="0"/>
              <a:t>La prédiction de la forêt aléatoire est alors un simple vote majoritaire</a:t>
            </a:r>
          </a:p>
          <a:p>
            <a:pPr lvl="1"/>
            <a:r>
              <a:rPr lang="fr-FR" sz="2000" dirty="0"/>
              <a:t>Le principal revers de cette méthode est que l'on perd l'aspect visuel des arbres de décision uniques</a:t>
            </a:r>
          </a:p>
        </p:txBody>
      </p:sp>
    </p:spTree>
    <p:extLst>
      <p:ext uri="{BB962C8B-B14F-4D97-AF65-F5344CB8AC3E}">
        <p14:creationId xmlns:p14="http://schemas.microsoft.com/office/powerpoint/2010/main" val="1192625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 est un modèle asymétrique</a:t>
            </a:r>
          </a:p>
          <a:p>
            <a:pPr lvl="1"/>
            <a:r>
              <a:rPr lang="fr-FR" dirty="0"/>
              <a:t>Apprentissage couteux</a:t>
            </a:r>
          </a:p>
          <a:p>
            <a:pPr lvl="1"/>
            <a:r>
              <a:rPr lang="fr-FR" dirty="0"/>
              <a:t>Prédiction rapide</a:t>
            </a:r>
          </a:p>
          <a:p>
            <a:pPr lvl="1"/>
            <a:r>
              <a:rPr lang="fr-FR" dirty="0"/>
              <a:t>Très utile</a:t>
            </a:r>
          </a:p>
        </p:txBody>
      </p:sp>
    </p:spTree>
    <p:extLst>
      <p:ext uri="{BB962C8B-B14F-4D97-AF65-F5344CB8AC3E}">
        <p14:creationId xmlns:p14="http://schemas.microsoft.com/office/powerpoint/2010/main" val="847402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sk.ensemble</a:t>
            </a:r>
            <a:r>
              <a:rPr lang="fr-FR" dirty="0"/>
              <a:t> as </a:t>
            </a:r>
            <a:r>
              <a:rPr lang="fr-FR" dirty="0" err="1"/>
              <a:t>rf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rf.RandomForestClassifier</a:t>
            </a:r>
            <a:r>
              <a:rPr lang="fr-FR" dirty="0"/>
              <a:t>(</a:t>
            </a:r>
            <a:r>
              <a:rPr lang="fr-FR" dirty="0" err="1"/>
              <a:t>n_estimators</a:t>
            </a:r>
            <a:r>
              <a:rPr lang="fr-FR" dirty="0"/>
              <a:t>=100)</a:t>
            </a:r>
          </a:p>
          <a:p>
            <a:r>
              <a:rPr lang="fr-FR" dirty="0"/>
              <a:t>Très puissant</a:t>
            </a:r>
          </a:p>
          <a:p>
            <a:pPr lvl="1"/>
            <a:r>
              <a:rPr lang="fr-FR" dirty="0"/>
              <a:t>Bien plus gourmand que </a:t>
            </a:r>
            <a:r>
              <a:rPr lang="fr-FR" dirty="0" err="1"/>
              <a:t>kNN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9699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Iris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https://cdn-images-1.medium.com/max/1200/1*IPLwmH-TJRhEWXW7uaetM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56209"/>
            <a:ext cx="5363354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17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Importances des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précédents algorithmes ne permettaient pas de connaître l'importance de chaque </a:t>
            </a:r>
            <a:r>
              <a:rPr lang="fr-FR" dirty="0" err="1"/>
              <a:t>feature</a:t>
            </a:r>
            <a:endParaRPr lang="fr-FR" dirty="0"/>
          </a:p>
          <a:p>
            <a:r>
              <a:rPr lang="fr-FR" dirty="0"/>
              <a:t>Il est souvent utile de savoir les </a:t>
            </a:r>
            <a:r>
              <a:rPr lang="fr-FR" dirty="0" err="1"/>
              <a:t>features</a:t>
            </a:r>
            <a:r>
              <a:rPr lang="fr-FR" dirty="0"/>
              <a:t> prépondérantes</a:t>
            </a:r>
          </a:p>
          <a:p>
            <a:pPr lvl="1"/>
            <a:r>
              <a:rPr lang="fr-FR" dirty="0"/>
              <a:t>Et l'inverse celle qui ne le sont pas</a:t>
            </a:r>
          </a:p>
          <a:p>
            <a:pPr lvl="1"/>
            <a:r>
              <a:rPr lang="fr-FR" dirty="0"/>
              <a:t>Permet de faire baisser le nombre de dimension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173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 </a:t>
            </a:r>
            <a:r>
              <a:rPr lang="fr-FR" dirty="0" err="1"/>
              <a:t>Feature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forest.feature_importances</a:t>
            </a:r>
            <a:r>
              <a:rPr lang="fr-FR" dirty="0"/>
              <a:t>_</a:t>
            </a:r>
          </a:p>
          <a:p>
            <a:pPr lvl="1"/>
            <a:r>
              <a:rPr lang="fr-FR" dirty="0"/>
              <a:t>Permet de donner pour chaque </a:t>
            </a:r>
            <a:r>
              <a:rPr lang="fr-FR" dirty="0" err="1"/>
              <a:t>feature</a:t>
            </a:r>
            <a:r>
              <a:rPr lang="fr-FR" dirty="0"/>
              <a:t> son importance sur 1</a:t>
            </a:r>
          </a:p>
        </p:txBody>
      </p:sp>
    </p:spTree>
    <p:extLst>
      <p:ext uri="{BB962C8B-B14F-4D97-AF65-F5344CB8AC3E}">
        <p14:creationId xmlns:p14="http://schemas.microsoft.com/office/powerpoint/2010/main" val="278481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Sérialisation du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Transformation d’un objet en binaire</a:t>
            </a:r>
          </a:p>
          <a:p>
            <a:pPr lvl="1"/>
            <a:r>
              <a:rPr lang="fr-FR" dirty="0"/>
              <a:t>Sérialisation</a:t>
            </a:r>
          </a:p>
          <a:p>
            <a:pPr lvl="1"/>
            <a:r>
              <a:rPr lang="fr-FR" dirty="0" err="1"/>
              <a:t>Marshalling</a:t>
            </a:r>
            <a:endParaRPr lang="fr-FR" dirty="0"/>
          </a:p>
          <a:p>
            <a:r>
              <a:rPr lang="fr-FR" dirty="0"/>
              <a:t>Transformation inverse</a:t>
            </a:r>
          </a:p>
          <a:p>
            <a:pPr lvl="1"/>
            <a:r>
              <a:rPr lang="fr-FR" dirty="0" err="1"/>
              <a:t>Désérialisation</a:t>
            </a:r>
            <a:endParaRPr lang="fr-FR" dirty="0"/>
          </a:p>
          <a:p>
            <a:pPr lvl="1"/>
            <a:r>
              <a:rPr lang="fr-FR" dirty="0" err="1"/>
              <a:t>Unmarshalling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513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Pickle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 vous avez un objet x, et un objet fichier f ouvert en écriture, la voie la plus simple de ``</a:t>
            </a:r>
            <a:r>
              <a:rPr lang="fr-FR" dirty="0" err="1"/>
              <a:t>pickler</a:t>
            </a:r>
            <a:r>
              <a:rPr lang="fr-FR" dirty="0"/>
              <a:t>'' l'objet prend seulement une ligne de code </a:t>
            </a:r>
          </a:p>
          <a:p>
            <a:pPr lvl="1"/>
            <a:r>
              <a:rPr lang="fr-FR" dirty="0" err="1"/>
              <a:t>pickle.dump</a:t>
            </a:r>
            <a:r>
              <a:rPr lang="fr-FR" dirty="0"/>
              <a:t>(x, f)</a:t>
            </a:r>
          </a:p>
          <a:p>
            <a:r>
              <a:rPr lang="fr-FR" dirty="0"/>
              <a:t>Pour ``</a:t>
            </a:r>
            <a:r>
              <a:rPr lang="fr-FR" dirty="0" err="1"/>
              <a:t>unpickler</a:t>
            </a:r>
            <a:r>
              <a:rPr lang="fr-FR" dirty="0"/>
              <a:t>'' l'objet, si f est un objet fichier ouvert en lecture</a:t>
            </a:r>
          </a:p>
          <a:p>
            <a:pPr lvl="1"/>
            <a:r>
              <a:rPr lang="fr-FR" dirty="0"/>
              <a:t>x = </a:t>
            </a:r>
            <a:r>
              <a:rPr lang="fr-FR" dirty="0" err="1"/>
              <a:t>pickle.load</a:t>
            </a:r>
            <a:r>
              <a:rPr lang="fr-FR" dirty="0"/>
              <a:t>(f)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1266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65603E-6856-AF22-7BAA-2606E1BE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TP 11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BE30F5-39D5-8415-545F-C64465560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RF </a:t>
            </a:r>
            <a:r>
              <a:rPr lang="fr-FR" dirty="0" err="1"/>
              <a:t>Breast</a:t>
            </a:r>
            <a:r>
              <a:rPr lang="fr-FR" dirty="0"/>
              <a:t> Cancer</a:t>
            </a:r>
          </a:p>
          <a:p>
            <a:r>
              <a:rPr lang="fr-FR" dirty="0"/>
              <a:t>Modélisation avec </a:t>
            </a:r>
            <a:r>
              <a:rPr lang="fr-FR" dirty="0" err="1"/>
              <a:t>SKLearn</a:t>
            </a:r>
            <a:endParaRPr lang="fr-FR" dirty="0"/>
          </a:p>
          <a:p>
            <a:r>
              <a:rPr lang="fr-FR"/>
              <a:t>Retro-engineering</a:t>
            </a:r>
          </a:p>
        </p:txBody>
      </p:sp>
    </p:spTree>
    <p:extLst>
      <p:ext uri="{BB962C8B-B14F-4D97-AF65-F5344CB8AC3E}">
        <p14:creationId xmlns:p14="http://schemas.microsoft.com/office/powerpoint/2010/main" val="3431846424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6119</TotalTime>
  <Words>362</Words>
  <Application>Microsoft Office PowerPoint</Application>
  <PresentationFormat>Affichage à l'écran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Monotype Sorts</vt:lpstr>
      <vt:lpstr>Times New Roman</vt:lpstr>
      <vt:lpstr>cvc</vt:lpstr>
      <vt:lpstr>Présentation PowerPoint</vt:lpstr>
      <vt:lpstr>Random Forest</vt:lpstr>
      <vt:lpstr>Random Forest</vt:lpstr>
      <vt:lpstr>Asymétrie</vt:lpstr>
      <vt:lpstr>Random Forest</vt:lpstr>
      <vt:lpstr>Exemple Iris</vt:lpstr>
      <vt:lpstr>Importances des features</vt:lpstr>
      <vt:lpstr>Importance Feature</vt:lpstr>
      <vt:lpstr>Sérialisation du modèle</vt:lpstr>
      <vt:lpstr>Pickle</vt:lpstr>
      <vt:lpstr>TP 11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356</cp:revision>
  <dcterms:created xsi:type="dcterms:W3CDTF">2000-04-10T19:33:12Z</dcterms:created>
  <dcterms:modified xsi:type="dcterms:W3CDTF">2026-06-10T10:58:37Z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