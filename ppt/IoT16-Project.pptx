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4" r:id="rId8"/>
    <p:sldId id="277" r:id="rId9"/>
    <p:sldId id="278" r:id="rId10"/>
    <p:sldId id="276" r:id="rId11"/>
    <p:sldId id="279" r:id="rId12"/>
    <p:sldId id="270" r:id="rId13"/>
    <p:sldId id="275" r:id="rId14"/>
    <p:sldId id="273" r:id="rId15"/>
    <p:sldId id="271" r:id="rId16"/>
    <p:sldId id="272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590" autoAdjust="0"/>
  </p:normalViewPr>
  <p:slideViewPr>
    <p:cSldViewPr>
      <p:cViewPr varScale="1">
        <p:scale>
          <a:sx n="63" d="100"/>
          <a:sy n="63" d="100"/>
        </p:scale>
        <p:origin x="1596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Gestion de projet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A082A7-D3E9-09E2-251A-7B2260AD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080838-9A7A-D8E2-F98A-0052166D0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gestion de projet d'un projet IoT est différente d'un projet informatique classique</a:t>
            </a:r>
          </a:p>
          <a:p>
            <a:r>
              <a:rPr lang="fr-FR" dirty="0"/>
              <a:t>Essentiellement dû aux contraintes des IoT vues plus tôt</a:t>
            </a:r>
          </a:p>
        </p:txBody>
      </p:sp>
    </p:spTree>
    <p:extLst>
      <p:ext uri="{BB962C8B-B14F-4D97-AF65-F5344CB8AC3E}">
        <p14:creationId xmlns:p14="http://schemas.microsoft.com/office/powerpoint/2010/main" val="686426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EDCA1-F58E-A3F6-034D-9A132DE0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3FE121-40ED-2826-59A0-AFE163E7F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Pourquoi lancer ce projet ?</a:t>
            </a:r>
          </a:p>
          <a:p>
            <a:r>
              <a:rPr lang="fr-FR" dirty="0"/>
              <a:t>Quels problèmes résout-il ?</a:t>
            </a:r>
          </a:p>
          <a:p>
            <a:r>
              <a:rPr lang="fr-FR" dirty="0"/>
              <a:t>Quels indicateurs de succès</a:t>
            </a:r>
          </a:p>
          <a:p>
            <a:pPr lvl="1"/>
            <a:r>
              <a:rPr lang="fr-FR" dirty="0"/>
              <a:t>ROI</a:t>
            </a:r>
          </a:p>
          <a:p>
            <a:pPr lvl="1"/>
            <a:r>
              <a:rPr lang="fr-FR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376611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1103D5-F64C-387E-8F49-C4B2DBAF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Alignement avec la stratégie d'entreprise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5C8A4C-6E46-7638-053E-D42A3DB5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L’IoT doit s’intégrer dans la transformation digitale globale</a:t>
            </a:r>
          </a:p>
          <a:p>
            <a:pPr lvl="1"/>
            <a:r>
              <a:rPr lang="fr-FR" dirty="0"/>
              <a:t>Base de données</a:t>
            </a:r>
          </a:p>
          <a:p>
            <a:pPr lvl="1"/>
            <a:r>
              <a:rPr lang="fr-FR" dirty="0"/>
              <a:t>Réseaux</a:t>
            </a:r>
          </a:p>
          <a:p>
            <a:pPr lvl="1"/>
            <a:r>
              <a:rPr lang="fr-FR" dirty="0"/>
              <a:t>Langage de programmation</a:t>
            </a:r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/>
              <a:t>…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445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2CDF9-3402-FDEA-E2D8-CAB3BFB0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 liées à l'entreprise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78CA33-A185-5B5E-778E-CE40E40DD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Budget</a:t>
            </a:r>
          </a:p>
          <a:p>
            <a:r>
              <a:rPr lang="fr-FR" dirty="0"/>
              <a:t>Délais</a:t>
            </a:r>
          </a:p>
          <a:p>
            <a:r>
              <a:rPr lang="fr-FR" dirty="0"/>
              <a:t>Sécurité</a:t>
            </a:r>
          </a:p>
          <a:p>
            <a:r>
              <a:rPr lang="fr-FR" dirty="0"/>
              <a:t>Conformité (RGPD,AI </a:t>
            </a:r>
            <a:r>
              <a:rPr lang="fr-FR" dirty="0" err="1"/>
              <a:t>Act</a:t>
            </a:r>
            <a:r>
              <a:rPr lang="fr-F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38658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AC98F9-3EF4-ACB5-6B82-D85C33BD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Cadrage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086F69-7534-D214-BDDD-CA20D9D32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Choisir un Use Case</a:t>
            </a:r>
          </a:p>
          <a:p>
            <a:r>
              <a:rPr lang="fr-FR" dirty="0"/>
              <a:t>Choisir les technologies</a:t>
            </a:r>
          </a:p>
          <a:p>
            <a:pPr lvl="1"/>
            <a:r>
              <a:rPr lang="fr-FR" dirty="0"/>
              <a:t>Capteurs</a:t>
            </a:r>
          </a:p>
          <a:p>
            <a:pPr lvl="1"/>
            <a:r>
              <a:rPr lang="fr-FR" dirty="0"/>
              <a:t>Actionneurs</a:t>
            </a:r>
          </a:p>
          <a:p>
            <a:pPr lvl="1"/>
            <a:r>
              <a:rPr lang="fr-FR" dirty="0"/>
              <a:t>Passerelles</a:t>
            </a:r>
          </a:p>
          <a:p>
            <a:pPr lvl="1"/>
            <a:r>
              <a:rPr lang="fr-FR" dirty="0"/>
              <a:t>Microcontrôleurs</a:t>
            </a:r>
          </a:p>
          <a:p>
            <a:pPr lvl="1"/>
            <a:r>
              <a:rPr lang="fr-FR" dirty="0"/>
              <a:t>Communication</a:t>
            </a:r>
          </a:p>
          <a:p>
            <a:pPr lvl="1"/>
            <a:r>
              <a:rPr lang="fr-FR" dirty="0"/>
              <a:t>Sécurité</a:t>
            </a:r>
          </a:p>
        </p:txBody>
      </p:sp>
    </p:spTree>
    <p:extLst>
      <p:ext uri="{BB962C8B-B14F-4D97-AF65-F5344CB8AC3E}">
        <p14:creationId xmlns:p14="http://schemas.microsoft.com/office/powerpoint/2010/main" val="2918052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90C366-4B4E-6C69-5A8A-83F4FEC7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</a:t>
            </a:r>
            <a:r>
              <a:rPr lang="fr-FR" dirty="0" err="1"/>
              <a:t>Thinking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82311A-1B55-2457-9080-BE86509D2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Design </a:t>
            </a:r>
            <a:r>
              <a:rPr lang="fr-FR" dirty="0" err="1"/>
              <a:t>Thinking</a:t>
            </a:r>
            <a:r>
              <a:rPr lang="fr-FR" dirty="0"/>
              <a:t> est une méthode centrée sur l’utilisateur qui vise à résoudre des problèmes complexes par la créativité, l’empathie et l’itération</a:t>
            </a:r>
          </a:p>
          <a:p>
            <a:r>
              <a:rPr lang="fr-FR" dirty="0"/>
              <a:t>Dans le contexte IoT</a:t>
            </a:r>
          </a:p>
          <a:p>
            <a:pPr lvl="1"/>
            <a:r>
              <a:rPr lang="fr-FR" dirty="0"/>
              <a:t>Il permet de concevoir des solutions connectées qui répondent réellement aux besoins des utilisateur</a:t>
            </a:r>
          </a:p>
          <a:p>
            <a:pPr lvl="1"/>
            <a:r>
              <a:rPr lang="fr-FR" dirty="0"/>
              <a:t>Il combine désirabilité (besoins humains), faisabilité (technologie) et viabilité (business) pour garantir des produits utiles et rentables</a:t>
            </a:r>
          </a:p>
        </p:txBody>
      </p:sp>
    </p:spTree>
    <p:extLst>
      <p:ext uri="{BB962C8B-B14F-4D97-AF65-F5344CB8AC3E}">
        <p14:creationId xmlns:p14="http://schemas.microsoft.com/office/powerpoint/2010/main" val="2535201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DB5B41-139D-DE33-E766-38A5FA410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</a:t>
            </a:r>
            <a:r>
              <a:rPr lang="fr-FR" dirty="0" err="1"/>
              <a:t>Thinking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1C6369-30C0-3FA2-A6FA-97EA1B82C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Question les plus importantes</a:t>
            </a:r>
          </a:p>
          <a:p>
            <a:pPr lvl="1"/>
            <a:r>
              <a:rPr lang="fr-FR" dirty="0"/>
              <a:t>Filaire ou Wireless</a:t>
            </a:r>
          </a:p>
          <a:p>
            <a:pPr lvl="1"/>
            <a:r>
              <a:rPr lang="fr-FR" dirty="0"/>
              <a:t>Source d'énergie</a:t>
            </a:r>
          </a:p>
          <a:p>
            <a:pPr lvl="1"/>
            <a:r>
              <a:rPr lang="fr-FR" dirty="0"/>
              <a:t>Robustesse</a:t>
            </a:r>
          </a:p>
          <a:p>
            <a:pPr lvl="1"/>
            <a:r>
              <a:rPr lang="fr-FR" dirty="0"/>
              <a:t>Coût</a:t>
            </a:r>
          </a:p>
        </p:txBody>
      </p:sp>
    </p:spTree>
    <p:extLst>
      <p:ext uri="{BB962C8B-B14F-4D97-AF65-F5344CB8AC3E}">
        <p14:creationId xmlns:p14="http://schemas.microsoft.com/office/powerpoint/2010/main" val="160143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E1E02D-8652-D536-7758-30E72294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du </a:t>
            </a:r>
            <a:r>
              <a:rPr lang="fr-FR" dirty="0" err="1"/>
              <a:t>micro-contrôleur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6A3316-E174-3387-466A-2B2744C6D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Taille, puissance et RAM</a:t>
            </a:r>
          </a:p>
          <a:p>
            <a:pPr lvl="1"/>
            <a:r>
              <a:rPr lang="fr-FR" dirty="0"/>
              <a:t>8 bits, 16 bits ou 32 bits</a:t>
            </a:r>
          </a:p>
          <a:p>
            <a:pPr lvl="1"/>
            <a:r>
              <a:rPr lang="fr-FR" dirty="0"/>
              <a:t>Stockage permanent ?</a:t>
            </a:r>
          </a:p>
          <a:p>
            <a:pPr lvl="1"/>
            <a:r>
              <a:rPr lang="fr-FR" dirty="0"/>
              <a:t>Communication ?</a:t>
            </a:r>
          </a:p>
          <a:p>
            <a:pPr lvl="1"/>
            <a:r>
              <a:rPr lang="fr-FR" dirty="0" err="1"/>
              <a:t>SoC</a:t>
            </a:r>
            <a:r>
              <a:rPr lang="fr-FR" dirty="0"/>
              <a:t> ?</a:t>
            </a:r>
          </a:p>
          <a:p>
            <a:pPr lvl="1"/>
            <a:r>
              <a:rPr lang="fr-FR" dirty="0"/>
              <a:t>Source d'énergie ?</a:t>
            </a:r>
          </a:p>
          <a:p>
            <a:pPr lvl="1"/>
            <a:r>
              <a:rPr lang="fr-FR" dirty="0"/>
              <a:t>On ne peut pas tout faire sur un microcontrôleur 8 bits avec 32Ko de mémoire</a:t>
            </a:r>
          </a:p>
          <a:p>
            <a:pPr lvl="1"/>
            <a:r>
              <a:rPr lang="fr-FR" dirty="0"/>
              <a:t>La présence d'un </a:t>
            </a:r>
            <a:r>
              <a:rPr lang="fr-FR" dirty="0" err="1"/>
              <a:t>SoC</a:t>
            </a:r>
            <a:r>
              <a:rPr lang="fr-FR" dirty="0"/>
              <a:t> aide au prototypage</a:t>
            </a:r>
          </a:p>
          <a:p>
            <a:pPr lvl="1"/>
            <a:r>
              <a:rPr lang="fr-FR" dirty="0"/>
              <a:t>Depuis Covid : disponibilité</a:t>
            </a:r>
          </a:p>
        </p:txBody>
      </p:sp>
    </p:spTree>
    <p:extLst>
      <p:ext uri="{BB962C8B-B14F-4D97-AF65-F5344CB8AC3E}">
        <p14:creationId xmlns:p14="http://schemas.microsoft.com/office/powerpoint/2010/main" val="1354204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1A8411-2045-C47E-8FFE-0EB83F6F9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des </a:t>
            </a:r>
            <a:r>
              <a:rPr lang="fr-FR" dirty="0" err="1"/>
              <a:t>sensors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286501-1FE5-456B-359C-7620B04B0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Choix par rapport</a:t>
            </a:r>
          </a:p>
          <a:p>
            <a:pPr lvl="1"/>
            <a:r>
              <a:rPr lang="fr-FR" dirty="0"/>
              <a:t>Aux couts</a:t>
            </a:r>
          </a:p>
          <a:p>
            <a:pPr lvl="1"/>
            <a:r>
              <a:rPr lang="fr-FR" dirty="0"/>
              <a:t>A la fiabilité</a:t>
            </a:r>
          </a:p>
          <a:p>
            <a:pPr lvl="1"/>
            <a:r>
              <a:rPr lang="fr-FR" dirty="0"/>
              <a:t>Test de robustesse++</a:t>
            </a:r>
          </a:p>
          <a:p>
            <a:pPr lvl="1"/>
            <a:r>
              <a:rPr lang="fr-FR" dirty="0"/>
              <a:t>Au protocole de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811070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90D5-076D-822C-F926-7EE6B019A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CF6EFF-1B38-3B0A-6EC8-496A7C11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des actionneurs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63268B-CFED-7CF7-2BF3-A18849485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Choix par rapport</a:t>
            </a:r>
          </a:p>
          <a:p>
            <a:pPr lvl="1"/>
            <a:r>
              <a:rPr lang="fr-FR" dirty="0"/>
              <a:t>Aux couts</a:t>
            </a:r>
          </a:p>
          <a:p>
            <a:pPr lvl="1"/>
            <a:r>
              <a:rPr lang="fr-FR" dirty="0"/>
              <a:t>A la fiabilité</a:t>
            </a:r>
          </a:p>
          <a:p>
            <a:pPr lvl="1"/>
            <a:r>
              <a:rPr lang="fr-FR" dirty="0"/>
              <a:t>Test de robustesse++</a:t>
            </a:r>
          </a:p>
          <a:p>
            <a:pPr lvl="1"/>
            <a:r>
              <a:rPr lang="fr-FR" dirty="0"/>
              <a:t>Au protocole de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92459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2CEA4A-1F76-111D-9186-7775D1010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30B408-A0E9-EE41-E060-138B67369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Proof Of Concept</a:t>
            </a:r>
          </a:p>
          <a:p>
            <a:pPr lvl="1"/>
            <a:r>
              <a:rPr lang="fr-FR" dirty="0"/>
              <a:t>Testé sur 1 exemplaire</a:t>
            </a:r>
          </a:p>
          <a:p>
            <a:pPr lvl="1"/>
            <a:r>
              <a:rPr lang="fr-FR" dirty="0"/>
              <a:t>Puis sur une petite série</a:t>
            </a:r>
          </a:p>
          <a:p>
            <a:pPr lvl="1"/>
            <a:r>
              <a:rPr lang="fr-FR" dirty="0"/>
              <a:t>Puis sur grande série</a:t>
            </a:r>
          </a:p>
          <a:p>
            <a:pPr lvl="1"/>
            <a:r>
              <a:rPr lang="fr-FR" dirty="0"/>
              <a:t>Déploiement progressif</a:t>
            </a:r>
          </a:p>
          <a:p>
            <a:pPr lvl="1"/>
            <a:r>
              <a:rPr lang="fr-FR" dirty="0"/>
              <a:t>Il est beaucoup plus facile de tester un microcontrôleur </a:t>
            </a:r>
            <a:r>
              <a:rPr lang="fr-FR"/>
              <a:t>SoC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8026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3D717-ABB7-E653-0B17-9282CC5A6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Circuit de fabrication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D908C4-8E31-A9E8-CC5C-08FECC6FF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PoC</a:t>
            </a:r>
            <a:r>
              <a:rPr lang="fr-FR" dirty="0"/>
              <a:t> par </a:t>
            </a:r>
            <a:r>
              <a:rPr lang="fr-FR" dirty="0" err="1"/>
              <a:t>breadboard</a:t>
            </a:r>
            <a:endParaRPr lang="fr-FR" dirty="0"/>
          </a:p>
          <a:p>
            <a:r>
              <a:rPr lang="fr-FR" dirty="0" err="1"/>
              <a:t>PoC</a:t>
            </a:r>
            <a:r>
              <a:rPr lang="fr-FR" dirty="0"/>
              <a:t> par soudure</a:t>
            </a:r>
          </a:p>
          <a:p>
            <a:r>
              <a:rPr lang="fr-FR" dirty="0"/>
              <a:t>Création d'une petite série de carte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841DEEF-E068-FD31-4804-83667B7F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3140968"/>
            <a:ext cx="4099921" cy="295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366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BC77B-B518-3133-0018-A8E15E44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Distribution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446E9E-3AC4-2CBE-4108-B882EAA27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Packaging</a:t>
            </a:r>
          </a:p>
          <a:p>
            <a:r>
              <a:rPr lang="fr-FR" dirty="0"/>
              <a:t>Modalité de distribution</a:t>
            </a:r>
          </a:p>
          <a:p>
            <a:r>
              <a:rPr lang="fr-FR" dirty="0"/>
              <a:t>Déploiement</a:t>
            </a:r>
          </a:p>
        </p:txBody>
      </p:sp>
    </p:spTree>
    <p:extLst>
      <p:ext uri="{BB962C8B-B14F-4D97-AF65-F5344CB8AC3E}">
        <p14:creationId xmlns:p14="http://schemas.microsoft.com/office/powerpoint/2010/main" val="1351423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18A203-5ACD-CF7E-2204-6499B112D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BD81EB-19F3-1CE8-6CBB-F3F673ABD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Modélisation des données</a:t>
            </a:r>
          </a:p>
          <a:p>
            <a:pPr lvl="1"/>
            <a:r>
              <a:rPr lang="fr-FR" dirty="0"/>
              <a:t>Base de données</a:t>
            </a:r>
          </a:p>
          <a:p>
            <a:r>
              <a:rPr lang="fr-FR" dirty="0"/>
              <a:t>Intégration avec l'existant</a:t>
            </a:r>
          </a:p>
          <a:p>
            <a:r>
              <a:rPr lang="fr-FR" dirty="0"/>
              <a:t>Outils d'analyse, supervision, dataviz</a:t>
            </a:r>
          </a:p>
        </p:txBody>
      </p:sp>
    </p:spTree>
    <p:extLst>
      <p:ext uri="{BB962C8B-B14F-4D97-AF65-F5344CB8AC3E}">
        <p14:creationId xmlns:p14="http://schemas.microsoft.com/office/powerpoint/2010/main" val="835046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720FC3-9B4D-2531-DB1D-5D0E7F58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Suivi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DF5FC3-FDE1-8D7B-4FDE-DEA8D9772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Surveillance continue</a:t>
            </a:r>
          </a:p>
          <a:p>
            <a:pPr lvl="1"/>
            <a:r>
              <a:rPr lang="fr-FR" dirty="0"/>
              <a:t>qualité des données</a:t>
            </a:r>
          </a:p>
          <a:p>
            <a:pPr lvl="1"/>
            <a:r>
              <a:rPr lang="fr-FR" dirty="0"/>
              <a:t>sécurité, performance</a:t>
            </a:r>
          </a:p>
          <a:p>
            <a:r>
              <a:rPr lang="fr-FR" dirty="0"/>
              <a:t>Mises à jour OTA (Over-The-Air) pour </a:t>
            </a:r>
            <a:r>
              <a:rPr lang="fr-FR" dirty="0" err="1"/>
              <a:t>firmware</a:t>
            </a:r>
            <a:r>
              <a:rPr lang="fr-FR" dirty="0"/>
              <a:t> et sécurité</a:t>
            </a:r>
          </a:p>
          <a:p>
            <a:r>
              <a:rPr lang="fr-FR" dirty="0"/>
              <a:t>Prévoir la scalabilité</a:t>
            </a:r>
          </a:p>
          <a:p>
            <a:pPr lvl="1"/>
            <a:r>
              <a:rPr lang="fr-FR" dirty="0"/>
              <a:t>ajout de nouveaux capteurs, intégration IA pour prédiction.</a:t>
            </a:r>
          </a:p>
        </p:txBody>
      </p:sp>
    </p:spTree>
    <p:extLst>
      <p:ext uri="{BB962C8B-B14F-4D97-AF65-F5344CB8AC3E}">
        <p14:creationId xmlns:p14="http://schemas.microsoft.com/office/powerpoint/2010/main" val="98373030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3753</TotalTime>
  <Words>367</Words>
  <Application>Microsoft Office PowerPoint</Application>
  <PresentationFormat>Affichage à l'écran (4:3)</PresentationFormat>
  <Paragraphs>93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Gestion de projet</vt:lpstr>
      <vt:lpstr>Gestion de projet</vt:lpstr>
      <vt:lpstr>Alignement avec la stratégie d'entreprise</vt:lpstr>
      <vt:lpstr>Contraintes liées à l'entreprise</vt:lpstr>
      <vt:lpstr>Cadrage</vt:lpstr>
      <vt:lpstr>Design Thinking</vt:lpstr>
      <vt:lpstr>Design Thinking</vt:lpstr>
      <vt:lpstr>Choix du micro-contrôleur</vt:lpstr>
      <vt:lpstr>Choix des sensors</vt:lpstr>
      <vt:lpstr>Choix des actionneurs</vt:lpstr>
      <vt:lpstr>PoC</vt:lpstr>
      <vt:lpstr>Circuit de fabrication</vt:lpstr>
      <vt:lpstr>Distribution</vt:lpstr>
      <vt:lpstr>Gestion des données</vt:lpstr>
      <vt:lpstr>Suivi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248</cp:revision>
  <dcterms:created xsi:type="dcterms:W3CDTF">2000-04-10T19:33:12Z</dcterms:created>
  <dcterms:modified xsi:type="dcterms:W3CDTF">2025-12-02T15:05:24Z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