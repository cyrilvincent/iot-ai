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handoutMasterIdLst>
    <p:handoutMasterId r:id="rId25"/>
  </p:handoutMasterIdLst>
  <p:sldIdLst>
    <p:sldId id="264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TFlite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66C27A-8CC1-FE3A-4507-EA34AED1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81" y="3097894"/>
            <a:ext cx="3038899" cy="16671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436CAE-6313-4FDB-AA60-FCE21003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250" y="4938615"/>
            <a:ext cx="1505160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pour mobile et </a:t>
            </a:r>
            <a:r>
              <a:rPr lang="fr-FR" dirty="0" err="1"/>
              <a:t>IoT</a:t>
            </a:r>
            <a:endParaRPr lang="fr-FR" dirty="0"/>
          </a:p>
          <a:p>
            <a:pPr lvl="1"/>
            <a:r>
              <a:rPr lang="fr-FR" dirty="0"/>
              <a:t>Permet une utilisation plus légère de TF</a:t>
            </a:r>
          </a:p>
          <a:p>
            <a:pPr lvl="1"/>
            <a:r>
              <a:rPr lang="fr-FR" dirty="0"/>
              <a:t>Inférence</a:t>
            </a:r>
          </a:p>
          <a:p>
            <a:pPr lvl="1"/>
            <a:r>
              <a:rPr lang="fr-FR" dirty="0"/>
              <a:t>32 bits (aucune différence significative avec TF qui est en 64 bits)</a:t>
            </a:r>
          </a:p>
          <a:p>
            <a:pPr lvl="1"/>
            <a:r>
              <a:rPr lang="fr-FR" dirty="0"/>
              <a:t>Implémentation Python, C++, Java, Android, Javascript, 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281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directement compatible H5</a:t>
            </a:r>
          </a:p>
          <a:p>
            <a:pPr lvl="1"/>
            <a:r>
              <a:rPr lang="fr-FR" dirty="0"/>
              <a:t>Il faut le convertir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Le script h5_to_tflite.py fera la même chose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49" y="2492896"/>
            <a:ext cx="71913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compatible </a:t>
            </a:r>
            <a:r>
              <a:rPr lang="fr-FR" dirty="0" err="1"/>
              <a:t>Keras</a:t>
            </a:r>
            <a:endParaRPr lang="fr-FR" dirty="0"/>
          </a:p>
          <a:p>
            <a:pPr lvl="1"/>
            <a:r>
              <a:rPr lang="fr-FR" dirty="0"/>
              <a:t>Possède sa propre API</a:t>
            </a:r>
          </a:p>
          <a:p>
            <a:pPr lvl="1"/>
            <a:r>
              <a:rPr lang="fr-FR" dirty="0"/>
              <a:t>float32 uniquement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3" y="2824467"/>
            <a:ext cx="8543925" cy="18669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" y="4819650"/>
            <a:ext cx="4152900" cy="3333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29" y="5153025"/>
            <a:ext cx="6858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1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81348-859F-DFFB-17D2-EEBA0895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38F57-9862-C1FA-7F8F-9E00A7DE1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est trop gros pour fonctionner correctement sur Micro-</a:t>
            </a:r>
            <a:r>
              <a:rPr lang="fr-FR" dirty="0" err="1"/>
              <a:t>contrôlleur</a:t>
            </a:r>
            <a:endParaRPr lang="fr-FR" dirty="0"/>
          </a:p>
          <a:p>
            <a:pPr lvl="1"/>
            <a:r>
              <a:rPr lang="fr-FR" dirty="0"/>
              <a:t>Non compatible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Peut fonctionner en C++ sur "gros microcontrôleur"</a:t>
            </a:r>
          </a:p>
          <a:p>
            <a:r>
              <a:rPr lang="fr-FR" dirty="0" err="1"/>
              <a:t>TinyMaix</a:t>
            </a:r>
            <a:r>
              <a:rPr lang="fr-FR" dirty="0"/>
              <a:t> permet de résoudre ce problème</a:t>
            </a:r>
          </a:p>
          <a:p>
            <a:r>
              <a:rPr lang="fr-FR" dirty="0" err="1"/>
              <a:t>TinyMaix</a:t>
            </a:r>
            <a:r>
              <a:rPr lang="fr-FR" dirty="0"/>
              <a:t> est un moteur d'inférence pour les réseaux MLP et CNN très léger qui permet d'optimiser le réseau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695918-3964-D1A0-37AB-DF9F585E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690" y="128400"/>
            <a:ext cx="2853056" cy="102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9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9E949-20CE-D6A2-E963-FDE9DB3D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78E13-10A4-12E2-C90B-59F99605B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 répertoire Tools de </a:t>
            </a:r>
            <a:r>
              <a:rPr lang="fr-FR" dirty="0" err="1"/>
              <a:t>TinyMaix</a:t>
            </a:r>
            <a:r>
              <a:rPr lang="fr-FR" dirty="0"/>
              <a:t> il y a</a:t>
            </a:r>
          </a:p>
          <a:p>
            <a:pPr lvl="1"/>
            <a:r>
              <a:rPr lang="fr-FR" dirty="0"/>
              <a:t>h5_to_tflite.py (vu plus tôt)</a:t>
            </a:r>
          </a:p>
          <a:p>
            <a:pPr lvl="1"/>
            <a:r>
              <a:rPr lang="fr-FR" dirty="0"/>
              <a:t>tflite_to_tmdl.py</a:t>
            </a:r>
          </a:p>
          <a:p>
            <a:r>
              <a:rPr lang="fr-FR" dirty="0"/>
              <a:t>Le format TMDL est un format de réseaux de neurone simplifié pour </a:t>
            </a:r>
            <a:r>
              <a:rPr lang="fr-FR" dirty="0" err="1"/>
              <a:t>micro-contrôleur</a:t>
            </a:r>
            <a:endParaRPr lang="fr-FR" dirty="0"/>
          </a:p>
          <a:p>
            <a:pPr lvl="1"/>
            <a:r>
              <a:rPr lang="fr-FR" dirty="0"/>
              <a:t>Ne supporte pas tous les types de layer et ni tous les types d'activation</a:t>
            </a:r>
          </a:p>
          <a:p>
            <a:pPr lvl="1"/>
            <a:r>
              <a:rPr lang="fr-FR" dirty="0"/>
              <a:t>Compatible TF 2.14 maximum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MobileNet</a:t>
            </a:r>
            <a:r>
              <a:rPr lang="fr-FR" dirty="0"/>
              <a:t> V1s</a:t>
            </a:r>
          </a:p>
        </p:txBody>
      </p:sp>
    </p:spTree>
    <p:extLst>
      <p:ext uri="{BB962C8B-B14F-4D97-AF65-F5344CB8AC3E}">
        <p14:creationId xmlns:p14="http://schemas.microsoft.com/office/powerpoint/2010/main" val="207324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0ADD6-1B50-F09E-5115-C535E1CA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Conversions 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D2715-D81E-9F1B-6CF1-E7F26FEC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</a:t>
            </a:r>
            <a:r>
              <a:rPr lang="fr-FR" dirty="0" err="1"/>
              <a:t>TinyMaix</a:t>
            </a:r>
            <a:r>
              <a:rPr lang="fr-FR" dirty="0"/>
              <a:t>/</a:t>
            </a:r>
            <a:r>
              <a:rPr lang="fr-FR" dirty="0" err="1"/>
              <a:t>tools</a:t>
            </a:r>
            <a:endParaRPr lang="fr-FR" dirty="0"/>
          </a:p>
          <a:p>
            <a:r>
              <a:rPr lang="fr-FR" dirty="0"/>
              <a:t>H5 vers </a:t>
            </a:r>
            <a:r>
              <a:rPr lang="fr-FR" dirty="0" err="1"/>
              <a:t>tflite</a:t>
            </a:r>
            <a:endParaRPr lang="fr-FR" dirty="0"/>
          </a:p>
          <a:p>
            <a:pPr lvl="1"/>
            <a:r>
              <a:rPr lang="en-US" dirty="0"/>
              <a:t>h5_to_tflite.py mnist_mlp.h5 mnist_mlp_fp32.tflite 0</a:t>
            </a:r>
          </a:p>
          <a:p>
            <a:pPr lvl="1"/>
            <a:r>
              <a:rPr lang="en-US" dirty="0" err="1"/>
              <a:t>Convertit</a:t>
            </a:r>
            <a:r>
              <a:rPr lang="en-US" dirty="0"/>
              <a:t> les </a:t>
            </a:r>
            <a:r>
              <a:rPr lang="en-US" dirty="0" err="1"/>
              <a:t>poids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32 bits (</a:t>
            </a:r>
            <a:r>
              <a:rPr lang="en-US" dirty="0" err="1"/>
              <a:t>ie</a:t>
            </a:r>
            <a:r>
              <a:rPr lang="en-US" dirty="0"/>
              <a:t> 0)</a:t>
            </a:r>
          </a:p>
          <a:p>
            <a:r>
              <a:rPr lang="en-US" dirty="0" err="1"/>
              <a:t>tflite</a:t>
            </a:r>
            <a:r>
              <a:rPr lang="en-US" dirty="0"/>
              <a:t> vers </a:t>
            </a:r>
            <a:r>
              <a:rPr lang="en-US" dirty="0" err="1"/>
              <a:t>tmdl</a:t>
            </a:r>
            <a:endParaRPr lang="en-US" dirty="0"/>
          </a:p>
          <a:p>
            <a:pPr lvl="1"/>
            <a:r>
              <a:rPr lang="en-US" dirty="0"/>
              <a:t>tflite2tmdl.py mnist_mlp_fp32.tflite mnist_mlp_fp32.tmdl float32 0 784 1</a:t>
            </a:r>
          </a:p>
          <a:p>
            <a:pPr lvl="1"/>
            <a:r>
              <a:rPr lang="en-US" dirty="0" err="1"/>
              <a:t>Convertit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TMDL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utilisant</a:t>
            </a:r>
            <a:r>
              <a:rPr lang="en-US" dirty="0"/>
              <a:t> des array 8 bits</a:t>
            </a:r>
          </a:p>
          <a:p>
            <a:pPr lvl="1"/>
            <a:r>
              <a:rPr lang="en-US" dirty="0"/>
              <a:t>0 = pas de </a:t>
            </a:r>
            <a:r>
              <a:rPr lang="en-US" dirty="0" err="1"/>
              <a:t>quantisation</a:t>
            </a:r>
            <a:endParaRPr lang="en-US" dirty="0"/>
          </a:p>
          <a:p>
            <a:pPr lvl="1"/>
            <a:r>
              <a:rPr lang="en-US" dirty="0"/>
              <a:t>784 = </a:t>
            </a:r>
            <a:r>
              <a:rPr lang="en-US" dirty="0" err="1"/>
              <a:t>input.shape</a:t>
            </a:r>
            <a:r>
              <a:rPr lang="en-US" dirty="0"/>
              <a:t>[1]</a:t>
            </a:r>
          </a:p>
          <a:p>
            <a:pPr lvl="1"/>
            <a:r>
              <a:rPr lang="en-US" dirty="0"/>
              <a:t>1 = </a:t>
            </a:r>
            <a:r>
              <a:rPr lang="en-US" dirty="0" err="1"/>
              <a:t>output.shape</a:t>
            </a:r>
            <a:r>
              <a:rPr lang="en-US" dirty="0"/>
              <a:t>[1]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673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75AE4-EEAE-1169-768C-68AB2E55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Sur 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431220-EBF6-7C7D-0667-F2D2ED282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Importer emlearn_cnn_fp32.mpy</a:t>
            </a:r>
          </a:p>
          <a:p>
            <a:r>
              <a:rPr lang="fr-FR" dirty="0"/>
              <a:t>Importer le </a:t>
            </a:r>
            <a:r>
              <a:rPr lang="fr-FR" dirty="0" err="1"/>
              <a:t>tmdl</a:t>
            </a:r>
            <a:endParaRPr lang="fr-FR" dirty="0"/>
          </a:p>
          <a:p>
            <a:pPr marL="457200" lvl="1" indent="0">
              <a:buNone/>
            </a:pPr>
            <a:r>
              <a:rPr lang="fr-FR" dirty="0" err="1"/>
              <a:t>with</a:t>
            </a:r>
            <a:r>
              <a:rPr lang="fr-FR" dirty="0"/>
              <a:t> open("mnist_mlp_int8.tmdl", '</a:t>
            </a:r>
            <a:r>
              <a:rPr lang="fr-FR" dirty="0" err="1"/>
              <a:t>rb</a:t>
            </a:r>
            <a:r>
              <a:rPr lang="fr-FR" dirty="0"/>
              <a:t>') as f:</a:t>
            </a:r>
          </a:p>
          <a:p>
            <a:pPr marL="457200" lvl="1" indent="0">
              <a:buNone/>
            </a:pPr>
            <a:r>
              <a:rPr lang="fr-FR" dirty="0"/>
              <a:t>    model = </a:t>
            </a:r>
            <a:r>
              <a:rPr lang="fr-FR" dirty="0" err="1"/>
              <a:t>array.array</a:t>
            </a:r>
            <a:r>
              <a:rPr lang="fr-FR" dirty="0"/>
              <a:t>('B', </a:t>
            </a:r>
            <a:r>
              <a:rPr lang="fr-FR" dirty="0" err="1"/>
              <a:t>f.read</a:t>
            </a:r>
            <a:r>
              <a:rPr lang="fr-FR" dirty="0"/>
              <a:t>())</a:t>
            </a:r>
          </a:p>
          <a:p>
            <a:pPr marL="457200" lvl="1" indent="0">
              <a:buNone/>
            </a:pPr>
            <a:r>
              <a:rPr lang="fr-FR" dirty="0"/>
              <a:t>model = </a:t>
            </a:r>
            <a:r>
              <a:rPr lang="fr-FR" dirty="0" err="1"/>
              <a:t>emlearn_cnn.new</a:t>
            </a:r>
            <a:r>
              <a:rPr lang="fr-FR" dirty="0"/>
              <a:t>(model)</a:t>
            </a:r>
          </a:p>
          <a:p>
            <a:r>
              <a:rPr lang="fr-FR" dirty="0"/>
              <a:t>Prédire</a:t>
            </a:r>
          </a:p>
          <a:p>
            <a:pPr lvl="1"/>
            <a:r>
              <a:rPr lang="en-US" dirty="0"/>
              <a:t>out = </a:t>
            </a:r>
            <a:r>
              <a:rPr lang="en-US" dirty="0" err="1"/>
              <a:t>array.array</a:t>
            </a:r>
            <a:r>
              <a:rPr lang="en-US" dirty="0"/>
              <a:t>('f', (-1 for _ in range(</a:t>
            </a:r>
            <a:r>
              <a:rPr lang="en-US" dirty="0" err="1"/>
              <a:t>model.output_dimensions</a:t>
            </a:r>
            <a:r>
              <a:rPr lang="en-US" dirty="0"/>
              <a:t>()[0])))</a:t>
            </a:r>
            <a:endParaRPr lang="fr-FR" dirty="0"/>
          </a:p>
          <a:p>
            <a:pPr lvl="1"/>
            <a:r>
              <a:rPr lang="fr-FR" dirty="0" err="1"/>
              <a:t>model.run</a:t>
            </a:r>
            <a:r>
              <a:rPr lang="fr-FR" dirty="0"/>
              <a:t>(x, out)</a:t>
            </a:r>
          </a:p>
          <a:p>
            <a:pPr lvl="1"/>
            <a:r>
              <a:rPr lang="fr-FR" dirty="0"/>
              <a:t>x doit être un tableau d'octets 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161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49874-6C03-FC95-D495-B3CAB6CE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718AD-4788-7999-EB16-03D7D3FEE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Toutes les fonctions d'activations ne sont pas présentes</a:t>
            </a:r>
          </a:p>
          <a:p>
            <a:pPr lvl="1"/>
            <a:r>
              <a:rPr lang="fr-FR" dirty="0"/>
              <a:t>Par exemple </a:t>
            </a:r>
            <a:r>
              <a:rPr lang="fr-FR" dirty="0" err="1"/>
              <a:t>sigmoid</a:t>
            </a:r>
            <a:r>
              <a:rPr lang="fr-FR" dirty="0"/>
              <a:t> et </a:t>
            </a:r>
            <a:r>
              <a:rPr lang="fr-FR" dirty="0" err="1"/>
              <a:t>tanh</a:t>
            </a:r>
            <a:endParaRPr lang="fr-FR" dirty="0"/>
          </a:p>
          <a:p>
            <a:r>
              <a:rPr lang="fr-FR" dirty="0"/>
              <a:t>L'input doit être un tableau de byte</a:t>
            </a:r>
          </a:p>
          <a:p>
            <a:pPr lvl="1"/>
            <a:r>
              <a:rPr lang="fr-FR" dirty="0"/>
              <a:t>Les données doivent être </a:t>
            </a:r>
            <a:r>
              <a:rPr lang="fr-FR" dirty="0" err="1"/>
              <a:t>scalées</a:t>
            </a:r>
            <a:r>
              <a:rPr lang="fr-FR" dirty="0"/>
              <a:t> entre 0 et 255</a:t>
            </a:r>
          </a:p>
          <a:p>
            <a:pPr lvl="1"/>
            <a:r>
              <a:rPr lang="fr-FR" dirty="0"/>
              <a:t>Sur le PC les données doivent être </a:t>
            </a:r>
            <a:r>
              <a:rPr lang="fr-FR" dirty="0" err="1"/>
              <a:t>scalées</a:t>
            </a:r>
            <a:r>
              <a:rPr lang="fr-FR" dirty="0"/>
              <a:t> entre 0 et 1</a:t>
            </a:r>
          </a:p>
          <a:p>
            <a:pPr lvl="1"/>
            <a:r>
              <a:rPr lang="fr-FR" dirty="0"/>
              <a:t>Seul le </a:t>
            </a:r>
            <a:r>
              <a:rPr lang="fr-FR" dirty="0" err="1"/>
              <a:t>MinMaxScaler</a:t>
            </a:r>
            <a:r>
              <a:rPr lang="fr-FR" dirty="0"/>
              <a:t> est donc envisageable</a:t>
            </a:r>
          </a:p>
        </p:txBody>
      </p:sp>
    </p:spTree>
    <p:extLst>
      <p:ext uri="{BB962C8B-B14F-4D97-AF65-F5344CB8AC3E}">
        <p14:creationId xmlns:p14="http://schemas.microsoft.com/office/powerpoint/2010/main" val="414096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2C071-3C82-503F-011A-4A1592C7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3C3C6-F8F3-9055-402A-A9D264C4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 dirty="0" err="1"/>
              <a:t>heart</a:t>
            </a:r>
            <a:endParaRPr lang="fr-FR" dirty="0"/>
          </a:p>
          <a:p>
            <a:pPr lvl="1"/>
            <a:r>
              <a:rPr lang="fr-FR" dirty="0"/>
              <a:t>Le réseau exemple fait 10x8x2</a:t>
            </a:r>
          </a:p>
          <a:p>
            <a:pPr lvl="1"/>
            <a:r>
              <a:rPr lang="fr-FR" dirty="0"/>
              <a:t>TF ajute un poids à chaque neurone pour le seuil</a:t>
            </a:r>
          </a:p>
          <a:p>
            <a:pPr lvl="1"/>
            <a:r>
              <a:rPr lang="fr-FR" dirty="0" err="1"/>
              <a:t>nb_weights</a:t>
            </a:r>
            <a:r>
              <a:rPr lang="fr-FR" dirty="0"/>
              <a:t> = 11*9+9*3 = 126 poids 32 bits =&gt; 0.5 Ko</a:t>
            </a:r>
          </a:p>
          <a:p>
            <a:r>
              <a:rPr lang="fr-FR" dirty="0"/>
              <a:t>Pour Cancer</a:t>
            </a:r>
          </a:p>
          <a:p>
            <a:pPr lvl="1"/>
            <a:r>
              <a:rPr lang="fr-FR" dirty="0"/>
              <a:t>Le réseau exemple fait 30x20x10x2</a:t>
            </a:r>
          </a:p>
          <a:p>
            <a:pPr lvl="1"/>
            <a:r>
              <a:rPr lang="fr-FR" dirty="0"/>
              <a:t>31*21+21*11+11*3 = 915 =&gt; 3.7 Ko</a:t>
            </a:r>
          </a:p>
          <a:p>
            <a:r>
              <a:rPr lang="fr-FR" dirty="0"/>
              <a:t>Pour MNIST</a:t>
            </a:r>
          </a:p>
          <a:p>
            <a:pPr lvl="1"/>
            <a:r>
              <a:rPr lang="fr-FR" dirty="0"/>
              <a:t>Le réseau exemple fait 784x500x200x100x10</a:t>
            </a:r>
          </a:p>
          <a:p>
            <a:pPr lvl="1"/>
            <a:r>
              <a:rPr lang="fr-FR" dirty="0"/>
              <a:t>2.8 Mo</a:t>
            </a:r>
          </a:p>
          <a:p>
            <a:pPr lvl="1"/>
            <a:r>
              <a:rPr lang="fr-FR" dirty="0"/>
              <a:t>Ne fonctionne pas sur ESP32 simple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881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076638-EE6B-C996-52F4-42BCFF4D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2512B2-49F4-D32F-5008-83A5F8B33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MNIST</a:t>
            </a:r>
          </a:p>
        </p:txBody>
      </p:sp>
    </p:spTree>
    <p:extLst>
      <p:ext uri="{BB962C8B-B14F-4D97-AF65-F5344CB8AC3E}">
        <p14:creationId xmlns:p14="http://schemas.microsoft.com/office/powerpoint/2010/main" val="185505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optimisations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d'optimiser un modèle après apprentissage</a:t>
            </a:r>
          </a:p>
          <a:p>
            <a:pPr lvl="1"/>
            <a:r>
              <a:rPr lang="fr-FR" dirty="0"/>
              <a:t>Afin de réduire sa taille et sa vitesse d'inférence</a:t>
            </a:r>
          </a:p>
        </p:txBody>
      </p:sp>
    </p:spTree>
    <p:extLst>
      <p:ext uri="{BB962C8B-B14F-4D97-AF65-F5344CB8AC3E}">
        <p14:creationId xmlns:p14="http://schemas.microsoft.com/office/powerpoint/2010/main" val="3595743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Réduit la taille des poids</a:t>
            </a:r>
          </a:p>
          <a:p>
            <a:pPr lvl="1"/>
            <a:r>
              <a:rPr lang="fr-FR" sz="2000" dirty="0"/>
              <a:t>TF est 64 bits</a:t>
            </a:r>
          </a:p>
          <a:p>
            <a:pPr lvl="1"/>
            <a:r>
              <a:rPr lang="fr-FR" sz="2000" dirty="0" err="1"/>
              <a:t>TFlite</a:t>
            </a:r>
            <a:r>
              <a:rPr lang="fr-FR" sz="2000" dirty="0"/>
              <a:t> est 32 bits</a:t>
            </a:r>
          </a:p>
          <a:p>
            <a:pPr lvl="1"/>
            <a:r>
              <a:rPr lang="fr-FR" sz="2000" dirty="0"/>
              <a:t>Taille divisé par 2</a:t>
            </a:r>
          </a:p>
          <a:p>
            <a:pPr lvl="1"/>
            <a:r>
              <a:rPr lang="fr-FR" sz="2000" dirty="0"/>
              <a:t>Aucun gain de rapidité sauf sur processeur 32 bits</a:t>
            </a:r>
          </a:p>
          <a:p>
            <a:r>
              <a:rPr lang="fr-FR" sz="2400" dirty="0"/>
              <a:t>Possibilité de réduire la taille des poids sur 16 bits</a:t>
            </a:r>
          </a:p>
          <a:p>
            <a:pPr lvl="1"/>
            <a:r>
              <a:rPr lang="fr-FR" sz="2000" dirty="0"/>
              <a:t>Précision 1/65536</a:t>
            </a:r>
          </a:p>
          <a:p>
            <a:pPr lvl="1"/>
            <a:r>
              <a:rPr lang="fr-FR" sz="2000" dirty="0"/>
              <a:t>Taille divisé par 4</a:t>
            </a:r>
          </a:p>
          <a:p>
            <a:pPr lvl="1"/>
            <a:r>
              <a:rPr lang="fr-FR" sz="2000" dirty="0"/>
              <a:t>Gain de rapidité de 4</a:t>
            </a:r>
          </a:p>
          <a:p>
            <a:r>
              <a:rPr lang="fr-FR" sz="2400" dirty="0"/>
              <a:t>Possibilité de réduire la taille des poids sur 8 bits</a:t>
            </a:r>
          </a:p>
          <a:p>
            <a:pPr lvl="1"/>
            <a:r>
              <a:rPr lang="fr-FR" sz="2000" dirty="0"/>
              <a:t>Entiers</a:t>
            </a:r>
          </a:p>
          <a:p>
            <a:pPr lvl="1"/>
            <a:r>
              <a:rPr lang="fr-FR" sz="2000" dirty="0"/>
              <a:t>Précision 1/256</a:t>
            </a:r>
          </a:p>
          <a:p>
            <a:pPr lvl="1"/>
            <a:r>
              <a:rPr lang="fr-FR" sz="2000" dirty="0"/>
              <a:t>Taille divisé par 8</a:t>
            </a:r>
          </a:p>
          <a:p>
            <a:pPr lvl="1"/>
            <a:r>
              <a:rPr lang="fr-FR" sz="2000" dirty="0"/>
              <a:t>Gain de rapidité de 8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746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 est très simple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tf.lite.Optimize.DEFAULT</a:t>
            </a:r>
            <a:r>
              <a:rPr lang="fr-FR" dirty="0"/>
              <a:t>]</a:t>
            </a:r>
          </a:p>
          <a:p>
            <a:pPr lvl="1"/>
            <a:r>
              <a:rPr lang="fr-FR" dirty="0"/>
              <a:t>Par défaut 8 bits</a:t>
            </a:r>
          </a:p>
          <a:p>
            <a:pPr lvl="1"/>
            <a:r>
              <a:rPr lang="fr-FR" dirty="0"/>
              <a:t>Pour passer en 16 bits</a:t>
            </a:r>
          </a:p>
          <a:p>
            <a:pPr lvl="1"/>
            <a:r>
              <a:rPr lang="fr-FR" dirty="0" err="1"/>
              <a:t>converter.target_spec.supported_types</a:t>
            </a:r>
            <a:r>
              <a:rPr lang="fr-FR" dirty="0"/>
              <a:t> = [tf.float16]</a:t>
            </a:r>
          </a:p>
        </p:txBody>
      </p:sp>
    </p:spTree>
    <p:extLst>
      <p:ext uri="{BB962C8B-B14F-4D97-AF65-F5344CB8AC3E}">
        <p14:creationId xmlns:p14="http://schemas.microsoft.com/office/powerpoint/2010/main" val="8885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possible de </a:t>
            </a:r>
            <a:r>
              <a:rPr lang="fr-FR" dirty="0" err="1"/>
              <a:t>quantiser</a:t>
            </a:r>
            <a:r>
              <a:rPr lang="fr-FR" dirty="0"/>
              <a:t> les fonctions d'activation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tf.lite.Optimize.OPTIMIZE_FOR_SIZE</a:t>
            </a:r>
            <a:r>
              <a:rPr lang="fr-F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86817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Pruning</a:t>
            </a:r>
            <a:r>
              <a:rPr lang="fr-FR" dirty="0"/>
              <a:t> est une méthode TF pour élaguer les poids proches de 0</a:t>
            </a:r>
          </a:p>
          <a:p>
            <a:pPr lvl="1"/>
            <a:r>
              <a:rPr lang="fr-FR" dirty="0"/>
              <a:t>Constat : les poids proches de 0 participent peu au résultat</a:t>
            </a:r>
          </a:p>
          <a:p>
            <a:pPr lvl="1"/>
            <a:r>
              <a:rPr lang="fr-FR" dirty="0" err="1"/>
              <a:t>DropConnect</a:t>
            </a:r>
            <a:r>
              <a:rPr lang="fr-FR" dirty="0"/>
              <a:t> permanent</a:t>
            </a:r>
          </a:p>
          <a:p>
            <a:pPr lvl="1"/>
            <a:r>
              <a:rPr lang="fr-FR" dirty="0"/>
              <a:t>Un poids exactement = 0 n'évoluera plus</a:t>
            </a:r>
          </a:p>
          <a:p>
            <a:pPr lvl="1"/>
            <a:r>
              <a:rPr lang="fr-FR" dirty="0"/>
              <a:t>D'abord les poids &lt; 0.1 puis augmente avec le temps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8801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Model </a:t>
            </a:r>
            <a:r>
              <a:rPr lang="fr-FR" dirty="0" err="1"/>
              <a:t>Optimization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Sous projet TF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-model-</a:t>
            </a:r>
            <a:r>
              <a:rPr lang="fr-FR" dirty="0" err="1"/>
              <a:t>optimization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tensorflow_model_optimization</a:t>
            </a:r>
            <a:r>
              <a:rPr lang="fr-FR" dirty="0"/>
              <a:t> as </a:t>
            </a:r>
            <a:r>
              <a:rPr lang="fr-FR" dirty="0" err="1"/>
              <a:t>tfmot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704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TFMOT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d'appliquer un </a:t>
            </a:r>
            <a:r>
              <a:rPr lang="fr-FR" dirty="0" err="1"/>
              <a:t>Pruning</a:t>
            </a:r>
            <a:r>
              <a:rPr lang="fr-FR" dirty="0"/>
              <a:t> avec une fonction polynomiale qui élague de 0.0 à 0.5 de l'itération 2000 à 4000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" y="3520361"/>
            <a:ext cx="8916785" cy="251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Aware</a:t>
            </a:r>
            <a:r>
              <a:rPr lang="fr-FR" dirty="0"/>
              <a:t>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une Pré-</a:t>
            </a:r>
            <a:r>
              <a:rPr lang="fr-FR" dirty="0" err="1"/>
              <a:t>quantization</a:t>
            </a:r>
            <a:endParaRPr lang="fr-FR" dirty="0"/>
          </a:p>
          <a:p>
            <a:pPr lvl="1"/>
            <a:r>
              <a:rPr lang="fr-FR" dirty="0"/>
              <a:t>Permet sous TF de </a:t>
            </a:r>
            <a:r>
              <a:rPr lang="fr-FR" dirty="0" err="1"/>
              <a:t>quantiser</a:t>
            </a:r>
            <a:r>
              <a:rPr lang="fr-FR" dirty="0"/>
              <a:t> les poids avant apprentissage sur 8 bits ou 16 bits</a:t>
            </a:r>
          </a:p>
          <a:p>
            <a:pPr lvl="1"/>
            <a:r>
              <a:rPr lang="fr-FR" dirty="0"/>
              <a:t>Attention les poids sont toujours sur 64 bits</a:t>
            </a:r>
          </a:p>
          <a:p>
            <a:pPr lvl="1"/>
            <a:r>
              <a:rPr lang="fr-FR" dirty="0"/>
              <a:t>Seuls les pas d'apprentissages sont de 1/256 ou 1/65536</a:t>
            </a:r>
          </a:p>
          <a:p>
            <a:pPr lvl="1"/>
            <a:r>
              <a:rPr lang="fr-FR" dirty="0"/>
              <a:t>Post </a:t>
            </a:r>
            <a:r>
              <a:rPr lang="fr-FR" dirty="0" err="1"/>
              <a:t>Quantization</a:t>
            </a:r>
            <a:r>
              <a:rPr lang="fr-FR" dirty="0"/>
              <a:t> </a:t>
            </a:r>
            <a:r>
              <a:rPr lang="fr-FR" dirty="0" err="1"/>
              <a:t>TFLite</a:t>
            </a:r>
            <a:r>
              <a:rPr lang="fr-FR" dirty="0"/>
              <a:t> obligatoire</a:t>
            </a:r>
          </a:p>
          <a:p>
            <a:pPr lvl="1"/>
            <a:r>
              <a:rPr lang="fr-FR" dirty="0"/>
              <a:t>Plus précis</a:t>
            </a:r>
          </a:p>
          <a:p>
            <a:pPr lvl="1"/>
            <a:r>
              <a:rPr lang="fr-FR" dirty="0"/>
              <a:t>Nécessite un réapprentissage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tfmot.quantization.keras.quantize_model</a:t>
            </a:r>
            <a:r>
              <a:rPr lang="fr-FR" dirty="0"/>
              <a:t>(model)</a:t>
            </a:r>
          </a:p>
          <a:p>
            <a:r>
              <a:rPr lang="fr-FR" dirty="0"/>
              <a:t>Inutile depuis que </a:t>
            </a:r>
            <a:r>
              <a:rPr lang="fr-FR" dirty="0" err="1"/>
              <a:t>TFLite</a:t>
            </a:r>
            <a:r>
              <a:rPr lang="fr-FR" dirty="0"/>
              <a:t> sait refaire des inférences pendant la </a:t>
            </a:r>
            <a:r>
              <a:rPr lang="fr-FR" dirty="0" err="1"/>
              <a:t>quantisation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8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134D6-BF84-FE78-469F-8ED969C4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</a:t>
            </a:r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923D58-0573-C315-0904-9CE82DFA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h5_to_tflite.py</a:t>
            </a:r>
          </a:p>
          <a:p>
            <a:pPr lvl="1"/>
            <a:r>
              <a:rPr lang="fr-FR" dirty="0" err="1"/>
              <a:t>Quantisation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Limitation : seules les données corrélées sont </a:t>
            </a:r>
            <a:r>
              <a:rPr lang="fr-FR" dirty="0" err="1"/>
              <a:t>quantisables</a:t>
            </a:r>
            <a:r>
              <a:rPr lang="fr-FR" dirty="0"/>
              <a:t> pour le moment</a:t>
            </a:r>
          </a:p>
          <a:p>
            <a:pPr lvl="1"/>
            <a:r>
              <a:rPr lang="fr-FR" dirty="0" err="1"/>
              <a:t>I'outil</a:t>
            </a:r>
            <a:r>
              <a:rPr lang="fr-FR" dirty="0"/>
              <a:t> va réexécuter des inférences pour maitrise la </a:t>
            </a:r>
            <a:r>
              <a:rPr lang="fr-FR" dirty="0" err="1"/>
              <a:t>quantisation</a:t>
            </a:r>
            <a:r>
              <a:rPr lang="fr-FR" dirty="0"/>
              <a:t> des fonctions d'activation</a:t>
            </a:r>
          </a:p>
          <a:p>
            <a:pPr lvl="1"/>
            <a:r>
              <a:rPr lang="fr-FR" dirty="0"/>
              <a:t>Nécessité d'avoir un mini </a:t>
            </a:r>
            <a:r>
              <a:rPr lang="fr-FR" dirty="0" err="1"/>
              <a:t>x_train</a:t>
            </a:r>
            <a:r>
              <a:rPr lang="fr-FR" dirty="0"/>
              <a:t> sous la forme d'image</a:t>
            </a:r>
          </a:p>
          <a:p>
            <a:pPr lvl="1"/>
            <a:r>
              <a:rPr lang="en-US" dirty="0"/>
              <a:t>python h5_to_tflite.py mnist_mlp.h5 </a:t>
            </a:r>
            <a:r>
              <a:rPr lang="en-US" dirty="0" err="1"/>
              <a:t>mnist_cnn.tflite</a:t>
            </a:r>
            <a:r>
              <a:rPr lang="en-US" dirty="0"/>
              <a:t> 1 </a:t>
            </a:r>
            <a:r>
              <a:rPr lang="en-US" dirty="0" err="1"/>
              <a:t>quant_img_mnist</a:t>
            </a:r>
            <a:r>
              <a:rPr lang="en-US" dirty="0"/>
              <a:t>/ 0to1</a:t>
            </a:r>
          </a:p>
          <a:p>
            <a:pPr lvl="1"/>
            <a:r>
              <a:rPr lang="en-US" dirty="0"/>
              <a:t>1 = </a:t>
            </a:r>
            <a:r>
              <a:rPr lang="en-US" dirty="0" err="1"/>
              <a:t>Quantisation</a:t>
            </a:r>
            <a:endParaRPr lang="en-US" dirty="0"/>
          </a:p>
          <a:p>
            <a:pPr lvl="1"/>
            <a:r>
              <a:rPr lang="en-US" dirty="0" err="1"/>
              <a:t>quand_img_mnist</a:t>
            </a:r>
            <a:r>
              <a:rPr lang="en-US" dirty="0"/>
              <a:t> : repertoire des image </a:t>
            </a:r>
            <a:r>
              <a:rPr lang="en-US" dirty="0" err="1"/>
              <a:t>d'entrainement</a:t>
            </a:r>
            <a:endParaRPr lang="en-US" dirty="0"/>
          </a:p>
          <a:p>
            <a:pPr lvl="1"/>
            <a:r>
              <a:rPr lang="en-US" dirty="0"/>
              <a:t>0to1 : y est </a:t>
            </a:r>
            <a:r>
              <a:rPr lang="en-US" dirty="0" err="1"/>
              <a:t>compris</a:t>
            </a:r>
            <a:r>
              <a:rPr lang="en-US" dirty="0"/>
              <a:t> entre 0 et 1 =&gt; </a:t>
            </a:r>
            <a:r>
              <a:rPr lang="en-US" dirty="0" err="1"/>
              <a:t>MinMaxScaler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101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E00F33-A97D-8FAD-E041-95918906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6B9370-BC1A-0F1E-4050-5CB73D0A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en </a:t>
            </a:r>
            <a:r>
              <a:rPr lang="fr-FR" dirty="0" err="1"/>
              <a:t>array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tflite2tmdl.py mnist_mlp_int8.tflite mnist_mlp_int8.tmdl int8 1 784 1</a:t>
            </a:r>
          </a:p>
          <a:p>
            <a:pPr lvl="1"/>
            <a:r>
              <a:rPr lang="fr-FR" dirty="0"/>
              <a:t>int8 = </a:t>
            </a:r>
            <a:r>
              <a:rPr lang="fr-FR" dirty="0" err="1"/>
              <a:t>quantisation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1 = les données sont déjà </a:t>
            </a:r>
            <a:r>
              <a:rPr lang="fr-FR" dirty="0" err="1"/>
              <a:t>quantisées</a:t>
            </a:r>
            <a:endParaRPr lang="fr-FR" dirty="0"/>
          </a:p>
          <a:p>
            <a:r>
              <a:rPr lang="fr-FR" dirty="0"/>
              <a:t>Sur ESP32 il faut utiliser emlearn_cnn_fp32</a:t>
            </a:r>
          </a:p>
        </p:txBody>
      </p:sp>
    </p:spTree>
    <p:extLst>
      <p:ext uri="{BB962C8B-B14F-4D97-AF65-F5344CB8AC3E}">
        <p14:creationId xmlns:p14="http://schemas.microsoft.com/office/powerpoint/2010/main" val="469342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93DC-BBE0-54D5-A00A-CA82925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33D03-FE4A-7F16-AD34-60E62DDA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TinyMaix</a:t>
            </a:r>
            <a:r>
              <a:rPr lang="fr-FR"/>
              <a:t> MNIST 8 bits</a:t>
            </a:r>
          </a:p>
        </p:txBody>
      </p:sp>
    </p:spTree>
    <p:extLst>
      <p:ext uri="{BB962C8B-B14F-4D97-AF65-F5344CB8AC3E}">
        <p14:creationId xmlns:p14="http://schemas.microsoft.com/office/powerpoint/2010/main" val="155694960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7357</TotalTime>
  <Words>948</Words>
  <Application>Microsoft Office PowerPoint</Application>
  <PresentationFormat>Affichage à l'écran (4:3)</PresentationFormat>
  <Paragraphs>146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Monotype Sorts</vt:lpstr>
      <vt:lpstr>Times New Roman</vt:lpstr>
      <vt:lpstr>cvc</vt:lpstr>
      <vt:lpstr>Présentation PowerPoint</vt:lpstr>
      <vt:lpstr>TFLite</vt:lpstr>
      <vt:lpstr>H5</vt:lpstr>
      <vt:lpstr>Inférence</vt:lpstr>
      <vt:lpstr>Présentation PowerPoint</vt:lpstr>
      <vt:lpstr>TMDL</vt:lpstr>
      <vt:lpstr>Conversions TMDL</vt:lpstr>
      <vt:lpstr>Sur ESP32</vt:lpstr>
      <vt:lpstr>Limitations</vt:lpstr>
      <vt:lpstr>Limitations RAM</vt:lpstr>
      <vt:lpstr>TP 12</vt:lpstr>
      <vt:lpstr>Post optimisations</vt:lpstr>
      <vt:lpstr>Post Quantization</vt:lpstr>
      <vt:lpstr>Post Quantization</vt:lpstr>
      <vt:lpstr>Post Quantization</vt:lpstr>
      <vt:lpstr>Pruning</vt:lpstr>
      <vt:lpstr>Tensorflow Model Optimization</vt:lpstr>
      <vt:lpstr>TFMOT Pruning</vt:lpstr>
      <vt:lpstr>Aware Quantization</vt:lpstr>
      <vt:lpstr>Quantisation TFLite</vt:lpstr>
      <vt:lpstr>Quantisation TMDL</vt:lpstr>
      <vt:lpstr>TP 13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344</cp:revision>
  <dcterms:created xsi:type="dcterms:W3CDTF">2000-04-10T19:33:12Z</dcterms:created>
  <dcterms:modified xsi:type="dcterms:W3CDTF">2026-03-18T23:07:55Z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