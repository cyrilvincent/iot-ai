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1"/>
  </p:notesMasterIdLst>
  <p:handoutMasterIdLst>
    <p:handoutMasterId r:id="rId22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1" r:id="rId18"/>
    <p:sldId id="282" r:id="rId19"/>
    <p:sldId id="280" r:id="rId2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Architecture et mise en réseau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2EA4E-1395-8A10-9D7F-8EC8A23F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limites d'IP pour l'IoT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C55A2-2025-4B84-AC04-EAC8AB388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IPv4 et IPv6 sont efficaces pour la délivrance de données pour les réseaux locaux, les réseaux métropolitains et l'internet</a:t>
            </a:r>
          </a:p>
          <a:p>
            <a:r>
              <a:rPr lang="fr-FR" sz="2400" dirty="0"/>
              <a:t>Les limites d'IP</a:t>
            </a:r>
          </a:p>
          <a:p>
            <a:pPr lvl="1"/>
            <a:r>
              <a:rPr lang="fr-FR" sz="2000" dirty="0"/>
              <a:t>Débit élevé : est-ce utile</a:t>
            </a:r>
          </a:p>
          <a:p>
            <a:pPr lvl="1"/>
            <a:r>
              <a:rPr lang="fr-FR" sz="2000" dirty="0"/>
              <a:t>Latence très faible : est-ce utile</a:t>
            </a:r>
          </a:p>
          <a:p>
            <a:pPr lvl="1"/>
            <a:r>
              <a:rPr lang="fr-FR" sz="2000" dirty="0"/>
              <a:t>Branchement permanent : est-ce utile</a:t>
            </a:r>
          </a:p>
          <a:p>
            <a:pPr lvl="1"/>
            <a:r>
              <a:rPr lang="fr-FR" sz="2000" dirty="0"/>
              <a:t>Energie++ (Wifi++)</a:t>
            </a:r>
          </a:p>
          <a:p>
            <a:pPr lvl="1"/>
            <a:r>
              <a:rPr lang="fr-FR" sz="2000" dirty="0"/>
              <a:t>HTTP = Protocole à en-tête : très volumineux pour des petits messages</a:t>
            </a:r>
          </a:p>
          <a:p>
            <a:pPr lvl="1"/>
            <a:r>
              <a:rPr lang="fr-FR" sz="2000" dirty="0"/>
              <a:t>SSL = tout est crypté : Energie++</a:t>
            </a:r>
          </a:p>
          <a:p>
            <a:r>
              <a:rPr lang="fr-FR" sz="2400" dirty="0"/>
              <a:t>IP est néanmoins très utile en domotique, en industrie et pour les IoT filaires</a:t>
            </a:r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40689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EEB3D-026C-97C4-123E-A65468B9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Nouveaux besoins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D6EA33-6C60-7420-2FD9-CBBAEE785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L'IoT a de nouveaux besoins</a:t>
            </a:r>
          </a:p>
          <a:p>
            <a:pPr lvl="1"/>
            <a:r>
              <a:rPr lang="fr-FR" dirty="0"/>
              <a:t>A vous</a:t>
            </a:r>
          </a:p>
        </p:txBody>
      </p:sp>
    </p:spTree>
    <p:extLst>
      <p:ext uri="{BB962C8B-B14F-4D97-AF65-F5344CB8AC3E}">
        <p14:creationId xmlns:p14="http://schemas.microsoft.com/office/powerpoint/2010/main" val="43255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62975-BE09-AFD4-CB7F-ED057CCA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Nano IP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1AB6DC-A719-C937-6851-C72405E8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micro-contrôleurs</a:t>
            </a:r>
            <a:r>
              <a:rPr lang="fr-FR" dirty="0"/>
              <a:t> sont soit 32 bits (incompatible IPv6) soit 8 bits (incompatible IPv4)</a:t>
            </a:r>
          </a:p>
          <a:p>
            <a:r>
              <a:rPr lang="fr-FR" dirty="0"/>
              <a:t>Nano-IP est une implémentation simplifiée du protocole IP adaptée aux systèmes embarqués 16 à 32 bits</a:t>
            </a:r>
          </a:p>
          <a:p>
            <a:r>
              <a:rPr lang="fr-FR" dirty="0"/>
              <a:t>Elle vise à fournir les fonctionnalités réseau de base (adressage, routage, communication TCP/UDP) tout en minimisant :</a:t>
            </a:r>
          </a:p>
          <a:p>
            <a:pPr lvl="1"/>
            <a:r>
              <a:rPr lang="fr-FR" dirty="0"/>
              <a:t>La consommation mémoire</a:t>
            </a:r>
          </a:p>
          <a:p>
            <a:pPr lvl="1"/>
            <a:r>
              <a:rPr lang="fr-FR" dirty="0"/>
              <a:t>La consommation énergétique</a:t>
            </a:r>
          </a:p>
        </p:txBody>
      </p:sp>
    </p:spTree>
    <p:extLst>
      <p:ext uri="{BB962C8B-B14F-4D97-AF65-F5344CB8AC3E}">
        <p14:creationId xmlns:p14="http://schemas.microsoft.com/office/powerpoint/2010/main" val="52477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10D82-5E35-DB33-A81A-B76E6AB6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59B7C-53A5-64A1-3A74-2855B465E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Permettre à des capteurs, actionneurs et microcontrôleurs de communiquer via IP sans nécessiter une pile complète comme celle des systèmes classiques</a:t>
            </a:r>
          </a:p>
          <a:p>
            <a:r>
              <a:rPr lang="fr-FR" dirty="0"/>
              <a:t>S’intégrer dans des environnements où IPv6 ou IPv4 complets sont trop lourds, en utilisant des optimisations</a:t>
            </a:r>
          </a:p>
          <a:p>
            <a:pPr lvl="1"/>
            <a:r>
              <a:rPr lang="fr-FR" dirty="0"/>
              <a:t>compression d’en-têtes</a:t>
            </a:r>
          </a:p>
          <a:p>
            <a:pPr lvl="1"/>
            <a:r>
              <a:rPr lang="fr-FR" dirty="0"/>
              <a:t>protocoles légers comme </a:t>
            </a:r>
            <a:r>
              <a:rPr lang="fr-FR" dirty="0" err="1"/>
              <a:t>CoAP</a:t>
            </a:r>
            <a:r>
              <a:rPr lang="fr-FR" dirty="0"/>
              <a:t> ou MQTT</a:t>
            </a:r>
          </a:p>
        </p:txBody>
      </p:sp>
    </p:spTree>
    <p:extLst>
      <p:ext uri="{BB962C8B-B14F-4D97-AF65-F5344CB8AC3E}">
        <p14:creationId xmlns:p14="http://schemas.microsoft.com/office/powerpoint/2010/main" val="3167139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01334-2A8F-F72E-2A47-60A60198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Différence avec IPv6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B8ED3C-4696-F4D8-2D50-CBDDEDBED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IPv6 est la norme pour l’IoT à grande échelle (adressage massif, sécurité </a:t>
            </a:r>
            <a:r>
              <a:rPr lang="fr-FR" dirty="0" err="1"/>
              <a:t>IPsec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Reste complexe pour des dispositifs ultra-limités</a:t>
            </a:r>
          </a:p>
          <a:p>
            <a:r>
              <a:rPr lang="fr-FR" dirty="0"/>
              <a:t>Nano-IP se concentre sur l’essentiel pour la connectivité locale ou restreinte, souvent dans des réseaux maillés ou LPWAN, sans toutes les fonctionnalités avancées d’IPv6</a:t>
            </a:r>
          </a:p>
          <a:p>
            <a:r>
              <a:rPr lang="fr-FR" dirty="0"/>
              <a:t>Dispo librement sur </a:t>
            </a:r>
            <a:r>
              <a:rPr lang="fr-FR" dirty="0" err="1"/>
              <a:t>Github</a:t>
            </a:r>
            <a:endParaRPr lang="fr-FR" dirty="0"/>
          </a:p>
          <a:p>
            <a:pPr lvl="1"/>
            <a:r>
              <a:rPr lang="fr-FR" dirty="0"/>
              <a:t>https://github.com/nanosoft-net/nano-ip</a:t>
            </a:r>
          </a:p>
        </p:txBody>
      </p:sp>
    </p:spTree>
    <p:extLst>
      <p:ext uri="{BB962C8B-B14F-4D97-AF65-F5344CB8AC3E}">
        <p14:creationId xmlns:p14="http://schemas.microsoft.com/office/powerpoint/2010/main" val="229610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6F6986-AE63-E8B5-BA1D-DF27964F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6LowPan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0BE1AA-2048-4F5C-93DD-B5488D3A8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IPv6 Low power Wireless </a:t>
            </a:r>
            <a:r>
              <a:rPr lang="fr-FR" dirty="0" err="1"/>
              <a:t>Personal</a:t>
            </a:r>
            <a:r>
              <a:rPr lang="fr-FR" dirty="0"/>
              <a:t> Area</a:t>
            </a:r>
          </a:p>
          <a:p>
            <a:r>
              <a:rPr lang="fr-FR" dirty="0"/>
              <a:t>Le groupe 6LoWPAN a défini les mécanismes d'encapsulation et de compression d'entêtes permettant aux paquets IPv6 d'être envoyés ou reçus via le protocole de communication IEEE 802.15.4</a:t>
            </a:r>
          </a:p>
          <a:p>
            <a:pPr lvl="1"/>
            <a:r>
              <a:rPr lang="fr-FR" dirty="0"/>
              <a:t>IPv4 et IPv6 sont difficiles à mettre en œuvre dans les capteurs en réseaux et autres systèmes contraints en raison, notamment, de la taille importante des en-têtes</a:t>
            </a:r>
          </a:p>
          <a:p>
            <a:pPr lvl="1"/>
            <a:r>
              <a:rPr lang="fr-FR" dirty="0"/>
              <a:t>6LoWPAN devrait permettre à IPv6 d'intégrer ces matériels informatiques contraints et les réseaux qui les interconnectent</a:t>
            </a:r>
          </a:p>
        </p:txBody>
      </p:sp>
    </p:spTree>
    <p:extLst>
      <p:ext uri="{BB962C8B-B14F-4D97-AF65-F5344CB8AC3E}">
        <p14:creationId xmlns:p14="http://schemas.microsoft.com/office/powerpoint/2010/main" val="3344302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2BB2FE-EEDE-BC41-CB34-DA4588B3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Routage ROLL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E2B1DC-D42A-4787-77C9-FB493D3F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routage ROLL (</a:t>
            </a:r>
            <a:r>
              <a:rPr lang="fr-FR" dirty="0" err="1"/>
              <a:t>Routing</a:t>
            </a:r>
            <a:r>
              <a:rPr lang="fr-FR" dirty="0"/>
              <a:t> Over Low power and </a:t>
            </a:r>
            <a:r>
              <a:rPr lang="fr-FR" dirty="0" err="1"/>
              <a:t>Lossy</a:t>
            </a:r>
            <a:r>
              <a:rPr lang="fr-FR" dirty="0"/>
              <a:t> networks) est une initiative de l’IETF pour définir des protocoles adaptés aux réseaux contraints de l’IoT</a:t>
            </a:r>
          </a:p>
          <a:p>
            <a:r>
              <a:rPr lang="fr-FR" dirty="0"/>
              <a:t>Objectif : fournir un mécanisme de routage efficace pour les réseaux LLN (Low-power and </a:t>
            </a:r>
            <a:r>
              <a:rPr lang="fr-FR" dirty="0" err="1"/>
              <a:t>Lossy</a:t>
            </a:r>
            <a:r>
              <a:rPr lang="fr-FR" dirty="0"/>
              <a:t> Networks), caractérisés par</a:t>
            </a:r>
          </a:p>
          <a:p>
            <a:pPr lvl="1"/>
            <a:r>
              <a:rPr lang="fr-FR" dirty="0"/>
              <a:t>Faible puissance (capteurs alimentés par batterie)</a:t>
            </a:r>
          </a:p>
          <a:p>
            <a:pPr lvl="1"/>
            <a:r>
              <a:rPr lang="fr-FR" dirty="0"/>
              <a:t>Liens instables (pertes fréquentes, faible débit)</a:t>
            </a:r>
          </a:p>
          <a:p>
            <a:pPr lvl="1"/>
            <a:r>
              <a:rPr lang="fr-FR" dirty="0"/>
              <a:t>Topologies dynamiques</a:t>
            </a:r>
          </a:p>
        </p:txBody>
      </p:sp>
    </p:spTree>
    <p:extLst>
      <p:ext uri="{BB962C8B-B14F-4D97-AF65-F5344CB8AC3E}">
        <p14:creationId xmlns:p14="http://schemas.microsoft.com/office/powerpoint/2010/main" val="339507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3BA27-A92A-7C0D-22B6-A4288F32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E91671-7DF6-C68A-FBF2-97F8CF601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 Name Service est le pendant du DNS pour l'IoT</a:t>
            </a:r>
          </a:p>
          <a:p>
            <a:r>
              <a:rPr lang="fr-FR" dirty="0"/>
              <a:t>Il fonctionne comme un DNS mais pour les objets physiques identifiés par des codes uniques</a:t>
            </a:r>
          </a:p>
          <a:p>
            <a:pPr lvl="1"/>
            <a:r>
              <a:rPr lang="fr-FR" dirty="0"/>
              <a:t>EPC (</a:t>
            </a:r>
            <a:r>
              <a:rPr lang="fr-FR" dirty="0" err="1"/>
              <a:t>Electronic</a:t>
            </a:r>
            <a:r>
              <a:rPr lang="fr-FR" dirty="0"/>
              <a:t> Product Code) utilisé dans les étiquettes RFID</a:t>
            </a:r>
          </a:p>
          <a:p>
            <a:pPr lvl="1"/>
            <a:r>
              <a:rPr lang="fr-FR" dirty="0"/>
              <a:t>GS1 (GTIN, GLN, etc.)</a:t>
            </a:r>
          </a:p>
          <a:p>
            <a:r>
              <a:rPr lang="fr-FR" dirty="0"/>
              <a:t>Son rôle est de faire correspondre un identifiant d’objet à une adresse Internet où sont stockées les informations associées (métadonnées, services).</a:t>
            </a:r>
          </a:p>
        </p:txBody>
      </p:sp>
    </p:spTree>
    <p:extLst>
      <p:ext uri="{BB962C8B-B14F-4D97-AF65-F5344CB8AC3E}">
        <p14:creationId xmlns:p14="http://schemas.microsoft.com/office/powerpoint/2010/main" val="190846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EFF34-FD0A-8F16-D07B-337A4FD8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80D7C-E0DB-05C9-5082-ACA2F9423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4A30C6-8F30-0849-F38A-81CCA4E56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36" y="908720"/>
            <a:ext cx="7761478" cy="646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CCD7B-19BF-FD4A-6751-8D3B688B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Géolocalisation extérieur (</a:t>
            </a:r>
            <a:r>
              <a:rPr lang="fr-FR" dirty="0" err="1"/>
              <a:t>outdoor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4AF4F-2BAF-424A-8B49-BE4FE27AA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Localisation d’un objet ou d’une personne en plein air, généralement via des systèmes satellitaires comme GPS, Galileo ou GLONASS</a:t>
            </a:r>
          </a:p>
          <a:p>
            <a:r>
              <a:rPr lang="fr-FR" dirty="0"/>
              <a:t>GPS/GNSS : très précis en extérieur</a:t>
            </a:r>
          </a:p>
          <a:p>
            <a:r>
              <a:rPr lang="fr-FR" dirty="0"/>
              <a:t>Réseaux cellulaires : triangulation des antennes pour zones urbaines</a:t>
            </a:r>
          </a:p>
          <a:p>
            <a:r>
              <a:rPr lang="fr-FR" dirty="0"/>
              <a:t>Wi-Fi et Bluetooth hybrides : pour améliorer la précision en zones denses</a:t>
            </a:r>
          </a:p>
          <a:p>
            <a:r>
              <a:rPr lang="fr-FR" dirty="0"/>
              <a:t>Application</a:t>
            </a:r>
          </a:p>
          <a:p>
            <a:pPr lvl="1"/>
            <a:r>
              <a:rPr lang="fr-FR" dirty="0"/>
              <a:t>Navigation, Conduite, …</a:t>
            </a:r>
          </a:p>
        </p:txBody>
      </p:sp>
    </p:spTree>
    <p:extLst>
      <p:ext uri="{BB962C8B-B14F-4D97-AF65-F5344CB8AC3E}">
        <p14:creationId xmlns:p14="http://schemas.microsoft.com/office/powerpoint/2010/main" val="142630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D9F044-B798-5194-4237-1EB8D178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Géolocalisation intérieur (indoor)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3DB8CD-0FBF-140E-BAD4-DE60C337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Localisation dans des espaces clos (bâtiments, entrepôts, hôpitaux) où les signaux GPS sont faibles ou inexistants</a:t>
            </a:r>
          </a:p>
          <a:p>
            <a:r>
              <a:rPr lang="fr-FR" sz="2400" dirty="0"/>
              <a:t>Wi-Fi RTT (Round Trip Time) : précision 1-2m</a:t>
            </a:r>
          </a:p>
          <a:p>
            <a:r>
              <a:rPr lang="fr-FR" sz="2400" dirty="0"/>
              <a:t>BLE : balises pour localisation simple (3-5 m)</a:t>
            </a:r>
          </a:p>
          <a:p>
            <a:r>
              <a:rPr lang="fr-FR" sz="2400" dirty="0"/>
              <a:t>Ultra-</a:t>
            </a:r>
            <a:r>
              <a:rPr lang="fr-FR" sz="2400" dirty="0" err="1"/>
              <a:t>Wideband</a:t>
            </a:r>
            <a:r>
              <a:rPr lang="fr-FR" sz="2400" dirty="0"/>
              <a:t> (UWB) : très haute précision (≈10 cm)</a:t>
            </a:r>
          </a:p>
          <a:p>
            <a:r>
              <a:rPr lang="fr-FR" sz="2400" dirty="0"/>
              <a:t>RFID, capteurs magnétiques, ultrasons : pour des usages spécifiques</a:t>
            </a:r>
          </a:p>
          <a:p>
            <a:r>
              <a:rPr lang="fr-FR" sz="2400" dirty="0"/>
              <a:t>Applications : optimisation des flux logistiques, guidage dans les aéroports, suivi d’équipements hospitaliers, sécurité des sites sensibles.</a:t>
            </a:r>
          </a:p>
        </p:txBody>
      </p:sp>
    </p:spTree>
    <p:extLst>
      <p:ext uri="{BB962C8B-B14F-4D97-AF65-F5344CB8AC3E}">
        <p14:creationId xmlns:p14="http://schemas.microsoft.com/office/powerpoint/2010/main" val="2080497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EDC1B-5291-4A1C-C27C-2662905D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Tracking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A70475-21C4-9EC3-0D2E-4CE7047A7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L’IoT révolutionne la gestion des flux et des actifs grâce à des capteurs connectés et des systèmes intelligents</a:t>
            </a:r>
          </a:p>
          <a:p>
            <a:pPr lvl="1"/>
            <a:r>
              <a:rPr lang="fr-FR" dirty="0"/>
              <a:t>Suivi en temps réel pour localiser les marchandises, surveiller les conditions (température, humidité) et anticiper les retards</a:t>
            </a:r>
          </a:p>
          <a:p>
            <a:pPr lvl="1"/>
            <a:r>
              <a:rPr lang="fr-FR" dirty="0"/>
              <a:t>Traçabilité renforcée : intégration de Blockchain pour garantir la transparence et la fiabilité des données tout au long de la chaîne logistique</a:t>
            </a:r>
          </a:p>
          <a:p>
            <a:pPr lvl="1"/>
            <a:r>
              <a:rPr lang="fr-FR" dirty="0"/>
              <a:t>Optimisation opérationnelle : réduction des pertes, amélioration des délais, conformité réglementaire (alimentaire, pharmaceutique).</a:t>
            </a:r>
          </a:p>
        </p:txBody>
      </p:sp>
    </p:spTree>
    <p:extLst>
      <p:ext uri="{BB962C8B-B14F-4D97-AF65-F5344CB8AC3E}">
        <p14:creationId xmlns:p14="http://schemas.microsoft.com/office/powerpoint/2010/main" val="2549558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BF74B-13F3-4DAF-C31E-ABC976BD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Beaconing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A0EEAD-CDA2-9DE3-3B6A-8C7057F0E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beaconing</a:t>
            </a:r>
            <a:r>
              <a:rPr lang="fr-FR" dirty="0"/>
              <a:t> repose sur des balises BLE qui émettent des signaux pour</a:t>
            </a:r>
          </a:p>
          <a:p>
            <a:pPr lvl="1"/>
            <a:r>
              <a:rPr lang="fr-FR" dirty="0"/>
              <a:t>Localisation indoor </a:t>
            </a:r>
          </a:p>
          <a:p>
            <a:pPr lvl="1"/>
            <a:r>
              <a:rPr lang="fr-FR" dirty="0"/>
              <a:t>Proximité et interaction : déclenchement d’actions ou notifications sur smartphone </a:t>
            </a:r>
          </a:p>
          <a:p>
            <a:pPr lvl="1"/>
            <a:r>
              <a:rPr lang="fr-FR" dirty="0"/>
              <a:t>Suivi d’actifs : balises fixées sur équipements ou palettes pour remonter leur position en temps réel</a:t>
            </a:r>
          </a:p>
          <a:p>
            <a:r>
              <a:rPr lang="fr-FR" dirty="0"/>
              <a:t>Avantages</a:t>
            </a:r>
          </a:p>
          <a:p>
            <a:pPr lvl="1"/>
            <a:r>
              <a:rPr lang="fr-FR" dirty="0"/>
              <a:t>Faible consommation énergétique</a:t>
            </a:r>
          </a:p>
          <a:p>
            <a:pPr lvl="1"/>
            <a:r>
              <a:rPr lang="fr-FR" dirty="0"/>
              <a:t>Portée de plusieurs dizaines de mètres</a:t>
            </a:r>
          </a:p>
          <a:p>
            <a:pPr lvl="1"/>
            <a:r>
              <a:rPr lang="fr-FR" dirty="0"/>
              <a:t>Intégration simple avec applications mobiles et systèmes IoT</a:t>
            </a:r>
          </a:p>
        </p:txBody>
      </p:sp>
    </p:spTree>
    <p:extLst>
      <p:ext uri="{BB962C8B-B14F-4D97-AF65-F5344CB8AC3E}">
        <p14:creationId xmlns:p14="http://schemas.microsoft.com/office/powerpoint/2010/main" val="1978601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E01EB-D002-B0FB-E299-5D20CB29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d'usage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B3788-5BBE-F2EB-FD8A-E9CA147BF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Supply</a:t>
            </a:r>
            <a:r>
              <a:rPr lang="fr-FR" dirty="0"/>
              <a:t> </a:t>
            </a:r>
            <a:r>
              <a:rPr lang="fr-FR" dirty="0" err="1"/>
              <a:t>chain</a:t>
            </a:r>
            <a:endParaRPr lang="fr-FR" dirty="0"/>
          </a:p>
          <a:p>
            <a:pPr lvl="1"/>
            <a:r>
              <a:rPr lang="fr-FR" dirty="0"/>
              <a:t>Suivi des expéditions, optimisation des itinéraires, réduction des coûts</a:t>
            </a:r>
          </a:p>
          <a:p>
            <a:r>
              <a:rPr lang="fr-FR" dirty="0" err="1"/>
              <a:t>Retail</a:t>
            </a:r>
            <a:endParaRPr lang="fr-FR" dirty="0"/>
          </a:p>
          <a:p>
            <a:pPr lvl="1"/>
            <a:r>
              <a:rPr lang="fr-FR" dirty="0"/>
              <a:t>notifications personnalisées en magasin, analyse des comportements clients</a:t>
            </a:r>
          </a:p>
          <a:p>
            <a:r>
              <a:rPr lang="fr-FR" dirty="0"/>
              <a:t>Industrie</a:t>
            </a:r>
          </a:p>
          <a:p>
            <a:pPr lvl="1"/>
            <a:r>
              <a:rPr lang="fr-FR" dirty="0"/>
              <a:t>traçabilité des pièces, maintenance prédictive</a:t>
            </a:r>
          </a:p>
          <a:p>
            <a:r>
              <a:rPr lang="fr-FR" dirty="0"/>
              <a:t>Santé</a:t>
            </a:r>
          </a:p>
          <a:p>
            <a:pPr lvl="1"/>
            <a:r>
              <a:rPr lang="fr-FR" dirty="0"/>
              <a:t>localisation des équipements médicaux, suivi des patients.</a:t>
            </a:r>
          </a:p>
        </p:txBody>
      </p:sp>
    </p:spTree>
    <p:extLst>
      <p:ext uri="{BB962C8B-B14F-4D97-AF65-F5344CB8AC3E}">
        <p14:creationId xmlns:p14="http://schemas.microsoft.com/office/powerpoint/2010/main" val="365379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F41AF-F4C6-77CB-06FB-12CEF713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6FA578-A56B-A360-FB52-48A77DB90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Sécurité des données</a:t>
            </a:r>
          </a:p>
          <a:p>
            <a:pPr lvl="1"/>
            <a:r>
              <a:rPr lang="fr-FR" dirty="0"/>
              <a:t>chiffrement et authentification pour éviter les intrusions</a:t>
            </a:r>
          </a:p>
          <a:p>
            <a:r>
              <a:rPr lang="fr-FR" dirty="0"/>
              <a:t>Interopérabilité</a:t>
            </a:r>
          </a:p>
          <a:p>
            <a:pPr lvl="1"/>
            <a:r>
              <a:rPr lang="fr-FR" dirty="0"/>
              <a:t>adoption de standards (BLE, MQTT, </a:t>
            </a:r>
            <a:r>
              <a:rPr lang="fr-FR" dirty="0" err="1"/>
              <a:t>CoAP</a:t>
            </a:r>
            <a:r>
              <a:rPr lang="fr-FR" dirty="0"/>
              <a:t>)</a:t>
            </a:r>
          </a:p>
          <a:p>
            <a:r>
              <a:rPr lang="fr-FR" dirty="0"/>
              <a:t>Coût et déploiement</a:t>
            </a:r>
          </a:p>
          <a:p>
            <a:pPr lvl="1"/>
            <a:r>
              <a:rPr lang="fr-FR" dirty="0"/>
              <a:t>choix des technologies selon la portée, la précision et la consommation énergétique</a:t>
            </a:r>
          </a:p>
        </p:txBody>
      </p:sp>
    </p:spTree>
    <p:extLst>
      <p:ext uri="{BB962C8B-B14F-4D97-AF65-F5344CB8AC3E}">
        <p14:creationId xmlns:p14="http://schemas.microsoft.com/office/powerpoint/2010/main" val="34508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BF3EB8-1FB7-BB57-CDA0-38A6016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4F80B1-136D-8185-6481-7CC04DEAE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Autonomic</a:t>
            </a:r>
            <a:r>
              <a:rPr lang="fr-FR" sz="2400" dirty="0"/>
              <a:t> Communication</a:t>
            </a:r>
          </a:p>
          <a:p>
            <a:r>
              <a:rPr lang="fr-FR" sz="2400" dirty="0"/>
              <a:t>Paradigme visant à rendre les réseaux auto-gérés et intelligents</a:t>
            </a:r>
          </a:p>
          <a:p>
            <a:r>
              <a:rPr lang="fr-FR" sz="2400" dirty="0"/>
              <a:t>Objectif</a:t>
            </a:r>
          </a:p>
          <a:p>
            <a:pPr lvl="1"/>
            <a:r>
              <a:rPr lang="fr-FR" sz="2000" dirty="0"/>
              <a:t>Réduire la complexité de gestion des infrastructures hétérogènes et dynamiques en permettant aux systèmes de</a:t>
            </a:r>
          </a:p>
          <a:p>
            <a:pPr lvl="1"/>
            <a:r>
              <a:rPr lang="fr-FR" sz="2000" dirty="0"/>
              <a:t>S’</a:t>
            </a:r>
            <a:r>
              <a:rPr lang="fr-FR" sz="2000" dirty="0" err="1"/>
              <a:t>auto-configurer</a:t>
            </a:r>
            <a:r>
              <a:rPr lang="fr-FR" sz="2000" dirty="0"/>
              <a:t> (ajout/retrait de nœuds sans intervention humaine)</a:t>
            </a:r>
          </a:p>
          <a:p>
            <a:pPr lvl="1"/>
            <a:r>
              <a:rPr lang="fr-FR" sz="2000" dirty="0"/>
              <a:t>S’auto-optimiser (adaptation aux conditions réseau)</a:t>
            </a:r>
          </a:p>
          <a:p>
            <a:pPr lvl="1"/>
            <a:r>
              <a:rPr lang="fr-FR" sz="2000" dirty="0"/>
              <a:t>S’</a:t>
            </a:r>
            <a:r>
              <a:rPr lang="fr-FR" sz="2000" dirty="0" err="1"/>
              <a:t>auto-réparer</a:t>
            </a:r>
            <a:r>
              <a:rPr lang="fr-FR" sz="2000" dirty="0"/>
              <a:t> (détection et correction des pannes)</a:t>
            </a:r>
          </a:p>
          <a:p>
            <a:pPr lvl="1"/>
            <a:r>
              <a:rPr lang="fr-FR" sz="2000" dirty="0"/>
              <a:t>S’auto-protéger (sécurité proactive)</a:t>
            </a:r>
          </a:p>
        </p:txBody>
      </p:sp>
    </p:spTree>
    <p:extLst>
      <p:ext uri="{BB962C8B-B14F-4D97-AF65-F5344CB8AC3E}">
        <p14:creationId xmlns:p14="http://schemas.microsoft.com/office/powerpoint/2010/main" val="2230440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D77086-D37C-D097-FB22-6B2E5D60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956A41-BF5B-7667-F102-BF722109D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Prise en compte de l’environnement et des besoins applicatifs</a:t>
            </a:r>
          </a:p>
          <a:p>
            <a:r>
              <a:rPr lang="fr-FR" dirty="0"/>
              <a:t>Interopérabilité et ouverture</a:t>
            </a:r>
          </a:p>
          <a:p>
            <a:pPr lvl="1"/>
            <a:r>
              <a:rPr lang="fr-FR" dirty="0"/>
              <a:t>intégration de technologies variées</a:t>
            </a:r>
          </a:p>
          <a:p>
            <a:r>
              <a:rPr lang="fr-FR" dirty="0"/>
              <a:t>Middleware intelligent</a:t>
            </a:r>
          </a:p>
          <a:p>
            <a:pPr lvl="1"/>
            <a:r>
              <a:rPr lang="fr-FR" dirty="0"/>
              <a:t>pour orchestrer les services et la coopération entre dispositifs</a:t>
            </a:r>
          </a:p>
          <a:p>
            <a:r>
              <a:rPr lang="fr-FR" dirty="0"/>
              <a:t>Applications IoT</a:t>
            </a:r>
          </a:p>
          <a:p>
            <a:pPr lvl="1"/>
            <a:r>
              <a:rPr lang="fr-FR" dirty="0"/>
              <a:t>réseaux adaptatifs pour smart </a:t>
            </a:r>
            <a:r>
              <a:rPr lang="fr-FR" dirty="0" err="1"/>
              <a:t>cities</a:t>
            </a:r>
            <a:r>
              <a:rPr lang="fr-FR" dirty="0"/>
              <a:t>, systèmes industriels autonomes, gestion dynamique des ressources.</a:t>
            </a:r>
          </a:p>
        </p:txBody>
      </p:sp>
    </p:spTree>
    <p:extLst>
      <p:ext uri="{BB962C8B-B14F-4D97-AF65-F5344CB8AC3E}">
        <p14:creationId xmlns:p14="http://schemas.microsoft.com/office/powerpoint/2010/main" val="3264541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40529-6409-05E8-BEAC-ECC7F207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ICN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DCF6C-A4B1-61E9-91AE-A018F7B6C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Information-</a:t>
            </a:r>
            <a:r>
              <a:rPr lang="fr-FR" dirty="0" err="1"/>
              <a:t>Centric</a:t>
            </a:r>
            <a:r>
              <a:rPr lang="fr-FR" dirty="0"/>
              <a:t> Networking</a:t>
            </a:r>
          </a:p>
          <a:p>
            <a:r>
              <a:rPr lang="fr-FR" dirty="0"/>
              <a:t>Nouveau paradigme réseau qui centre la communication sur les données plutôt que sur les adresses IP des hôtes</a:t>
            </a:r>
          </a:p>
          <a:p>
            <a:r>
              <a:rPr lang="fr-FR" dirty="0"/>
              <a:t>Les contenus sont identifiés par des noms uniques et indépendants de la localisation</a:t>
            </a:r>
          </a:p>
          <a:p>
            <a:r>
              <a:rPr lang="fr-FR" dirty="0"/>
              <a:t>Routage par nom et </a:t>
            </a:r>
            <a:r>
              <a:rPr lang="fr-FR" dirty="0" err="1"/>
              <a:t>caching</a:t>
            </a:r>
            <a:r>
              <a:rPr lang="fr-FR" dirty="0"/>
              <a:t> en réseau pour améliorer la performance</a:t>
            </a:r>
          </a:p>
          <a:p>
            <a:r>
              <a:rPr lang="fr-FR" dirty="0"/>
              <a:t>Sécurité intégrée au contenu (signature, </a:t>
            </a:r>
            <a:r>
              <a:rPr lang="fr-FR"/>
              <a:t>chiffrement)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145508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3151</TotalTime>
  <Words>1020</Words>
  <Application>Microsoft Office PowerPoint</Application>
  <PresentationFormat>Affichage à l'écran 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Monotype Sorts</vt:lpstr>
      <vt:lpstr>Times New Roman</vt:lpstr>
      <vt:lpstr>cvc</vt:lpstr>
      <vt:lpstr>Présentation PowerPoint</vt:lpstr>
      <vt:lpstr>Les limites d'IP pour l'IoT</vt:lpstr>
      <vt:lpstr>Nouveaux besoins</vt:lpstr>
      <vt:lpstr>Nano IP</vt:lpstr>
      <vt:lpstr>Objectifs</vt:lpstr>
      <vt:lpstr>Différence avec IPv6</vt:lpstr>
      <vt:lpstr>6LowPan</vt:lpstr>
      <vt:lpstr>Routage ROLL</vt:lpstr>
      <vt:lpstr>ONS</vt:lpstr>
      <vt:lpstr>Architecture</vt:lpstr>
      <vt:lpstr>Géolocalisation extérieur (outdoor)</vt:lpstr>
      <vt:lpstr>Géolocalisation intérieur (indoor)</vt:lpstr>
      <vt:lpstr>Tracking</vt:lpstr>
      <vt:lpstr>Beaconing</vt:lpstr>
      <vt:lpstr>Cas d'usage</vt:lpstr>
      <vt:lpstr>Attention</vt:lpstr>
      <vt:lpstr>AC</vt:lpstr>
      <vt:lpstr>AC</vt:lpstr>
      <vt:lpstr>ICN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224</cp:revision>
  <dcterms:created xsi:type="dcterms:W3CDTF">2000-04-10T19:33:12Z</dcterms:created>
  <dcterms:modified xsi:type="dcterms:W3CDTF">2025-11-28T16:24:29Z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