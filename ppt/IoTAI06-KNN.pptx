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3"/>
  </p:notesMasterIdLst>
  <p:handoutMasterIdLst>
    <p:handoutMasterId r:id="rId34"/>
  </p:handoutMasterIdLst>
  <p:sldIdLst>
    <p:sldId id="264" r:id="rId2"/>
    <p:sldId id="265" r:id="rId3"/>
    <p:sldId id="266" r:id="rId4"/>
    <p:sldId id="267" r:id="rId5"/>
    <p:sldId id="286" r:id="rId6"/>
    <p:sldId id="287" r:id="rId7"/>
    <p:sldId id="268" r:id="rId8"/>
    <p:sldId id="283" r:id="rId9"/>
    <p:sldId id="284" r:id="rId10"/>
    <p:sldId id="285" r:id="rId11"/>
    <p:sldId id="276" r:id="rId12"/>
    <p:sldId id="277" r:id="rId13"/>
    <p:sldId id="289" r:id="rId14"/>
    <p:sldId id="292" r:id="rId15"/>
    <p:sldId id="293" r:id="rId16"/>
    <p:sldId id="294" r:id="rId17"/>
    <p:sldId id="297" r:id="rId18"/>
    <p:sldId id="296" r:id="rId19"/>
    <p:sldId id="270" r:id="rId20"/>
    <p:sldId id="273" r:id="rId21"/>
    <p:sldId id="295" r:id="rId22"/>
    <p:sldId id="269" r:id="rId23"/>
    <p:sldId id="274" r:id="rId24"/>
    <p:sldId id="298" r:id="rId25"/>
    <p:sldId id="299" r:id="rId26"/>
    <p:sldId id="300" r:id="rId27"/>
    <p:sldId id="290" r:id="rId28"/>
    <p:sldId id="291" r:id="rId29"/>
    <p:sldId id="281" r:id="rId30"/>
    <p:sldId id="288" r:id="rId31"/>
    <p:sldId id="301" r:id="rId3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plusieurs algorithmes </a:t>
            </a:r>
            <a:r>
              <a:rPr lang="fr-FR" sz="2400" dirty="0" err="1"/>
              <a:t>knn</a:t>
            </a:r>
            <a:endParaRPr lang="fr-FR" sz="2400" dirty="0"/>
          </a:p>
          <a:p>
            <a:r>
              <a:rPr lang="fr-FR" sz="2400" dirty="0"/>
              <a:t>Brute Force</a:t>
            </a:r>
          </a:p>
          <a:p>
            <a:pPr lvl="1"/>
            <a:r>
              <a:rPr lang="fr-FR" sz="2000" dirty="0"/>
              <a:t>Etablit la distance entre tous les points</a:t>
            </a:r>
          </a:p>
          <a:p>
            <a:pPr lvl="1"/>
            <a:r>
              <a:rPr lang="fr-FR" sz="2000" dirty="0"/>
              <a:t>Très bon, mais très couteux pour les gros </a:t>
            </a:r>
            <a:r>
              <a:rPr lang="fr-FR" sz="2000" dirty="0" err="1"/>
              <a:t>datasets</a:t>
            </a:r>
            <a:endParaRPr lang="fr-FR" sz="2000" dirty="0"/>
          </a:p>
          <a:p>
            <a:pPr lvl="1"/>
            <a:r>
              <a:rPr lang="fr-FR" sz="2000" dirty="0"/>
              <a:t>O(n²)</a:t>
            </a:r>
          </a:p>
          <a:p>
            <a:r>
              <a:rPr lang="fr-FR" sz="2400" dirty="0" err="1"/>
              <a:t>KDTree</a:t>
            </a:r>
            <a:endParaRPr lang="fr-FR" sz="2400" dirty="0"/>
          </a:p>
          <a:p>
            <a:pPr lvl="1"/>
            <a:r>
              <a:rPr lang="fr-FR" sz="2000" dirty="0"/>
              <a:t>Elimine des distances</a:t>
            </a:r>
          </a:p>
          <a:p>
            <a:pPr lvl="1"/>
            <a:r>
              <a:rPr lang="fr-FR" sz="2000" dirty="0"/>
              <a:t>Si A est loin de B et B proche de C alors A est loin de C</a:t>
            </a:r>
          </a:p>
          <a:p>
            <a:pPr lvl="1"/>
            <a:r>
              <a:rPr lang="fr-FR" sz="2000" dirty="0"/>
              <a:t>O(n.log(n))</a:t>
            </a:r>
          </a:p>
          <a:p>
            <a:r>
              <a:rPr lang="fr-FR" sz="2400" dirty="0" err="1"/>
              <a:t>BallTree</a:t>
            </a:r>
            <a:endParaRPr lang="fr-FR" sz="2400" dirty="0"/>
          </a:p>
          <a:p>
            <a:pPr lvl="1"/>
            <a:r>
              <a:rPr lang="fr-FR" sz="2000" dirty="0"/>
              <a:t>Sépare les données en partitions</a:t>
            </a:r>
          </a:p>
          <a:p>
            <a:pPr lvl="1"/>
            <a:r>
              <a:rPr lang="fr-FR" sz="2000" dirty="0"/>
              <a:t>Peut être très efficace ou très </a:t>
            </a:r>
            <a:r>
              <a:rPr lang="fr-FR" sz="2000" dirty="0" err="1"/>
              <a:t>inneficace</a:t>
            </a:r>
            <a:endParaRPr lang="fr-FR" sz="2000" dirty="0"/>
          </a:p>
          <a:p>
            <a:r>
              <a:rPr lang="fr-FR" sz="2400" dirty="0"/>
              <a:t>Par défaut </a:t>
            </a:r>
            <a:r>
              <a:rPr lang="fr-FR" sz="2400" dirty="0" err="1"/>
              <a:t>sklearn</a:t>
            </a:r>
            <a:r>
              <a:rPr lang="fr-FR" sz="2400" dirty="0"/>
              <a:t> essaie de choisir le meilleur</a:t>
            </a:r>
          </a:p>
        </p:txBody>
      </p:sp>
    </p:spTree>
    <p:extLst>
      <p:ext uri="{BB962C8B-B14F-4D97-AF65-F5344CB8AC3E}">
        <p14:creationId xmlns:p14="http://schemas.microsoft.com/office/powerpoint/2010/main" val="346280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model.score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6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détecté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256584" cy="5040560"/>
          </a:xfrm>
        </p:spPr>
        <p:txBody>
          <a:bodyPr/>
          <a:lstStyle/>
          <a:p>
            <a:r>
              <a:rPr lang="fr-FR" dirty="0"/>
              <a:t>Si k est trop faible nous obtenons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Nous aurions préféré</a:t>
            </a:r>
          </a:p>
          <a:p>
            <a:pPr lvl="1"/>
            <a:r>
              <a:rPr lang="fr-FR" dirty="0"/>
              <a:t>Pour cela nous sommes passé à k=5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Les zones désignées par les flèches ne vont pas être bien class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1149225"/>
            <a:ext cx="3233978" cy="220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ssifieur 5-nn sur le même jeu de données, beaucoup plus effica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3415634"/>
            <a:ext cx="3156313" cy="21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36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Biais vs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8838058" cy="5040560"/>
          </a:xfrm>
        </p:spPr>
        <p:txBody>
          <a:bodyPr/>
          <a:lstStyle/>
          <a:p>
            <a:r>
              <a:rPr lang="fr-FR" dirty="0"/>
              <a:t>Avec k=5 notre modèle est plus indépendant du training set</a:t>
            </a:r>
          </a:p>
          <a:p>
            <a:pPr lvl="1"/>
            <a:r>
              <a:rPr lang="fr-FR" dirty="0"/>
              <a:t>Nous avons augmenté la variance</a:t>
            </a:r>
          </a:p>
          <a:p>
            <a:pPr lvl="1"/>
            <a:r>
              <a:rPr lang="fr-FR" dirty="0"/>
              <a:t>Cependant plus k est grand plus l’erreur sera grande</a:t>
            </a:r>
          </a:p>
          <a:p>
            <a:pPr lvl="1"/>
            <a:r>
              <a:rPr lang="fr-FR" dirty="0"/>
              <a:t>Nous avons introduit un biais</a:t>
            </a:r>
          </a:p>
          <a:p>
            <a:r>
              <a:rPr lang="fr-FR" dirty="0"/>
              <a:t>Avec k=1 la variance sera plus faible, l’erreur également</a:t>
            </a:r>
          </a:p>
          <a:p>
            <a:r>
              <a:rPr lang="fr-FR" dirty="0"/>
              <a:t>Par exemple pour k=12 </a:t>
            </a:r>
          </a:p>
          <a:p>
            <a:pPr lvl="1"/>
            <a:r>
              <a:rPr lang="fr-FR" dirty="0"/>
              <a:t>Le biais est énorme</a:t>
            </a:r>
          </a:p>
          <a:p>
            <a:endParaRPr lang="fr-FR" dirty="0"/>
          </a:p>
        </p:txBody>
      </p:sp>
      <p:pic>
        <p:nvPicPr>
          <p:cNvPr id="2050" name="Picture 2" descr="Parce qu'on a choisi un k trop grand, la zone de classification est trop lisse par rapport à la complexité du modè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49448"/>
            <a:ext cx="3995936" cy="27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Décomposition </a:t>
            </a:r>
            <a:r>
              <a:rPr lang="fr-FR"/>
              <a:t>de l’erreur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peut s’écrire</a:t>
            </a:r>
          </a:p>
          <a:p>
            <a:r>
              <a:rPr lang="fr-FR" dirty="0" err="1"/>
              <a:t>Err</a:t>
            </a:r>
            <a:r>
              <a:rPr lang="fr-FR" dirty="0"/>
              <a:t>(x</a:t>
            </a:r>
            <a:r>
              <a:rPr lang="fr-FR"/>
              <a:t>)=Biais²+Variance+Erreur </a:t>
            </a:r>
            <a:r>
              <a:rPr lang="fr-FR" dirty="0"/>
              <a:t>Irréductible</a:t>
            </a:r>
          </a:p>
          <a:p>
            <a:endParaRPr lang="fr-FR" dirty="0"/>
          </a:p>
        </p:txBody>
      </p:sp>
      <p:pic>
        <p:nvPicPr>
          <p:cNvPr id="3074" name="Picture 2" descr="On cherche à se placer au minimum de l'erreur tot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5256584" cy="3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4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Minimisation de l’erreur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faire varier le </a:t>
            </a:r>
            <a:r>
              <a:rPr lang="fr-FR" dirty="0" err="1"/>
              <a:t>n_neighbors</a:t>
            </a:r>
            <a:r>
              <a:rPr lang="fr-FR" dirty="0"/>
              <a:t> entre 2 et 15</a:t>
            </a:r>
          </a:p>
          <a:p>
            <a:pPr marL="0" indent="0"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range(2,15):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model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).score(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r>
              <a:rPr lang="fr-FR" dirty="0"/>
              <a:t>Il essayer les différents algorithmes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/>
              <a:t>Il faut essayer les 2 poids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weight</a:t>
            </a:r>
            <a:r>
              <a:rPr lang="fr-FR" dirty="0"/>
              <a:t> = « distance » qui monte la distance au carré, c’est-à-dire qu’il donne plus d’importance aux points proches</a:t>
            </a:r>
          </a:p>
        </p:txBody>
      </p:sp>
    </p:spTree>
    <p:extLst>
      <p:ext uri="{BB962C8B-B14F-4D97-AF65-F5344CB8AC3E}">
        <p14:creationId xmlns:p14="http://schemas.microsoft.com/office/powerpoint/2010/main" val="13284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Entrainement et prédiction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ensuite choisir le meilleur modèle, l’entrainer et mettre en place la prédiction</a:t>
            </a:r>
          </a:p>
          <a:p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)</a:t>
            </a:r>
          </a:p>
          <a:p>
            <a:r>
              <a:rPr lang="fr-FR" dirty="0" err="1"/>
              <a:t>predicted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7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57991-295F-676A-405D-131800F3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Heart</a:t>
            </a:r>
            <a:r>
              <a:rPr lang="fr-FR" dirty="0"/>
              <a:t> </a:t>
            </a:r>
            <a:r>
              <a:rPr lang="fr-FR" dirty="0" err="1"/>
              <a:t>Disease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BB788A-2A3D-4326-09EA-9DF3D9ED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11 </a:t>
            </a:r>
            <a:r>
              <a:rPr lang="fr-FR" dirty="0" err="1"/>
              <a:t>features</a:t>
            </a:r>
            <a:r>
              <a:rPr lang="fr-FR" dirty="0"/>
              <a:t> sur 260 data</a:t>
            </a:r>
          </a:p>
          <a:p>
            <a:pPr lvl="1"/>
            <a:r>
              <a:rPr lang="fr-FR" dirty="0" err="1"/>
              <a:t>num</a:t>
            </a:r>
            <a:r>
              <a:rPr lang="fr-FR" dirty="0"/>
              <a:t>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10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y = 1 </a:t>
            </a:r>
            <a:r>
              <a:rPr lang="fr-FR" dirty="0" err="1"/>
              <a:t>feature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260*0.8*10 = 2080 data =&gt; 6.3Ko en 32 bits</a:t>
            </a:r>
          </a:p>
          <a:p>
            <a:pPr lvl="1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7A4B40-DDBF-D07D-0ADB-3828339F5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" y="4981499"/>
            <a:ext cx="9144000" cy="19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5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A3D71-FD6B-386B-CD27-E1BF53F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de </a:t>
            </a:r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01372-25BC-4827-A1AC-77524D57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 de </a:t>
            </a:r>
            <a:r>
              <a:rPr lang="fr-FR" dirty="0" err="1"/>
              <a:t>kNN</a:t>
            </a:r>
            <a:r>
              <a:rPr lang="fr-FR" dirty="0"/>
              <a:t> sur </a:t>
            </a:r>
            <a:r>
              <a:rPr lang="fr-FR" dirty="0" err="1"/>
              <a:t>heart-disease</a:t>
            </a:r>
            <a:endParaRPr lang="fr-FR" dirty="0"/>
          </a:p>
          <a:p>
            <a:pPr lvl="1"/>
            <a:r>
              <a:rPr lang="fr-FR" dirty="0"/>
              <a:t>Ca ne marche pas très bien</a:t>
            </a:r>
          </a:p>
          <a:p>
            <a:pPr lvl="1"/>
            <a:r>
              <a:rPr lang="fr-FR" dirty="0"/>
              <a:t>Pourquoi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430CD5-A86A-449A-BB77-9F5581F5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33" y="2527844"/>
            <a:ext cx="6392167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46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0183-F00F-B766-0F8F-D1DD1582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1E71D4-0EEC-0214-FB84-A1F0738F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mesurer des distances euclidiennes il faut comparer ce qui est comparable</a:t>
            </a:r>
          </a:p>
          <a:p>
            <a:pPr lvl="1"/>
            <a:r>
              <a:rPr lang="fr-FR" dirty="0"/>
              <a:t>Tout doit être sur le même facteur d'échelle</a:t>
            </a:r>
          </a:p>
          <a:p>
            <a:pPr lvl="1"/>
            <a:r>
              <a:rPr lang="fr-FR" dirty="0"/>
              <a:t>Il faut donc normaliser (</a:t>
            </a:r>
            <a:r>
              <a:rPr lang="fr-FR" dirty="0" err="1"/>
              <a:t>scaling</a:t>
            </a:r>
            <a:r>
              <a:rPr lang="fr-FR" dirty="0"/>
              <a:t>) les données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sklearn.preprocessing</a:t>
            </a:r>
            <a:r>
              <a:rPr lang="en-US" dirty="0"/>
              <a:t> as pp</a:t>
            </a:r>
          </a:p>
          <a:p>
            <a:r>
              <a:rPr lang="en-US" dirty="0"/>
              <a:t>Le scaler fait parti du </a:t>
            </a:r>
            <a:r>
              <a:rPr lang="en-US" dirty="0" err="1"/>
              <a:t>modèle</a:t>
            </a:r>
            <a:endParaRPr lang="en-US" dirty="0"/>
          </a:p>
          <a:p>
            <a:pPr lvl="1"/>
            <a:r>
              <a:rPr lang="en-US" dirty="0"/>
              <a:t>Si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apprend</a:t>
            </a:r>
            <a:r>
              <a:rPr lang="en-US" dirty="0"/>
              <a:t> avec un scaler, la </a:t>
            </a:r>
            <a:r>
              <a:rPr lang="en-US" dirty="0" err="1"/>
              <a:t>prédiction</a:t>
            </a:r>
            <a:r>
              <a:rPr lang="en-US" dirty="0"/>
              <a:t> doit </a:t>
            </a:r>
            <a:r>
              <a:rPr lang="en-US"/>
              <a:t>utiliser</a:t>
            </a:r>
            <a:r>
              <a:rPr lang="en-US" dirty="0"/>
              <a:t> des données </a:t>
            </a:r>
            <a:r>
              <a:rPr lang="en-US" dirty="0" err="1"/>
              <a:t>scalées</a:t>
            </a:r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1480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E06FD-2B1C-C465-57E0-9A5FD644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MinMaxScaler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D862C-15A0-057B-CD86-C761091E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chaque </a:t>
            </a:r>
            <a:r>
              <a:rPr lang="fr-FR" dirty="0" err="1"/>
              <a:t>feature</a:t>
            </a:r>
            <a:r>
              <a:rPr lang="fr-FR" dirty="0"/>
              <a:t> calcule le min et le max et normaliser sur [0..1]</a:t>
            </a:r>
          </a:p>
          <a:p>
            <a:r>
              <a:rPr lang="fr-FR" dirty="0" err="1"/>
              <a:t>scaler</a:t>
            </a:r>
            <a:r>
              <a:rPr lang="fr-FR" dirty="0"/>
              <a:t>(x) = (x – min) / (max – min)</a:t>
            </a:r>
          </a:p>
          <a:p>
            <a:r>
              <a:rPr lang="fr-FR" dirty="0" err="1"/>
              <a:t>Scaler</a:t>
            </a:r>
            <a:r>
              <a:rPr lang="fr-FR" dirty="0"/>
              <a:t> efficace</a:t>
            </a:r>
          </a:p>
          <a:p>
            <a:pPr lvl="1"/>
            <a:r>
              <a:rPr lang="fr-FR" dirty="0"/>
              <a:t>Mauvaise gestion des </a:t>
            </a:r>
            <a:r>
              <a:rPr lang="fr-FR" dirty="0" err="1"/>
              <a:t>outliers</a:t>
            </a:r>
            <a:endParaRPr lang="fr-FR" dirty="0"/>
          </a:p>
          <a:p>
            <a:r>
              <a:rPr lang="fr-FR" dirty="0" err="1"/>
              <a:t>scaler</a:t>
            </a:r>
            <a:r>
              <a:rPr lang="fr-FR" dirty="0"/>
              <a:t> = </a:t>
            </a:r>
            <a:r>
              <a:rPr lang="fr-FR" dirty="0" err="1"/>
              <a:t>pp.MinMaxScaler</a:t>
            </a:r>
            <a:r>
              <a:rPr lang="fr-FR" dirty="0"/>
              <a:t>()</a:t>
            </a:r>
          </a:p>
          <a:p>
            <a:r>
              <a:rPr lang="fr-FR" dirty="0" err="1"/>
              <a:t>scaler.fit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xtrain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xtest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303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3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32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 pour les statistiques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écart type</a:t>
            </a:r>
          </a:p>
          <a:p>
            <a:pPr lvl="1"/>
            <a:r>
              <a:rPr lang="fr-FR" dirty="0" err="1"/>
              <a:t>np.std</a:t>
            </a:r>
            <a:r>
              <a:rPr lang="fr-FR" dirty="0"/>
              <a:t>()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45736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centrale limite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une matrice aléatoire avec des valeurs [-n, n]</a:t>
            </a:r>
          </a:p>
          <a:p>
            <a:pPr lvl="1"/>
            <a:r>
              <a:rPr lang="fr-FR" dirty="0"/>
              <a:t>La moyenne et la somme est 0</a:t>
            </a:r>
          </a:p>
          <a:p>
            <a:pPr lvl="1"/>
            <a:r>
              <a:rPr lang="fr-FR" dirty="0"/>
              <a:t>La distribution des sommes des lignes est gaussienne centrée sur 0</a:t>
            </a:r>
          </a:p>
          <a:p>
            <a:pPr lvl="1"/>
            <a:r>
              <a:rPr lang="fr-FR" dirty="0"/>
              <a:t>Médiane = moyenne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234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879E6-7CC0-4EF3-CD51-B8D9FFD2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StandardScaler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515957-0254-78DE-558C-C28A6D22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 écart type à 1</a:t>
            </a:r>
          </a:p>
          <a:p>
            <a:pPr lvl="1"/>
            <a:r>
              <a:rPr lang="fr-FR" dirty="0"/>
              <a:t>C'est mathématiquement une loi centrée réduite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moyenne et l'écart type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mean</a:t>
            </a:r>
            <a:r>
              <a:rPr lang="fr-FR" dirty="0"/>
              <a:t>) / std</a:t>
            </a:r>
          </a:p>
          <a:p>
            <a:pPr lvl="1"/>
            <a:r>
              <a:rPr lang="fr-FR" dirty="0"/>
              <a:t>Ne fonctionne pas correctement si la distribution n'est pas une loi normale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1821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07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Median</a:t>
            </a:r>
            <a:endParaRPr lang="fr-FR" dirty="0"/>
          </a:p>
          <a:p>
            <a:pPr lvl="1"/>
            <a:r>
              <a:rPr lang="fr-FR" dirty="0"/>
              <a:t>Médiane</a:t>
            </a:r>
          </a:p>
          <a:p>
            <a:pPr lvl="1"/>
            <a:r>
              <a:rPr lang="fr-FR" dirty="0"/>
              <a:t>50% des valeurs au dessous et 50% </a:t>
            </a:r>
            <a:r>
              <a:rPr lang="fr-FR"/>
              <a:t>au dessus</a:t>
            </a:r>
            <a:endParaRPr lang="fr-FR" dirty="0"/>
          </a:p>
          <a:p>
            <a:r>
              <a:rPr lang="fr-FR" dirty="0"/>
              <a:t>Quantile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représente le quantile</a:t>
            </a:r>
          </a:p>
          <a:p>
            <a:pPr lvl="1"/>
            <a:r>
              <a:rPr lang="fr-FR" dirty="0"/>
              <a:t>0.5 = médiane</a:t>
            </a:r>
          </a:p>
          <a:p>
            <a:pPr lvl="1"/>
            <a:r>
              <a:rPr lang="fr-FR" dirty="0"/>
              <a:t>0.25 = quartile</a:t>
            </a:r>
          </a:p>
          <a:p>
            <a:pPr lvl="1"/>
            <a:r>
              <a:rPr lang="fr-FR" dirty="0"/>
              <a:t>0.1 = décile</a:t>
            </a:r>
          </a:p>
        </p:txBody>
      </p:sp>
      <p:pic>
        <p:nvPicPr>
          <p:cNvPr id="2050" name="Picture 2" descr="https://media.geeksforgeeks.org/wp-content/uploads/quanti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2" y="4437112"/>
            <a:ext cx="3600400" cy="192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27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9B5-C550-FF7B-7B34-5DF1935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9D681-831F-5C16-8FDF-51789EE5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RobustScaler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5126D-5289-94E1-965C-0CD7014D7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une médiane à 1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</a:t>
            </a:r>
            <a:r>
              <a:rPr lang="fr-FR" dirty="0" err="1"/>
              <a:t>médianne</a:t>
            </a:r>
            <a:r>
              <a:rPr lang="fr-FR" dirty="0"/>
              <a:t> et les quartiles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median</a:t>
            </a:r>
            <a:r>
              <a:rPr lang="fr-FR" dirty="0"/>
              <a:t>) / ((</a:t>
            </a:r>
            <a:r>
              <a:rPr lang="fr-FR" dirty="0" err="1"/>
              <a:t>median</a:t>
            </a:r>
            <a:r>
              <a:rPr lang="fr-FR" dirty="0"/>
              <a:t> – q25) if x &lt; </a:t>
            </a:r>
            <a:r>
              <a:rPr lang="fr-FR" dirty="0" err="1"/>
              <a:t>median</a:t>
            </a:r>
            <a:r>
              <a:rPr lang="fr-FR" dirty="0"/>
              <a:t> </a:t>
            </a:r>
            <a:r>
              <a:rPr lang="fr-FR" dirty="0" err="1"/>
              <a:t>else</a:t>
            </a:r>
            <a:r>
              <a:rPr lang="fr-FR" dirty="0"/>
              <a:t> (q75 – </a:t>
            </a:r>
            <a:r>
              <a:rPr lang="fr-FR" dirty="0" err="1"/>
              <a:t>median</a:t>
            </a:r>
            <a:r>
              <a:rPr lang="fr-FR" dirty="0"/>
              <a:t>))</a:t>
            </a:r>
          </a:p>
          <a:p>
            <a:pPr lvl="1"/>
            <a:r>
              <a:rPr lang="fr-FR" dirty="0"/>
              <a:t>Ne fonctionne pas correctement si la distribution a la forme d'une multi gaussienne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5DB9E2-CDD9-2C22-EB82-B11C046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01" y="4888514"/>
            <a:ext cx="321989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4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CE8FD-AE04-C0D1-E471-33FE69C9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Sauvegarde du modèle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1DB47-4D86-1317-2B0D-9F6DABA25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 dirty="0" err="1"/>
              <a:t>kNN</a:t>
            </a:r>
            <a:r>
              <a:rPr lang="fr-FR" dirty="0"/>
              <a:t> le modèle est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scaler</a:t>
            </a:r>
            <a:r>
              <a:rPr lang="fr-FR" dirty="0"/>
              <a:t> </a:t>
            </a:r>
            <a:r>
              <a:rPr lang="fr-FR" dirty="0" err="1"/>
              <a:t>xtrain</a:t>
            </a:r>
            <a:endParaRPr lang="fr-FR" dirty="0"/>
          </a:p>
          <a:p>
            <a:pPr lvl="1"/>
            <a:r>
              <a:rPr lang="fr-FR" dirty="0" err="1"/>
              <a:t>xtrain</a:t>
            </a:r>
            <a:endParaRPr lang="fr-FR" dirty="0"/>
          </a:p>
          <a:p>
            <a:pPr lvl="1"/>
            <a:r>
              <a:rPr lang="fr-FR" dirty="0"/>
              <a:t>facultativement le </a:t>
            </a:r>
            <a:r>
              <a:rPr lang="fr-FR" dirty="0" err="1"/>
              <a:t>scaler</a:t>
            </a:r>
            <a:r>
              <a:rPr lang="fr-FR" dirty="0"/>
              <a:t> </a:t>
            </a:r>
            <a:r>
              <a:rPr lang="fr-FR" dirty="0" err="1"/>
              <a:t>xtest</a:t>
            </a:r>
            <a:r>
              <a:rPr lang="fr-FR" dirty="0"/>
              <a:t> et </a:t>
            </a:r>
            <a:r>
              <a:rPr lang="fr-FR" dirty="0" err="1"/>
              <a:t>xtest</a:t>
            </a:r>
            <a:r>
              <a:rPr lang="fr-FR" dirty="0"/>
              <a:t> pour noter</a:t>
            </a:r>
          </a:p>
          <a:p>
            <a:pPr lvl="1"/>
            <a:r>
              <a:rPr lang="fr-FR" dirty="0" err="1"/>
              <a:t>np.savetxt</a:t>
            </a:r>
            <a:r>
              <a:rPr lang="fr-FR" dirty="0"/>
              <a:t> sauvegarde un </a:t>
            </a:r>
            <a:r>
              <a:rPr lang="fr-FR" dirty="0" err="1"/>
              <a:t>np.array</a:t>
            </a:r>
            <a:r>
              <a:rPr lang="fr-FR" dirty="0"/>
              <a:t> en CSV</a:t>
            </a:r>
          </a:p>
        </p:txBody>
      </p:sp>
    </p:spTree>
    <p:extLst>
      <p:ext uri="{BB962C8B-B14F-4D97-AF65-F5344CB8AC3E}">
        <p14:creationId xmlns:p14="http://schemas.microsoft.com/office/powerpoint/2010/main" val="481994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18199A-61EB-CD87-A2EC-D2009B3E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knn_lite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7CD46-13C4-DCBA-ADD9-4BCD385A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Implémentation Python d'une prédiction </a:t>
            </a:r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/>
              <a:t>Portable Python et </a:t>
            </a:r>
            <a:r>
              <a:rPr lang="fr-FR" dirty="0" err="1"/>
              <a:t>MicroPython</a:t>
            </a:r>
            <a:endParaRPr lang="fr-FR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9001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02C71-87A2-2873-FDFE-478C21C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WDBC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E4074-A874-A047-8296-ABAC0B85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Breast Cancer Wisconsin (Diagnostic) Data Set</a:t>
            </a:r>
          </a:p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32 </a:t>
            </a:r>
            <a:r>
              <a:rPr lang="fr-FR" dirty="0" err="1"/>
              <a:t>features</a:t>
            </a:r>
            <a:r>
              <a:rPr lang="fr-FR" dirty="0"/>
              <a:t> sur 569 data</a:t>
            </a:r>
          </a:p>
          <a:p>
            <a:pPr lvl="1"/>
            <a:r>
              <a:rPr lang="fr-FR" dirty="0"/>
              <a:t>diagnostic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30 </a:t>
            </a:r>
            <a:r>
              <a:rPr lang="fr-FR" dirty="0" err="1"/>
              <a:t>features</a:t>
            </a:r>
            <a:r>
              <a:rPr lang="fr-FR" dirty="0"/>
              <a:t> (tout sauf id et diagnostic)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 = 569*0.8*30 = 13656 data =&gt; 55Ko en 32 bits</a:t>
            </a:r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40DD5B-9A4F-D948-3C83-5A95BB66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" y="4953000"/>
            <a:ext cx="904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612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1AAE9-A6C3-04EC-93E0-081FCB3F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E97B6-CE06-2EF3-EB4E-AA8F1284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r>
              <a:rPr lang="fr-FR" dirty="0"/>
              <a:t>Création d'un </a:t>
            </a:r>
            <a:r>
              <a:rPr lang="fr-FR" dirty="0" err="1"/>
              <a:t>kNN</a:t>
            </a:r>
            <a:r>
              <a:rPr lang="fr-FR" dirty="0"/>
              <a:t> par </a:t>
            </a:r>
            <a:r>
              <a:rPr lang="fr-FR" dirty="0" err="1"/>
              <a:t>SKLearn</a:t>
            </a:r>
            <a:endParaRPr lang="fr-FR" dirty="0"/>
          </a:p>
          <a:p>
            <a:r>
              <a:rPr lang="fr-FR" dirty="0"/>
              <a:t>Normalisation</a:t>
            </a:r>
          </a:p>
          <a:p>
            <a:r>
              <a:rPr lang="fr-FR" dirty="0"/>
              <a:t>Portage sur ESP32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055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MNIST est un </a:t>
            </a:r>
            <a:r>
              <a:rPr lang="fr-FR" dirty="0" err="1"/>
              <a:t>dataset</a:t>
            </a:r>
            <a:r>
              <a:rPr lang="fr-FR" dirty="0"/>
              <a:t> d'image manuscrites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132856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695442-22FD-0396-D587-AEA15F5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837D36-F38E-472C-2D09-4CBD2DB72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images sont en 28*28 sur 8 bits</a:t>
            </a:r>
          </a:p>
          <a:p>
            <a:r>
              <a:rPr lang="fr-FR" dirty="0"/>
              <a:t>Il s'agit d'un </a:t>
            </a:r>
            <a:r>
              <a:rPr lang="fr-FR" dirty="0" err="1"/>
              <a:t>trainingset</a:t>
            </a:r>
            <a:r>
              <a:rPr lang="fr-FR" dirty="0"/>
              <a:t> de 60000 images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28*28 =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60000*784 = 47Mdata =&gt; 47Mo en 8 bits</a:t>
            </a:r>
          </a:p>
          <a:p>
            <a:pPr lvl="1"/>
            <a:r>
              <a:rPr lang="fr-FR" dirty="0"/>
              <a:t>Impossible sur microcontrôleur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841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4CAD-A94A-BAA7-1894-36B7D641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FDC90-28F1-5F66-54C6-FD7B4247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F8C913-35E5-771C-304B-96863F7B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MNIST</a:t>
            </a:r>
          </a:p>
          <a:p>
            <a:r>
              <a:rPr lang="fr-FR" dirty="0"/>
              <a:t>Création d'un </a:t>
            </a:r>
            <a:r>
              <a:rPr lang="fr-FR" dirty="0" err="1"/>
              <a:t>kNN</a:t>
            </a:r>
            <a:r>
              <a:rPr lang="fr-FR" dirty="0"/>
              <a:t> par </a:t>
            </a:r>
            <a:r>
              <a:rPr lang="fr-FR" dirty="0" err="1"/>
              <a:t>SKLearn</a:t>
            </a:r>
            <a:endParaRPr lang="fr-FR" dirty="0"/>
          </a:p>
          <a:p>
            <a:r>
              <a:rPr lang="fr-FR" dirty="0"/>
              <a:t>Normalisation</a:t>
            </a:r>
          </a:p>
          <a:p>
            <a:r>
              <a:rPr lang="fr-FR" dirty="0"/>
              <a:t>Portage sur ESP32 ? </a:t>
            </a:r>
            <a:r>
              <a:rPr lang="fr-FR"/>
              <a:t>Possible 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94477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7165</TotalTime>
  <Words>1107</Words>
  <Application>Microsoft Office PowerPoint</Application>
  <PresentationFormat>Affichage à l'écran (4:3)</PresentationFormat>
  <Paragraphs>179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Monotype Sorts</vt:lpstr>
      <vt:lpstr>Times New Roman</vt:lpstr>
      <vt:lpstr>cvc</vt:lpstr>
      <vt:lpstr>Présentation PowerPoint</vt:lpstr>
      <vt:lpstr>Nearest Neighbors</vt:lpstr>
      <vt:lpstr>Explication</vt:lpstr>
      <vt:lpstr>knn</vt:lpstr>
      <vt:lpstr>Algorithmes</vt:lpstr>
      <vt:lpstr>Modèle</vt:lpstr>
      <vt:lpstr>Zonage</vt:lpstr>
      <vt:lpstr>Problème détecté</vt:lpstr>
      <vt:lpstr>Biais vs Variance</vt:lpstr>
      <vt:lpstr>Décomposition de l’erreur</vt:lpstr>
      <vt:lpstr>Minimisation de l’erreur</vt:lpstr>
      <vt:lpstr>Entrainement et prédiction</vt:lpstr>
      <vt:lpstr>Heart Disease</vt:lpstr>
      <vt:lpstr>Problématique de kNN</vt:lpstr>
      <vt:lpstr>Normalisation</vt:lpstr>
      <vt:lpstr>MinMaxScaler</vt:lpstr>
      <vt:lpstr>Loi normale</vt:lpstr>
      <vt:lpstr>Ecart type</vt:lpstr>
      <vt:lpstr>Stats</vt:lpstr>
      <vt:lpstr>Théorème centrale limite</vt:lpstr>
      <vt:lpstr>StandardScaler</vt:lpstr>
      <vt:lpstr>Cas non gaussien</vt:lpstr>
      <vt:lpstr>Cas non gaussiens</vt:lpstr>
      <vt:lpstr>RobustScaler</vt:lpstr>
      <vt:lpstr>Sauvegarde du modèle</vt:lpstr>
      <vt:lpstr>knn_lite</vt:lpstr>
      <vt:lpstr>WDBC</vt:lpstr>
      <vt:lpstr>TP 4</vt:lpstr>
      <vt:lpstr>MNIST</vt:lpstr>
      <vt:lpstr>MNIST</vt:lpstr>
      <vt:lpstr>TP 5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358</cp:revision>
  <dcterms:created xsi:type="dcterms:W3CDTF">2000-04-10T19:33:12Z</dcterms:created>
  <dcterms:modified xsi:type="dcterms:W3CDTF">2026-04-28T11:21:14Z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