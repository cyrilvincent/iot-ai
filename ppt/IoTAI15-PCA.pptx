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264" r:id="rId2"/>
    <p:sldId id="265" r:id="rId3"/>
    <p:sldId id="266" r:id="rId4"/>
    <p:sldId id="267" r:id="rId5"/>
    <p:sldId id="268" r:id="rId6"/>
    <p:sldId id="269" r:id="rId7"/>
    <p:sldId id="282" r:id="rId8"/>
    <p:sldId id="271" r:id="rId9"/>
    <p:sldId id="272" r:id="rId10"/>
    <p:sldId id="270" r:id="rId11"/>
    <p:sldId id="276" r:id="rId12"/>
    <p:sldId id="277" r:id="rId1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113" d="100"/>
          <a:sy n="113" d="100"/>
        </p:scale>
        <p:origin x="15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Feature</a:t>
            </a:r>
            <a:r>
              <a:rPr lang="fr-FR" altLang="fr-FR" dirty="0"/>
              <a:t> Reduction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Diminution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limite le nombre de </a:t>
            </a:r>
            <a:r>
              <a:rPr lang="fr-FR" dirty="0" err="1"/>
              <a:t>features</a:t>
            </a:r>
            <a:r>
              <a:rPr lang="fr-FR" dirty="0"/>
              <a:t> à 100</a:t>
            </a:r>
          </a:p>
          <a:p>
            <a:pPr lvl="1"/>
            <a:r>
              <a:rPr lang="fr-FR" dirty="0"/>
              <a:t>MNIST possède 784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La rapidité est liée au nombre de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existe de nombreuses méthodes pour diminuer le nombre de dimension d'un tenseur</a:t>
            </a:r>
          </a:p>
          <a:p>
            <a:r>
              <a:rPr lang="fr-FR" dirty="0"/>
              <a:t>PCA</a:t>
            </a:r>
          </a:p>
          <a:p>
            <a:pPr lvl="1"/>
            <a:r>
              <a:rPr lang="fr-FR" dirty="0"/>
              <a:t>Analyse en composante principale</a:t>
            </a:r>
          </a:p>
          <a:p>
            <a:pPr lvl="1"/>
            <a:r>
              <a:rPr lang="fr-FR" dirty="0"/>
              <a:t>Hélas non disponible sur </a:t>
            </a:r>
            <a:r>
              <a:rPr lang="fr-FR" dirty="0" err="1"/>
              <a:t>EMLearn</a:t>
            </a:r>
            <a:endParaRPr lang="fr-FR" dirty="0"/>
          </a:p>
          <a:p>
            <a:pPr lvl="1"/>
            <a:r>
              <a:rPr lang="fr-FR" dirty="0"/>
              <a:t>En cours de développement</a:t>
            </a:r>
          </a:p>
          <a:p>
            <a:pPr lvl="1"/>
            <a:r>
              <a:rPr lang="fr-FR" dirty="0"/>
              <a:t>Développement propriétaire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96FD7-94D5-00C5-181C-49EE9985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principes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922073-F44A-C916-4A19-9C916EAC4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Comment réduire les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Il existe plusieurs principes pour réduire les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Certains principes dépendent du type de données</a:t>
            </a:r>
          </a:p>
          <a:p>
            <a:r>
              <a:rPr lang="fr-FR" dirty="0"/>
              <a:t>Principe des corrélations</a:t>
            </a:r>
          </a:p>
          <a:p>
            <a:pPr lvl="1"/>
            <a:r>
              <a:rPr lang="fr-FR" dirty="0"/>
              <a:t>Il existe des outils puissants de corrélations entre les </a:t>
            </a:r>
            <a:r>
              <a:rPr lang="fr-FR" dirty="0" err="1"/>
              <a:t>features</a:t>
            </a:r>
            <a:r>
              <a:rPr lang="fr-FR" dirty="0"/>
              <a:t> x</a:t>
            </a:r>
          </a:p>
          <a:p>
            <a:pPr lvl="1"/>
            <a:r>
              <a:rPr lang="fr-FR" dirty="0"/>
              <a:t>Ils permettent de choisir les </a:t>
            </a:r>
            <a:r>
              <a:rPr lang="fr-FR" dirty="0" err="1"/>
              <a:t>features</a:t>
            </a:r>
            <a:r>
              <a:rPr lang="fr-FR" dirty="0"/>
              <a:t> les plus importantes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230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41585-E439-4BDB-6BCD-20E3EC54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Pearson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DCD989-8AB6-9938-E6B3-5579093F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corrélations de </a:t>
            </a:r>
            <a:r>
              <a:rPr lang="fr-FR" dirty="0" err="1"/>
              <a:t>Pearsons</a:t>
            </a:r>
            <a:r>
              <a:rPr lang="fr-FR" dirty="0"/>
              <a:t> permettent de mesurer les corrélations en colonnes</a:t>
            </a:r>
          </a:p>
          <a:p>
            <a:pPr lvl="1"/>
            <a:r>
              <a:rPr lang="fr-FR" dirty="0"/>
              <a:t>Ainsi de mesurer les corrélations entre x et y</a:t>
            </a:r>
          </a:p>
          <a:p>
            <a:pPr lvl="1"/>
            <a:r>
              <a:rPr lang="fr-FR" dirty="0"/>
              <a:t>Outils statistique puissant de Pandas</a:t>
            </a:r>
          </a:p>
          <a:p>
            <a:pPr lvl="1"/>
            <a:r>
              <a:rPr lang="fr-FR" dirty="0" err="1"/>
              <a:t>pd.corr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Il suffit ensuite de choisir les meilleures colonnes, par exemple le TOP 5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169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D05114-99EB-9E7D-9BB1-036DFAAC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Pearson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84BCBA-B240-06D5-4E26-C769BF533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344D91-213C-73A8-7182-4DFE30385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73" y="918917"/>
            <a:ext cx="6538848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3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35EA9-55C4-17E1-7EE1-78079327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295210-FDD6-9EF3-328F-405B66E43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Importances </a:t>
            </a:r>
            <a:r>
              <a:rPr lang="fr-FR" dirty="0" err="1"/>
              <a:t>Features</a:t>
            </a:r>
            <a:r>
              <a:rPr lang="fr-FR" dirty="0"/>
              <a:t> est un extraordinaire outil de corrélation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2543D6-372A-0577-DD64-0254AD352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342552"/>
            <a:ext cx="6308296" cy="44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1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99C1C-49A8-3731-A109-17D7C664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Stochastique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193D80-E9B8-0893-1EB1-4C8B4BA4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Ajouter une colonne </a:t>
            </a:r>
            <a:r>
              <a:rPr lang="fr-FR" dirty="0" err="1"/>
              <a:t>Random</a:t>
            </a:r>
            <a:endParaRPr lang="fr-FR" dirty="0"/>
          </a:p>
          <a:p>
            <a:pPr lvl="1"/>
            <a:r>
              <a:rPr lang="fr-FR" dirty="0"/>
              <a:t>Elle apparaitra dans les </a:t>
            </a:r>
            <a:r>
              <a:rPr lang="fr-FR" dirty="0" err="1"/>
              <a:t>features</a:t>
            </a:r>
            <a:r>
              <a:rPr lang="fr-FR" dirty="0"/>
              <a:t> importances</a:t>
            </a:r>
          </a:p>
          <a:p>
            <a:pPr lvl="1"/>
            <a:r>
              <a:rPr lang="fr-FR" dirty="0"/>
              <a:t>Nous pouvons enlever sans risque les </a:t>
            </a:r>
            <a:r>
              <a:rPr lang="fr-FR" dirty="0" err="1"/>
              <a:t>features</a:t>
            </a:r>
            <a:r>
              <a:rPr lang="fr-FR" dirty="0"/>
              <a:t> en dessous du score de </a:t>
            </a:r>
            <a:r>
              <a:rPr lang="fr-FR" dirty="0" err="1"/>
              <a:t>rnd</a:t>
            </a:r>
            <a:r>
              <a:rPr lang="fr-FR" dirty="0"/>
              <a:t> ainsi que les </a:t>
            </a:r>
            <a:r>
              <a:rPr lang="fr-FR" dirty="0" err="1"/>
              <a:t>features</a:t>
            </a:r>
            <a:r>
              <a:rPr lang="fr-FR" dirty="0"/>
              <a:t> proche de </a:t>
            </a:r>
            <a:r>
              <a:rPr lang="fr-FR" dirty="0" err="1"/>
              <a:t>rnd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95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D39EB-ABE6-91E1-4988-F10F8072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normalisations L1 et L2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B59ECA-F57D-F77A-C6D7-3A98E0DC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normalisation L1 est simplement la moyenne de plusieurs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L1(x, y, z) = (x + y + z) / 3</a:t>
            </a:r>
          </a:p>
          <a:p>
            <a:r>
              <a:rPr lang="fr-FR" dirty="0"/>
              <a:t>La normalisation L2 est la racine carrée des carrés de plusieurs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L2(x, y, z) = (x² + y² + z²) ** 0.5</a:t>
            </a:r>
          </a:p>
          <a:p>
            <a:pPr lvl="1"/>
            <a:r>
              <a:rPr lang="fr-FR" dirty="0"/>
              <a:t>Pour des raisons de rapidité souvent la racine carrée est remplacée par une moyenne</a:t>
            </a:r>
          </a:p>
          <a:p>
            <a:r>
              <a:rPr lang="fr-FR" sz="2400" dirty="0"/>
              <a:t>Ces normalisations ne fonctionnent pas en 8 et 16 bits (risque de dépassement surtout en 8 bits) il faut alors passer temporairement en 32 bits</a:t>
            </a:r>
          </a:p>
          <a:p>
            <a:pPr lvl="1"/>
            <a:r>
              <a:rPr lang="fr-FR" sz="2000" dirty="0" err="1"/>
              <a:t>Consomaation</a:t>
            </a:r>
            <a:r>
              <a:rPr lang="fr-FR" sz="2000" dirty="0"/>
              <a:t> de mémoire</a:t>
            </a:r>
          </a:p>
        </p:txBody>
      </p:sp>
    </p:spTree>
    <p:extLst>
      <p:ext uri="{BB962C8B-B14F-4D97-AF65-F5344CB8AC3E}">
        <p14:creationId xmlns:p14="http://schemas.microsoft.com/office/powerpoint/2010/main" val="99527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821AD-DBCD-D128-BAC8-822A35B6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 par chevauchement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21DC9-DC71-1AC3-D924-82CE7F869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d'appliquer des normalisation L1 ou L2 sur quelques colonnes avec chevauchement</a:t>
            </a:r>
          </a:p>
          <a:p>
            <a:pPr lvl="1"/>
            <a:r>
              <a:rPr lang="fr-FR" dirty="0"/>
              <a:t>Inspiré de PCA</a:t>
            </a:r>
          </a:p>
          <a:p>
            <a:r>
              <a:rPr lang="fr-FR" dirty="0"/>
              <a:t>Définition</a:t>
            </a:r>
          </a:p>
          <a:p>
            <a:pPr lvl="1"/>
            <a:r>
              <a:rPr lang="fr-FR" dirty="0"/>
              <a:t>La fenêtre est le nombre de colonne fusionnée</a:t>
            </a:r>
          </a:p>
          <a:p>
            <a:pPr lvl="1"/>
            <a:r>
              <a:rPr lang="fr-FR" dirty="0"/>
              <a:t>Par exemple 10</a:t>
            </a:r>
          </a:p>
          <a:p>
            <a:pPr lvl="1"/>
            <a:r>
              <a:rPr lang="fr-FR" dirty="0"/>
              <a:t>stride est le pas de déplacement, par exemple 5</a:t>
            </a:r>
          </a:p>
          <a:p>
            <a:pPr lvl="1"/>
            <a:r>
              <a:rPr lang="fr-FR" dirty="0"/>
              <a:t>Dans ce cas pour 30 </a:t>
            </a:r>
            <a:r>
              <a:rPr lang="fr-FR" dirty="0" err="1"/>
              <a:t>features</a:t>
            </a:r>
            <a:r>
              <a:rPr lang="fr-FR" dirty="0"/>
              <a:t>, on fusionne 10 </a:t>
            </a:r>
            <a:r>
              <a:rPr lang="fr-FR" dirty="0" err="1"/>
              <a:t>features</a:t>
            </a:r>
            <a:r>
              <a:rPr lang="fr-FR" dirty="0"/>
              <a:t> puis on décale de 5 (chevauchement de 5)</a:t>
            </a:r>
          </a:p>
          <a:p>
            <a:pPr lvl="1"/>
            <a:r>
              <a:rPr lang="fr-FR" dirty="0"/>
              <a:t>Nous obtenons 12 </a:t>
            </a:r>
            <a:r>
              <a:rPr lang="fr-FR" dirty="0" err="1"/>
              <a:t>features</a:t>
            </a:r>
            <a:r>
              <a:rPr lang="fr-FR" dirty="0"/>
              <a:t> (6 pour L1 et 6 pour L2)</a:t>
            </a:r>
          </a:p>
          <a:p>
            <a:pPr lvl="1"/>
            <a:r>
              <a:rPr lang="fr-FR" dirty="0" err="1"/>
              <a:t>pca_lite.PCALite</a:t>
            </a:r>
            <a:r>
              <a:rPr lang="fr-FR" dirty="0"/>
              <a:t>(10, 5)</a:t>
            </a:r>
          </a:p>
        </p:txBody>
      </p:sp>
    </p:spTree>
    <p:extLst>
      <p:ext uri="{BB962C8B-B14F-4D97-AF65-F5344CB8AC3E}">
        <p14:creationId xmlns:p14="http://schemas.microsoft.com/office/powerpoint/2010/main" val="156988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C057-665B-F6EC-8719-74599ACA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Poolling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4E22E5-6713-0A85-9F22-87DA8C62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pooling</a:t>
            </a:r>
            <a:r>
              <a:rPr lang="fr-FR" dirty="0"/>
              <a:t> permet de fusionner des convolutions</a:t>
            </a:r>
          </a:p>
          <a:p>
            <a:r>
              <a:rPr lang="fr-FR" dirty="0"/>
              <a:t>Par exemple faire une moyenne des moyennes mobiles avec un pas 10 mesures sans chevauchement</a:t>
            </a:r>
          </a:p>
          <a:p>
            <a:pPr lvl="1"/>
            <a:r>
              <a:rPr lang="fr-FR" dirty="0"/>
              <a:t>Utilisations de fonction statistiques comme médiane, quantile, …</a:t>
            </a:r>
          </a:p>
          <a:p>
            <a:r>
              <a:rPr lang="fr-FR" dirty="0"/>
              <a:t>Un autre outil est les dérivées partielles</a:t>
            </a:r>
          </a:p>
        </p:txBody>
      </p:sp>
    </p:spTree>
    <p:extLst>
      <p:ext uri="{BB962C8B-B14F-4D97-AF65-F5344CB8AC3E}">
        <p14:creationId xmlns:p14="http://schemas.microsoft.com/office/powerpoint/2010/main" val="1819574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54F26-7B57-24AA-8C6B-1654461E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Mixage des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0B38DD-E42D-7018-CDB1-0185093BD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fusionner toutes les méthodes</a:t>
            </a:r>
          </a:p>
          <a:p>
            <a:r>
              <a:rPr lang="fr-FR" dirty="0"/>
              <a:t>TOP 5 + PCA sur les autres colonnes</a:t>
            </a:r>
          </a:p>
        </p:txBody>
      </p:sp>
    </p:spTree>
    <p:extLst>
      <p:ext uri="{BB962C8B-B14F-4D97-AF65-F5344CB8AC3E}">
        <p14:creationId xmlns:p14="http://schemas.microsoft.com/office/powerpoint/2010/main" val="75543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C6A18-2E40-50D5-3351-BA214FD6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14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30A0E1-EDEC-40ED-BD60-E656275D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Réduction de dimension pour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pPr lvl="1"/>
            <a:r>
              <a:rPr lang="fr-FR" dirty="0"/>
              <a:t>Appliquer un TOP 5</a:t>
            </a:r>
          </a:p>
          <a:p>
            <a:pPr lvl="1"/>
            <a:r>
              <a:rPr lang="fr-FR" dirty="0"/>
              <a:t>Eliminer les </a:t>
            </a:r>
            <a:r>
              <a:rPr lang="fr-FR" dirty="0" err="1"/>
              <a:t>features</a:t>
            </a:r>
            <a:r>
              <a:rPr lang="fr-FR" dirty="0"/>
              <a:t> non </a:t>
            </a:r>
            <a:r>
              <a:rPr lang="fr-FR"/>
              <a:t>pertinentes par RF</a:t>
            </a:r>
            <a:endParaRPr lang="fr-FR" dirty="0"/>
          </a:p>
          <a:p>
            <a:pPr lvl="1"/>
            <a:r>
              <a:rPr lang="fr-FR" dirty="0"/>
              <a:t>Appliquer des normalisations L1 et L2 par chevauchement 10, 5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55584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7810</TotalTime>
  <Words>470</Words>
  <Application>Microsoft Office PowerPoint</Application>
  <PresentationFormat>Affichage à l'écran (4:3)</PresentationFormat>
  <Paragraphs>63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Monotype Sorts</vt:lpstr>
      <vt:lpstr>Times New Roman</vt:lpstr>
      <vt:lpstr>cvc</vt:lpstr>
      <vt:lpstr>Présentation PowerPoint</vt:lpstr>
      <vt:lpstr>Diminution des features</vt:lpstr>
      <vt:lpstr>Les principes</vt:lpstr>
      <vt:lpstr>Pearson</vt:lpstr>
      <vt:lpstr>Pearson</vt:lpstr>
      <vt:lpstr>Importance Features</vt:lpstr>
      <vt:lpstr>Stochastique</vt:lpstr>
      <vt:lpstr>Les normalisations L1 et L2</vt:lpstr>
      <vt:lpstr>Normalisation par chevauchement</vt:lpstr>
      <vt:lpstr>Le Poolling</vt:lpstr>
      <vt:lpstr>Mixage des méthodes</vt:lpstr>
      <vt:lpstr>TP 14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user73</cp:lastModifiedBy>
  <cp:revision>373</cp:revision>
  <dcterms:created xsi:type="dcterms:W3CDTF">2000-04-10T19:33:12Z</dcterms:created>
  <dcterms:modified xsi:type="dcterms:W3CDTF">2026-07-10T07:20:09Z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