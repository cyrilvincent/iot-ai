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20"/>
  </p:notesMasterIdLst>
  <p:handoutMasterIdLst>
    <p:handoutMasterId r:id="rId21"/>
  </p:handoutMasterIdLst>
  <p:sldIdLst>
    <p:sldId id="264" r:id="rId2"/>
    <p:sldId id="266" r:id="rId3"/>
    <p:sldId id="285" r:id="rId4"/>
    <p:sldId id="267" r:id="rId5"/>
    <p:sldId id="283" r:id="rId6"/>
    <p:sldId id="284" r:id="rId7"/>
    <p:sldId id="279" r:id="rId8"/>
    <p:sldId id="282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86" r:id="rId19"/>
  </p:sldIdLst>
  <p:sldSz cx="9144000" cy="6858000" type="screen4x3"/>
  <p:notesSz cx="6648450" cy="9782175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81">
          <p15:clr>
            <a:srgbClr val="A4A3A4"/>
          </p15:clr>
        </p15:guide>
        <p15:guide id="2" pos="209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4" autoAdjust="0"/>
    <p:restoredTop sz="94590" autoAdjust="0"/>
  </p:normalViewPr>
  <p:slideViewPr>
    <p:cSldViewPr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918"/>
    </p:cViewPr>
  </p:sorterViewPr>
  <p:notesViewPr>
    <p:cSldViewPr>
      <p:cViewPr>
        <p:scale>
          <a:sx n="100" d="100"/>
          <a:sy n="100" d="100"/>
        </p:scale>
        <p:origin x="-924" y="2430"/>
      </p:cViewPr>
      <p:guideLst>
        <p:guide orient="horz" pos="3081"/>
        <p:guide pos="209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42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1000">
                <a:latin typeface="Arial" charset="0"/>
              </a:defRPr>
            </a:lvl1pPr>
          </a:lstStyle>
          <a:p>
            <a:pPr>
              <a:defRPr/>
            </a:pPr>
            <a:fld id="{05A6847E-ECD8-4888-9A6C-CBE85B378C1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43995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67138" y="0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6300" y="733425"/>
            <a:ext cx="4895850" cy="3670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79413" y="4646613"/>
            <a:ext cx="5851525" cy="4402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256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93225"/>
            <a:ext cx="2881313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© HANDSHAKE - Philippe MASINA</a:t>
            </a:r>
          </a:p>
        </p:txBody>
      </p:sp>
      <p:sp>
        <p:nvSpPr>
          <p:cNvPr id="256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67138" y="9293225"/>
            <a:ext cx="2881312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221" tIns="45610" rIns="91221" bIns="45610" numCol="1" anchor="b" anchorCtr="0" compatLnSpc="1">
            <a:prstTxWarp prst="textNoShape">
              <a:avLst/>
            </a:prstTxWarp>
          </a:bodyPr>
          <a:lstStyle>
            <a:lvl1pPr algn="r" defTabSz="912813">
              <a:defRPr sz="800">
                <a:latin typeface="Arial" charset="0"/>
              </a:defRPr>
            </a:lvl1pPr>
          </a:lstStyle>
          <a:p>
            <a:pPr>
              <a:defRPr/>
            </a:pPr>
            <a:r>
              <a:rPr lang="fr-FR"/>
              <a:t>I-</a:t>
            </a:r>
            <a:fld id="{88B410AF-14E7-4D87-8C8E-6E377E0C238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022458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18913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87624" y="13209"/>
            <a:ext cx="7829947" cy="1143000"/>
          </a:xfrm>
        </p:spPr>
        <p:txBody>
          <a:bodyPr/>
          <a:lstStyle>
            <a:lvl1pPr>
              <a:defRPr sz="3200"/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2" y="1412776"/>
            <a:ext cx="8766051" cy="5040560"/>
          </a:xfrm>
        </p:spPr>
        <p:txBody>
          <a:bodyPr/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010342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1731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5135563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3892756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56881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664286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0620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855899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2371934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4254946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002463" y="457200"/>
            <a:ext cx="1943100" cy="56388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1173163" y="457200"/>
            <a:ext cx="5676900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16717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6477000"/>
            <a:ext cx="9144000" cy="76200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fr-FR" altLang="fr-FR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6934200" y="6553200"/>
            <a:ext cx="1219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 dirty="0"/>
              <a:t>Page </a:t>
            </a:r>
            <a:fld id="{E218E9B1-FD08-4C80-902E-210BA2967D0D}" type="slidenum">
              <a:rPr lang="fr-FR" sz="1200" smtClean="0"/>
              <a:pPr>
                <a:spcBef>
                  <a:spcPct val="50000"/>
                </a:spcBef>
                <a:defRPr/>
              </a:pPr>
              <a:t>‹N°›</a:t>
            </a:fld>
            <a:endParaRPr lang="fr-FR" dirty="0">
              <a:latin typeface="Times New Roman" pitchFamily="18" charset="0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209800" y="6553200"/>
            <a:ext cx="4724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fr-FR" sz="1600" dirty="0"/>
              <a:t>Python</a:t>
            </a:r>
            <a:endParaRPr lang="fr-FR" dirty="0">
              <a:latin typeface="Times New Roman" pitchFamily="18" charset="0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77925" y="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 style du titre du masque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96975"/>
            <a:ext cx="8766175" cy="528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Cliquez pour modifier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0" y="6521450"/>
            <a:ext cx="34290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fr-FR" sz="1200"/>
              <a:t>© Cyril Vincent Conseil</a:t>
            </a:r>
            <a:endParaRPr lang="fr-FR">
              <a:latin typeface="Times New Roman" pitchFamily="18" charset="0"/>
            </a:endParaRPr>
          </a:p>
        </p:txBody>
      </p:sp>
      <p:pic>
        <p:nvPicPr>
          <p:cNvPr id="1032" name="Picture 8" descr="cartevisite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74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o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fr-FR" altLang="fr-FR" dirty="0"/>
              <a:t>Chapitre 1</a:t>
            </a:r>
          </a:p>
          <a:p>
            <a:pPr eaLnBrk="1" hangingPunct="1"/>
            <a:r>
              <a:rPr lang="fr-FR" altLang="fr-FR" dirty="0"/>
              <a:t>Introduction</a:t>
            </a:r>
          </a:p>
        </p:txBody>
      </p:sp>
      <p:pic>
        <p:nvPicPr>
          <p:cNvPr id="1028" name="Picture 4" descr="Logo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7425" y="2132856"/>
            <a:ext cx="4629150" cy="1371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869160" y="5157192"/>
            <a:ext cx="6715125" cy="12858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re 1"/>
          <p:cNvSpPr>
            <a:spLocks noGrp="1"/>
          </p:cNvSpPr>
          <p:nvPr>
            <p:ph type="title"/>
          </p:nvPr>
        </p:nvSpPr>
        <p:spPr>
          <a:xfrm>
            <a:off x="1187450" y="12700"/>
            <a:ext cx="7829550" cy="1143000"/>
          </a:xfrm>
        </p:spPr>
        <p:txBody>
          <a:bodyPr/>
          <a:lstStyle/>
          <a:p>
            <a:r>
              <a:rPr lang="fr-FR" altLang="fr-FR" dirty="0"/>
              <a:t>Python</a:t>
            </a:r>
          </a:p>
        </p:txBody>
      </p:sp>
      <p:sp>
        <p:nvSpPr>
          <p:cNvPr id="3075" name="Espace réservé du contenu 2"/>
          <p:cNvSpPr>
            <a:spLocks noGrp="1"/>
          </p:cNvSpPr>
          <p:nvPr>
            <p:ph idx="1"/>
          </p:nvPr>
        </p:nvSpPr>
        <p:spPr>
          <a:xfrm>
            <a:off x="179388" y="1412776"/>
            <a:ext cx="8766175" cy="5040313"/>
          </a:xfrm>
        </p:spPr>
        <p:txBody>
          <a:bodyPr/>
          <a:lstStyle/>
          <a:p>
            <a:r>
              <a:rPr lang="fr-FR" altLang="fr-FR" dirty="0"/>
              <a:t>Python est un langage de programmation objet et multiplateformes</a:t>
            </a:r>
          </a:p>
          <a:p>
            <a:r>
              <a:rPr lang="fr-FR" altLang="fr-FR" dirty="0"/>
              <a:t>Python est libre</a:t>
            </a:r>
          </a:p>
          <a:p>
            <a:r>
              <a:rPr lang="fr-FR" altLang="fr-FR" dirty="0"/>
              <a:t>Créé par Guido van </a:t>
            </a:r>
            <a:r>
              <a:rPr lang="fr-FR" altLang="fr-FR" dirty="0" err="1"/>
              <a:t>Rossum</a:t>
            </a:r>
            <a:endParaRPr lang="fr-FR" altLang="fr-FR" dirty="0"/>
          </a:p>
          <a:p>
            <a:pPr lvl="1"/>
            <a:r>
              <a:rPr lang="fr-FR" altLang="fr-FR" dirty="0"/>
              <a:t>Hommage aux Monty Python</a:t>
            </a:r>
          </a:p>
          <a:p>
            <a:r>
              <a:rPr lang="fr-FR" altLang="fr-FR" dirty="0"/>
              <a:t>Python 3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73016" y="5135005"/>
            <a:ext cx="6715125" cy="1285875"/>
          </a:xfrm>
          <a:prstGeom prst="rect">
            <a:avLst/>
          </a:prstGeom>
        </p:spPr>
      </p:pic>
      <p:pic>
        <p:nvPicPr>
          <p:cNvPr id="7" name="Picture 2" descr="Afficher l'image d'origin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3904" y="2141204"/>
            <a:ext cx="3813096" cy="2740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Guido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9513" y="1412776"/>
            <a:ext cx="7128792" cy="5040560"/>
          </a:xfrm>
        </p:spPr>
        <p:txBody>
          <a:bodyPr/>
          <a:lstStyle/>
          <a:p>
            <a:r>
              <a:rPr lang="fr-FR" dirty="0"/>
              <a:t>There </a:t>
            </a:r>
            <a:r>
              <a:rPr lang="fr-FR" dirty="0" err="1"/>
              <a:t>should</a:t>
            </a:r>
            <a:r>
              <a:rPr lang="fr-FR" dirty="0"/>
              <a:t> </a:t>
            </a:r>
            <a:r>
              <a:rPr lang="fr-FR" dirty="0" err="1"/>
              <a:t>be</a:t>
            </a:r>
            <a:r>
              <a:rPr lang="fr-FR" dirty="0"/>
              <a:t> one -- and </a:t>
            </a:r>
            <a:r>
              <a:rPr lang="fr-FR" dirty="0" err="1"/>
              <a:t>preferably</a:t>
            </a:r>
            <a:r>
              <a:rPr lang="fr-FR" dirty="0"/>
              <a:t> </a:t>
            </a:r>
            <a:r>
              <a:rPr lang="fr-FR" dirty="0" err="1"/>
              <a:t>only</a:t>
            </a:r>
            <a:r>
              <a:rPr lang="fr-FR" dirty="0"/>
              <a:t> one -- </a:t>
            </a:r>
            <a:r>
              <a:rPr lang="fr-FR" dirty="0" err="1"/>
              <a:t>obvious</a:t>
            </a:r>
            <a:r>
              <a:rPr lang="fr-FR" dirty="0"/>
              <a:t> </a:t>
            </a:r>
            <a:r>
              <a:rPr lang="fr-FR" dirty="0" err="1"/>
              <a:t>way</a:t>
            </a:r>
            <a:r>
              <a:rPr lang="fr-FR" dirty="0"/>
              <a:t> to do </a:t>
            </a:r>
            <a:r>
              <a:rPr lang="fr-FR" dirty="0" err="1"/>
              <a:t>it</a:t>
            </a:r>
            <a:endParaRPr lang="fr-FR" dirty="0"/>
          </a:p>
          <a:p>
            <a:pPr lvl="1"/>
            <a:r>
              <a:rPr lang="fr-FR" dirty="0"/>
              <a:t>il devrait exister une (et de préférence une seule) manière évidente de procéder ;</a:t>
            </a:r>
          </a:p>
          <a:p>
            <a:r>
              <a:rPr lang="fr-FR" dirty="0" err="1"/>
              <a:t>Although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way</a:t>
            </a:r>
            <a:r>
              <a:rPr lang="fr-FR" dirty="0"/>
              <a:t> </a:t>
            </a:r>
            <a:r>
              <a:rPr lang="fr-FR" dirty="0" err="1"/>
              <a:t>may</a:t>
            </a:r>
            <a:r>
              <a:rPr lang="fr-FR" dirty="0"/>
              <a:t> not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obvious</a:t>
            </a:r>
            <a:r>
              <a:rPr lang="fr-FR" dirty="0"/>
              <a:t> at first </a:t>
            </a:r>
            <a:r>
              <a:rPr lang="fr-FR" dirty="0" err="1"/>
              <a:t>unless</a:t>
            </a:r>
            <a:r>
              <a:rPr lang="fr-FR" dirty="0"/>
              <a:t> </a:t>
            </a:r>
            <a:r>
              <a:rPr lang="fr-FR" dirty="0" err="1"/>
              <a:t>you're</a:t>
            </a:r>
            <a:r>
              <a:rPr lang="fr-FR" dirty="0"/>
              <a:t> Dutch</a:t>
            </a:r>
          </a:p>
          <a:p>
            <a:pPr lvl="1"/>
            <a:r>
              <a:rPr lang="fr-FR" dirty="0"/>
              <a:t>même si cette manière n'est pas forcément évidente au premier abord, à moins que vous ne soyez Néerlandais ; </a:t>
            </a:r>
          </a:p>
          <a:p>
            <a:endParaRPr lang="fr-FR" dirty="0"/>
          </a:p>
        </p:txBody>
      </p:sp>
      <p:pic>
        <p:nvPicPr>
          <p:cNvPr id="4" name="Picture 2" descr="https://upload.wikimedia.org/wikipedia/commons/thumb/6/66/Guido_van_Rossum_OSCON_2006.jpg/150px-Guido_van_Rossum_OSCON_200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2023" y="1425673"/>
            <a:ext cx="2055631" cy="3083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12528" y="5179965"/>
            <a:ext cx="6715125" cy="128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25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re 1"/>
          <p:cNvSpPr>
            <a:spLocks noGrp="1"/>
          </p:cNvSpPr>
          <p:nvPr>
            <p:ph type="title"/>
          </p:nvPr>
        </p:nvSpPr>
        <p:spPr>
          <a:xfrm>
            <a:off x="1187450" y="12700"/>
            <a:ext cx="7829550" cy="1143000"/>
          </a:xfrm>
        </p:spPr>
        <p:txBody>
          <a:bodyPr/>
          <a:lstStyle/>
          <a:p>
            <a:r>
              <a:rPr lang="fr-FR" altLang="fr-FR" dirty="0"/>
              <a:t>Python</a:t>
            </a:r>
          </a:p>
        </p:txBody>
      </p:sp>
      <p:sp>
        <p:nvSpPr>
          <p:cNvPr id="3075" name="Espace réservé du contenu 2"/>
          <p:cNvSpPr>
            <a:spLocks noGrp="1"/>
          </p:cNvSpPr>
          <p:nvPr>
            <p:ph idx="1"/>
          </p:nvPr>
        </p:nvSpPr>
        <p:spPr>
          <a:xfrm>
            <a:off x="179388" y="1412875"/>
            <a:ext cx="8766175" cy="5040313"/>
          </a:xfrm>
        </p:spPr>
        <p:txBody>
          <a:bodyPr/>
          <a:lstStyle/>
          <a:p>
            <a:r>
              <a:rPr lang="fr-FR" altLang="fr-FR" dirty="0"/>
              <a:t>Python est un langage de haut niveau mais simple</a:t>
            </a:r>
          </a:p>
          <a:p>
            <a:r>
              <a:rPr lang="fr-FR" altLang="fr-FR" dirty="0"/>
              <a:t>Python est interprété</a:t>
            </a:r>
          </a:p>
          <a:p>
            <a:pPr lvl="1"/>
            <a:r>
              <a:rPr lang="fr-FR" altLang="fr-FR" dirty="0"/>
              <a:t>Pas le plus rapide</a:t>
            </a:r>
          </a:p>
          <a:p>
            <a:r>
              <a:rPr lang="fr-FR" altLang="fr-FR" dirty="0"/>
              <a:t>Python favorise la programmation impérative structurée, fonctionnelle et orientée objet</a:t>
            </a:r>
          </a:p>
          <a:p>
            <a:r>
              <a:rPr lang="fr-FR" altLang="fr-FR" dirty="0"/>
              <a:t>Python 3.x</a:t>
            </a:r>
          </a:p>
          <a:p>
            <a:pPr lvl="1"/>
            <a:r>
              <a:rPr lang="fr-FR" altLang="fr-FR" dirty="0"/>
              <a:t>Grosses différences avec Python 2.x</a:t>
            </a:r>
          </a:p>
          <a:p>
            <a:endParaRPr lang="fr-FR" alt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7" y="5167313"/>
            <a:ext cx="6715125" cy="128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713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Historique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400" dirty="0"/>
              <a:t>Python 1.0 (Beta) : 1990</a:t>
            </a:r>
          </a:p>
          <a:p>
            <a:r>
              <a:rPr lang="fr-FR" sz="2400" dirty="0"/>
              <a:t>Python 1.5 : 1999</a:t>
            </a:r>
          </a:p>
          <a:p>
            <a:r>
              <a:rPr lang="fr-FR" sz="2400" dirty="0"/>
              <a:t>Python 2.0 : 2000</a:t>
            </a:r>
          </a:p>
          <a:p>
            <a:pPr lvl="1"/>
            <a:r>
              <a:rPr lang="fr-FR" sz="2000" dirty="0"/>
              <a:t>Unicode</a:t>
            </a:r>
          </a:p>
          <a:p>
            <a:r>
              <a:rPr lang="fr-FR" sz="2400" dirty="0"/>
              <a:t>Python 2.7 : 2010</a:t>
            </a:r>
          </a:p>
          <a:p>
            <a:pPr lvl="1"/>
            <a:r>
              <a:rPr lang="fr-FR" sz="2000" dirty="0"/>
              <a:t>Encore très utilisé</a:t>
            </a:r>
          </a:p>
          <a:p>
            <a:r>
              <a:rPr lang="fr-FR" sz="2400" dirty="0"/>
              <a:t>Python 3.0 : 2008</a:t>
            </a:r>
          </a:p>
          <a:p>
            <a:pPr lvl="1"/>
            <a:r>
              <a:rPr lang="fr-FR" sz="2000" dirty="0"/>
              <a:t>Rupture, pas de </a:t>
            </a:r>
            <a:r>
              <a:rPr lang="fr-FR" sz="2000"/>
              <a:t>compatibilité descendante</a:t>
            </a:r>
          </a:p>
          <a:p>
            <a:pPr lvl="1"/>
            <a:r>
              <a:rPr lang="fr-FR" sz="2000" dirty="0"/>
              <a:t>Séparation de </a:t>
            </a:r>
            <a:r>
              <a:rPr lang="fr-FR" sz="2000" dirty="0" err="1"/>
              <a:t>str</a:t>
            </a:r>
            <a:r>
              <a:rPr lang="fr-FR" sz="2000" dirty="0"/>
              <a:t> et bytes, les </a:t>
            </a:r>
            <a:r>
              <a:rPr lang="fr-FR" sz="2000" dirty="0" err="1"/>
              <a:t>str</a:t>
            </a:r>
            <a:r>
              <a:rPr lang="fr-FR" sz="2000" dirty="0"/>
              <a:t> sont en Unicode par défaut</a:t>
            </a:r>
          </a:p>
          <a:p>
            <a:pPr lvl="1"/>
            <a:r>
              <a:rPr lang="fr-FR" sz="2000" dirty="0"/>
              <a:t>/ flottant</a:t>
            </a:r>
          </a:p>
          <a:p>
            <a:pPr lvl="1"/>
            <a:r>
              <a:rPr lang="fr-FR" sz="2000" dirty="0"/>
              <a:t>Booléens</a:t>
            </a:r>
          </a:p>
          <a:p>
            <a:pPr lvl="1"/>
            <a:r>
              <a:rPr lang="fr-FR" sz="2000" dirty="0"/>
              <a:t>Disparition de __init__.py</a:t>
            </a:r>
          </a:p>
          <a:p>
            <a:r>
              <a:rPr lang="fr-FR" sz="2400" dirty="0"/>
              <a:t>Python 3.5 : 2015</a:t>
            </a: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547" y="5157192"/>
            <a:ext cx="6715125" cy="128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822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re 1"/>
          <p:cNvSpPr>
            <a:spLocks noGrp="1"/>
          </p:cNvSpPr>
          <p:nvPr>
            <p:ph type="title"/>
          </p:nvPr>
        </p:nvSpPr>
        <p:spPr>
          <a:xfrm>
            <a:off x="1187450" y="12700"/>
            <a:ext cx="7829550" cy="1143000"/>
          </a:xfrm>
        </p:spPr>
        <p:txBody>
          <a:bodyPr/>
          <a:lstStyle/>
          <a:p>
            <a:r>
              <a:rPr lang="fr-FR" altLang="fr-FR" dirty="0"/>
              <a:t>Python</a:t>
            </a:r>
          </a:p>
        </p:txBody>
      </p:sp>
      <p:sp>
        <p:nvSpPr>
          <p:cNvPr id="3075" name="Espace réservé du contenu 2"/>
          <p:cNvSpPr>
            <a:spLocks noGrp="1"/>
          </p:cNvSpPr>
          <p:nvPr>
            <p:ph idx="1"/>
          </p:nvPr>
        </p:nvSpPr>
        <p:spPr>
          <a:xfrm>
            <a:off x="179388" y="1412875"/>
            <a:ext cx="8766175" cy="5040313"/>
          </a:xfrm>
        </p:spPr>
        <p:txBody>
          <a:bodyPr/>
          <a:lstStyle/>
          <a:p>
            <a:r>
              <a:rPr lang="fr-FR" altLang="fr-FR" dirty="0"/>
              <a:t>Python est doté</a:t>
            </a:r>
          </a:p>
          <a:p>
            <a:pPr lvl="1"/>
            <a:r>
              <a:rPr lang="fr-FR" altLang="fr-FR" dirty="0"/>
              <a:t>d'un typage dynamique fort</a:t>
            </a:r>
          </a:p>
          <a:p>
            <a:pPr lvl="1"/>
            <a:r>
              <a:rPr lang="fr-FR" altLang="fr-FR" dirty="0"/>
              <a:t>d'une gestion automatique de la mémoire par ramasse-miettes</a:t>
            </a:r>
          </a:p>
          <a:p>
            <a:pPr lvl="1"/>
            <a:r>
              <a:rPr lang="fr-FR" altLang="fr-FR" dirty="0"/>
              <a:t>d'un système de gestion d'exception</a:t>
            </a:r>
          </a:p>
          <a:p>
            <a:r>
              <a:rPr lang="fr-FR" altLang="fr-FR" dirty="0"/>
              <a:t>Similaire à Perl et Ruby</a:t>
            </a:r>
          </a:p>
        </p:txBody>
      </p:sp>
      <p:pic>
        <p:nvPicPr>
          <p:cNvPr id="5" name="Picture 4" descr="Logo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586" y="4149080"/>
            <a:ext cx="4629150" cy="1371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9723" y="5167313"/>
            <a:ext cx="6715125" cy="128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461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Python et les autres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Python est un mélange de C, C++, Modula et Perl</a:t>
            </a:r>
          </a:p>
          <a:p>
            <a:r>
              <a:rPr lang="fr-FR" dirty="0"/>
              <a:t>Très utilisé dans le monde du </a:t>
            </a:r>
            <a:r>
              <a:rPr lang="fr-FR" dirty="0" err="1"/>
              <a:t>scripting</a:t>
            </a:r>
            <a:endParaRPr lang="fr-FR" dirty="0"/>
          </a:p>
          <a:p>
            <a:pPr lvl="1"/>
            <a:r>
              <a:rPr lang="fr-FR" dirty="0"/>
              <a:t>Successeur de Perl</a:t>
            </a:r>
          </a:p>
          <a:p>
            <a:r>
              <a:rPr lang="fr-FR" dirty="0"/>
              <a:t>Très utilisé dans l’apprentissage objet</a:t>
            </a:r>
          </a:p>
          <a:p>
            <a:pPr lvl="1"/>
            <a:r>
              <a:rPr lang="fr-FR" dirty="0"/>
              <a:t>Moins lourd que Java et C#</a:t>
            </a:r>
          </a:p>
          <a:p>
            <a:pPr lvl="1"/>
            <a:r>
              <a:rPr lang="fr-FR" dirty="0"/>
              <a:t>Meilleurs que Perl</a:t>
            </a:r>
          </a:p>
          <a:p>
            <a:pPr lvl="1"/>
            <a:r>
              <a:rPr lang="fr-FR" dirty="0"/>
              <a:t>Moins aboutis</a:t>
            </a:r>
          </a:p>
          <a:p>
            <a:r>
              <a:rPr lang="fr-FR" dirty="0"/>
              <a:t>Très utilisé dans le </a:t>
            </a:r>
            <a:r>
              <a:rPr lang="fr-FR"/>
              <a:t>calcul scientifique</a:t>
            </a:r>
            <a:endParaRPr lang="fr-FR" dirty="0"/>
          </a:p>
          <a:p>
            <a:r>
              <a:rPr lang="fr-FR" dirty="0"/>
              <a:t>Utilisé dans le Web</a:t>
            </a:r>
          </a:p>
          <a:p>
            <a:pPr lvl="1"/>
            <a:r>
              <a:rPr lang="fr-FR" dirty="0"/>
              <a:t>Django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5947" y="5167461"/>
            <a:ext cx="6715125" cy="128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650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Exemple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7496"/>
            <a:ext cx="9318716" cy="3343632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0472" y="5157192"/>
            <a:ext cx="6715125" cy="128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921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Text Box 5"/>
          <p:cNvSpPr txBox="1">
            <a:spLocks noChangeArrowheads="1"/>
          </p:cNvSpPr>
          <p:nvPr/>
        </p:nvSpPr>
        <p:spPr bwMode="auto">
          <a:xfrm>
            <a:off x="1066800" y="990600"/>
            <a:ext cx="731520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FontTx/>
              <a:buChar char="•"/>
            </a:pPr>
            <a:r>
              <a:rPr lang="fr-BE" altLang="fr-FR" b="1" dirty="0"/>
              <a:t>  </a:t>
            </a:r>
            <a:r>
              <a:rPr lang="fr-BE" altLang="fr-FR" dirty="0"/>
              <a:t>Scripts d’administration systèmes</a:t>
            </a:r>
          </a:p>
          <a:p>
            <a:r>
              <a:rPr lang="fr-BE" altLang="fr-FR" dirty="0"/>
              <a:t>   ex : Les programmes d'administration système spécifiques à la distribution </a:t>
            </a:r>
            <a:r>
              <a:rPr lang="fr-BE" altLang="fr-FR" dirty="0" err="1"/>
              <a:t>Red</a:t>
            </a:r>
            <a:r>
              <a:rPr lang="fr-BE" altLang="fr-FR" dirty="0"/>
              <a:t> </a:t>
            </a:r>
            <a:r>
              <a:rPr lang="fr-BE" altLang="fr-FR" dirty="0" err="1"/>
              <a:t>Hat</a:t>
            </a:r>
            <a:r>
              <a:rPr lang="fr-BE" altLang="fr-FR" dirty="0"/>
              <a:t> Linux. </a:t>
            </a:r>
          </a:p>
          <a:p>
            <a:pPr>
              <a:buFontTx/>
              <a:buChar char="•"/>
            </a:pPr>
            <a:r>
              <a:rPr lang="fr-BE" altLang="fr-FR" dirty="0"/>
              <a:t>  Tous les développement lié à l’internet et en particulier au web (moteur de recherche, navigateur…)</a:t>
            </a:r>
          </a:p>
          <a:p>
            <a:pPr>
              <a:buFontTx/>
              <a:buChar char="•"/>
            </a:pPr>
            <a:r>
              <a:rPr lang="fr-BE" altLang="fr-FR" dirty="0"/>
              <a:t>  Accès aux bases </a:t>
            </a:r>
            <a:r>
              <a:rPr lang="fr-BE" altLang="fr-FR"/>
              <a:t>de données</a:t>
            </a:r>
            <a:endParaRPr lang="fr-BE" altLang="fr-FR" dirty="0"/>
          </a:p>
          <a:p>
            <a:pPr>
              <a:buFontTx/>
              <a:buChar char="•"/>
            </a:pPr>
            <a:r>
              <a:rPr lang="fr-BE" altLang="fr-FR" dirty="0"/>
              <a:t>  Réalisations d’interfaces graphiques utilisateurs.</a:t>
            </a:r>
          </a:p>
          <a:p>
            <a:pPr>
              <a:buFontTx/>
              <a:buChar char="•"/>
            </a:pPr>
            <a:r>
              <a:rPr lang="fr-BE" altLang="fr-FR" dirty="0"/>
              <a:t>  Utilisation pour la résolution de calculs scientifiques </a:t>
            </a:r>
          </a:p>
          <a:p>
            <a:r>
              <a:rPr lang="fr-BE" altLang="fr-FR" dirty="0"/>
              <a:t>   ex : Python est notamment utilisé pour les fusées de la NASA</a:t>
            </a:r>
          </a:p>
          <a:p>
            <a:pPr>
              <a:buFontTx/>
              <a:buChar char="•"/>
            </a:pPr>
            <a:r>
              <a:rPr lang="fr-BE" altLang="fr-FR" dirty="0"/>
              <a:t> …</a:t>
            </a:r>
          </a:p>
          <a:p>
            <a:endParaRPr lang="fr-BE" altLang="fr-FR" dirty="0"/>
          </a:p>
        </p:txBody>
      </p:sp>
      <p:sp>
        <p:nvSpPr>
          <p:cNvPr id="10246" name="Text Box 6"/>
          <p:cNvSpPr txBox="1">
            <a:spLocks noChangeArrowheads="1"/>
          </p:cNvSpPr>
          <p:nvPr/>
        </p:nvSpPr>
        <p:spPr bwMode="auto">
          <a:xfrm>
            <a:off x="990600" y="228600"/>
            <a:ext cx="457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fr-BE" altLang="fr-FR" sz="2400" b="1" dirty="0"/>
              <a:t> Domaines d’application</a:t>
            </a:r>
          </a:p>
        </p:txBody>
      </p:sp>
      <p:pic>
        <p:nvPicPr>
          <p:cNvPr id="10247" name="Picture 7" descr="C:\WINDOWS\Application Data\Microsoft\Media Catalog\Downloaded Clips\cl1\an04356_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533400"/>
            <a:ext cx="4343400" cy="198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6102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5" grpId="0" autoUpdateAnimBg="0"/>
      <p:bldP spid="10246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Installation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Python.org</a:t>
            </a:r>
          </a:p>
          <a:p>
            <a:r>
              <a:rPr lang="fr-FR" dirty="0"/>
              <a:t>CLI</a:t>
            </a:r>
          </a:p>
          <a:p>
            <a:pPr lvl="1"/>
            <a:r>
              <a:rPr lang="fr-FR" dirty="0"/>
              <a:t>Python</a:t>
            </a:r>
          </a:p>
          <a:p>
            <a:pPr lvl="1"/>
            <a:r>
              <a:rPr lang="fr-FR" dirty="0"/>
              <a:t>Ou via menu démarrer</a:t>
            </a:r>
          </a:p>
        </p:txBody>
      </p:sp>
      <p:pic>
        <p:nvPicPr>
          <p:cNvPr id="3074" name="Picture 2" descr="Python est installé sous Window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9128" y="836504"/>
            <a:ext cx="4714875" cy="4619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La console Python sous Window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40" y="3284984"/>
            <a:ext cx="4355062" cy="2171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7226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CLI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1" y="1407220"/>
            <a:ext cx="9648727" cy="5046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1517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Scripts Python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Fichiers *.</a:t>
            </a:r>
            <a:r>
              <a:rPr lang="fr-FR" dirty="0" err="1"/>
              <a:t>py</a:t>
            </a:r>
            <a:endParaRPr lang="fr-FR" dirty="0"/>
          </a:p>
          <a:p>
            <a:r>
              <a:rPr lang="fr-FR" dirty="0"/>
              <a:t>Python filename.py</a:t>
            </a:r>
          </a:p>
          <a:p>
            <a:r>
              <a:rPr lang="fr-FR" dirty="0"/>
              <a:t>Editeurs</a:t>
            </a:r>
          </a:p>
          <a:p>
            <a:pPr lvl="1"/>
            <a:r>
              <a:rPr lang="fr-FR" dirty="0"/>
              <a:t>Notepad</a:t>
            </a:r>
          </a:p>
          <a:p>
            <a:pPr lvl="1"/>
            <a:r>
              <a:rPr lang="fr-FR" dirty="0"/>
              <a:t>Visual Studio</a:t>
            </a:r>
          </a:p>
          <a:p>
            <a:pPr lvl="2"/>
            <a:r>
              <a:rPr lang="fr-FR" dirty="0"/>
              <a:t>Code</a:t>
            </a:r>
          </a:p>
          <a:p>
            <a:pPr lvl="2"/>
            <a:r>
              <a:rPr lang="fr-FR" dirty="0" err="1"/>
              <a:t>Community</a:t>
            </a:r>
            <a:endParaRPr lang="fr-FR" dirty="0"/>
          </a:p>
          <a:p>
            <a:pPr lvl="2"/>
            <a:r>
              <a:rPr lang="fr-FR" dirty="0"/>
              <a:t>Professional</a:t>
            </a:r>
          </a:p>
          <a:p>
            <a:pPr lvl="1"/>
            <a:r>
              <a:rPr lang="fr-FR" dirty="0"/>
              <a:t>Eclipse</a:t>
            </a:r>
          </a:p>
          <a:p>
            <a:pPr lvl="1"/>
            <a:r>
              <a:rPr lang="fr-FR" dirty="0" err="1"/>
              <a:t>PyCharm</a:t>
            </a:r>
            <a:endParaRPr lang="fr-FR" dirty="0"/>
          </a:p>
          <a:p>
            <a:pPr lvl="1"/>
            <a:r>
              <a:rPr lang="fr-FR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0748930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Intellisense</a:t>
            </a:r>
            <a:endParaRPr lang="fr-FR" dirty="0"/>
          </a:p>
        </p:txBody>
      </p:sp>
      <p:pic>
        <p:nvPicPr>
          <p:cNvPr id="4" name="python-intellisense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39552" y="908720"/>
            <a:ext cx="7967662" cy="5040313"/>
          </a:xfrm>
        </p:spPr>
      </p:pic>
    </p:spTree>
    <p:extLst>
      <p:ext uri="{BB962C8B-B14F-4D97-AF65-F5344CB8AC3E}">
        <p14:creationId xmlns:p14="http://schemas.microsoft.com/office/powerpoint/2010/main" val="1193882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PyLint</a:t>
            </a:r>
            <a:endParaRPr lang="fr-FR" dirty="0"/>
          </a:p>
        </p:txBody>
      </p:sp>
      <p:pic>
        <p:nvPicPr>
          <p:cNvPr id="4" name="python-linting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11560" y="980728"/>
            <a:ext cx="7967662" cy="5040313"/>
          </a:xfrm>
        </p:spPr>
      </p:pic>
    </p:spTree>
    <p:extLst>
      <p:ext uri="{BB962C8B-B14F-4D97-AF65-F5344CB8AC3E}">
        <p14:creationId xmlns:p14="http://schemas.microsoft.com/office/powerpoint/2010/main" val="2107636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Debug</a:t>
            </a:r>
            <a:endParaRPr lang="fr-FR" dirty="0"/>
          </a:p>
        </p:txBody>
      </p:sp>
      <p:pic>
        <p:nvPicPr>
          <p:cNvPr id="4" name="python-debugging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83568" y="980728"/>
            <a:ext cx="7967662" cy="5040313"/>
          </a:xfrm>
        </p:spPr>
      </p:pic>
    </p:spTree>
    <p:extLst>
      <p:ext uri="{BB962C8B-B14F-4D97-AF65-F5344CB8AC3E}">
        <p14:creationId xmlns:p14="http://schemas.microsoft.com/office/powerpoint/2010/main" val="94305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Snippet</a:t>
            </a:r>
            <a:endParaRPr lang="fr-FR" dirty="0"/>
          </a:p>
        </p:txBody>
      </p:sp>
      <p:pic>
        <p:nvPicPr>
          <p:cNvPr id="4" name="python-snippets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83568" y="1123358"/>
            <a:ext cx="7967662" cy="5040313"/>
          </a:xfrm>
        </p:spPr>
      </p:pic>
    </p:spTree>
    <p:extLst>
      <p:ext uri="{BB962C8B-B14F-4D97-AF65-F5344CB8AC3E}">
        <p14:creationId xmlns:p14="http://schemas.microsoft.com/office/powerpoint/2010/main" val="3375428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PIP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Package Installer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784" y="1801661"/>
            <a:ext cx="6516216" cy="465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2884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A8DABC-2330-84EC-0BA3-22CA6A744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TP 3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78D7839-1FA2-1511-A69C-8F308D2205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Installer l'environnement de développement Python</a:t>
            </a:r>
          </a:p>
          <a:p>
            <a:pPr lvl="1"/>
            <a:r>
              <a:rPr lang="fr-FR" dirty="0" err="1"/>
              <a:t>PyCharm</a:t>
            </a:r>
            <a:endParaRPr lang="fr-FR" dirty="0"/>
          </a:p>
          <a:p>
            <a:pPr lvl="1"/>
            <a:r>
              <a:rPr lang="fr-FR"/>
              <a:t>pip</a:t>
            </a:r>
          </a:p>
        </p:txBody>
      </p:sp>
    </p:spTree>
    <p:extLst>
      <p:ext uri="{BB962C8B-B14F-4D97-AF65-F5344CB8AC3E}">
        <p14:creationId xmlns:p14="http://schemas.microsoft.com/office/powerpoint/2010/main" val="1461405325"/>
      </p:ext>
    </p:extLst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v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bg1"/>
            </a:gs>
          </a:gsLst>
          <a:lin ang="5400000" scaled="1"/>
        </a:gra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vc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vc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vc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2630</TotalTime>
  <Words>393</Words>
  <Application>Microsoft Office PowerPoint</Application>
  <PresentationFormat>Affichage à l'écran (4:3)</PresentationFormat>
  <Paragraphs>89</Paragraphs>
  <Slides>18</Slides>
  <Notes>0</Notes>
  <HiddenSlides>0</HiddenSlides>
  <MMClips>4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2" baseType="lpstr">
      <vt:lpstr>Arial</vt:lpstr>
      <vt:lpstr>Monotype Sorts</vt:lpstr>
      <vt:lpstr>Times New Roman</vt:lpstr>
      <vt:lpstr>cvc</vt:lpstr>
      <vt:lpstr>Présentation PowerPoint</vt:lpstr>
      <vt:lpstr>Python</vt:lpstr>
      <vt:lpstr>Guido</vt:lpstr>
      <vt:lpstr>Python</vt:lpstr>
      <vt:lpstr>Historique</vt:lpstr>
      <vt:lpstr>Python</vt:lpstr>
      <vt:lpstr>Python et les autres</vt:lpstr>
      <vt:lpstr>Exemple</vt:lpstr>
      <vt:lpstr>Présentation PowerPoint</vt:lpstr>
      <vt:lpstr>Installation</vt:lpstr>
      <vt:lpstr>CLI</vt:lpstr>
      <vt:lpstr>Scripts Python</vt:lpstr>
      <vt:lpstr>Intellisense</vt:lpstr>
      <vt:lpstr>PyLint</vt:lpstr>
      <vt:lpstr>Debug</vt:lpstr>
      <vt:lpstr>Snippet</vt:lpstr>
      <vt:lpstr>PIP</vt:lpstr>
      <vt:lpstr>TP 3</vt:lpstr>
    </vt:vector>
  </TitlesOfParts>
  <Company>jkhjkjkh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</dc:title>
  <dc:creator>jhkhkhkj</dc:creator>
  <cp:lastModifiedBy>Cyril Vincent</cp:lastModifiedBy>
  <cp:revision>193</cp:revision>
  <dcterms:created xsi:type="dcterms:W3CDTF">2000-04-10T19:33:12Z</dcterms:created>
  <dcterms:modified xsi:type="dcterms:W3CDTF">2026-06-10T09:19:15Z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lpwstr>0.1</vt:lpwstr>
  </property>
</Properties>
</file>